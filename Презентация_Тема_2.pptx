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9144000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Нормативные требования</a:t>
            </a:r>
            <a:br/>
            <a:r>
              <a:t>в электроэнергетике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82828"/>
                </a:solidFill>
              </a:defRPr>
            </a:pPr>
            <a:r>
              <a:t>Тема 2: допуск в эксплуатацию, техническая эксплуатация,</a:t>
            </a:r>
            <a:br/>
            <a:r>
              <a:t>переключения, молниезащита, ТОиР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006699"/>
                </a:solidFill>
              </a:defRPr>
            </a:pPr>
            <a:r>
              <a:t>По материалам учебного пособия (2.docx)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Содержание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234440"/>
            <a:ext cx="8503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82828"/>
                </a:solidFill>
              </a:defRPr>
            </a:pPr>
            <a:r>
              <a:t>2.1 — Разрешение на допуск в эксплуатацию (ПП РФ № 85)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82828"/>
                </a:solidFill>
              </a:defRPr>
            </a:pPr>
            <a:r>
              <a:t>2.2 — Правила технической эксплуатации электроустановок потребителей (Приказ Минэнерго № 811)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82828"/>
                </a:solidFill>
              </a:defRPr>
            </a:pPr>
            <a:r>
              <a:t>2.3 — Правила переключений в электроустановках (Приказ Минэнерго № 757)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82828"/>
                </a:solidFill>
              </a:defRPr>
            </a:pPr>
            <a:r>
              <a:t>2.4 — Устройство молниезащиты зданий, сооружений и промышленных коммуникаций (Приказ Минэнерго № 280)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82828"/>
                </a:solidFill>
              </a:defRPr>
            </a:pPr>
            <a:r>
              <a:t>2.5 — Организация технического обслуживания и ремонта объектов электроэнергетики (Приказ Минэнерго № 1013)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2.1. Разрешение на допуск в эксплуатацию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4300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6699"/>
                </a:solidFill>
              </a:defRPr>
            </a:pPr>
            <a:r>
              <a:t>Постановление Правительства РФ от 30.01.2021 № 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8503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Правила устанавливают категории допускаемых объектов и порядок выдачи разрешения.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Разрешение — запись в реестре, удостоверяющая соответствие объекта и условий эксплуатации требованиям ФЗ «Об электроэнергетике» и ФЗ «О теплоснабжении».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Условия эксплуатации: состояние оборудования, зданий и сооружений, уровень подготовленности персонала.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Орган выдачи: орган федерального государственного энергетического надзора (Ростехнадзор).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2.1. Когда требуется разрешение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234440"/>
            <a:ext cx="8503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Объекты производства электроэнергии, электросетевого хозяйства, энергопринимающие установки — по Правилам технологического присоединения (ПП РФ № 861).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Объекты теплоснабжения и теплопотребляющие установки — по Правилам подключения к системам теплоснабжения (ПП РФ № 787).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Вновь вводимые или реконструированные объекты без технологического присоединения — при идентичных параметрах.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Энергопринимающие установки для испытаний электрооборудования повышенным напряжением.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На время испытаний и пусконаладочных работ выдаётся временное разрешение (срок — 180 суток).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2.1. Порядок выдачи разрешения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234440"/>
            <a:ext cx="8503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Заявление подаётся на бумаге или через Госуслуги (ПЭП, УКЭП, УНЭП). При подаче через портал бумажные копии не требуются.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Срок рассмотрения: 10 рабочих дней (7 дней — при наличии временного разрешения).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Ростехнадзор: рассмотрение документов, осмотр объекта, решение о выдаче или отказе.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Продолжительность осмотра на месте: не более 7 рабочих дней (4 дня — при ранее выданном временном разрешении).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В день принятия решения вносится запись в реестр разрешений.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2.1. Отказ, срок действия, исключения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234440"/>
            <a:ext cx="8503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Основания отказа: несоответствие документов, объекта или условий эксплуатации; незавершённость монтажа; отсутствие разрешения на энергопринимающие устройства объекта теплоснабжения.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Постоянное разрешение действует бессрочно; временное — 180 суток.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Разрешение не требуется: уведомительный ввод (п. 18¹–18⁴ Правил ТП); оборудование под избыточным давлением (промбезопасность).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При аварийно-восстановительных работах разрешение не оформляется; уведомление — в течение 10 рабочих дней, оформление — в течение 90 календарных дней.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2.2. Техническая эксплуатация электроустановок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4300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6699"/>
                </a:solidFill>
              </a:defRPr>
            </a:pPr>
            <a:r>
              <a:t>Приказ Минэнерго России от 12.08.2022 № 811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8503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Распространяются на юрлиц, ИП и физлиц, владеющих электроустановками.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Не распространяются на физлиц с установками ниже 1000 В для личных/бытовых нужд.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Эксплуатация включает: ввод в работу, использование по назначению, документацию, оперативное управление, ремонт и ТО, консервацию и модернизацию.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Потребитель обеспечивает исправное состояние, безопасность, подготовку персонала, учёт аварий, испытания оборудования.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2.2. Ответственный за электрохозяйство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234440"/>
            <a:ext cx="8503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Назначается из административно-технического персонала приказом руководителя (и заместитель).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Группа по электробезопасности: V — для установок выше 1000 В; IV — до 1000 В.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Полномочия: документация, обучение персонала, безопасность работ, ремонт и ТО, ввод оборудования, контроль качества электроэнергии (не реже 1 раза в 2 года).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Определяются работники с правом переключений, выдачи нарядов-допусков, единоличного осмотра.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Списки работников ежегодно до 1 января передаются в сетевую (энергоснабжающую) организацию.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2.2. Техническая документация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234440"/>
            <a:ext cx="8503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Проектная и рабочая документация, акты опробования, документы о ТП, схемы электроснабжения.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Журналы учёта оборудования, паспорта, производственные и должностные инструкции, документация по РЗА.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Перечни документации пересматриваются не реже 1 раза в 3 года.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Изменения в схемах и инструкциях вносятся до ввода оборудования в работу; доводятся до работников с записью в журнале.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Соответствие схем фактическому состоянию проверяется не реже 1 раза в 3 года.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2.2. Персонал и проверка знаний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234440"/>
            <a:ext cx="8503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Категории: административно-технический, оперативный, оперативно-ремонтный, ремонтный, вспомогательный.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Первичная проверка — при поступлении на работу или перерыве более 3 лет.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Очередная: электротехнический персонал — не реже 1 раза в 12 месяцев; административно-технический — не реже 1 раза в 3 года.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При вводе оборудования: приёмо-сдаточные и пусконаладочные испытания, комплексное опробование (72 ч — оборудование, 24 ч — ЛЭП).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Допускается включение по временному разрешению Ростехнадзора.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2.3. Правила переключений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4300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6699"/>
                </a:solidFill>
              </a:defRPr>
            </a:pPr>
            <a:r>
              <a:t>Приказ Минэнерго России от 13.09.2018 № 757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8503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Переключения выполняются по инструкциям ДЦ, ЦУС, центров управления ВЭС/СЭС, владельцев объектов.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Диспетчерский персонал ДЦ — по программам (типовым программам) переключений.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Оперативный персонал объектов — по бланкам (типовым бланкам) переключений.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Изменение режима или состояния ЛЭП, оборудования, РЗА — при наличии диспетчерских или оперативных заявок.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Запрет переключений в ОРУ при грозе и ветре выше 20 м/с (кроме ликвидации нарушений режима).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2.3. Команды и контроль переключений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234440"/>
            <a:ext cx="8503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Переключения в диспетчерском управлении — по команде ДЦ; в технологическом управлении ЦУС/НСО — по команде с подтверждением.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Команда должна быть дословно повторена и подтверждена пониманием.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Большинство переключений — с участием контролирующего лица.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Единолично допускаются: единичные по команде, несложные с исправной блокировкой, при ликвидации нарушений, дистанционно с АРМ.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Лица, выполняющие и контролирующие переключения, несут ответственность за их правильность.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2.3. Программы и бланки переключений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234440"/>
            <a:ext cx="8503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Программа содержит: цель, объекты, условия применения, последовательность операций, меры безопасности, список персонала.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Бланк содержит: номер, объект, дату/время, цель, условия (схема, состояние РЗА), последовательность операций.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Типовые программы и бланки — для повторяющихся сложных переключений.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Использованные документы хранятся не менее 20 суток (до ввода — при ремонте более 20 суток).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Электронные программы — не менее 12 месяцев.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2.3. Сложные переключения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234440"/>
            <a:ext cx="8503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К сложным относятся: вывод/ввод ЛЭП 110 кВ и выше, АТ/Т 110 кВ+, выключатели с ОВ, системы шин, оборудование с риском феррорезонанса.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Сложные переключения — по программам (ДЦ) или бланкам (объекты) с обязательным контролем.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Перед началом — проверка бланка по оперативной схеме, подписи исполнителя и контролёра.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При перерыве — возобновление только после проверки соответствия схемы программе/бланку.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Порядок операций: зачитывание → подготовка → разрешение → выполнение → отметка в бланке.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2.4. Молниезащита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4300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6699"/>
                </a:solidFill>
              </a:defRPr>
            </a:pPr>
            <a:r>
              <a:t>Приказ Минэнерго России от 30.06.2003 № 280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8503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Устройство молниезащиты (УМЗ) — система внешних и внутренних устройств защиты от молнии.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Молниеотвод: молниеприёмники, токоотводы, заземлители. Защита от перенапряжений — разрядники, ограничители.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Объекты: обычные (до 60 м) и специальные (опасные, высотные, временные).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Естественные молниеприёмники: металлическая кровля, фермы, водостоки при соблюдении требований к толщине и непрерывности.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Заземлитель МЗУ совмещается с заземлителями электроустановок и связи (система уравнивания потенциалов).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2.4. Приёмка и эксплуатация МЗУ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234440"/>
            <a:ext cx="8503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Приёмка рабочей комиссией: проекты, акты скрытых работ, протоколы испытаний, осмотр монтажа.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Состав комиссии: ответственный за электрохозяйство, подрядчик, пожарная инспекция.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После приёмки — паспорта молниезащитных устройств и заземлителей (хранятся у ответственного за электрохозяйство).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Ежегодно перед грозовым сезоном — проверка и осмотр всех устройств молниезащиты.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Периодический контроль заземлителей (6 лет, 20% в год для объектов I категории); замена при коррозии &gt; 25% сечения.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2.5. Организация ТОиР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4300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006699"/>
                </a:solidFill>
              </a:defRPr>
            </a:pPr>
            <a:r>
              <a:t>Приказ Минэнерго России от 25.10.2017 № 1013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8503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Правила устанавливают требования к ТОиР объектов электроэнергетики (кроме АЭС) мощностью 5 МВт и более.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Охват: оборудование электростанций, ЛЭП, ТП, РУ, АСУ ТП, СДТУ, здания и сооружения, гидротехнические сооружения.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Организация — по локальным нормативным актам субъекта электроэнергетики.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Виды организации ремонта: планово-предупредительный и ремонт по техническому состоянию (не менее 12 лет каждый).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Система управления ТОиР: планирование, МТО, контроль качества, диагностика, квалификация персонала.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2.5. Виды ремонта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234440"/>
            <a:ext cx="8503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Плановые: планово-предупредительный, ремонт по техническому состоянию.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Неплановый — устранение неисправностей вне графика; аварийный — после аварии.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По объёму: текущий, средний, капитальный.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Типовой ремонт — по типовому перечню работ; сверхтиповой — дополнительные работы по фактическому состоянию.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Капитальный ремонт: полная или частичная разборка, замена изношенных частей, восстановление характеристик до проектных.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2.5. Планирование и приёмка из ремонта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234440"/>
            <a:ext cx="8503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Перспективные и годовые (месячные) планы/графики ремонта; согласование с ДЦ — по ПП РФ № 86.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Общий руководитель ремонта назначается субъектом электроэнергетики.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Перед ремонтом: отключения, наряд-допуск, ознакомление бригад с объёмом и мерами безопасности.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Приёмка из капитального/среднего ремонта — комиссией под руководством технического руководителя.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500">
                <a:solidFill>
                  <a:srgbClr val="282828"/>
                </a:solidFill>
              </a:defRPr>
            </a:pPr>
            <a:r>
              <a:t>Приёмо-сдаточные испытания: пуск и испытания под нагрузкой; сведения заносятся в паспорт/журнал.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37160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Ключевые нормативные акты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234440"/>
            <a:ext cx="8503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82828"/>
                </a:solidFill>
              </a:defRPr>
            </a:pPr>
            <a:r>
              <a:t>ПП РФ № 85 (30.01.2021) — разрешение на допуск в эксплуатацию.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82828"/>
                </a:solidFill>
              </a:defRPr>
            </a:pPr>
            <a:r>
              <a:t>Приказ Минэнерго № 811 (12.08.2022) — техническая эксплуатация электроустановок потребителей.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82828"/>
                </a:solidFill>
              </a:defRPr>
            </a:pPr>
            <a:r>
              <a:t>Приказ Минэнерго № 757 (13.09.2018) — переключения в электроустановках.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82828"/>
                </a:solidFill>
              </a:defRPr>
            </a:pPr>
            <a:r>
              <a:t>Приказ Минэнерго № 280 (30.06.2003) — молниезащита зданий и сооружений.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700">
                <a:solidFill>
                  <a:srgbClr val="282828"/>
                </a:solidFill>
              </a:defRPr>
            </a:pPr>
            <a:r>
              <a:t>Приказ Минэнерго № 1013 (25.10.2017) — организация ТОиР объектов электроэнергетики.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