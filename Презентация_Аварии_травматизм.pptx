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E30613"/>
              </a:solidFill>
            </c:spPr>
          </c:dPt>
          <c:dPt>
            <c:idx val="1"/>
            <c:spPr>
              <a:solidFill>
                <a:srgbClr val="6B7280"/>
              </a:solidFill>
            </c:spPr>
          </c:dPt>
          <c:dPt>
            <c:idx val="2"/>
            <c:spPr>
              <a:solidFill>
                <a:srgbClr val="0D9488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cat>
            <c:strRef>
              <c:f>Sheet1!$A$2:$A$5</c:f>
              <c:strCache>
                <c:ptCount val="4"/>
                <c:pt idx="0">
                  <c:v>Нарушение трудовой и производственной дисциплины</c:v>
                </c:pt>
                <c:pt idx="1">
                  <c:v>Дефекты вследствие эксплуатации</c:v>
                </c:pt>
                <c:pt idx="2">
                  <c:v>Низкое качество обслуживания, освидетельствования и ЭПБ</c:v>
                </c:pt>
                <c:pt idx="3">
                  <c:v>Низкое качество ремонта оборудования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23</c:v>
                </c:pt>
                <c:pt idx="2">
                  <c:v>23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Промышленная 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Примеры и причины аварий и несчастных случаев при эксплуатации трубопроводов пара и горячей 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Обучение персонала, обслуживающего трубопроводы пара и горячей 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Модуль охватывает нагрузки на элементы трубопроводов, причины травматизма и аварий, характерные аварии тепловых сетей, последствия аварий, производственный и непроизводственный травматизм, а также классификацию производственных травм.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16</a:t>
            </a:r>
          </a:p>
        </p:txBody>
      </p:sp>
      <p:pic>
        <p:nvPicPr>
          <p:cNvPr id="11" name="Picture 10" descr="pipe_burst_gey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Трубопроводы ПиГВ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Трубопроводы пара и горячей воды (ПиГВ)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Их элементы находятся под воздействием: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Воздействующие факторы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внутреннего давления рабочей среды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веса труб, арматуры и тепловой изоляции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напряжений самокомпенсации, возникающих в результате теплового расширения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Внутреннее давление вызывает напряжение растяжения, а нагрузки — напряжение изгиба.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Травматизм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Причины травматизма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Основные группы причин травматизма на производстве: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Группы причин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технические и технологические — неисправности, недостатки конструкций и процессов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организационные — нарушения правил эксплуатации, режима труда и отдыха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личностные (психофизиологические) — дисциплина, переутомление, человеческий фактор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Аварии и НС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Основные причины возникновения аварий и несчастных случаев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Статистическое распределение причин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2000000"/>
          <a:ext cx="11000000" cy="42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Аварии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Характерные аварии тепловых 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Типичные повреждения при эксплуатации тепловых сетей: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 аварий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разрывы или повреждения стыков труб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нарушения герметичности фланцевых соединений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образования течей в местах установки регулирующей арматуры и сальниковых компенсаторов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Места аварий обнаруживаются по выходу пара или выбиванию горячей воды.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16</a:t>
            </a:r>
          </a:p>
        </p:txBody>
      </p:sp>
      <p:pic>
        <p:nvPicPr>
          <p:cNvPr id="21" name="Picture 20" descr="pipe_burst_gey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Причины аварий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Причины аварий трубопроводов ПиГВ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Причинами аварий трубопроводов пара и горячей воды являются: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причины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дефекты их изготовления и монтажа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гидравлические удары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нарушение нормального режима эксплуатации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Последствия аварий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Последствия аварий тепловых сетей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Аварии тепловых сетей приводят к следующим последствиям: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Последствия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разрушение трубопровода и оборудования тепловых сетей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разрыв отопительных приборов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ожоговый травматизм, в том числе гражданских лиц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16</a:t>
            </a:r>
          </a:p>
        </p:txBody>
      </p:sp>
      <p:pic>
        <p:nvPicPr>
          <p:cNvPr id="21" name="Picture 20" descr="pipe_burst_gey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Непроизводственный травматизм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Гостиница «Карамель», Пермь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Реальный случай гибели граждан при аварии теплосети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Поздней ночью 20 января 2020 года номера пермской гостиницы «Карамель», работавшей в подвале дома, заполнил кипяток. Вода прибывала слишком быстро и лилась прямо из стены. Все девять номеров затопило теплоносителем, перегретым до 150 °C. Запасной выход был закрыт.
В ту ночь погибли четверо взрослых и четырёхлетняя девочка. Прорвало магистральный трубопровод в 100 м от подвала — вода затекла по бетонному желобу через негерметизированную гильзу трубы ХВС.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16</a:t>
            </a:r>
          </a:p>
        </p:txBody>
      </p:sp>
      <p:pic>
        <p:nvPicPr>
          <p:cNvPr id="11" name="Picture 10" descr="hotel_flood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Непроизводственный травматизм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Котлован в г. Купино, Новосибирская область (2019)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Гибель гражданского лица из-за незакрытого котлована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В сентябре 2019 г. в г. Купино для устранения прорыва трубопровода работниками МУП «Теплосети» разрабатывался котлован. Прорыв устранили, но котлован временно не засыпали для последующего ремонта. В нарушение норм ограждения были из подручных средств, яма не закрыта.
В первых числах ноября в котлован, заполненный водой, упала 48-летняя женщина. Она не смогла самостоятельно выбраться и утонула.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16</a:t>
            </a:r>
          </a:p>
        </p:txBody>
      </p:sp>
      <p:pic>
        <p:nvPicPr>
          <p:cNvPr id="11" name="Picture 10" descr="flooded_pit_w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Непроизводственный травматизм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Жертвы на теплосетях — лица без определённого места жительства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Опасность тепловых камер для граждан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Часто жертвами на теплосетях становятся лица без определённого места жительства, которые живут в тепловых камерах и пользуются горячей водой.
Нередко из-за неисправности дренажной запорной арматуры происходит быстрое запаривание тепловой камеры, ухудшая видимость, а заполнение горячей водой не оставляет никаких шансов на спасение.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16</a:t>
            </a:r>
          </a:p>
        </p:txBody>
      </p:sp>
      <p:pic>
        <p:nvPicPr>
          <p:cNvPr id="11" name="Picture 10" descr="manhole_s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Непроизводственный травматизм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Автомобилисты в опасной зоне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Гражданский травматизм при авариях тепловых сетей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Половина пострадавших из числа гражданского населения приходится на автомобилистов, которые в силу личной невнимательности или неудовлетворительной организации аварийно-восстановительных работ попадают в опасную зону.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16</a:t>
            </a:r>
          </a:p>
        </p:txBody>
      </p:sp>
      <p:pic>
        <p:nvPicPr>
          <p:cNvPr id="11" name="Picture 10" descr="overturned_car_s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00000"/>
            <a:ext cx="107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Производственный травматизм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Производственный травматизм и несчастный случай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Ключевые определения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00000"/>
            <a:ext cx="5800000" cy="10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00" y="2070000"/>
            <a:ext cx="5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Производственный травматизм — </a:t>
            </a:r>
            <a:r>
              <a:rPr sz="1200" b="0">
                <a:solidFill>
                  <a:srgbClr val="6B7280"/>
                </a:solidFill>
                <a:latin typeface="Inter"/>
              </a:rPr>
              <a:t>совокупность травм, полученных работающими на производстве и вызванных несоблюдением требований безопасности труда. Производственная травма всегда является результатом несчастного случая.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0000"/>
            <a:ext cx="5800000" cy="105000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00" y="3220000"/>
            <a:ext cx="57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30613"/>
                </a:solidFill>
                <a:latin typeface="Inter"/>
              </a:rPr>
              <a:t>Несчастный случай на производстве — </a:t>
            </a:r>
            <a:r>
              <a:rPr sz="1200" b="0">
                <a:solidFill>
                  <a:srgbClr val="6B7280"/>
                </a:solidFill>
                <a:latin typeface="Inter"/>
              </a:rPr>
              <a:t>случай воздействия на работающих опасного производственного фактора при выполнении трудовых обязанностей или заданий руководителя работ. Также — событие, в результате которого застрахованный получил увечье при исполнении обязанностей по трудовому договору (ст. 3 ФЗ № 125-ФЗ, ст. 227 ТК РФ).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Производственный травматизм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Случай в тепловой камере, Пермь (21.03.2018)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Тяжёлый ожог слесаря при ремонте трубопровода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21 марта 2018 г. ремонтная бригада «Пермской сетевой компании» устраняла дефект подающего трубопровода. В 4:30 слесарь спустился в тепловую камеру для открытия дренажной задвижки. Пол камеры был покрыт горячей водой (около 80 °C) глубиной около 200 мм.
При спуске слесарь по неизвестной причине упал в горячую воду. Самостоятельно выбрался и был госпитализирован с ожогами III степени обеих ног и одной руки (51% поверхности тела). Травма квалифицирована как тяжёлая.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16</a:t>
            </a:r>
          </a:p>
        </p:txBody>
      </p:sp>
      <p:pic>
        <p:nvPicPr>
          <p:cNvPr id="11" name="Picture 10" descr="heating_chamber_man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00" y="1200000"/>
            <a:ext cx="5200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Классификация травматизма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Основные виды производственных травм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В зависимости от травмирующего объекта принято выделять: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 травм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порезы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ожоги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переломы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>… ещё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Inter"/>
              </a:rPr>
              <a:t>Классификация травм шире: по фактору, числу пострадавших и тяжести.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Классификация травматизма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Классификация производственного травматизма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Производственные травмы классифицируются по нескольким признакам: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Оси классификации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6974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83464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10637215" cy="720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а) Поддерживать ПС в работоспособном состоянии: соблюдать графики технических освидетельствований, технического обслуживания и планово-предупредительных ремонтов. Если срок службы истёк — необходимо заключение экспертизы промышленной безопасности о возможности его продления.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82746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2746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виды травм: порезы, ожоги, переломы, ушибы, ампутации, вывихи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85082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85082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вид травмирующего фактора: механические, термические, химические, электрические, комбинированные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93158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3158"/>
            <a:ext cx="10637215" cy="480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количество пострадавших: одиночные, групповые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17321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Эксплуатация ПС при наличии нарушений требований по установке — запрещена. Дефекты, выявленные при техническом обслуживании, устраняются до возобновления работы.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Классификация травматизма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</a:rPr>
              <a:t>Классификация причин производственного травматизма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На законодательном уровне единой классификации нет — приведён общий перечень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13969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Приведённая классификация позволяет выделять не только виды травм, но и их причины.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837176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974336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Inter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0000"/>
            <a:ext cx="5400000" cy="18000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8640" y="2220000"/>
            <a:ext cx="516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Технические причины</a:t>
            </a:r>
          </a:p>
          <a:p>
            <a:r>
              <a:rPr sz="1200" b="0">
                <a:solidFill>
                  <a:srgbClr val="6B7280"/>
                </a:solidFill>
                <a:latin typeface="Inter"/>
              </a:rPr>
              <a:t>Конструкторские недостатки, неисправности машин и механизмов, несовершенство технологического процесса, низкий уровень механизации.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0000" y="2100000"/>
            <a:ext cx="5400000" cy="18000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0000" y="2220000"/>
            <a:ext cx="516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Санитарно-гигиенические</a:t>
            </a:r>
          </a:p>
          <a:p>
            <a:r>
              <a:rPr sz="1200" b="0">
                <a:solidFill>
                  <a:srgbClr val="6B7280"/>
                </a:solidFill>
                <a:latin typeface="Inter"/>
              </a:rPr>
              <a:t>Нарушение санитарных норм, отсутствие санитарно-бытовых помещений, плохая организация рабочего места.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0000"/>
            <a:ext cx="5400000" cy="18000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8640" y="4320000"/>
            <a:ext cx="516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Организационные факторы</a:t>
            </a:r>
          </a:p>
          <a:p>
            <a:r>
              <a:rPr sz="1200" b="0">
                <a:solidFill>
                  <a:srgbClr val="6B7280"/>
                </a:solidFill>
                <a:latin typeface="Inter"/>
              </a:rPr>
              <a:t>Нарушение правил эксплуатации транспорта и оборудования, низкий уровень организации погрузочно-разгрузочных работ, нарушение режима труда и отдыха.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0" y="4200000"/>
            <a:ext cx="5400000" cy="18000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0000" y="4320000"/>
            <a:ext cx="5160000" cy="1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30613"/>
                </a:solidFill>
                <a:latin typeface="Inter"/>
              </a:rPr>
              <a:t>Психофизиологические</a:t>
            </a:r>
          </a:p>
          <a:p>
            <a:r>
              <a:rPr sz="1200" b="0">
                <a:solidFill>
                  <a:srgbClr val="6B7280"/>
                </a:solidFill>
                <a:latin typeface="Inter"/>
              </a:rPr>
              <a:t>Нарушение дисциплины труда, употребление алкоголя на рабочих местах, умышленное нанесение травм, переутомление.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