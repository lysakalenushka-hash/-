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67" r:id="rId7"/>
    <p:sldId id="261" r:id="rId8"/>
    <p:sldId id="266" r:id="rId10"/>
    <p:sldId id="265" r:id="rId11"/>
    <p:sldId id="262" r:id="rId9"/>
    <p:sldId id="268" r:id="rId5"/>
    <p:sldId id="269" r:id="rId16"/>
    <p:sldId id="259" r:id="rId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76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10.xml"/><Relationship Id="rId6" Type="http://schemas.openxmlformats.org/officeDocument/2006/relationships/slide" Target="slides/slide4.xml"/><Relationship Id="rId7" Type="http://schemas.openxmlformats.org/officeDocument/2006/relationships/slide" Target="slides/slide9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Inter"/>
              </a:rPr>
              <a:t>Общее устройство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E30613"/>
                </a:solidFill>
                <a:latin typeface="Inter"/>
              </a:rPr>
              <a:t>подъёмников (вышек)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1094415" cy="71323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Inter"/>
              </a:rPr>
              <a:t>Тема 2 · Конструкция, классификация, параметры, устойчивость, опоры и люлька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227832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364992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Подъёмники · Вышки · Параметры · Аутригеры · Рабочее оборудование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2 · Определение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Подъёмники и вышки как грузоподъёмные машины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Назначение класса машин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426464"/>
          </a:xfrm>
          <a:prstGeom prst="rect">
            <a:avLst/>
          </a:prstGeom>
          <a:noFill/>
        </p:spPr>
        <p:txBody>
          <a:bodyPr wrap="square" lIns="0" tIns="0" rIns="0" bIns="0">
            <a:normAutofit fontScale="85000" lnSpcReduction="10000"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Подъёмники и вышки — грузоподъёмные машины для вертикального или наклонного перемещения грузов и людей с одного уровня на другой в люльках и рабочих площадках, установленных на рабочем оборудовании. Ходовая часть — шасси автомобиля, спецшасси, гусеничное, пневмоколёсное или железнодорожное. Машины оснащают системами управления, сигнализацией, указателями, ограничителями и регистраторами.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123944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261104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Автомобильный подъёмник (вышка) — наиболее распространённый вид на шасси автомобиля.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2 · Схема устройства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 dirty="0" err="1">
                <a:solidFill>
                  <a:srgbClr val="1A1A1A"/>
                </a:solidFill>
                <a:latin typeface="Inter"/>
              </a:rPr>
              <a:t>Подъёмники</a:t>
            </a:r>
            <a:r>
              <a:rPr sz="2000" b="1" i="0" dirty="0">
                <a:solidFill>
                  <a:srgbClr val="1A1A1A"/>
                </a:solidFill>
                <a:latin typeface="Inter"/>
              </a:rPr>
              <a:t> и </a:t>
            </a:r>
            <a:r>
              <a:rPr sz="2000" b="1" i="0" dirty="0" err="1">
                <a:solidFill>
                  <a:srgbClr val="1A1A1A"/>
                </a:solidFill>
                <a:latin typeface="Inter"/>
              </a:rPr>
              <a:t>вышки</a:t>
            </a:r>
            <a:r>
              <a:rPr sz="2000" b="1" i="0" dirty="0">
                <a:solidFill>
                  <a:srgbClr val="1A1A1A"/>
                </a:solidFill>
                <a:latin typeface="Inter"/>
              </a:rPr>
              <a:t> — </a:t>
            </a:r>
            <a:r>
              <a:rPr sz="2000" b="1" i="0" dirty="0" err="1">
                <a:solidFill>
                  <a:srgbClr val="1A1A1A"/>
                </a:solidFill>
                <a:latin typeface="Inter"/>
              </a:rPr>
              <a:t>грузоподъёмные</a:t>
            </a:r>
            <a:r>
              <a:rPr sz="20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2000" b="1" i="0" dirty="0" err="1">
                <a:solidFill>
                  <a:srgbClr val="1A1A1A"/>
                </a:solidFill>
                <a:latin typeface="Inter"/>
              </a:rPr>
              <a:t>машины</a:t>
            </a:r>
            <a:r>
              <a:rPr sz="20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2000" b="1" i="0" dirty="0" err="1">
                <a:solidFill>
                  <a:srgbClr val="1A1A1A"/>
                </a:solidFill>
                <a:latin typeface="Inter"/>
              </a:rPr>
              <a:t>для</a:t>
            </a:r>
            <a:r>
              <a:rPr sz="20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2000" b="1" i="0" dirty="0" err="1">
                <a:solidFill>
                  <a:srgbClr val="1A1A1A"/>
                </a:solidFill>
                <a:latin typeface="Inter"/>
              </a:rPr>
              <a:t>перемещения</a:t>
            </a:r>
            <a:r>
              <a:rPr sz="20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2000" b="1" i="0" dirty="0" err="1">
                <a:solidFill>
                  <a:srgbClr val="1A1A1A"/>
                </a:solidFill>
                <a:latin typeface="Inter"/>
              </a:rPr>
              <a:t>людей</a:t>
            </a:r>
            <a:r>
              <a:rPr sz="2000" b="1" i="0" dirty="0">
                <a:solidFill>
                  <a:srgbClr val="1A1A1A"/>
                </a:solidFill>
                <a:latin typeface="Inter"/>
              </a:rPr>
              <a:t> и </a:t>
            </a:r>
            <a:r>
              <a:rPr sz="2000" b="1" i="0" dirty="0" err="1">
                <a:solidFill>
                  <a:srgbClr val="1A1A1A"/>
                </a:solidFill>
                <a:latin typeface="Inter"/>
              </a:rPr>
              <a:t>грузов</a:t>
            </a:r>
            <a:endParaRPr sz="2000" b="1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5557034"/>
            <a:ext cx="11094415" cy="1426464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ru-RU" sz="1200" dirty="0">
                <a:solidFill>
                  <a:srgbClr val="1A1A1A"/>
                </a:solidFill>
                <a:latin typeface="Inter"/>
              </a:rPr>
              <a:t>Рис. 1 Подъёмник (а) и вышка (б):</a:t>
            </a:r>
          </a:p>
          <a:p>
            <a:r>
              <a:rPr lang="ru-RU" sz="1200" dirty="0">
                <a:solidFill>
                  <a:srgbClr val="1A1A1A"/>
                </a:solidFill>
                <a:latin typeface="Inter"/>
              </a:rPr>
              <a:t>1 – передние управляемые колеса, 2 – ходовая часть (шасси), 3 – задние ведущие колеса, 4 – гидроцилиндр нижнего колена (секции стрелы), 5 – нижнее колено (секция стрелы), 6 – верхнее колено (секция стрелы), 7 – опора люльки (платформы) с ограничителем предельного груза (ОПГ), 8 – люлька (платформа), 9 – пульт управления, 10 – среднее колено (секция стрелы), 11 – гидроцилиндр среднего колена (секции стрелы), 12 – поворотная платформа, 13 – мачта ножничного типа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03 / 16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695E545-47D3-4A87-9283-F40201794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217" y="1525501"/>
            <a:ext cx="6253260" cy="380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315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2 · Параметр «вылет»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Inter"/>
              </a:rPr>
              <a:t>Вылет — ключевой параметр машины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Подъёмники и вышки: грузоподъёмные машины для вертикального или наклонного перемещения грузов и людей с одного уровня на другой в люльках и рабочих площадках, установленных на рабочем оборудовании в виде шарнирно сочлененных колен (у подъёмников) или мачты (телескопической, ножничной) у вышек.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95827"/>
            <a:ext cx="4572000" cy="20116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148" b="1">
                <a:solidFill>
                  <a:srgbClr val="E30613"/>
                </a:solidFill>
                <a:latin typeface="Inter"/>
              </a:rPr>
              <a:t>Вылет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56655" y="3537990"/>
            <a:ext cx="502920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56655" y="367515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Inter"/>
              </a:rPr>
              <a:t>Горизонтальное расстояние от оси вращения платформы до рабочей площадки (люльки) — определяет зону охвата машины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6655" y="413235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Inter"/>
              </a:rPr>
              <a:t>Виды ходовой части: автомобильные (автоподъёмники и автовышки на шасси автомобиля) и выносные (прицепные — без собственного механизма передвижения)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11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2 · Виды машин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Inter"/>
              </a:rPr>
              <a:t>Виды подъёмников и вышек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Грузоподъёмные машины для вертикального или наклонного перемещения грузов и людей с одного уровня на другой в люльках и рабочих площадках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Подъёмники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514600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2651760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Автомобильные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Установлены на шасси автомобиля или специального шасси автомобильного типа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31286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Прицепные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9885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Не имеют своего механизма передвижения; буксируются тягачом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2216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Гусеничные / пневмоколёсные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50817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Ходовая часть на гусеничном или пневмоколёсном шасси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13148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Железнодорожные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41748"/>
            <a:ext cx="531860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Ходовая часть на железнодорожном ходу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2263139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Вышки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24447" y="2583179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24447" y="2720339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Автомобильный (автовышка)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47" y="2948939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Смонтирована на шасси автомобиля; выносные опоры обеспечивают устойчивость при работе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47" y="3499865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Телескопическая мачта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4447" y="3728465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Выдвижные секции мачты обеспечивают изменение высоты подъёма и вылета рабочей площадки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4447" y="4279392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Ножничная мачта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4447" y="4507992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Мачта ножничного типа (поз. 13); подъём платформы по вертикали без горизонтального вылета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4447" y="5058918"/>
            <a:ext cx="5318607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Характеристики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447" y="5287518"/>
            <a:ext cx="5318607" cy="3771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Основные параметры: грузоподъёмность, высота подъёма, вылет, габаритные размеры, глубина опускания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Выносные опоры обязательны к установке перед началом работы — они обеспечивают устойчивость машины при максимальном вылете рабочего оборудования.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2 · Классификация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Inter"/>
              </a:rPr>
              <a:t>Признаки классификации подъёмников (вышек)</a:t>
            </a:r>
            <a:endParaRPr sz="3000" b="1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9403708" cy="279917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300" b="0">
                <a:solidFill>
                  <a:srgbClr val="1A1A1A"/>
                </a:solidFill>
                <a:latin typeface="Inter"/>
              </a:rPr>
              <a:t>По назначению (общие / специальные); по конструкции колен; по приводу; по степени поворота (полноповоротный, неполноповоротный, неповоротный).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08 / 16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CA9B4E9-97B1-4410-8396-AEE8CAC01CA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604" y="2516901"/>
            <a:ext cx="4570451" cy="2202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2 · Автоподъёмники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Автомобильные подъёмники и автовышки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Ведущее звено системы строительно-монтажных машин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1426464"/>
          </a:xfrm>
          <a:prstGeom prst="rect">
            <a:avLst/>
          </a:prstGeom>
          <a:noFill/>
        </p:spPr>
        <p:txBody>
          <a:bodyPr wrap="square" lIns="0" tIns="0" rIns="0" bIns="0">
            <a:normAutofit fontScale="85000" lnSpcReduction="10000"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</a:rPr>
              <a:t>Автомобильные подъёмники и вышки обеспечивают комплексную механизацию строительства и высокие темпы работ. Ходовая часть — на шасси автомобиля или специального шасси автомобильного типа. Перед работой устанавливают выносные опоры для устойчивости.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4123944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4261104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</a:rPr>
              <a:t>Пример: автомобильный подъёмник ПСС 131.28Э на базе КАМАЗ.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06 / 16</a:t>
            </a:r>
          </a:p>
        </p:txBody>
      </p:sp>
    </p:spTree>
    <p:extLst>
      <p:ext uri="{BB962C8B-B14F-4D97-AF65-F5344CB8AC3E}">
        <p14:creationId xmlns:p14="http://schemas.microsoft.com/office/powerpoint/2010/main" val="3080087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2 · Пример: ПСС 131.28Э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Inter"/>
              </a:rPr>
              <a:t>Автомобильные подъёмники и автовышки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27239"/>
            <a:ext cx="6704356" cy="55884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r>
              <a:rPr lang="ru-RU" sz="1200" dirty="0">
                <a:solidFill>
                  <a:srgbClr val="1A1A1A"/>
                </a:solidFill>
                <a:latin typeface="Inter"/>
              </a:rPr>
              <a:t>Автомобильный подъёмник ПСС 131.28Э на базе автомобиля КАМАЗ:</a:t>
            </a:r>
            <a:br>
              <a:rPr lang="ru-RU" sz="1200" dirty="0">
                <a:solidFill>
                  <a:srgbClr val="1A1A1A"/>
                </a:solidFill>
                <a:latin typeface="Inter"/>
              </a:rPr>
            </a:br>
            <a:r>
              <a:rPr lang="ru-RU" sz="1200" dirty="0">
                <a:solidFill>
                  <a:srgbClr val="1A1A1A"/>
                </a:solidFill>
                <a:latin typeface="Inter"/>
              </a:rPr>
              <a:t>а – транспортное положение, б – подъёмник готов для производства работ.</a:t>
            </a:r>
            <a:br>
              <a:rPr lang="ru-RU" sz="1200" dirty="0">
                <a:solidFill>
                  <a:srgbClr val="1A1A1A"/>
                </a:solidFill>
                <a:latin typeface="Inter"/>
              </a:rPr>
            </a:br>
            <a:r>
              <a:rPr lang="ru-RU" sz="1200" dirty="0">
                <a:solidFill>
                  <a:srgbClr val="1A1A1A"/>
                </a:solidFill>
                <a:latin typeface="Inter"/>
              </a:rPr>
              <a:t>1 – базовый автомобиль, 2 – выносная опора, 3 – опорная рама подъёмника, 4 – опорно- поворотное устройство, 5 – механизм поворота, 6 – гидроцилиндры подъёма стрелы,</a:t>
            </a:r>
            <a:br>
              <a:rPr lang="ru-RU" sz="1200" dirty="0">
                <a:solidFill>
                  <a:srgbClr val="1A1A1A"/>
                </a:solidFill>
                <a:latin typeface="Inter"/>
              </a:rPr>
            </a:br>
            <a:r>
              <a:rPr lang="ru-RU" sz="1200" dirty="0">
                <a:solidFill>
                  <a:srgbClr val="1A1A1A"/>
                </a:solidFill>
                <a:latin typeface="Inter"/>
              </a:rPr>
              <a:t>7 – гидроцилиндр телескопирования стрелы, 8 – люлька (платформа)</a:t>
            </a:r>
            <a:endParaRPr sz="120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07 / 16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C451BBB-5C96-4FD5-9546-369CB4A27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3277" y="1627240"/>
            <a:ext cx="4204335" cy="372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861459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2 · Подъёмник и вышка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Ключевое конструктивное отличие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Тип рабочего оборудования определяет класс машины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Сравнение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подъёмник — одно, два или более шарнирно сочленённых колена; люлька на оголовке верхнего колена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вышка — мачта (телескопическая, ножничная и др.) с люлькой (платформой) наверху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вышка предназначена только для вертикального подъёма людей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оба типа имеют системы управления, сигнализацию, указатели и ограничители безопасности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04 /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Inter"/>
              </a:rPr>
              <a:t>Именно тип рабочего оборудования отличает подъёмник от вышки.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2 · Конструкция колен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Классификация по конструкции колен (стрелы)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Рис. классификации: одно-, двух-, трёхколенный и телескопический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Типы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одноколенный — одно колено (секция стрелы)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двухколенный — два шарнирно соединённых колена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трёхколенный — три колена для увеличения зоны обслуживания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телескопический — выдвижные секции стрелы/мачты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09 /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Inter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2 · Привод и поворот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Классификация по приводу и степени поворота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Дополнительные признаки классификации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Виды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привод: гидравлический, электрический, механический, электрогидравлический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полноповоротный — вращение поворотной части с люлькой ≥ 360°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неполноповоротный — ограниченный угол поворота в плане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неповоротный — типичная схема вышки без вращения поворотной части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10 /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Inter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2 · Основные параметры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Параметры и характеристики подъёмников (вышек)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По параметрам определяют, какую работу можно выполнять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Основные параметры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грузоподъёмность — наибольшая допускаемая масса груза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высота подъёма H — наибольшее расстояние по вертикали от основания до пола люльки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вылет — горизонтальное расстояние до рабочей площадки (зоны охвата)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габариты, база, колея, опорный контур, глубина опускания, время подъёма люльки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12 /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Inter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2 · Устойчивость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Сведения об устойчивости свободностоящих машин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Устойчивость обеспечивается собственной силой тяжести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Ключевые понятия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при работе машина опирается на колёса или выносные опоры; ребро опрокидывания — край опоры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удерживающий момент МУ = G·б; опрокидывающий момент Могр = Q·а (плюс ветер и динамика)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коэффициент собственной устойчивости — отношение удерживающего момента к опрокидывающему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потеря устойчивости обычно результат нарушения правил эксплуатации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13 /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Inter"/>
              </a:rPr>
              <a:t>Подъёмники — машины повышенной опасности; необходим запас устойчивости.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2 · Выносные опоры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Аутригеры: назначение и требования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Увеличение опорной поверхности и устойчивости при работе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Правила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конструкции опор: поворотные, откидные, выдвижные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усилие поднятия/выдвижения вручную — не более 200 Н; иначе — гидропривод или иной привод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опоры устанавливают до начала работ; без опор работа на максимальном вылете недопустима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опоры предохраняют от самопроизвольного выдвижения в транспортном положении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14 /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Inter"/>
              </a:rPr>
              <a:t>Выносные опоры обязательны к установке перед началом работы.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2 · Рабочее оборудование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Колена, механизмы и люлька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Состав рабочего оборудования подъёмника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Элементы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одно–три колена, шарнирно соединённых; механизмы подъёма и поворота колен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люлька: пол (несущая площадка), ограждение по периметру, проём для входа/выхода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раздвижная платформа — увеличение площади пола выдвижением вспомогательной секции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поворотная / неповоротная люлька; электроизолированная — сопротивление изоляции ≥ 0,5 МОм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15 /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Inter"/>
              </a:rPr>
              <a:t>Электроизолированная платформа применяется при работах вблизи токоведущих частей.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Итоги темы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</a:rPr>
              <a:t>Общее устройство подъёмников (вышек)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Inter"/>
              </a:rPr>
              <a:t>Что должен знать машинист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8321"/>
            <a:ext cx="11094415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E30613"/>
                </a:solidFill>
                <a:latin typeface="Inter"/>
              </a:rPr>
              <a:t>Главные выводы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888361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2552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2552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подъёмник — шарнирные колена; вышка — мачта для вертикального подъёма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3873627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73627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классификация: назначение, конструкция колен, привод, степень поворота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48170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81702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параметры: грузоподъёмность, высота, вылет; устойчивость и аутригеры критичны для безопасности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508977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8977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</a:rPr>
              <a:t>люлька: пол, ограждение, проём; возможны раздвижные, поворотные и электроизолированные платформы</a:t>
            </a:r>
            <a:endParaRPr sz="1400" b="0" i="0" dirty="0">
              <a:solidFill>
                <a:srgbClr val="1A1A1A"/>
              </a:solidFill>
              <a:latin typeface="Inter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</a:rPr>
              <a:t>16 /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50000"/>
            <a:ext cx="10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Inter"/>
              </a:rPr>
              <a:t>Нарушение правил эксплуатации — типичная причина потери устойчивости.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979</Words>
  <Application>Microsoft Office PowerPoint</Application>
  <PresentationFormat>Широкоэкранный</PresentationFormat>
  <Paragraphs>82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smarta3@outlook.com</cp:lastModifiedBy>
  <cp:revision>5</cp:revision>
  <dcterms:created xsi:type="dcterms:W3CDTF">2013-01-27T09:14:16Z</dcterms:created>
  <dcterms:modified xsi:type="dcterms:W3CDTF">2026-07-29T10:18:03Z</dcterms:modified>
  <cp:category/>
</cp:coreProperties>
</file>