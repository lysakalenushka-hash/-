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9144000" cy="5143500"/>
  <p:embeddedFontLst>
    <p:embeddedFont>
      <p:font typeface="Roboto" panose="02000000000000000000" pitchFamily="2" charset="0"/>
      <p:regular r:id="rId36"/>
      <p:bold r:id="rId37"/>
    </p:embeddedFont>
  </p:embeddedFontLst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31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46" d="100"/>
          <a:sy n="146" d="100"/>
        </p:scale>
        <p:origin x="664" y="168"/>
      </p:cViewPr>
      <p:guideLst>
        <p:guide orient="horz" pos="531"/>
        <p:guide pos="3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9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10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1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1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1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1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1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1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1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1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19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20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2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2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2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2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2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2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2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2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29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30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3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3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3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3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lide 3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sldNum="0" hdr="0" ftr="0" dt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611188" y="543421"/>
            <a:ext cx="4678710" cy="1542157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Промышленная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безопасность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опасных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производственных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объектов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Text 1"/>
          <p:cNvSpPr/>
          <p:nvPr/>
        </p:nvSpPr>
        <p:spPr bwMode="auto">
          <a:xfrm>
            <a:off x="611188" y="2670291"/>
            <a:ext cx="4505342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Основы правового регулирования в соответствии с Федеральным законом от 21.07.1997 № 116-ФЗ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611188" y="560561"/>
            <a:ext cx="8107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Федеральный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закон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№ 116-ФЗ: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основа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промышленной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безопасности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Shape 1"/>
          <p:cNvSpPr/>
          <p:nvPr/>
        </p:nvSpPr>
        <p:spPr bwMode="auto">
          <a:xfrm>
            <a:off x="611188" y="1943026"/>
            <a:ext cx="2397621" cy="1345406"/>
          </a:xfrm>
          <a:prstGeom prst="roundRect">
            <a:avLst>
              <a:gd name="adj" fmla="val 6933"/>
            </a:avLst>
          </a:prstGeom>
          <a:solidFill>
            <a:srgbClr val="FF0000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4" name="Text 2"/>
          <p:cNvSpPr/>
          <p:nvPr/>
        </p:nvSpPr>
        <p:spPr bwMode="auto">
          <a:xfrm>
            <a:off x="740669" y="2072506"/>
            <a:ext cx="19993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 dirty="0" err="1">
                <a:solidFill>
                  <a:srgbClr val="6B7280"/>
                </a:solidFill>
                <a:latin typeface="Inter"/>
                <a:ea typeface="Host Grotesk Medium"/>
                <a:cs typeface="Host Grotesk Medium"/>
              </a:rPr>
              <a:t>Принят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 bwMode="auto">
          <a:xfrm>
            <a:off x="740669" y="2394719"/>
            <a:ext cx="2138660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 dirty="0">
                <a:solidFill>
                  <a:srgbClr val="6B7280"/>
                </a:solidFill>
                <a:latin typeface="Inter"/>
                <a:ea typeface="Roboto"/>
                <a:cs typeface="Roboto"/>
              </a:rPr>
              <a:t>21 </a:t>
            </a:r>
            <a:r>
              <a:rPr lang="en-US" sz="1000" dirty="0" err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июля</a:t>
            </a:r>
            <a:r>
              <a:rPr lang="en-US" sz="1000" dirty="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1997 </a:t>
            </a:r>
            <a:r>
              <a:rPr lang="en-US" sz="1000" dirty="0" err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года</a:t>
            </a:r>
            <a:r>
              <a:rPr lang="en-US" sz="1000" dirty="0">
                <a:solidFill>
                  <a:srgbClr val="6B7280"/>
                </a:solidFill>
                <a:latin typeface="Inter"/>
                <a:ea typeface="Roboto"/>
                <a:cs typeface="Roboto"/>
              </a:rPr>
              <a:t>. </a:t>
            </a:r>
            <a:r>
              <a:rPr lang="en-US" sz="1000" dirty="0" err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Основной</a:t>
            </a:r>
            <a:r>
              <a:rPr lang="en-US" sz="1000" dirty="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нормативный</a:t>
            </a:r>
            <a:r>
              <a:rPr lang="en-US" sz="1000" dirty="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правовой</a:t>
            </a:r>
            <a:r>
              <a:rPr lang="en-US" sz="1000" dirty="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акт</a:t>
            </a:r>
            <a:r>
              <a:rPr lang="en-US" sz="1000" dirty="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в</a:t>
            </a:r>
            <a:r>
              <a:rPr lang="en-US" sz="1000" dirty="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области</a:t>
            </a:r>
            <a:r>
              <a:rPr lang="en-US" sz="1000" dirty="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промышленной</a:t>
            </a:r>
            <a:r>
              <a:rPr lang="en-US" sz="1000" dirty="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безопасности</a:t>
            </a:r>
            <a:r>
              <a:rPr lang="en-US" sz="1000" dirty="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ОПО.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 bwMode="auto">
          <a:xfrm>
            <a:off x="3292399" y="2073346"/>
            <a:ext cx="19993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Цели закона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 bwMode="auto">
          <a:xfrm>
            <a:off x="3138290" y="2395559"/>
            <a:ext cx="5580608" cy="67352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342900" indent="-168275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Предупреждение аварий на ОПО</a:t>
            </a:r>
            <a:endParaRPr lang="en-US" sz="1000"/>
          </a:p>
          <a:p>
            <a:pPr marL="342900" indent="-168275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Обеспечение готовности к локализации и ликвидации последствий аварий</a:t>
            </a:r>
            <a:endParaRPr lang="en-US" sz="1000"/>
          </a:p>
          <a:p>
            <a:pPr marL="342900" indent="-168275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Определение правовых, экономических и социальных основ безопасной эксплуатации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 bwMode="auto">
          <a:xfrm>
            <a:off x="611188" y="3664281"/>
            <a:ext cx="7926638" cy="731713"/>
          </a:xfrm>
          <a:prstGeom prst="roundRect">
            <a:avLst>
              <a:gd name="adj" fmla="val 7436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p/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70914" y="3850911"/>
            <a:ext cx="161925" cy="129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 bwMode="auto">
          <a:xfrm>
            <a:off x="1062319" y="3826131"/>
            <a:ext cx="7557343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Закон распространяется на все организации независимо от организационно-правовой формы и формы собственности, осуществляющие деятельность на территории РФ и иных территориях под юрисдикцией России.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61008" y="538879"/>
            <a:ext cx="8107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Ключевые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понятия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: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промышленная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безопасность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и</a:t>
            </a:r>
            <a:r>
              <a:rPr lang="en-US" sz="24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24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авария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Shape 1"/>
          <p:cNvSpPr/>
          <p:nvPr/>
        </p:nvSpPr>
        <p:spPr bwMode="auto">
          <a:xfrm>
            <a:off x="518145" y="2322091"/>
            <a:ext cx="2616250" cy="1529432"/>
          </a:xfrm>
          <a:prstGeom prst="roundRect">
            <a:avLst>
              <a:gd name="adj" fmla="val 4484"/>
            </a:avLst>
          </a:prstGeom>
          <a:solidFill>
            <a:schemeClr val="accent4">
              <a:lumMod val="20000"/>
              <a:lumOff val="80000"/>
            </a:schemeClr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503858" y="2322091"/>
            <a:ext cx="57150" cy="1529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 bwMode="auto">
          <a:xfrm>
            <a:off x="704776" y="2465859"/>
            <a:ext cx="2285851" cy="38546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Промышленная</a:t>
            </a:r>
            <a:r>
              <a:rPr lang="en-US" sz="1200" b="1" dirty="0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 </a:t>
            </a:r>
            <a:r>
              <a:rPr lang="en-US" sz="1200" b="1" dirty="0" err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безопасность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 bwMode="auto">
          <a:xfrm>
            <a:off x="704776" y="2929012"/>
            <a:ext cx="2285851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Состояние защищённости жизненно важных интересов личности и общества от аварий на ОПО и последствий таких аварий.</a:t>
            </a:r>
            <a:endParaRPr lang="en-US" sz="1000"/>
          </a:p>
        </p:txBody>
      </p:sp>
      <p:sp>
        <p:nvSpPr>
          <p:cNvPr id="7" name="Shape 4"/>
          <p:cNvSpPr/>
          <p:nvPr/>
        </p:nvSpPr>
        <p:spPr bwMode="auto">
          <a:xfrm>
            <a:off x="3263875" y="2322091"/>
            <a:ext cx="2616250" cy="1529432"/>
          </a:xfrm>
          <a:prstGeom prst="roundRect">
            <a:avLst>
              <a:gd name="adj" fmla="val 4484"/>
            </a:avLst>
          </a:prstGeom>
          <a:solidFill>
            <a:schemeClr val="accent4">
              <a:lumMod val="20000"/>
              <a:lumOff val="80000"/>
            </a:schemeClr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3249588" y="2322091"/>
            <a:ext cx="57150" cy="15294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 bwMode="auto">
          <a:xfrm>
            <a:off x="3450506" y="2465859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Авария</a:t>
            </a:r>
            <a:endParaRPr lang="en-US" sz="1200"/>
          </a:p>
        </p:txBody>
      </p:sp>
      <p:sp>
        <p:nvSpPr>
          <p:cNvPr id="10" name="Text 6"/>
          <p:cNvSpPr/>
          <p:nvPr/>
        </p:nvSpPr>
        <p:spPr bwMode="auto">
          <a:xfrm>
            <a:off x="3450506" y="2736279"/>
            <a:ext cx="2285851" cy="97147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Разрушение сооружений и (или) технических устройств, применяемых на ОПО, неконтролируемые взрыв и (или) выброс опасных веществ.</a:t>
            </a:r>
            <a:endParaRPr lang="en-US" sz="1000"/>
          </a:p>
        </p:txBody>
      </p:sp>
      <p:sp>
        <p:nvSpPr>
          <p:cNvPr id="11" name="Shape 7"/>
          <p:cNvSpPr/>
          <p:nvPr/>
        </p:nvSpPr>
        <p:spPr bwMode="auto">
          <a:xfrm>
            <a:off x="6009605" y="2322091"/>
            <a:ext cx="2616250" cy="1529432"/>
          </a:xfrm>
          <a:prstGeom prst="roundRect">
            <a:avLst>
              <a:gd name="adj" fmla="val 4484"/>
            </a:avLst>
          </a:prstGeom>
          <a:solidFill>
            <a:schemeClr val="accent4">
              <a:lumMod val="20000"/>
              <a:lumOff val="80000"/>
            </a:schemeClr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5995318" y="2322091"/>
            <a:ext cx="57150" cy="15294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 bwMode="auto">
          <a:xfrm>
            <a:off x="6196236" y="2465859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Инцидент</a:t>
            </a:r>
            <a:endParaRPr lang="en-US" sz="1200"/>
          </a:p>
        </p:txBody>
      </p:sp>
      <p:sp>
        <p:nvSpPr>
          <p:cNvPr id="14" name="Text 9"/>
          <p:cNvSpPr/>
          <p:nvPr/>
        </p:nvSpPr>
        <p:spPr bwMode="auto">
          <a:xfrm>
            <a:off x="6196236" y="2736279"/>
            <a:ext cx="2285851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Отказ или повреждение технических устройств на ОПО, отклонение от установленного режима технологического процесса.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9750" y="578412"/>
            <a:ext cx="8107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Ключевые понятия: технические устройства и документация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18145" y="2235250"/>
            <a:ext cx="2616250" cy="1463447"/>
          </a:xfrm>
          <a:prstGeom prst="roundRect">
            <a:avLst>
              <a:gd name="adj" fmla="val 3195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 bwMode="auto">
          <a:xfrm>
            <a:off x="652388" y="2369493"/>
            <a:ext cx="201014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Технические устройства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 bwMode="auto">
          <a:xfrm>
            <a:off x="652388" y="2639913"/>
            <a:ext cx="2347764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Машины, оборудование, системы машин, агрегаты, аппаратура, механизмы, применяемые при эксплуатации ОПО.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 bwMode="auto">
          <a:xfrm>
            <a:off x="3263875" y="2235250"/>
            <a:ext cx="2616250" cy="1463447"/>
          </a:xfrm>
          <a:prstGeom prst="roundRect">
            <a:avLst>
              <a:gd name="adj" fmla="val 3195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 bwMode="auto">
          <a:xfrm>
            <a:off x="3398118" y="2369493"/>
            <a:ext cx="2347764" cy="38546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Обоснование безопасности ОПО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 bwMode="auto">
          <a:xfrm>
            <a:off x="3398118" y="2644620"/>
            <a:ext cx="2347764" cy="97147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Документ с результатами оценки риска аварии, условиями безопасной эксплуатации, требованиями к ремонту, консервации и ликвидации ОПО.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 bwMode="auto">
          <a:xfrm>
            <a:off x="6009605" y="2235250"/>
            <a:ext cx="2616250" cy="1463447"/>
          </a:xfrm>
          <a:prstGeom prst="roundRect">
            <a:avLst>
              <a:gd name="adj" fmla="val 3195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 bwMode="auto">
          <a:xfrm>
            <a:off x="6143848" y="2369493"/>
            <a:ext cx="2347764" cy="578197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Система управления </a:t>
            </a:r>
            <a:r>
              <a:rPr lang="ru-RU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ПБ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 bwMode="auto">
          <a:xfrm>
            <a:off x="6143848" y="2644620"/>
            <a:ext cx="2347764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Комплекс взаимосвязанных организационных и технических мероприятий для предупреждения аварий и инцидентов на ОПО.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Shape 4"/>
          <p:cNvSpPr/>
          <p:nvPr/>
        </p:nvSpPr>
        <p:spPr bwMode="auto">
          <a:xfrm>
            <a:off x="518144" y="2091034"/>
            <a:ext cx="2701749" cy="1810197"/>
          </a:xfrm>
          <a:prstGeom prst="roundRect">
            <a:avLst>
              <a:gd name="adj" fmla="val 4484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2" name="Text 0"/>
          <p:cNvSpPr/>
          <p:nvPr/>
        </p:nvSpPr>
        <p:spPr bwMode="auto">
          <a:xfrm>
            <a:off x="539750" y="560583"/>
            <a:ext cx="8107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Ключевые понятия: экспертиза и техническое перевооружение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 bwMode="auto">
          <a:xfrm>
            <a:off x="675165" y="2220516"/>
            <a:ext cx="2379613" cy="38546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Техническое перевооружение ОПО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 bwMode="auto">
          <a:xfrm>
            <a:off x="675165" y="2735461"/>
            <a:ext cx="2379613" cy="116577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Внедрение новой технологии, автоматизация ОПО или его частей, модернизация или замена технических устройств, приводящие к изменению технологического процесса.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 bwMode="auto">
          <a:xfrm>
            <a:off x="3349375" y="2091034"/>
            <a:ext cx="5024064" cy="1810197"/>
          </a:xfrm>
          <a:prstGeom prst="roundRect">
            <a:avLst>
              <a:gd name="adj" fmla="val 4841"/>
            </a:avLst>
          </a:prstGeom>
          <a:solidFill>
            <a:srgbClr val="C7E0E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 bwMode="auto">
          <a:xfrm>
            <a:off x="3524036" y="2220516"/>
            <a:ext cx="3715419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Экспертиза промышленной безопасности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 bwMode="auto">
          <a:xfrm>
            <a:off x="3524036" y="2542728"/>
            <a:ext cx="4756935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Определение соответствия объектов экспертизы требованиям промышленной безопасности (ст. 13 ФЗ № 116-ФЗ).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 bwMode="auto">
          <a:xfrm>
            <a:off x="3524036" y="3059899"/>
            <a:ext cx="2108521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Эксперт в области ПБ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 bwMode="auto">
          <a:xfrm>
            <a:off x="3524036" y="3383012"/>
            <a:ext cx="5070341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Физическое лицо, аттестованное в установленном порядке, обладающее специальными знаниями в области промышленной безопасности.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479427" y="1327877"/>
            <a:ext cx="4961455" cy="276918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 bwMode="auto">
          <a:xfrm>
            <a:off x="539750" y="500027"/>
            <a:ext cx="6840810" cy="542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Виды деятельности в области промышленной безопасности</a:t>
            </a:r>
            <a:endParaRPr lang="en-US" sz="2400"/>
          </a:p>
        </p:txBody>
      </p:sp>
      <p:sp>
        <p:nvSpPr>
          <p:cNvPr id="5" name="Text 1"/>
          <p:cNvSpPr/>
          <p:nvPr/>
        </p:nvSpPr>
        <p:spPr bwMode="auto">
          <a:xfrm>
            <a:off x="539750" y="4382880"/>
            <a:ext cx="6840810" cy="23261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Все три группы видов деятельности регулируются ст. 6 Федерального закона № 116-ФЗ и требуют соблюдения установленных требований промышленной безопасности.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539750" y="574996"/>
            <a:ext cx="4678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Что такое опасный производственный объект?</a:t>
            </a:r>
            <a:endParaRPr lang="en-US" sz="2400"/>
          </a:p>
        </p:txBody>
      </p:sp>
      <p:sp>
        <p:nvSpPr>
          <p:cNvPr id="4" name="Text 1"/>
          <p:cNvSpPr/>
          <p:nvPr/>
        </p:nvSpPr>
        <p:spPr bwMode="auto">
          <a:xfrm>
            <a:off x="539750" y="2762994"/>
            <a:ext cx="4678710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К ОПО относятся предприятия, цехи, участки, площадки и иные производственные объекты, на которых осуществляются определённые виды деятельности с опасными веществами или оборудованием.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9750" y="518889"/>
            <a:ext cx="4789363" cy="259035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ОПО: признаки по опасным веществам</a:t>
            </a:r>
            <a:endParaRPr lang="en-US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>
            <a:grayscl/>
          </a:blip>
          <a:srcRect l="2914" t="4533" r="2558" b="513"/>
          <a:stretch/>
        </p:blipFill>
        <p:spPr bwMode="auto">
          <a:xfrm>
            <a:off x="1726058" y="1191802"/>
            <a:ext cx="6267236" cy="3513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 bwMode="auto">
          <a:xfrm>
            <a:off x="1842224" y="2134504"/>
            <a:ext cx="1799834" cy="26312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Воспламеняющиеся — газы с температурой кипения ≤20°C </a:t>
            </a: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 bwMode="auto">
          <a:xfrm>
            <a:off x="1836631" y="3458740"/>
            <a:ext cx="1731255" cy="277009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Взрывчатые — быстрое химическое превращение </a:t>
            </a: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 3"/>
          <p:cNvSpPr/>
          <p:nvPr/>
        </p:nvSpPr>
        <p:spPr bwMode="auto">
          <a:xfrm>
            <a:off x="3909641" y="2137197"/>
            <a:ext cx="1876286" cy="277009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Окисляющие — поддерживают горение </a:t>
            </a: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 bwMode="auto">
          <a:xfrm>
            <a:off x="3950767" y="3458740"/>
            <a:ext cx="1876286" cy="277009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Токсичные — смертельная доза 15–200 мг/кг </a:t>
            </a: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 5"/>
          <p:cNvSpPr/>
          <p:nvPr/>
        </p:nvSpPr>
        <p:spPr bwMode="auto">
          <a:xfrm>
            <a:off x="3949110" y="4275470"/>
            <a:ext cx="3087604" cy="26312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Опасные для окружающей среды — острая токсичность в во</a:t>
            </a:r>
            <a:r>
              <a:rPr lang="ru-RU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д</a:t>
            </a: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ной среде ≤10 мг/л</a:t>
            </a: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6"/>
          <p:cNvSpPr/>
          <p:nvPr/>
        </p:nvSpPr>
        <p:spPr bwMode="auto">
          <a:xfrm>
            <a:off x="6018847" y="2137197"/>
            <a:ext cx="1904524" cy="415513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Горючие — жидкости и газы, способные самовозгораться</a:t>
            </a: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 7"/>
          <p:cNvSpPr/>
          <p:nvPr/>
        </p:nvSpPr>
        <p:spPr bwMode="auto">
          <a:xfrm>
            <a:off x="6106031" y="3458740"/>
            <a:ext cx="1817341" cy="277009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Высокотоксичные — смертельная доза ≤15 мг/кг  </a:t>
            </a: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18145" y="545381"/>
            <a:ext cx="7317135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ОПО: иные признаки отнесения объектов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18145" y="3009081"/>
            <a:ext cx="8107710" cy="14288"/>
          </a:xfrm>
          <a:prstGeom prst="roundRect">
            <a:avLst>
              <a:gd name="adj" fmla="val 380804"/>
            </a:avLst>
          </a:prstGeom>
          <a:solidFill>
            <a:srgbClr val="BFD3D8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 bwMode="auto">
          <a:xfrm>
            <a:off x="1808262" y="2620491"/>
            <a:ext cx="14288" cy="388590"/>
          </a:xfrm>
          <a:prstGeom prst="roundRect">
            <a:avLst>
              <a:gd name="adj" fmla="val 380804"/>
            </a:avLst>
          </a:prstGeom>
          <a:solidFill>
            <a:srgbClr val="BFD3D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 bwMode="auto">
          <a:xfrm>
            <a:off x="1669703" y="2863379"/>
            <a:ext cx="291405" cy="291405"/>
          </a:xfrm>
          <a:prstGeom prst="roundRect">
            <a:avLst>
              <a:gd name="adj" fmla="val 186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 bwMode="auto">
          <a:xfrm>
            <a:off x="647626" y="1443335"/>
            <a:ext cx="2335634" cy="38546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Оборудование под давлением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 bwMode="auto">
          <a:xfrm>
            <a:off x="647626" y="1906488"/>
            <a:ext cx="2335634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Пар, газ, вода (&gt;115°C) или иные жидкости при давлении более 0,07 МПа.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 bwMode="auto">
          <a:xfrm>
            <a:off x="3186559" y="3009081"/>
            <a:ext cx="14288" cy="388590"/>
          </a:xfrm>
          <a:prstGeom prst="roundRect">
            <a:avLst>
              <a:gd name="adj" fmla="val 380804"/>
            </a:avLst>
          </a:prstGeom>
          <a:solidFill>
            <a:srgbClr val="BFD3D8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 bwMode="auto">
          <a:xfrm>
            <a:off x="3048000" y="2863379"/>
            <a:ext cx="291405" cy="291405"/>
          </a:xfrm>
          <a:prstGeom prst="roundRect">
            <a:avLst>
              <a:gd name="adj" fmla="val 186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 bwMode="auto">
          <a:xfrm>
            <a:off x="2025848" y="3527226"/>
            <a:ext cx="2335709" cy="38546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Грузоподъёмные механизмы</a:t>
            </a:r>
            <a:endParaRPr lang="en-US" sz="1200"/>
          </a:p>
        </p:txBody>
      </p:sp>
      <p:sp>
        <p:nvSpPr>
          <p:cNvPr id="13" name="Text 9"/>
          <p:cNvSpPr/>
          <p:nvPr/>
        </p:nvSpPr>
        <p:spPr bwMode="auto">
          <a:xfrm>
            <a:off x="2025848" y="3990380"/>
            <a:ext cx="2335709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Стационарные грузоподъёмники, эскалаторы в метро, канатные дороги, фуникулёры.</a:t>
            </a:r>
            <a:endParaRPr lang="en-US" sz="1000"/>
          </a:p>
        </p:txBody>
      </p:sp>
      <p:sp>
        <p:nvSpPr>
          <p:cNvPr id="14" name="Shape 10"/>
          <p:cNvSpPr/>
          <p:nvPr/>
        </p:nvSpPr>
        <p:spPr bwMode="auto">
          <a:xfrm>
            <a:off x="4564782" y="2620491"/>
            <a:ext cx="14288" cy="388590"/>
          </a:xfrm>
          <a:prstGeom prst="roundRect">
            <a:avLst>
              <a:gd name="adj" fmla="val 380804"/>
            </a:avLst>
          </a:prstGeom>
          <a:solidFill>
            <a:srgbClr val="BFD3D8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 bwMode="auto">
          <a:xfrm>
            <a:off x="4426223" y="2863379"/>
            <a:ext cx="291405" cy="291405"/>
          </a:xfrm>
          <a:prstGeom prst="roundRect">
            <a:avLst>
              <a:gd name="adj" fmla="val 186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 bwMode="auto">
          <a:xfrm>
            <a:off x="3757538" y="1443335"/>
            <a:ext cx="1628775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Расплавы металлов</a:t>
            </a:r>
            <a:endParaRPr lang="en-US" sz="1200"/>
          </a:p>
        </p:txBody>
      </p:sp>
      <p:sp>
        <p:nvSpPr>
          <p:cNvPr id="18" name="Text 13"/>
          <p:cNvSpPr/>
          <p:nvPr/>
        </p:nvSpPr>
        <p:spPr bwMode="auto">
          <a:xfrm>
            <a:off x="3404146" y="1713756"/>
            <a:ext cx="2335634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Получение, транспортировка, использование расплавов чёрных и цветных металлов при объёме оборудования ≥ 500 кг.</a:t>
            </a:r>
            <a:endParaRPr lang="en-US" sz="1000"/>
          </a:p>
        </p:txBody>
      </p:sp>
      <p:sp>
        <p:nvSpPr>
          <p:cNvPr id="19" name="Shape 14"/>
          <p:cNvSpPr/>
          <p:nvPr/>
        </p:nvSpPr>
        <p:spPr bwMode="auto">
          <a:xfrm>
            <a:off x="5943079" y="3009081"/>
            <a:ext cx="14288" cy="388590"/>
          </a:xfrm>
          <a:prstGeom prst="roundRect">
            <a:avLst>
              <a:gd name="adj" fmla="val 380804"/>
            </a:avLst>
          </a:prstGeom>
          <a:solidFill>
            <a:srgbClr val="BFD3D8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 bwMode="auto">
          <a:xfrm>
            <a:off x="5804520" y="2863379"/>
            <a:ext cx="291405" cy="291405"/>
          </a:xfrm>
          <a:prstGeom prst="roundRect">
            <a:avLst>
              <a:gd name="adj" fmla="val 186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/>
          <p:nvPr/>
        </p:nvSpPr>
        <p:spPr bwMode="auto">
          <a:xfrm>
            <a:off x="5179144" y="3527226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Горные работы</a:t>
            </a:r>
            <a:endParaRPr lang="en-US" sz="1200"/>
          </a:p>
        </p:txBody>
      </p:sp>
      <p:sp>
        <p:nvSpPr>
          <p:cNvPr id="23" name="Text 17"/>
          <p:cNvSpPr/>
          <p:nvPr/>
        </p:nvSpPr>
        <p:spPr bwMode="auto">
          <a:xfrm>
            <a:off x="4782443" y="3797647"/>
            <a:ext cx="2335634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Ведение горных работ и работ по обогащению полезных ископаемых (кроме открытой добычи без взрывных работ).</a:t>
            </a:r>
            <a:endParaRPr lang="en-US" sz="1000"/>
          </a:p>
        </p:txBody>
      </p:sp>
      <p:sp>
        <p:nvSpPr>
          <p:cNvPr id="24" name="Shape 18"/>
          <p:cNvSpPr/>
          <p:nvPr/>
        </p:nvSpPr>
        <p:spPr bwMode="auto">
          <a:xfrm>
            <a:off x="7321376" y="2620491"/>
            <a:ext cx="14288" cy="388590"/>
          </a:xfrm>
          <a:prstGeom prst="roundRect">
            <a:avLst>
              <a:gd name="adj" fmla="val 380804"/>
            </a:avLst>
          </a:prstGeom>
          <a:solidFill>
            <a:srgbClr val="BFD3D8"/>
          </a:solidFill>
          <a:ln/>
        </p:spPr>
        <p:txBody>
          <a:bodyPr/>
          <a:p/>
        </p:txBody>
      </p:sp>
      <p:sp>
        <p:nvSpPr>
          <p:cNvPr id="25" name="Shape 19"/>
          <p:cNvSpPr/>
          <p:nvPr/>
        </p:nvSpPr>
        <p:spPr bwMode="auto">
          <a:xfrm>
            <a:off x="7182817" y="2863379"/>
            <a:ext cx="291405" cy="291405"/>
          </a:xfrm>
          <a:prstGeom prst="roundRect">
            <a:avLst>
              <a:gd name="adj" fmla="val 186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27" name="Text 20"/>
          <p:cNvSpPr/>
          <p:nvPr/>
        </p:nvSpPr>
        <p:spPr bwMode="auto">
          <a:xfrm>
            <a:off x="6495604" y="1443335"/>
            <a:ext cx="1665758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Растительное сырьё</a:t>
            </a:r>
            <a:endParaRPr lang="en-US" sz="1200"/>
          </a:p>
        </p:txBody>
      </p:sp>
      <p:sp>
        <p:nvSpPr>
          <p:cNvPr id="28" name="Text 21"/>
          <p:cNvSpPr/>
          <p:nvPr/>
        </p:nvSpPr>
        <p:spPr bwMode="auto">
          <a:xfrm>
            <a:off x="6160666" y="1713756"/>
            <a:ext cx="2335709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Хранение и переработка с образованием взрывоопасных пылевоздушных смесей; хранение зерна, склонного к самовозгоранию.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9750" y="560395"/>
            <a:ext cx="3575075" cy="319311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Классы опасности ОПО</a:t>
            </a:r>
            <a:endParaRPr lang="en-US" sz="2400"/>
          </a:p>
        </p:txBody>
      </p:sp>
      <p:sp>
        <p:nvSpPr>
          <p:cNvPr id="5" name="Text 1"/>
          <p:cNvSpPr/>
          <p:nvPr/>
        </p:nvSpPr>
        <p:spPr bwMode="auto">
          <a:xfrm>
            <a:off x="543520" y="4404717"/>
            <a:ext cx="8056959" cy="294233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13999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Класс опасности присваивается при регистрации ОПО в государственном реестре и определяется по количеству опасных веществ согласно таблицам Приложения 2 к ФЗ № 116-ФЗ.</a:t>
            </a:r>
            <a:endParaRPr lang="en-US" sz="10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71661" y="1137261"/>
            <a:ext cx="5400675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3947145" y="553899"/>
            <a:ext cx="4678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Требования к эксплуатации ОПО</a:t>
            </a:r>
            <a:endParaRPr lang="en-US" sz="2400"/>
          </a:p>
        </p:txBody>
      </p:sp>
      <p:sp>
        <p:nvSpPr>
          <p:cNvPr id="4" name="Text 1"/>
          <p:cNvSpPr/>
          <p:nvPr/>
        </p:nvSpPr>
        <p:spPr bwMode="auto">
          <a:xfrm>
            <a:off x="3961433" y="3683524"/>
            <a:ext cx="4678710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Обязанности организаций, эксплуатирующих опасные производственные объекты, установлены Федеральным законом № 116-ФЗ и охватывают широкий спектр организационных, технических и правовых мер.</a:t>
            </a:r>
            <a:endParaRPr lang="en-US" sz="1000"/>
          </a:p>
        </p:txBody>
      </p:sp>
      <p:sp>
        <p:nvSpPr>
          <p:cNvPr id="5" name="Text 1"/>
          <p:cNvSpPr/>
          <p:nvPr/>
        </p:nvSpPr>
        <p:spPr bwMode="auto">
          <a:xfrm>
            <a:off x="4141441" y="1916865"/>
            <a:ext cx="4247648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Требования промышленной безопасности</a:t>
            </a: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— условия, запреты, ограничения и другие обязательные требования, содержащиеся в ФЗ № 116-ФЗ, других федеральных законах, нормативных правовых актах Президента и Правительства РФ, а также федеральных нормах и правилах в области промышленной безопасности.</a:t>
            </a:r>
            <a:endParaRPr lang="en-US" sz="1000"/>
          </a:p>
        </p:txBody>
      </p:sp>
      <p:sp>
        <p:nvSpPr>
          <p:cNvPr id="6" name="Shape 2"/>
          <p:cNvSpPr/>
          <p:nvPr/>
        </p:nvSpPr>
        <p:spPr bwMode="auto">
          <a:xfrm>
            <a:off x="3947145" y="1771161"/>
            <a:ext cx="14288" cy="1224000"/>
          </a:xfrm>
          <a:prstGeom prst="rect">
            <a:avLst/>
          </a:prstGeom>
          <a:solidFill>
            <a:srgbClr val="95CCDA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18145" y="559668"/>
            <a:ext cx="8107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Обязанности организации: лицензирование и персонал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18145" y="1589782"/>
            <a:ext cx="3989115" cy="1335137"/>
          </a:xfrm>
          <a:prstGeom prst="roundRect">
            <a:avLst>
              <a:gd name="adj" fmla="val 4075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 bwMode="auto">
          <a:xfrm>
            <a:off x="532433" y="1604070"/>
            <a:ext cx="3960540" cy="388590"/>
          </a:xfrm>
          <a:prstGeom prst="roundRect">
            <a:avLst>
              <a:gd name="adj" fmla="val 9590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 bwMode="auto">
          <a:xfrm>
            <a:off x="2415555" y="1674540"/>
            <a:ext cx="194295" cy="242888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5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1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 bwMode="auto">
          <a:xfrm>
            <a:off x="661912" y="2122140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Лицензия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 bwMode="auto">
          <a:xfrm>
            <a:off x="661912" y="2392561"/>
            <a:ext cx="3701579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Иметь лицензию на конкретный вид деятельности в области ПБ, подлежащий лицензированию.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 bwMode="auto">
          <a:xfrm>
            <a:off x="4636740" y="1589782"/>
            <a:ext cx="3989115" cy="1335137"/>
          </a:xfrm>
          <a:prstGeom prst="roundRect">
            <a:avLst>
              <a:gd name="adj" fmla="val 4075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 bwMode="auto">
          <a:xfrm>
            <a:off x="4651028" y="1604070"/>
            <a:ext cx="3960540" cy="388590"/>
          </a:xfrm>
          <a:prstGeom prst="roundRect">
            <a:avLst>
              <a:gd name="adj" fmla="val 9590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 bwMode="auto">
          <a:xfrm>
            <a:off x="6534150" y="1674540"/>
            <a:ext cx="194295" cy="242888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5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2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 bwMode="auto">
          <a:xfrm>
            <a:off x="4780508" y="2122140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Уведомление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 bwMode="auto">
          <a:xfrm>
            <a:off x="4780508" y="2392561"/>
            <a:ext cx="3701579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Уведомлять федеральный орган исполнительной власти о начале осуществления деятельности.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 bwMode="auto">
          <a:xfrm>
            <a:off x="518145" y="3054400"/>
            <a:ext cx="3989115" cy="1529432"/>
          </a:xfrm>
          <a:prstGeom prst="roundRect">
            <a:avLst>
              <a:gd name="adj" fmla="val 3557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 bwMode="auto">
          <a:xfrm>
            <a:off x="532433" y="3068687"/>
            <a:ext cx="3960540" cy="388590"/>
          </a:xfrm>
          <a:prstGeom prst="roundRect">
            <a:avLst>
              <a:gd name="adj" fmla="val 9590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 bwMode="auto">
          <a:xfrm>
            <a:off x="2415555" y="3139157"/>
            <a:ext cx="194295" cy="242888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5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3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 bwMode="auto">
          <a:xfrm>
            <a:off x="661912" y="3586758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Персонал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 bwMode="auto">
          <a:xfrm>
            <a:off x="661912" y="3857179"/>
            <a:ext cx="3701579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Обеспечивать укомплектованность штата; допускать к работе лиц с нужной квалификацией и без медицинских противопоказаний.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 bwMode="auto">
          <a:xfrm>
            <a:off x="4636740" y="3054400"/>
            <a:ext cx="3989115" cy="1529432"/>
          </a:xfrm>
          <a:prstGeom prst="roundRect">
            <a:avLst>
              <a:gd name="adj" fmla="val 3557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 bwMode="auto">
          <a:xfrm>
            <a:off x="4651028" y="3068687"/>
            <a:ext cx="3960540" cy="388590"/>
          </a:xfrm>
          <a:prstGeom prst="roundRect">
            <a:avLst>
              <a:gd name="adj" fmla="val 9590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 bwMode="auto">
          <a:xfrm>
            <a:off x="6534150" y="3139157"/>
            <a:ext cx="194295" cy="242888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5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4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 bwMode="auto">
          <a:xfrm>
            <a:off x="4780508" y="3586758"/>
            <a:ext cx="2075036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Подготовка и аттестация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 bwMode="auto">
          <a:xfrm>
            <a:off x="4780508" y="3857179"/>
            <a:ext cx="3701579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Обеспечивать проведение подготовки и аттестации работников в области промышленной безопасности.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013450" y="0"/>
            <a:ext cx="3600450" cy="51437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567967" y="333970"/>
            <a:ext cx="5278026" cy="72285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5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Обязанности организации: контроль и документация</a:t>
            </a:r>
            <a:endParaRPr lang="en-US" sz="2250"/>
          </a:p>
        </p:txBody>
      </p:sp>
      <p:sp>
        <p:nvSpPr>
          <p:cNvPr id="4" name="Shape 1"/>
          <p:cNvSpPr/>
          <p:nvPr/>
        </p:nvSpPr>
        <p:spPr bwMode="auto">
          <a:xfrm>
            <a:off x="567967" y="1227609"/>
            <a:ext cx="5349946" cy="677838"/>
          </a:xfrm>
          <a:prstGeom prst="roundRect">
            <a:avLst>
              <a:gd name="adj" fmla="val 7525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 bwMode="auto">
          <a:xfrm>
            <a:off x="694173" y="1353815"/>
            <a:ext cx="1445791" cy="180677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Нормативная база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 bwMode="auto">
          <a:xfrm>
            <a:off x="694171" y="1602804"/>
            <a:ext cx="5151821" cy="176436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Иметь на ОПО нормативные правовые акты и правила ведения работ.</a:t>
            </a:r>
            <a:endParaRPr lang="en-US" sz="1000"/>
          </a:p>
        </p:txBody>
      </p:sp>
      <p:sp>
        <p:nvSpPr>
          <p:cNvPr id="7" name="Shape 4"/>
          <p:cNvSpPr/>
          <p:nvPr/>
        </p:nvSpPr>
        <p:spPr bwMode="auto">
          <a:xfrm>
            <a:off x="567967" y="2019300"/>
            <a:ext cx="5349946" cy="854273"/>
          </a:xfrm>
          <a:prstGeom prst="roundRect">
            <a:avLst>
              <a:gd name="adj" fmla="val 59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 bwMode="auto">
          <a:xfrm>
            <a:off x="694173" y="2145506"/>
            <a:ext cx="2259881" cy="180677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Производственный контроль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 bwMode="auto">
          <a:xfrm>
            <a:off x="694171" y="2394496"/>
            <a:ext cx="5151821" cy="352871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20000"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Организовывать и осуществлять производственный контроль за соблюдением требований ПБ.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 bwMode="auto">
          <a:xfrm>
            <a:off x="567967" y="2987427"/>
            <a:ext cx="5349946" cy="854273"/>
          </a:xfrm>
          <a:prstGeom prst="roundRect">
            <a:avLst>
              <a:gd name="adj" fmla="val 59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 bwMode="auto">
          <a:xfrm>
            <a:off x="694173" y="3113632"/>
            <a:ext cx="1445791" cy="180677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СУПБ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 bwMode="auto">
          <a:xfrm>
            <a:off x="694171" y="3362622"/>
            <a:ext cx="5151821" cy="352871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20000"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Создать систему управления промышленной безопасностью и обеспечивать её функционирование в установленных случаях.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 bwMode="auto">
          <a:xfrm>
            <a:off x="567967" y="3955553"/>
            <a:ext cx="5349946" cy="854273"/>
          </a:xfrm>
          <a:prstGeom prst="roundRect">
            <a:avLst>
              <a:gd name="adj" fmla="val 59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 bwMode="auto">
          <a:xfrm>
            <a:off x="694173" y="4081760"/>
            <a:ext cx="1455688" cy="180677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Приборы контроля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 bwMode="auto">
          <a:xfrm>
            <a:off x="694171" y="4330750"/>
            <a:ext cx="5151821" cy="352871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Обеспечивать наличие и функционирование необходимых приборов и систем контроля за производственными процессами.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18145" y="550951"/>
            <a:ext cx="8107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Обязанности организации: экспертиза и безопасность объекта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68740" y="1993925"/>
            <a:ext cx="2229148" cy="2121024"/>
          </a:xfrm>
          <a:prstGeom prst="roundRect">
            <a:avLst>
              <a:gd name="adj" fmla="val 4398"/>
            </a:avLst>
          </a:prstGeom>
          <a:solidFill>
            <a:srgbClr val="95CCD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 bwMode="auto">
          <a:xfrm>
            <a:off x="698221" y="2123405"/>
            <a:ext cx="1970187" cy="38546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Экспертиза и диагностика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 bwMode="auto">
          <a:xfrm>
            <a:off x="698221" y="2638351"/>
            <a:ext cx="1970187" cy="136006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Проводить экспертизу промышленной безопасности зданий, сооружений и технических устройств; диагностику, испытания, освидетельствование в установленные сроки.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 bwMode="auto">
          <a:xfrm>
            <a:off x="3025372" y="2123405"/>
            <a:ext cx="2594074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Физическая безопасность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 bwMode="auto">
          <a:xfrm>
            <a:off x="3025372" y="2445618"/>
            <a:ext cx="6206282" cy="194295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Предотвращать проникновение посторонних лиц на ОПО.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 bwMode="auto">
          <a:xfrm>
            <a:off x="3025372" y="2769394"/>
            <a:ext cx="2726085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Хранение опасных веществ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 bwMode="auto">
          <a:xfrm>
            <a:off x="3025372" y="3091607"/>
            <a:ext cx="6206282" cy="194295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Обеспечивать выполнение требований ПБ к хранению опасных веществ.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 bwMode="auto">
          <a:xfrm>
            <a:off x="3025372" y="3415382"/>
            <a:ext cx="19993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Декларация ПБ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 bwMode="auto">
          <a:xfrm>
            <a:off x="3025372" y="3737595"/>
            <a:ext cx="6206282" cy="194295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Разрабатывать декларацию промышленной безопасности в установленных случаях.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1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2433" y="558613"/>
            <a:ext cx="8107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Обязанности организации: страхование и надзор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18145" y="2225725"/>
            <a:ext cx="2616250" cy="1722165"/>
          </a:xfrm>
          <a:prstGeom prst="roundRect">
            <a:avLst>
              <a:gd name="adj" fmla="val 3982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03858" y="2225725"/>
            <a:ext cx="57150" cy="1722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 bwMode="auto">
          <a:xfrm>
            <a:off x="704776" y="2441411"/>
            <a:ext cx="2229445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Обязательное страхование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 bwMode="auto">
          <a:xfrm>
            <a:off x="704776" y="2711831"/>
            <a:ext cx="2285851" cy="97147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Заключать договор обязательного страхования гражданской ответственности владельца опасного объекта за причинение вреда в результате аварии.</a:t>
            </a:r>
            <a:endParaRPr lang="en-US" sz="1000"/>
          </a:p>
        </p:txBody>
      </p:sp>
      <p:sp>
        <p:nvSpPr>
          <p:cNvPr id="7" name="Shape 4"/>
          <p:cNvSpPr/>
          <p:nvPr/>
        </p:nvSpPr>
        <p:spPr bwMode="auto">
          <a:xfrm>
            <a:off x="3263875" y="2225725"/>
            <a:ext cx="2616250" cy="1722165"/>
          </a:xfrm>
          <a:prstGeom prst="roundRect">
            <a:avLst>
              <a:gd name="adj" fmla="val 3982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249588" y="2225725"/>
            <a:ext cx="57150" cy="17221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 bwMode="auto">
          <a:xfrm>
            <a:off x="3450506" y="2441411"/>
            <a:ext cx="2146102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Исполнение предписаний</a:t>
            </a:r>
            <a:endParaRPr lang="en-US" sz="1200"/>
          </a:p>
        </p:txBody>
      </p:sp>
      <p:sp>
        <p:nvSpPr>
          <p:cNvPr id="10" name="Text 6"/>
          <p:cNvSpPr/>
          <p:nvPr/>
        </p:nvSpPr>
        <p:spPr bwMode="auto">
          <a:xfrm>
            <a:off x="3450506" y="2711831"/>
            <a:ext cx="2285851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Выполнять указания, распоряжения и предписания федерального органа исполнительной власти в области ПБ и его территориальных органов.</a:t>
            </a:r>
            <a:endParaRPr lang="en-US" sz="1000"/>
          </a:p>
        </p:txBody>
      </p:sp>
      <p:sp>
        <p:nvSpPr>
          <p:cNvPr id="11" name="Shape 7"/>
          <p:cNvSpPr/>
          <p:nvPr/>
        </p:nvSpPr>
        <p:spPr bwMode="auto">
          <a:xfrm>
            <a:off x="6009605" y="2225725"/>
            <a:ext cx="2616250" cy="1722165"/>
          </a:xfrm>
          <a:prstGeom prst="roundRect">
            <a:avLst>
              <a:gd name="adj" fmla="val 3982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995318" y="2225725"/>
            <a:ext cx="57150" cy="17221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 bwMode="auto">
          <a:xfrm>
            <a:off x="6196236" y="2441411"/>
            <a:ext cx="2285851" cy="38546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Приостановка эксплуатации</a:t>
            </a:r>
            <a:endParaRPr lang="en-US" sz="1200"/>
          </a:p>
        </p:txBody>
      </p:sp>
      <p:sp>
        <p:nvSpPr>
          <p:cNvPr id="14" name="Text 9"/>
          <p:cNvSpPr/>
          <p:nvPr/>
        </p:nvSpPr>
        <p:spPr bwMode="auto">
          <a:xfrm>
            <a:off x="6196236" y="2711831"/>
            <a:ext cx="2285851" cy="97147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Приостанавливать эксплуатацию ОПО самостоятельно или по решению суда при аварии, инциденте или вновь открывшихся обстоятельствах.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1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9750" y="555770"/>
            <a:ext cx="8565728" cy="37951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Обязанности организации: действия при авариях</a:t>
            </a:r>
            <a:endParaRPr lang="en-US" sz="240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71641" y="1269715"/>
            <a:ext cx="6210300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1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9923" y="555861"/>
            <a:ext cx="5432078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Обязанности работников ОПО</a:t>
            </a:r>
            <a:endParaRPr lang="en-US" sz="2400"/>
          </a:p>
        </p:txBody>
      </p:sp>
      <p:sp>
        <p:nvSpPr>
          <p:cNvPr id="4" name="Text 1"/>
          <p:cNvSpPr/>
          <p:nvPr/>
        </p:nvSpPr>
        <p:spPr bwMode="auto">
          <a:xfrm>
            <a:off x="939031" y="1911176"/>
            <a:ext cx="2048991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Соблюдение требований</a:t>
            </a:r>
            <a:endParaRPr lang="en-US" sz="1200"/>
          </a:p>
        </p:txBody>
      </p:sp>
      <p:sp>
        <p:nvSpPr>
          <p:cNvPr id="5" name="Text 2"/>
          <p:cNvSpPr/>
          <p:nvPr/>
        </p:nvSpPr>
        <p:spPr bwMode="auto">
          <a:xfrm>
            <a:off x="939031" y="2181597"/>
            <a:ext cx="2173709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Соблюдать нормативные правовые акты, правила ведения работ и порядок действий при аварии или инциденте.</a:t>
            </a:r>
            <a:endParaRPr lang="en-US" sz="1000"/>
          </a:p>
        </p:txBody>
      </p:sp>
      <p:sp>
        <p:nvSpPr>
          <p:cNvPr id="7" name="Text 3"/>
          <p:cNvSpPr/>
          <p:nvPr/>
        </p:nvSpPr>
        <p:spPr bwMode="auto">
          <a:xfrm>
            <a:off x="3695551" y="1911176"/>
            <a:ext cx="2075036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Подготовка и аттестация</a:t>
            </a:r>
            <a:endParaRPr lang="en-US" sz="1200"/>
          </a:p>
        </p:txBody>
      </p:sp>
      <p:sp>
        <p:nvSpPr>
          <p:cNvPr id="8" name="Text 4"/>
          <p:cNvSpPr/>
          <p:nvPr/>
        </p:nvSpPr>
        <p:spPr bwMode="auto">
          <a:xfrm>
            <a:off x="3695551" y="2181597"/>
            <a:ext cx="2173709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Проходить подготовку и аттестацию в области промышленной безопасности.</a:t>
            </a:r>
            <a:endParaRPr lang="en-US" sz="1000"/>
          </a:p>
        </p:txBody>
      </p:sp>
      <p:sp>
        <p:nvSpPr>
          <p:cNvPr id="10" name="Text 5"/>
          <p:cNvSpPr/>
          <p:nvPr/>
        </p:nvSpPr>
        <p:spPr bwMode="auto">
          <a:xfrm>
            <a:off x="6452071" y="1911176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Оповещение</a:t>
            </a:r>
            <a:endParaRPr lang="en-US" sz="1200"/>
          </a:p>
        </p:txBody>
      </p:sp>
      <p:sp>
        <p:nvSpPr>
          <p:cNvPr id="11" name="Text 6"/>
          <p:cNvSpPr/>
          <p:nvPr/>
        </p:nvSpPr>
        <p:spPr bwMode="auto">
          <a:xfrm>
            <a:off x="6452071" y="2181597"/>
            <a:ext cx="2173784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Незамедлительно ставить в известность руководителя об аварии или инциденте на ОПО.</a:t>
            </a:r>
            <a:endParaRPr lang="en-US" sz="1000"/>
          </a:p>
        </p:txBody>
      </p:sp>
      <p:sp>
        <p:nvSpPr>
          <p:cNvPr id="13" name="Text 7"/>
          <p:cNvSpPr/>
          <p:nvPr/>
        </p:nvSpPr>
        <p:spPr bwMode="auto">
          <a:xfrm>
            <a:off x="938859" y="3595525"/>
            <a:ext cx="1805583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Приостановка работы</a:t>
            </a:r>
            <a:endParaRPr lang="en-US" sz="1200"/>
          </a:p>
        </p:txBody>
      </p:sp>
      <p:sp>
        <p:nvSpPr>
          <p:cNvPr id="14" name="Text 8"/>
          <p:cNvSpPr/>
          <p:nvPr/>
        </p:nvSpPr>
        <p:spPr bwMode="auto">
          <a:xfrm>
            <a:off x="938859" y="3865946"/>
            <a:ext cx="3552006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В установленном порядке приостанавливать работу при аварии или инциденте.</a:t>
            </a:r>
            <a:endParaRPr lang="en-US" sz="1000"/>
          </a:p>
        </p:txBody>
      </p:sp>
      <p:sp>
        <p:nvSpPr>
          <p:cNvPr id="16" name="Text 9"/>
          <p:cNvSpPr/>
          <p:nvPr/>
        </p:nvSpPr>
        <p:spPr bwMode="auto">
          <a:xfrm>
            <a:off x="5073676" y="3595525"/>
            <a:ext cx="1955750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Участие в локализации</a:t>
            </a:r>
            <a:endParaRPr lang="en-US" sz="1200"/>
          </a:p>
        </p:txBody>
      </p:sp>
      <p:sp>
        <p:nvSpPr>
          <p:cNvPr id="17" name="Text 10"/>
          <p:cNvSpPr/>
          <p:nvPr/>
        </p:nvSpPr>
        <p:spPr bwMode="auto">
          <a:xfrm>
            <a:off x="5073676" y="3865946"/>
            <a:ext cx="3552006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В установленном порядке участвовать в проведении работ по локализации аварии на ОПО.</a:t>
            </a:r>
            <a:endParaRPr lang="en-US" sz="1000"/>
          </a:p>
        </p:txBody>
      </p:sp>
      <p:sp>
        <p:nvSpPr>
          <p:cNvPr id="18" name="Скругленный прямоугольник 17"/>
          <p:cNvSpPr/>
          <p:nvPr/>
        </p:nvSpPr>
        <p:spPr bwMode="auto">
          <a:xfrm>
            <a:off x="539923" y="1911176"/>
            <a:ext cx="230639" cy="230639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 bwMode="auto">
          <a:xfrm>
            <a:off x="3299100" y="1911176"/>
            <a:ext cx="230639" cy="230639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 bwMode="auto">
          <a:xfrm>
            <a:off x="6058277" y="1911176"/>
            <a:ext cx="230639" cy="230639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1" name="Скругленный прямоугольник 20"/>
          <p:cNvSpPr/>
          <p:nvPr/>
        </p:nvSpPr>
        <p:spPr bwMode="auto">
          <a:xfrm>
            <a:off x="539750" y="3576571"/>
            <a:ext cx="230639" cy="230639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2" name="Скругленный прямоугольник 21"/>
          <p:cNvSpPr/>
          <p:nvPr/>
        </p:nvSpPr>
        <p:spPr bwMode="auto">
          <a:xfrm>
            <a:off x="4666912" y="3576570"/>
            <a:ext cx="230639" cy="230639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1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18145" y="492765"/>
            <a:ext cx="7988647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Требования зависят от класса опасности ОПО</a:t>
            </a:r>
            <a:endParaRPr lang="en-US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313687" y="1113332"/>
            <a:ext cx="6553200" cy="3657600"/>
          </a:xfrm>
          <a:prstGeom prst="rect">
            <a:avLst/>
          </a:prstGeom>
          <a:ln>
            <a:solidFill>
              <a:srgbClr val="AAAAAA"/>
            </a:solidFill>
          </a:ln>
        </p:spPr>
      </p:pic>
      <p:sp>
        <p:nvSpPr>
          <p:cNvPr id="5" name="Text 1"/>
          <p:cNvSpPr/>
          <p:nvPr/>
        </p:nvSpPr>
        <p:spPr bwMode="auto">
          <a:xfrm>
            <a:off x="1330731" y="1258117"/>
            <a:ext cx="2206643" cy="15594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I КЛАСС ОПАСНОСТИ</a:t>
            </a:r>
            <a:endParaRPr lang="en-US" sz="1200" b="1"/>
          </a:p>
        </p:txBody>
      </p:sp>
      <p:sp>
        <p:nvSpPr>
          <p:cNvPr id="6" name="Text 2"/>
          <p:cNvSpPr/>
          <p:nvPr/>
        </p:nvSpPr>
        <p:spPr bwMode="auto">
          <a:xfrm>
            <a:off x="1586465" y="1600419"/>
            <a:ext cx="1941078" cy="1237121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Лицензирование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Проверки ежегодно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Декларация ПБ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План локализации и ликвидации аварий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Горноспасательные команды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СУПБ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Постоянный госнадзор</a:t>
            </a:r>
            <a:endParaRPr lang="en-US" sz="900"/>
          </a:p>
        </p:txBody>
      </p:sp>
      <p:sp>
        <p:nvSpPr>
          <p:cNvPr id="7" name="Text 3"/>
          <p:cNvSpPr/>
          <p:nvPr/>
        </p:nvSpPr>
        <p:spPr bwMode="auto">
          <a:xfrm>
            <a:off x="2735472" y="3066326"/>
            <a:ext cx="1603804" cy="3401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III КЛАСС ОПАСНОСТИ</a:t>
            </a:r>
            <a:endParaRPr lang="en-US" sz="1200" b="1"/>
          </a:p>
        </p:txBody>
      </p:sp>
      <p:sp>
        <p:nvSpPr>
          <p:cNvPr id="8" name="Text 4"/>
          <p:cNvSpPr/>
          <p:nvPr/>
        </p:nvSpPr>
        <p:spPr bwMode="auto">
          <a:xfrm>
            <a:off x="3018851" y="3593411"/>
            <a:ext cx="1485529" cy="456061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Лицензирование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Проверки раз в 3 года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План локализации</a:t>
            </a:r>
            <a:endParaRPr lang="en-US" sz="900"/>
          </a:p>
        </p:txBody>
      </p:sp>
      <p:sp>
        <p:nvSpPr>
          <p:cNvPr id="9" name="Text 5"/>
          <p:cNvSpPr/>
          <p:nvPr/>
        </p:nvSpPr>
        <p:spPr bwMode="auto">
          <a:xfrm>
            <a:off x="5385831" y="1258117"/>
            <a:ext cx="2273506" cy="15594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II КЛАСС ОПАСНОСТИ</a:t>
            </a:r>
            <a:endParaRPr lang="en-US" sz="1200" b="1"/>
          </a:p>
        </p:txBody>
      </p:sp>
      <p:sp>
        <p:nvSpPr>
          <p:cNvPr id="10" name="Text 6"/>
          <p:cNvSpPr/>
          <p:nvPr/>
        </p:nvSpPr>
        <p:spPr bwMode="auto">
          <a:xfrm>
            <a:off x="5992058" y="1600419"/>
            <a:ext cx="1657448" cy="107462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Лицензирование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Проверки ежегодно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Декларация ПБ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План локализации и ликвидации аварий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Горноспасательные команды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СУПБ</a:t>
            </a:r>
            <a:endParaRPr lang="en-US" sz="900"/>
          </a:p>
        </p:txBody>
      </p:sp>
      <p:sp>
        <p:nvSpPr>
          <p:cNvPr id="11" name="Text 7"/>
          <p:cNvSpPr/>
          <p:nvPr/>
        </p:nvSpPr>
        <p:spPr bwMode="auto">
          <a:xfrm>
            <a:off x="5868824" y="3066326"/>
            <a:ext cx="1613315" cy="3401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IV КЛАСС ОПАСНОСТИ</a:t>
            </a:r>
            <a:endParaRPr lang="en-US" sz="1200" b="1"/>
          </a:p>
        </p:txBody>
      </p:sp>
      <p:sp>
        <p:nvSpPr>
          <p:cNvPr id="12" name="Text 8"/>
          <p:cNvSpPr/>
          <p:nvPr/>
        </p:nvSpPr>
        <p:spPr bwMode="auto">
          <a:xfrm>
            <a:off x="6037419" y="3593411"/>
            <a:ext cx="1514199" cy="293563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Без плановых проверок</a:t>
            </a:r>
            <a:endParaRPr lang="en-US" sz="900"/>
          </a:p>
          <a:p>
            <a:pPr marL="342900" indent="-342900" algn="l">
              <a:lnSpc>
                <a:spcPct val="104000"/>
              </a:lnSpc>
              <a:buSzPct val="100000"/>
              <a:buChar char="•"/>
              <a:defRPr/>
            </a:pPr>
            <a:r>
              <a:rPr lang="en-US" sz="9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План локализации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18145" y="487986"/>
            <a:ext cx="7000354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Требования для ОПО I класса опасности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18145" y="1383729"/>
            <a:ext cx="3989115" cy="1445568"/>
          </a:xfrm>
          <a:prstGeom prst="roundRect">
            <a:avLst>
              <a:gd name="adj" fmla="val 3764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52388" y="1517972"/>
            <a:ext cx="388590" cy="3885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 bwMode="auto">
          <a:xfrm>
            <a:off x="652388" y="2036043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Лицензирование</a:t>
            </a:r>
            <a:endParaRPr lang="en-US" sz="1200"/>
          </a:p>
        </p:txBody>
      </p:sp>
      <p:sp>
        <p:nvSpPr>
          <p:cNvPr id="7" name="Text 3"/>
          <p:cNvSpPr/>
          <p:nvPr/>
        </p:nvSpPr>
        <p:spPr bwMode="auto">
          <a:xfrm>
            <a:off x="652388" y="2306464"/>
            <a:ext cx="3720629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Эксплуатация взрывопожароопасных и химически опасных ОПО I класса подлежит лицензированию.</a:t>
            </a:r>
            <a:endParaRPr lang="en-US" sz="1000"/>
          </a:p>
        </p:txBody>
      </p:sp>
      <p:sp>
        <p:nvSpPr>
          <p:cNvPr id="8" name="Shape 4"/>
          <p:cNvSpPr/>
          <p:nvPr/>
        </p:nvSpPr>
        <p:spPr bwMode="auto">
          <a:xfrm>
            <a:off x="4636740" y="1383729"/>
            <a:ext cx="3989115" cy="1445568"/>
          </a:xfrm>
          <a:prstGeom prst="roundRect">
            <a:avLst>
              <a:gd name="adj" fmla="val 3764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70983" y="1517972"/>
            <a:ext cx="388590" cy="3885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 bwMode="auto">
          <a:xfrm>
            <a:off x="4770983" y="2036043"/>
            <a:ext cx="1657201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Плановые проверки</a:t>
            </a:r>
            <a:endParaRPr lang="en-US" sz="1200"/>
          </a:p>
        </p:txBody>
      </p:sp>
      <p:sp>
        <p:nvSpPr>
          <p:cNvPr id="12" name="Text 6"/>
          <p:cNvSpPr/>
          <p:nvPr/>
        </p:nvSpPr>
        <p:spPr bwMode="auto">
          <a:xfrm>
            <a:off x="4770983" y="2306464"/>
            <a:ext cx="3720629" cy="194295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Не чаще одного раза в год.</a:t>
            </a:r>
            <a:endParaRPr lang="en-US" sz="1000"/>
          </a:p>
        </p:txBody>
      </p:sp>
      <p:sp>
        <p:nvSpPr>
          <p:cNvPr id="13" name="Shape 7"/>
          <p:cNvSpPr/>
          <p:nvPr/>
        </p:nvSpPr>
        <p:spPr bwMode="auto">
          <a:xfrm>
            <a:off x="518145" y="2958778"/>
            <a:ext cx="3989115" cy="1445568"/>
          </a:xfrm>
          <a:prstGeom prst="roundRect">
            <a:avLst>
              <a:gd name="adj" fmla="val 3764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52388" y="3093021"/>
            <a:ext cx="388590" cy="38859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 bwMode="auto">
          <a:xfrm>
            <a:off x="652388" y="3611091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Декларация ПБ</a:t>
            </a:r>
            <a:endParaRPr lang="en-US" sz="1200"/>
          </a:p>
        </p:txBody>
      </p:sp>
      <p:sp>
        <p:nvSpPr>
          <p:cNvPr id="17" name="Text 9"/>
          <p:cNvSpPr/>
          <p:nvPr/>
        </p:nvSpPr>
        <p:spPr bwMode="auto">
          <a:xfrm>
            <a:off x="652388" y="3881512"/>
            <a:ext cx="3720629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Обязательна для ОПО I класса с опасными веществами в количествах по Приложению 2 к ФЗ № 116-ФЗ.</a:t>
            </a:r>
            <a:endParaRPr lang="en-US" sz="1000"/>
          </a:p>
        </p:txBody>
      </p:sp>
      <p:sp>
        <p:nvSpPr>
          <p:cNvPr id="18" name="Shape 10"/>
          <p:cNvSpPr/>
          <p:nvPr/>
        </p:nvSpPr>
        <p:spPr bwMode="auto">
          <a:xfrm>
            <a:off x="4636740" y="2958778"/>
            <a:ext cx="3989115" cy="1445568"/>
          </a:xfrm>
          <a:prstGeom prst="roundRect">
            <a:avLst>
              <a:gd name="adj" fmla="val 3764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770983" y="3093021"/>
            <a:ext cx="388590" cy="38859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 bwMode="auto">
          <a:xfrm>
            <a:off x="4770983" y="3611091"/>
            <a:ext cx="1880145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Постоянный госнадзор</a:t>
            </a:r>
            <a:endParaRPr lang="en-US" sz="1200"/>
          </a:p>
        </p:txBody>
      </p:sp>
      <p:sp>
        <p:nvSpPr>
          <p:cNvPr id="22" name="Text 12"/>
          <p:cNvSpPr/>
          <p:nvPr/>
        </p:nvSpPr>
        <p:spPr bwMode="auto">
          <a:xfrm>
            <a:off x="4770983" y="3881512"/>
            <a:ext cx="3720629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Устанавливается режим постоянного государственного надзора в соответствии с ФЗ № 294-ФЗ.</a:t>
            </a: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2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18145" y="558110"/>
            <a:ext cx="8142461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Дополнительные требования для ОПО I класса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54385" y="1963117"/>
            <a:ext cx="2566095" cy="1797100"/>
          </a:xfrm>
          <a:prstGeom prst="roundRect">
            <a:avLst>
              <a:gd name="adj" fmla="val 5190"/>
            </a:avLst>
          </a:prstGeom>
          <a:solidFill>
            <a:srgbClr val="95CCD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 bwMode="auto">
          <a:xfrm>
            <a:off x="683866" y="2092598"/>
            <a:ext cx="2665288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План локализации аварий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 bwMode="auto">
          <a:xfrm>
            <a:off x="683866" y="2414811"/>
            <a:ext cx="2307134" cy="116577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Для ОПО I класса, предусмотренных пп. 1, 4, 5, 6 Приложения 1 к ФЗ № 116-ФЗ, разрабатываются и утверждаются </a:t>
            </a: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планы мероприятий </a:t>
            </a:r>
            <a:br>
              <a:rPr lang="ru-RU" sz="1000" b="1">
                <a:solidFill>
                  <a:srgbClr val="000000"/>
                </a:solidFill>
                <a:latin typeface="Roboto"/>
                <a:ea typeface="Roboto"/>
                <a:cs typeface="Roboto"/>
              </a:rPr>
            </a:b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по локализации и ликвидации последствий аварий.</a:t>
            </a:r>
            <a:endParaRPr lang="en-US" sz="1000" b="1"/>
          </a:p>
        </p:txBody>
      </p:sp>
      <p:sp>
        <p:nvSpPr>
          <p:cNvPr id="6" name="Text 4"/>
          <p:cNvSpPr/>
          <p:nvPr/>
        </p:nvSpPr>
        <p:spPr bwMode="auto">
          <a:xfrm>
            <a:off x="3347964" y="2092598"/>
            <a:ext cx="2871490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Горноспасательные команды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 bwMode="auto">
          <a:xfrm>
            <a:off x="3347965" y="2414811"/>
            <a:ext cx="5004926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На ОПО I класса, где ведутся горные работы, создаются вспомогательные горноспасательные команды.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 bwMode="auto">
          <a:xfrm>
            <a:off x="3347964" y="2932881"/>
            <a:ext cx="19993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СУПБ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 bwMode="auto">
          <a:xfrm>
            <a:off x="3347965" y="3255094"/>
            <a:ext cx="5004926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Организации, эксплуатирующие ОПО I класса, обязаны создать системы управления промышленной безопасностью и обеспечивать их функционирование.</a:t>
            </a:r>
            <a:endParaRPr lang="en-US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2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9750" y="528563"/>
            <a:ext cx="7072461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Требования для ОПО II класса опасности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18145" y="1508373"/>
            <a:ext cx="3989115" cy="1320924"/>
          </a:xfrm>
          <a:prstGeom prst="roundRect">
            <a:avLst>
              <a:gd name="adj" fmla="val 5192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8145" y="1494086"/>
            <a:ext cx="3989115" cy="571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18370" y="1314078"/>
            <a:ext cx="388590" cy="3885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 bwMode="auto">
          <a:xfrm>
            <a:off x="2434903" y="1411188"/>
            <a:ext cx="155451" cy="194295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1</a:t>
            </a:r>
            <a:endParaRPr lang="en-US" sz="1200"/>
          </a:p>
        </p:txBody>
      </p:sp>
      <p:sp>
        <p:nvSpPr>
          <p:cNvPr id="7" name="Text 3"/>
          <p:cNvSpPr/>
          <p:nvPr/>
        </p:nvSpPr>
        <p:spPr bwMode="auto">
          <a:xfrm>
            <a:off x="661912" y="1832223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Лицензирование</a:t>
            </a:r>
            <a:endParaRPr lang="en-US" sz="1200"/>
          </a:p>
        </p:txBody>
      </p:sp>
      <p:sp>
        <p:nvSpPr>
          <p:cNvPr id="8" name="Text 4"/>
          <p:cNvSpPr/>
          <p:nvPr/>
        </p:nvSpPr>
        <p:spPr bwMode="auto">
          <a:xfrm>
            <a:off x="661912" y="2102644"/>
            <a:ext cx="3701579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Эксплуатация взрывопожароопасных и химически опасных ОПО II класса подлежит лицензированию (ФЗ № 99-ФЗ; Постановление Правительства № 1661 от 12.10.2020).</a:t>
            </a:r>
            <a:endParaRPr lang="en-US" sz="1000"/>
          </a:p>
        </p:txBody>
      </p:sp>
      <p:sp>
        <p:nvSpPr>
          <p:cNvPr id="9" name="Shape 5"/>
          <p:cNvSpPr/>
          <p:nvPr/>
        </p:nvSpPr>
        <p:spPr bwMode="auto">
          <a:xfrm>
            <a:off x="4636740" y="1508373"/>
            <a:ext cx="3989115" cy="1320924"/>
          </a:xfrm>
          <a:prstGeom prst="roundRect">
            <a:avLst>
              <a:gd name="adj" fmla="val 5192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636740" y="1494086"/>
            <a:ext cx="3989115" cy="5715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436965" y="1314078"/>
            <a:ext cx="388590" cy="3885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 bwMode="auto">
          <a:xfrm>
            <a:off x="6553498" y="1411188"/>
            <a:ext cx="155451" cy="194295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2</a:t>
            </a:r>
            <a:endParaRPr lang="en-US" sz="1200"/>
          </a:p>
        </p:txBody>
      </p:sp>
      <p:sp>
        <p:nvSpPr>
          <p:cNvPr id="13" name="Text 7"/>
          <p:cNvSpPr/>
          <p:nvPr/>
        </p:nvSpPr>
        <p:spPr bwMode="auto">
          <a:xfrm>
            <a:off x="4780508" y="1832223"/>
            <a:ext cx="1657201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Плановые проверки</a:t>
            </a:r>
            <a:endParaRPr lang="en-US" sz="1200"/>
          </a:p>
        </p:txBody>
      </p:sp>
      <p:sp>
        <p:nvSpPr>
          <p:cNvPr id="14" name="Text 8"/>
          <p:cNvSpPr/>
          <p:nvPr/>
        </p:nvSpPr>
        <p:spPr bwMode="auto">
          <a:xfrm>
            <a:off x="4780508" y="2102644"/>
            <a:ext cx="3701579" cy="194295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Не чаще одного раза в год.</a:t>
            </a:r>
            <a:endParaRPr lang="en-US" sz="1000"/>
          </a:p>
        </p:txBody>
      </p:sp>
      <p:sp>
        <p:nvSpPr>
          <p:cNvPr id="15" name="Shape 9"/>
          <p:cNvSpPr/>
          <p:nvPr/>
        </p:nvSpPr>
        <p:spPr bwMode="auto">
          <a:xfrm>
            <a:off x="518145" y="3153073"/>
            <a:ext cx="3989115" cy="1320924"/>
          </a:xfrm>
          <a:prstGeom prst="roundRect">
            <a:avLst>
              <a:gd name="adj" fmla="val 5192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8145" y="3138785"/>
            <a:ext cx="3989115" cy="5715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18370" y="2958778"/>
            <a:ext cx="388590" cy="38859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 bwMode="auto">
          <a:xfrm>
            <a:off x="2434903" y="3055888"/>
            <a:ext cx="155451" cy="194295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3</a:t>
            </a:r>
            <a:endParaRPr lang="en-US" sz="1200"/>
          </a:p>
        </p:txBody>
      </p:sp>
      <p:sp>
        <p:nvSpPr>
          <p:cNvPr id="19" name="Text 11"/>
          <p:cNvSpPr/>
          <p:nvPr/>
        </p:nvSpPr>
        <p:spPr bwMode="auto">
          <a:xfrm>
            <a:off x="661912" y="3476923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Декларация ПБ</a:t>
            </a:r>
            <a:endParaRPr lang="en-US" sz="1200"/>
          </a:p>
        </p:txBody>
      </p:sp>
      <p:sp>
        <p:nvSpPr>
          <p:cNvPr id="20" name="Text 12"/>
          <p:cNvSpPr/>
          <p:nvPr/>
        </p:nvSpPr>
        <p:spPr bwMode="auto">
          <a:xfrm>
            <a:off x="661912" y="3747343"/>
            <a:ext cx="3701579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Обязательна для ОПО II класса с опасными веществами в количествах по Приложению 2 к ФЗ № 116-ФЗ.</a:t>
            </a:r>
            <a:endParaRPr lang="en-US" sz="1000"/>
          </a:p>
        </p:txBody>
      </p:sp>
      <p:sp>
        <p:nvSpPr>
          <p:cNvPr id="21" name="Shape 13"/>
          <p:cNvSpPr/>
          <p:nvPr/>
        </p:nvSpPr>
        <p:spPr bwMode="auto">
          <a:xfrm>
            <a:off x="4636740" y="3153073"/>
            <a:ext cx="3989115" cy="1320924"/>
          </a:xfrm>
          <a:prstGeom prst="roundRect">
            <a:avLst>
              <a:gd name="adj" fmla="val 5192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636740" y="3138785"/>
            <a:ext cx="3989115" cy="5715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436965" y="2958778"/>
            <a:ext cx="388590" cy="38859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 bwMode="auto">
          <a:xfrm>
            <a:off x="6553498" y="3055888"/>
            <a:ext cx="155451" cy="194295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4</a:t>
            </a:r>
            <a:endParaRPr lang="en-US" sz="1200"/>
          </a:p>
        </p:txBody>
      </p:sp>
      <p:sp>
        <p:nvSpPr>
          <p:cNvPr id="25" name="Text 15"/>
          <p:cNvSpPr/>
          <p:nvPr/>
        </p:nvSpPr>
        <p:spPr bwMode="auto">
          <a:xfrm>
            <a:off x="4780508" y="3476923"/>
            <a:ext cx="1916013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СУПБ и горноспасатели</a:t>
            </a:r>
            <a:endParaRPr lang="en-US" sz="1200"/>
          </a:p>
        </p:txBody>
      </p:sp>
      <p:sp>
        <p:nvSpPr>
          <p:cNvPr id="26" name="Text 16"/>
          <p:cNvSpPr/>
          <p:nvPr/>
        </p:nvSpPr>
        <p:spPr bwMode="auto">
          <a:xfrm>
            <a:off x="4780508" y="3747343"/>
            <a:ext cx="3701579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Обязательное создание СУПБ; вспомогательные горноспасательные команды на объектах с горными работами.</a:t>
            </a:r>
            <a:endParaRPr lang="en-US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18145" y="557824"/>
            <a:ext cx="8045797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Требования для ОПО III и IV классов опасности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18145" y="1658095"/>
            <a:ext cx="3661172" cy="2151608"/>
          </a:xfrm>
          <a:prstGeom prst="roundRect">
            <a:avLst>
              <a:gd name="adj" fmla="val 4060"/>
            </a:avLst>
          </a:prstGeom>
          <a:solidFill>
            <a:srgbClr val="C7E0E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 bwMode="auto">
          <a:xfrm>
            <a:off x="647626" y="1787574"/>
            <a:ext cx="19993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III класс опасности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 bwMode="auto">
          <a:xfrm>
            <a:off x="647626" y="2109787"/>
            <a:ext cx="3402211" cy="1644997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Лицензирование взрывопожароопасных и химически опасных ОПО (ФЗ № 99-ФЗ; Постановление № 1661)</a:t>
            </a:r>
            <a:endParaRPr lang="en-US" sz="1000"/>
          </a:p>
          <a:p>
            <a:pPr marL="342900" indent="-34290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Плановые проверки — не чаще одного раза в </a:t>
            </a: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три года</a:t>
            </a:r>
            <a:endParaRPr lang="en-US" sz="1000"/>
          </a:p>
          <a:p>
            <a:pPr marL="342900" indent="-34290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Разработка и утверждение планов локализации и ликвидации последствий аварий (пп. 1, 4, 5, 6 Приложения 1)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 bwMode="auto">
          <a:xfrm>
            <a:off x="4406801" y="1787574"/>
            <a:ext cx="19993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IV класс опасности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 bwMode="auto">
          <a:xfrm>
            <a:off x="4406802" y="2109787"/>
            <a:ext cx="3904992" cy="628203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Плановые проверки </a:t>
            </a: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не проводятся</a:t>
            </a:r>
            <a:endParaRPr lang="en-US" sz="1000"/>
          </a:p>
          <a:p>
            <a:pPr marL="342900" indent="-34290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Планировать и осуществлять мероприятия по локализации и ликвидации последствий аварий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 bwMode="auto">
          <a:xfrm>
            <a:off x="4406801" y="2883693"/>
            <a:ext cx="4059105" cy="926009"/>
          </a:xfrm>
          <a:prstGeom prst="roundRect">
            <a:avLst>
              <a:gd name="adj" fmla="val 5876"/>
            </a:avLst>
          </a:prstGeom>
          <a:solidFill>
            <a:srgbClr val="B6D6FC"/>
          </a:solidFill>
          <a:ln/>
        </p:spPr>
        <p:txBody>
          <a:bodyPr/>
          <a:p/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36281" y="3070324"/>
            <a:ext cx="161925" cy="129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 bwMode="auto">
          <a:xfrm>
            <a:off x="4827687" y="3045544"/>
            <a:ext cx="3766691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IV класс — минимальные требования надзора, но обязанность по планированию аварийных мероприятий сохраняется.</a:t>
            </a:r>
            <a:endParaRPr lang="en-US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2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539750" y="564722"/>
            <a:ext cx="4678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Производственный контроль на ОПО</a:t>
            </a:r>
            <a:endParaRPr lang="en-US" sz="2400"/>
          </a:p>
        </p:txBody>
      </p:sp>
      <p:sp>
        <p:nvSpPr>
          <p:cNvPr id="4" name="Text 1"/>
          <p:cNvSpPr/>
          <p:nvPr/>
        </p:nvSpPr>
        <p:spPr bwMode="auto">
          <a:xfrm>
            <a:off x="539750" y="2571750"/>
            <a:ext cx="4678710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Организация обязана организовывать и осуществлять производственный контроль за соблюдением требований промышленной безопасности. Это один из ключевых инструментов предупреждения аварий и инцидентов.</a:t>
            </a:r>
            <a:endParaRPr lang="en-US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2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9750" y="530083"/>
            <a:ext cx="8107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Система управления промышленной безопасностью (СУПБ)</a:t>
            </a:r>
            <a:endParaRPr lang="en-US" sz="2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30994" y="1501601"/>
            <a:ext cx="7282011" cy="2636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 bwMode="auto">
          <a:xfrm>
            <a:off x="1465530" y="3499690"/>
            <a:ext cx="3124498" cy="217007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Предупреждение мероприятия</a:t>
            </a:r>
            <a:endParaRPr lang="en-US" sz="1350" b="1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 bwMode="auto">
          <a:xfrm>
            <a:off x="1465530" y="2705139"/>
            <a:ext cx="2741663" cy="217007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Технические мероприятия</a:t>
            </a:r>
            <a:endParaRPr lang="en-US" sz="1350" b="1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 bwMode="auto">
          <a:xfrm>
            <a:off x="1465530" y="1902479"/>
            <a:ext cx="3241046" cy="217007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Организационные мероприятия</a:t>
            </a:r>
            <a:endParaRPr lang="en-US" sz="1350" b="1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 bwMode="auto">
          <a:xfrm>
            <a:off x="539750" y="4293339"/>
            <a:ext cx="8107710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СУПБ</a:t>
            </a: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— комплекс взаимосвязанных организационных и технических мероприятий, направленных на предупреждение аварий, локализацию и ликвидацию их последствий. Обязательна для ОПО I и II классов опасности.</a:t>
            </a:r>
            <a:endParaRPr lang="en-US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2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54385" y="538067"/>
            <a:ext cx="7478167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Декларация промышленной безопасности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39750" y="1929929"/>
            <a:ext cx="2144911" cy="1863403"/>
          </a:xfrm>
          <a:prstGeom prst="roundRect">
            <a:avLst>
              <a:gd name="adj" fmla="val 5006"/>
            </a:avLst>
          </a:prstGeom>
          <a:solidFill>
            <a:srgbClr val="95CCD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 bwMode="auto">
          <a:xfrm>
            <a:off x="669231" y="2059409"/>
            <a:ext cx="19993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Что это?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 bwMode="auto">
          <a:xfrm>
            <a:off x="669231" y="2381622"/>
            <a:ext cx="1885950" cy="116577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Документ, в котором организация оценивает риски аварий, определяет условия безопасной эксплуатации и меры по предупреждению аварий на ОПО.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 bwMode="auto">
          <a:xfrm>
            <a:off x="2912145" y="2059409"/>
            <a:ext cx="2324993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Для кого обязательна?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 bwMode="auto">
          <a:xfrm>
            <a:off x="2912144" y="2381622"/>
            <a:ext cx="5348277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Для ОПО </a:t>
            </a: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I и II классов</a:t>
            </a: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 опасности, на которых получаются, используются, перерабатываются, хранятся, транспортируются или уничтожаются опасные вещества в количествах, указанных в Приложении 2 к ФЗ № 116-ФЗ.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 bwMode="auto">
          <a:xfrm>
            <a:off x="2912145" y="3110210"/>
            <a:ext cx="5266083" cy="683122"/>
          </a:xfrm>
          <a:prstGeom prst="roundRect">
            <a:avLst>
              <a:gd name="adj" fmla="val 10124"/>
            </a:avLst>
          </a:prstGeom>
          <a:solidFill>
            <a:srgbClr val="C6E4EB"/>
          </a:solidFill>
          <a:ln/>
        </p:spPr>
        <p:txBody>
          <a:bodyPr/>
          <a:p/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041625" y="3296841"/>
            <a:ext cx="161925" cy="129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 bwMode="auto">
          <a:xfrm>
            <a:off x="3333031" y="3272061"/>
            <a:ext cx="4699521" cy="19429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Исключение: использование взрывчатых веществ при проведении взрывных работ.</a:t>
            </a:r>
            <a:endParaRPr lang="en-US"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2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9750" y="566133"/>
            <a:ext cx="8107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Экспертиза промышленной безопасности: ключевые аспекты</a:t>
            </a:r>
            <a:endParaRPr lang="en-US" sz="2400"/>
          </a:p>
        </p:txBody>
      </p:sp>
      <p:sp>
        <p:nvSpPr>
          <p:cNvPr id="4" name="Text 1"/>
          <p:cNvSpPr/>
          <p:nvPr/>
        </p:nvSpPr>
        <p:spPr bwMode="auto">
          <a:xfrm>
            <a:off x="518145" y="2708746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Цель экспертизы</a:t>
            </a:r>
            <a:endParaRPr lang="en-US" sz="1200"/>
          </a:p>
        </p:txBody>
      </p:sp>
      <p:sp>
        <p:nvSpPr>
          <p:cNvPr id="5" name="Text 2"/>
          <p:cNvSpPr/>
          <p:nvPr/>
        </p:nvSpPr>
        <p:spPr bwMode="auto">
          <a:xfrm>
            <a:off x="518145" y="2979167"/>
            <a:ext cx="2594595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Определение соответствия объектов экспертизы требованиям промышленной безопасности (ст. 13 ФЗ № 116-ФЗ).</a:t>
            </a:r>
            <a:endParaRPr lang="en-US" sz="1000"/>
          </a:p>
        </p:txBody>
      </p:sp>
      <p:sp>
        <p:nvSpPr>
          <p:cNvPr id="7" name="Text 3"/>
          <p:cNvSpPr/>
          <p:nvPr/>
        </p:nvSpPr>
        <p:spPr bwMode="auto">
          <a:xfrm>
            <a:off x="3274665" y="2708746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Кто проводит</a:t>
            </a:r>
            <a:endParaRPr lang="en-US" sz="1200"/>
          </a:p>
        </p:txBody>
      </p:sp>
      <p:sp>
        <p:nvSpPr>
          <p:cNvPr id="8" name="Text 4"/>
          <p:cNvSpPr/>
          <p:nvPr/>
        </p:nvSpPr>
        <p:spPr bwMode="auto">
          <a:xfrm>
            <a:off x="3274665" y="2979167"/>
            <a:ext cx="2468589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Эксперт в области ПБ — физическое лицо, аттестованное в порядке, установленном Правительством РФ, обладающее специальными знаниями.</a:t>
            </a:r>
            <a:endParaRPr lang="en-US" sz="1000"/>
          </a:p>
        </p:txBody>
      </p:sp>
      <p:sp>
        <p:nvSpPr>
          <p:cNvPr id="10" name="Text 5"/>
          <p:cNvSpPr/>
          <p:nvPr/>
        </p:nvSpPr>
        <p:spPr bwMode="auto">
          <a:xfrm>
            <a:off x="6031185" y="2708746"/>
            <a:ext cx="1734294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Объекты экспертизы</a:t>
            </a:r>
            <a:endParaRPr lang="en-US" sz="1200"/>
          </a:p>
        </p:txBody>
      </p:sp>
      <p:sp>
        <p:nvSpPr>
          <p:cNvPr id="11" name="Text 6"/>
          <p:cNvSpPr/>
          <p:nvPr/>
        </p:nvSpPr>
        <p:spPr bwMode="auto">
          <a:xfrm>
            <a:off x="6031185" y="2979167"/>
            <a:ext cx="2594670" cy="97147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Здания, сооружения и технические устройства, применяемые на ОПО; диагностика, испытания, освидетельствование в установленные сроки.</a:t>
            </a:r>
            <a:endParaRPr lang="en-US" sz="1000"/>
          </a:p>
        </p:txBody>
      </p:sp>
      <p:sp>
        <p:nvSpPr>
          <p:cNvPr id="12" name="Скругленный прямоугольник 11"/>
          <p:cNvSpPr/>
          <p:nvPr/>
        </p:nvSpPr>
        <p:spPr bwMode="auto">
          <a:xfrm>
            <a:off x="518145" y="2323943"/>
            <a:ext cx="230639" cy="230639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 bwMode="auto">
          <a:xfrm>
            <a:off x="3274665" y="2320260"/>
            <a:ext cx="230639" cy="230639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 bwMode="auto">
          <a:xfrm>
            <a:off x="6031185" y="2316577"/>
            <a:ext cx="230639" cy="230639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2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9750" y="564747"/>
            <a:ext cx="5766048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Обоснование безопасности ОПО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18145" y="2236738"/>
            <a:ext cx="2616250" cy="1314524"/>
          </a:xfrm>
          <a:prstGeom prst="roundRect">
            <a:avLst>
              <a:gd name="adj" fmla="val 10365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 bwMode="auto">
          <a:xfrm>
            <a:off x="652388" y="2504543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Оценка риска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 bwMode="auto">
          <a:xfrm>
            <a:off x="652388" y="2774964"/>
            <a:ext cx="2347764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Сведения о результатах оценки риска аварии и связанной с ней угрозы для жизни и здоровья людей.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 bwMode="auto">
          <a:xfrm>
            <a:off x="3263875" y="2236738"/>
            <a:ext cx="2616250" cy="1314524"/>
          </a:xfrm>
          <a:prstGeom prst="roundRect">
            <a:avLst>
              <a:gd name="adj" fmla="val 8802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 bwMode="auto">
          <a:xfrm>
            <a:off x="3398118" y="2504543"/>
            <a:ext cx="1864296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Условия эксплуатации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 bwMode="auto">
          <a:xfrm>
            <a:off x="3398118" y="2774964"/>
            <a:ext cx="2347764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Условия безопасной эксплуатации опасного производственного объекта.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 bwMode="auto">
          <a:xfrm>
            <a:off x="6009605" y="2236738"/>
            <a:ext cx="2616250" cy="1314524"/>
          </a:xfrm>
          <a:prstGeom prst="roundRect">
            <a:avLst>
              <a:gd name="adj" fmla="val 10365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 bwMode="auto">
          <a:xfrm>
            <a:off x="6143848" y="2504543"/>
            <a:ext cx="2347764" cy="38546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Требования к жизненному циклу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 bwMode="auto">
          <a:xfrm>
            <a:off x="6143848" y="2774963"/>
            <a:ext cx="2347764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Требования к эксплуатации, капитальному ремонту, консервации и ликвидации ОПО.</a:t>
            </a:r>
            <a:endParaRPr lang="en-US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2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9750" y="533335"/>
            <a:ext cx="5218509" cy="319311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Техническое перевооружение ОПО</a:t>
            </a:r>
            <a:endParaRPr lang="en-US" sz="2400"/>
          </a:p>
        </p:txBody>
      </p:sp>
      <p:sp>
        <p:nvSpPr>
          <p:cNvPr id="5" name="Text 1"/>
          <p:cNvSpPr/>
          <p:nvPr/>
        </p:nvSpPr>
        <p:spPr bwMode="auto">
          <a:xfrm>
            <a:off x="543520" y="4257601"/>
            <a:ext cx="7501145" cy="294233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13999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Техническое перевооружение требует соблюдения требований промышленной безопасности и может потребовать обновления обоснования безопасности ОПО.</a:t>
            </a:r>
            <a:endParaRPr lang="en-US" sz="10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95400" y="1190625"/>
            <a:ext cx="6553200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3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54385" y="530987"/>
            <a:ext cx="7912819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Регистрация ОПО в государственном реестре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39750" y="2091779"/>
            <a:ext cx="3071515" cy="1539701"/>
          </a:xfrm>
          <a:prstGeom prst="roundRect">
            <a:avLst>
              <a:gd name="adj" fmla="val 6058"/>
            </a:avLst>
          </a:prstGeom>
          <a:solidFill>
            <a:srgbClr val="C7E0E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 bwMode="auto">
          <a:xfrm>
            <a:off x="669231" y="2221260"/>
            <a:ext cx="2701230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Зачем нужна регистрация?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 bwMode="auto">
          <a:xfrm>
            <a:off x="669231" y="2543473"/>
            <a:ext cx="2812553" cy="97147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При регистрации ОПО в государственном реестре присваивается класс опасности. Это определяет весь объём требований, которым должна соответствовать эксплуатирующая организация.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 bwMode="auto">
          <a:xfrm>
            <a:off x="3838749" y="2221260"/>
            <a:ext cx="2313980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Что определяет класс?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 bwMode="auto">
          <a:xfrm>
            <a:off x="3838749" y="2543473"/>
            <a:ext cx="4493593" cy="893713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25000"/>
              </a:lnSpc>
              <a:spcAft>
                <a:spcPts val="900"/>
              </a:spcAft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Для объектов с опасными веществами — количество вещества, одновременно находящегося на ОПО, согласно таблицам 1 и 2 Приложения 2 к ФЗ № 116-ФЗ.</a:t>
            </a:r>
            <a:endParaRPr lang="en-US" sz="1000"/>
          </a:p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Для иных ОПО — критерии Приложения 2 к Закону о промышленной безопасности.</a:t>
            </a:r>
            <a:endParaRPr lang="en-US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3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3947145" y="539456"/>
            <a:ext cx="4678710" cy="77107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Локализация и ликвидация последствий аварий</a:t>
            </a:r>
            <a:endParaRPr lang="en-US" sz="2400"/>
          </a:p>
        </p:txBody>
      </p:sp>
      <p:sp>
        <p:nvSpPr>
          <p:cNvPr id="4" name="Text 1"/>
          <p:cNvSpPr/>
          <p:nvPr/>
        </p:nvSpPr>
        <p:spPr bwMode="auto">
          <a:xfrm>
            <a:off x="3947145" y="2665809"/>
            <a:ext cx="4678710" cy="7771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Организация обязана осуществлять </a:t>
            </a: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мероприятия по локализации и ликвидации последствий аварий</a:t>
            </a: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, оказывать содействие государственным органам в расследовании причин, принимать меры по устранению причин и профилактике подобных аварий.</a:t>
            </a:r>
            <a:endParaRPr lang="en-US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3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9750" y="520154"/>
            <a:ext cx="7961114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Планы мероприятий по локализации аварий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39750" y="2522971"/>
            <a:ext cx="8107710" cy="14288"/>
          </a:xfrm>
          <a:prstGeom prst="roundRect">
            <a:avLst>
              <a:gd name="adj" fmla="val 380804"/>
            </a:avLst>
          </a:prstGeom>
          <a:solidFill>
            <a:srgbClr val="BFD3D8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 bwMode="auto">
          <a:xfrm>
            <a:off x="2105571" y="2134381"/>
            <a:ext cx="14288" cy="388590"/>
          </a:xfrm>
          <a:prstGeom prst="roundRect">
            <a:avLst>
              <a:gd name="adj" fmla="val 380804"/>
            </a:avLst>
          </a:prstGeom>
          <a:solidFill>
            <a:srgbClr val="BFD3D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 bwMode="auto">
          <a:xfrm>
            <a:off x="1967012" y="2377268"/>
            <a:ext cx="291405" cy="291405"/>
          </a:xfrm>
          <a:prstGeom prst="roundRect">
            <a:avLst>
              <a:gd name="adj" fmla="val 186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 bwMode="auto">
          <a:xfrm>
            <a:off x="2020218" y="2407332"/>
            <a:ext cx="184992" cy="23127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5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1</a:t>
            </a:r>
            <a:endParaRPr lang="en-US" sz="1450"/>
          </a:p>
        </p:txBody>
      </p:sp>
      <p:sp>
        <p:nvSpPr>
          <p:cNvPr id="7" name="Text 5"/>
          <p:cNvSpPr/>
          <p:nvPr/>
        </p:nvSpPr>
        <p:spPr bwMode="auto">
          <a:xfrm>
            <a:off x="1341635" y="1345815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I класс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 bwMode="auto">
          <a:xfrm>
            <a:off x="669231" y="1616236"/>
            <a:ext cx="2886968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Обязательная разработка и утверждение планов для ОПО по пп. 1, 4, 5, 6 Приложения 1.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 bwMode="auto">
          <a:xfrm>
            <a:off x="3759498" y="2522971"/>
            <a:ext cx="14288" cy="388590"/>
          </a:xfrm>
          <a:prstGeom prst="roundRect">
            <a:avLst>
              <a:gd name="adj" fmla="val 380804"/>
            </a:avLst>
          </a:prstGeom>
          <a:solidFill>
            <a:srgbClr val="BFD3D8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 bwMode="auto">
          <a:xfrm>
            <a:off x="3620939" y="2377268"/>
            <a:ext cx="291405" cy="291405"/>
          </a:xfrm>
          <a:prstGeom prst="roundRect">
            <a:avLst>
              <a:gd name="adj" fmla="val 186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 bwMode="auto">
          <a:xfrm>
            <a:off x="3674145" y="2407332"/>
            <a:ext cx="184992" cy="23127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5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2</a:t>
            </a:r>
            <a:endParaRPr lang="en-US" sz="1450"/>
          </a:p>
        </p:txBody>
      </p:sp>
      <p:sp>
        <p:nvSpPr>
          <p:cNvPr id="12" name="Text 10"/>
          <p:cNvSpPr/>
          <p:nvPr/>
        </p:nvSpPr>
        <p:spPr bwMode="auto">
          <a:xfrm>
            <a:off x="2995563" y="3041116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II класс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 bwMode="auto">
          <a:xfrm>
            <a:off x="2323158" y="3311537"/>
            <a:ext cx="2886968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Обязательная разработка и утверждение планов для ОПО по пп. 1, 4, 5, 6 Приложения 1.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 bwMode="auto">
          <a:xfrm>
            <a:off x="5413425" y="2134381"/>
            <a:ext cx="14288" cy="388590"/>
          </a:xfrm>
          <a:prstGeom prst="roundRect">
            <a:avLst>
              <a:gd name="adj" fmla="val 380804"/>
            </a:avLst>
          </a:prstGeom>
          <a:solidFill>
            <a:srgbClr val="BFD3D8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 bwMode="auto">
          <a:xfrm>
            <a:off x="5274866" y="2377268"/>
            <a:ext cx="291405" cy="291405"/>
          </a:xfrm>
          <a:prstGeom prst="roundRect">
            <a:avLst>
              <a:gd name="adj" fmla="val 186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 bwMode="auto">
          <a:xfrm>
            <a:off x="5328072" y="2407332"/>
            <a:ext cx="184992" cy="23127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5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3</a:t>
            </a:r>
            <a:endParaRPr lang="en-US" sz="1450"/>
          </a:p>
        </p:txBody>
      </p:sp>
      <p:sp>
        <p:nvSpPr>
          <p:cNvPr id="17" name="Text 15"/>
          <p:cNvSpPr/>
          <p:nvPr/>
        </p:nvSpPr>
        <p:spPr bwMode="auto">
          <a:xfrm>
            <a:off x="4649490" y="1345815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III класс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 bwMode="auto">
          <a:xfrm>
            <a:off x="3977084" y="1616236"/>
            <a:ext cx="2886968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Обязательная разработка и утверждение планов для ОПО по пп. 1, 4, 5, 6 Приложения 1.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 bwMode="auto">
          <a:xfrm>
            <a:off x="7067352" y="2522971"/>
            <a:ext cx="14288" cy="388590"/>
          </a:xfrm>
          <a:prstGeom prst="roundRect">
            <a:avLst>
              <a:gd name="adj" fmla="val 380804"/>
            </a:avLst>
          </a:prstGeom>
          <a:solidFill>
            <a:srgbClr val="BFD3D8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 bwMode="auto">
          <a:xfrm>
            <a:off x="6928793" y="2377268"/>
            <a:ext cx="291405" cy="291405"/>
          </a:xfrm>
          <a:prstGeom prst="roundRect">
            <a:avLst>
              <a:gd name="adj" fmla="val 18671"/>
            </a:avLst>
          </a:prstGeom>
          <a:solidFill>
            <a:srgbClr val="FEF3C7"/>
          </a:solidFill>
          <a:ln w="4763">
            <a:solidFill>
              <a:srgbClr val="BFD3D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 bwMode="auto">
          <a:xfrm>
            <a:off x="6981999" y="2407332"/>
            <a:ext cx="184992" cy="23127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5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4</a:t>
            </a:r>
            <a:endParaRPr lang="en-US" sz="1450"/>
          </a:p>
        </p:txBody>
      </p:sp>
      <p:sp>
        <p:nvSpPr>
          <p:cNvPr id="22" name="Text 20"/>
          <p:cNvSpPr/>
          <p:nvPr/>
        </p:nvSpPr>
        <p:spPr bwMode="auto">
          <a:xfrm>
            <a:off x="6303417" y="3041116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IV класс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 bwMode="auto">
          <a:xfrm>
            <a:off x="5631011" y="3311537"/>
            <a:ext cx="2886968" cy="58288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/>
          </a:bodyPr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Планировать и осуществлять мероприятия по локализации и ликвидации последствий аварий.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 bwMode="auto">
          <a:xfrm>
            <a:off x="539750" y="4267367"/>
            <a:ext cx="8107710" cy="537418"/>
          </a:xfrm>
          <a:prstGeom prst="roundRect">
            <a:avLst>
              <a:gd name="adj" fmla="val 10124"/>
            </a:avLst>
          </a:prstGeom>
          <a:solidFill>
            <a:srgbClr val="C7E0E7"/>
          </a:solidFill>
          <a:ln/>
        </p:spPr>
        <p:txBody>
          <a:bodyPr/>
          <a:p/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9231" y="4453997"/>
            <a:ext cx="161925" cy="1294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 bwMode="auto">
          <a:xfrm>
            <a:off x="960636" y="4429217"/>
            <a:ext cx="8014543" cy="194295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 b="1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Планы локализации аварий обязательны для всех четырёх классов опасности ОПО.</a:t>
            </a:r>
            <a:endParaRPr lang="en-US" sz="1000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3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32433" y="576685"/>
            <a:ext cx="7946603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Учёт и отчётность по авариям и инцидентам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18145" y="2032918"/>
            <a:ext cx="2616250" cy="1722165"/>
          </a:xfrm>
          <a:prstGeom prst="roundRect">
            <a:avLst>
              <a:gd name="adj" fmla="val 3982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03858" y="2032918"/>
            <a:ext cx="57150" cy="1722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 bwMode="auto">
          <a:xfrm>
            <a:off x="704776" y="2176686"/>
            <a:ext cx="15421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Ведение учёта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 bwMode="auto">
          <a:xfrm>
            <a:off x="704776" y="2447106"/>
            <a:ext cx="2285851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Организация обязана вести учёт всех аварий и инцидентов на ОПО.</a:t>
            </a:r>
            <a:endParaRPr lang="en-US" sz="1000"/>
          </a:p>
        </p:txBody>
      </p:sp>
      <p:sp>
        <p:nvSpPr>
          <p:cNvPr id="7" name="Shape 4"/>
          <p:cNvSpPr/>
          <p:nvPr/>
        </p:nvSpPr>
        <p:spPr bwMode="auto">
          <a:xfrm>
            <a:off x="3263875" y="2032918"/>
            <a:ext cx="2616250" cy="1722165"/>
          </a:xfrm>
          <a:prstGeom prst="roundRect">
            <a:avLst>
              <a:gd name="adj" fmla="val 3982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249588" y="2032918"/>
            <a:ext cx="57150" cy="17221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 bwMode="auto">
          <a:xfrm>
            <a:off x="3450506" y="2176686"/>
            <a:ext cx="1648644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Анализ инцидентов</a:t>
            </a:r>
            <a:endParaRPr lang="en-US" sz="1200"/>
          </a:p>
        </p:txBody>
      </p:sp>
      <p:sp>
        <p:nvSpPr>
          <p:cNvPr id="10" name="Text 6"/>
          <p:cNvSpPr/>
          <p:nvPr/>
        </p:nvSpPr>
        <p:spPr bwMode="auto">
          <a:xfrm>
            <a:off x="3450506" y="2447106"/>
            <a:ext cx="2285851" cy="97147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Анализировать причины возникновения инцидентов, принимать меры по устранению причин и профилактике подобных инцидентов.</a:t>
            </a:r>
            <a:endParaRPr lang="en-US" sz="1000"/>
          </a:p>
        </p:txBody>
      </p:sp>
      <p:sp>
        <p:nvSpPr>
          <p:cNvPr id="11" name="Shape 7"/>
          <p:cNvSpPr/>
          <p:nvPr/>
        </p:nvSpPr>
        <p:spPr bwMode="auto">
          <a:xfrm>
            <a:off x="6009605" y="2032918"/>
            <a:ext cx="2616250" cy="1722165"/>
          </a:xfrm>
          <a:prstGeom prst="roundRect">
            <a:avLst>
              <a:gd name="adj" fmla="val 3982"/>
            </a:avLst>
          </a:prstGeom>
          <a:solidFill>
            <a:srgbClr val="FAFAFA"/>
          </a:solidFill>
          <a:ln w="14288">
            <a:solidFill>
              <a:srgbClr val="BFD3D8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995318" y="2032918"/>
            <a:ext cx="57150" cy="17221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 bwMode="auto">
          <a:xfrm>
            <a:off x="6196236" y="2176686"/>
            <a:ext cx="2285851" cy="38546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Представление информации</a:t>
            </a:r>
            <a:endParaRPr lang="en-US" sz="1200"/>
          </a:p>
        </p:txBody>
      </p:sp>
      <p:sp>
        <p:nvSpPr>
          <p:cNvPr id="14" name="Text 9"/>
          <p:cNvSpPr/>
          <p:nvPr/>
        </p:nvSpPr>
        <p:spPr bwMode="auto">
          <a:xfrm>
            <a:off x="6196236" y="2639839"/>
            <a:ext cx="2285851" cy="97147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Представлять в федеральный орган исполнительной власти в области ПБ информацию о количестве аварий и инцидентов, причинах и принятых мерах.</a:t>
            </a:r>
            <a:endParaRPr lang="en-US"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3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54385" y="548709"/>
            <a:ext cx="8215461" cy="38553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Ответственность за нарушение требований ПБ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 bwMode="auto">
          <a:xfrm>
            <a:off x="539750" y="1929929"/>
            <a:ext cx="2397621" cy="1863403"/>
          </a:xfrm>
          <a:prstGeom prst="roundRect">
            <a:avLst>
              <a:gd name="adj" fmla="val 5006"/>
            </a:avLst>
          </a:prstGeom>
          <a:solidFill>
            <a:srgbClr val="95CCD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 bwMode="auto">
          <a:xfrm>
            <a:off x="669231" y="2059409"/>
            <a:ext cx="19993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Организация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 bwMode="auto">
          <a:xfrm>
            <a:off x="669231" y="2381622"/>
            <a:ext cx="2138660" cy="116577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Несёт ответственность за соблюдение всех требований ФЗ № 116-ФЗ, нормативных актов Президента и Правительства РФ, федеральных норм и правил в области ПБ.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 bwMode="auto">
          <a:xfrm>
            <a:off x="3164855" y="2059409"/>
            <a:ext cx="1999357" cy="192732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Работники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 bwMode="auto">
          <a:xfrm>
            <a:off x="3164855" y="2381622"/>
            <a:ext cx="5138494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Обязаны соблюдать требования ПБ, проходить аттестацию, незамедлительно сообщать об авариях и инцидентах, участвовать в локализации аварий.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 bwMode="auto">
          <a:xfrm>
            <a:off x="3164855" y="2915915"/>
            <a:ext cx="5035753" cy="877417"/>
          </a:xfrm>
          <a:prstGeom prst="roundRect">
            <a:avLst>
              <a:gd name="adj" fmla="val 7436"/>
            </a:avLst>
          </a:prstGeom>
          <a:solidFill>
            <a:srgbClr val="E9CFC9"/>
          </a:solidFill>
          <a:ln/>
        </p:spPr>
        <p:txBody>
          <a:bodyPr/>
          <a:p/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294336" y="3102546"/>
            <a:ext cx="161925" cy="129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 bwMode="auto">
          <a:xfrm>
            <a:off x="3585741" y="3077766"/>
            <a:ext cx="4378561" cy="38859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Нарушение требований промышленной безопасности влечёт административную и уголовную ответственность в соответствии с законодательством РФ.</a:t>
            </a:r>
            <a:endParaRPr lang="en-US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 name="Slide 3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533194" y="577934"/>
            <a:ext cx="5227216" cy="337319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Ключевые выводы</a:t>
            </a:r>
            <a:endParaRPr lang="en-US" sz="2400"/>
          </a:p>
        </p:txBody>
      </p:sp>
      <p:sp>
        <p:nvSpPr>
          <p:cNvPr id="4" name="Text 1"/>
          <p:cNvSpPr/>
          <p:nvPr/>
        </p:nvSpPr>
        <p:spPr bwMode="auto">
          <a:xfrm>
            <a:off x="594383" y="1360846"/>
            <a:ext cx="226665" cy="141684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Light"/>
                <a:cs typeface="Host Grotesk Light"/>
              </a:rPr>
              <a:t>01</a:t>
            </a:r>
            <a:endParaRPr lang="en-US" sz="1200" b="1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94383" y="1539146"/>
            <a:ext cx="4536000" cy="134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sp>
        <p:nvSpPr>
          <p:cNvPr id="6" name="Text 2"/>
          <p:cNvSpPr/>
          <p:nvPr/>
        </p:nvSpPr>
        <p:spPr bwMode="auto">
          <a:xfrm>
            <a:off x="821048" y="1323634"/>
            <a:ext cx="1349425" cy="16862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Правовая основа</a:t>
            </a:r>
            <a:endParaRPr lang="en-US" sz="1200" b="1"/>
          </a:p>
        </p:txBody>
      </p:sp>
      <p:sp>
        <p:nvSpPr>
          <p:cNvPr id="7" name="Text 3"/>
          <p:cNvSpPr/>
          <p:nvPr/>
        </p:nvSpPr>
        <p:spPr bwMode="auto">
          <a:xfrm>
            <a:off x="594383" y="1614868"/>
            <a:ext cx="4808190" cy="318641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ФЗ № 116-ФЗ от 21.07.1997 — главный нормативный акт в области промышленной безопасности ОПО.</a:t>
            </a:r>
            <a:endParaRPr lang="en-US" sz="1000"/>
          </a:p>
        </p:txBody>
      </p:sp>
      <p:sp>
        <p:nvSpPr>
          <p:cNvPr id="8" name="Text 4"/>
          <p:cNvSpPr/>
          <p:nvPr/>
        </p:nvSpPr>
        <p:spPr bwMode="auto">
          <a:xfrm>
            <a:off x="594383" y="2231878"/>
            <a:ext cx="226665" cy="141684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Light"/>
                <a:cs typeface="Host Grotesk Light"/>
              </a:rPr>
              <a:t>02</a:t>
            </a:r>
            <a:endParaRPr lang="en-US" sz="1200" b="1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94383" y="2398868"/>
            <a:ext cx="4536000" cy="134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sp>
        <p:nvSpPr>
          <p:cNvPr id="10" name="Text 5"/>
          <p:cNvSpPr/>
          <p:nvPr/>
        </p:nvSpPr>
        <p:spPr bwMode="auto">
          <a:xfrm>
            <a:off x="821048" y="2194667"/>
            <a:ext cx="1493713" cy="16862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Классификация ОПО</a:t>
            </a:r>
            <a:endParaRPr lang="en-US" sz="1200" b="1"/>
          </a:p>
        </p:txBody>
      </p:sp>
      <p:sp>
        <p:nvSpPr>
          <p:cNvPr id="11" name="Text 6"/>
          <p:cNvSpPr/>
          <p:nvPr/>
        </p:nvSpPr>
        <p:spPr bwMode="auto">
          <a:xfrm>
            <a:off x="594383" y="2485901"/>
            <a:ext cx="4808190" cy="318641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Четыре класса опасности (I–IV) определяют объём требований к эксплуатирующей организации.</a:t>
            </a:r>
            <a:endParaRPr lang="en-US" sz="1000"/>
          </a:p>
        </p:txBody>
      </p:sp>
      <p:sp>
        <p:nvSpPr>
          <p:cNvPr id="12" name="Text 7"/>
          <p:cNvSpPr/>
          <p:nvPr/>
        </p:nvSpPr>
        <p:spPr bwMode="auto">
          <a:xfrm>
            <a:off x="594383" y="3102911"/>
            <a:ext cx="226665" cy="141684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Light"/>
                <a:cs typeface="Host Grotesk Light"/>
              </a:rPr>
              <a:t>03</a:t>
            </a:r>
            <a:endParaRPr lang="en-US" sz="1200" b="1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94383" y="3258589"/>
            <a:ext cx="4536000" cy="134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sp>
        <p:nvSpPr>
          <p:cNvPr id="14" name="Text 8"/>
          <p:cNvSpPr/>
          <p:nvPr/>
        </p:nvSpPr>
        <p:spPr bwMode="auto">
          <a:xfrm>
            <a:off x="821048" y="3065699"/>
            <a:ext cx="1917353" cy="16862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Обязанности организаций</a:t>
            </a:r>
            <a:endParaRPr lang="en-US" sz="1200" b="1"/>
          </a:p>
        </p:txBody>
      </p:sp>
      <p:sp>
        <p:nvSpPr>
          <p:cNvPr id="15" name="Text 9"/>
          <p:cNvSpPr/>
          <p:nvPr/>
        </p:nvSpPr>
        <p:spPr bwMode="auto">
          <a:xfrm>
            <a:off x="594383" y="3356933"/>
            <a:ext cx="4808190" cy="318641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Лицензирование, СУПБ, декларация ПБ, экспертиза, производственный контроль, страхование, учёт аварий.</a:t>
            </a:r>
            <a:endParaRPr lang="en-US" sz="1000"/>
          </a:p>
        </p:txBody>
      </p:sp>
      <p:sp>
        <p:nvSpPr>
          <p:cNvPr id="16" name="Text 10"/>
          <p:cNvSpPr/>
          <p:nvPr/>
        </p:nvSpPr>
        <p:spPr bwMode="auto">
          <a:xfrm>
            <a:off x="594383" y="3973944"/>
            <a:ext cx="226665" cy="141684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Light"/>
                <a:cs typeface="Host Grotesk Light"/>
              </a:rPr>
              <a:t>04</a:t>
            </a:r>
            <a:endParaRPr lang="en-US" sz="1200" b="1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94383" y="4118311"/>
            <a:ext cx="4536000" cy="134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sp>
        <p:nvSpPr>
          <p:cNvPr id="18" name="Text 11"/>
          <p:cNvSpPr/>
          <p:nvPr/>
        </p:nvSpPr>
        <p:spPr bwMode="auto">
          <a:xfrm>
            <a:off x="821048" y="3936732"/>
            <a:ext cx="1819796" cy="16862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E30613"/>
                </a:solidFill>
                <a:latin typeface="Inter"/>
                <a:ea typeface="Host Grotesk Medium"/>
                <a:cs typeface="Host Grotesk Medium"/>
              </a:rPr>
              <a:t>Обязанности работников</a:t>
            </a:r>
            <a:endParaRPr lang="en-US" sz="1200" b="1"/>
          </a:p>
        </p:txBody>
      </p:sp>
      <p:sp>
        <p:nvSpPr>
          <p:cNvPr id="19" name="Text 12"/>
          <p:cNvSpPr/>
          <p:nvPr/>
        </p:nvSpPr>
        <p:spPr bwMode="auto">
          <a:xfrm>
            <a:off x="594383" y="4227966"/>
            <a:ext cx="4808190" cy="318641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00">
                <a:solidFill>
                  <a:srgbClr val="6B7280"/>
                </a:solidFill>
                <a:latin typeface="Inter"/>
                <a:ea typeface="Roboto"/>
                <a:cs typeface="Roboto"/>
              </a:rPr>
              <a:t>Соблюдение требований, аттестация, оповещение, приостановка работы, участие в локализации аварий.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2000</Words>
  <Application>Microsoft Macintosh PowerPoint</Application>
  <DocSecurity>0</DocSecurity>
  <PresentationFormat>Экран (16:9)</PresentationFormat>
  <Paragraphs>247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9" baseType="lpstr">
      <vt:lpstr>Host Grotesk Medium</vt:lpstr>
      <vt:lpstr>Host Grotesk Light</vt:lpstr>
      <vt:lpstr>Roboto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keywords/>
  <dc:description/>
  <cp:lastModifiedBy>машрум. ^_^</cp:lastModifiedBy>
  <cp:revision>10</cp:revision>
  <dcterms:created xsi:type="dcterms:W3CDTF">2026-05-25T05:59:35Z</dcterms:created>
  <dcterms:modified xsi:type="dcterms:W3CDTF">2026-08-31T09:55:55Z</dcterms:modified>
  <cp:category/>
  <dc:identifier/>
  <cp:contentStatus/>
  <dc:language/>
  <cp:version/>
</cp:coreProperties>
</file>