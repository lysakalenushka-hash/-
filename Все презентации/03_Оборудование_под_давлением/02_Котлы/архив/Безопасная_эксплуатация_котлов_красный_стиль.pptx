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731520"/>
            <a:ext cx="45720" cy="50292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КУРС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Безопасная эксплуатация котлов: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требования ФНП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и устройство котельных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" y="4480560"/>
            <a:ext cx="365760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457200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Федеральные нормы и правила в области промышленной безопасности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94015" y="11887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УТВЕРЖДЕНО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4015" y="14173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None    None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5760720"/>
            <a:ext cx="1091153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589788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ФНП · Котлы · Котельные · Промышленная безопасность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Тема 1.2. Установка и размещение котлов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Нормативные требования к котельным установкам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Стационарные котлы: условия размещения и устройства помещений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10911535" cy="2514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Стационарные котлы устанавливаются в зданиях и помещениях, конструкция которых должна соответствовать требованиям проекта, технических регламентов и законодательства Российской Федерации о градостроительной деятельности, а также обеспечивать безопасную эксплуатацию котлов согласно требованиям законодательства Российской Федерации в области промышленной безопасности и ФНП № 536.</a:t>
            </a: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/>
            </a: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Устройство помещений и чердачных перекрытий над котлами не допускается. Исключение — котлы, устанавливаемые внутри производственных помещений, если это предусмотрено и обосновано проектной документацией с учётом возможных рисков.</a:t>
            </a: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/>
            </a: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Внутри производственных помещений допускается установка:</a:t>
            </a: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• прямоточных котлов паропроизводительностью каждого не более 4 т/ч;</a:t>
            </a: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• паровых котлов (включая электрокотлы), кроме прямоточных, удовлетворяющих условию (t − 100) × V ≤ 100 для каждого котла, где t — температура насыщенного пара при рабочем давлении (°С), V — вместимость котла (м³);</a:t>
            </a: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• водогрейных котлов теплопроизводительностью каждого не более 10,5 ГДж/ч (2,5 Гкал/ч), не имеющих барабанов;</a:t>
            </a: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• водогрейных электрокотлов электрической мощностью каждого не более 2,5 МВт;</a:t>
            </a: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• котлов-утилизаторов — без ограничений.</a:t>
            </a: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/>
            </a: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Двери для выхода из помещения, в котором установлены котлы, должны открываться наружу. Двери служебных, бытовых и вспомогательных производственных помещений в котельную должны открываться в сторону котельной.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5212080"/>
            <a:ext cx="548639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534924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Установка котлов вне помещения допускается, если проектной (конструкторской) и технической документацией котла предусмотрена возможность его работы на открытом воздухе в заданных климатических условиях района установки (ФНП № 536).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02 /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Размещение котельного оборудования внутри помещений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Отделение места установки котлов от остальной части производственного помещения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36391"/>
            <a:ext cx="52271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Общие требования к отделению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3456432"/>
            <a:ext cx="5227167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640080" y="3666744"/>
            <a:ext cx="73152" cy="73152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3593591"/>
            <a:ext cx="50625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label — desc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123944"/>
            <a:ext cx="73152" cy="73152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4050791"/>
            <a:ext cx="50625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label — desc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581144"/>
            <a:ext cx="73152" cy="73152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4507992"/>
            <a:ext cx="50625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label — desc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7" y="3364991"/>
            <a:ext cx="52271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Допускается и ограничения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324447" y="3685031"/>
            <a:ext cx="5227168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324447" y="3895344"/>
            <a:ext cx="73152" cy="73152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9039" y="3822191"/>
            <a:ext cx="50625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label — desc</a:t>
            </a:r>
          </a:p>
        </p:txBody>
      </p:sp>
      <p:sp>
        <p:nvSpPr>
          <p:cNvPr id="17" name="Oval 16"/>
          <p:cNvSpPr/>
          <p:nvPr/>
        </p:nvSpPr>
        <p:spPr>
          <a:xfrm>
            <a:off x="6324447" y="4352544"/>
            <a:ext cx="73152" cy="73152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9039" y="4279392"/>
            <a:ext cx="50625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label — desc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589788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Inter"/>
                <a:ea typeface="Inter"/>
                <a:cs typeface="Inter"/>
              </a:rPr>
              <a:t>При неисправной блокировке ограждения электрокотла или открывании двери котёл должен автоматически отключаться от питающей электросети.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03 /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1097280"/>
            <a:ext cx="164592" cy="164592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МОДУЛЬ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325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Безопасная эксплуатация котлов: требования ФНП и устройство котельных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7315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Планировка котельной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Требования к размещению оборудования, проходам и конструктивным элементам котельных помещений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5760720"/>
            <a:ext cx="1091153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58978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Устройство котельных · Планировка · Безопасность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Установка котлов. Требования к площадке и освещению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Требования к площадке установки котла и освещению котельного помещения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Устройство приямков, естественное и аварийное освещение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10911535" cy="2514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Площадка для установки котла не должна быть ниже планировочной отметки территории, прилегающей к зданию, в котором установлены котлы. Устройство приямков в котельных не допускается. По решению разработчика проектной документации приямки допускаются в отдельных случаях, обоснованных технологической необходимостью, — для размещения оборудования дробеочистки, узлов ввода и вывода теплотрасс, сепараторов, расширителей.</a:t>
            </a: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/>
            </a: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Помещения, в которых размещены котлы, должны быть обеспечены естественным светом, а в ночное время — электрическим освещением в соответствии с проектной документацией. Места, которые по техническим причинам невозможно обеспечить естественным светом, должны иметь электрическое освещение.</a:t>
            </a: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/>
            </a: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Помимо рабочего освещения, проектом должно быть предусмотрено аварийное электрическое освещение. Подлежат обязательному оборудованию аварийным освещением следующие места: фронт котлов и проходы между котлами, сзади и над котлами; щиты и пульты управления; водоуказательные и измерительные приборы; зольные помещения; вентиляторные и дымососные площадки; помещения для баков и деаэраторов; оборудование водоподготовки; площадки и лестницы котлов; места установки насосного оборудования.</a:t>
            </a: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/>
            </a: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Выбор конкретных зон, подлежащих оснащению аварийным освещением, осуществляется при разработке проектной документации с учётом особенностей конструкции оборудования, компоновки и размещения оборудования, маршрутов передвижения работников ОПО и мест их возможного нахождения в процессе работы, в том числе для контроля параметров и режимов работы оборудования и принятия необходимых действий в аварийной ситуации в период отключения рабочего освещения.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5212080"/>
            <a:ext cx="548639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534924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Конкретные зоны аварийного освещения определяются проектной документацией с учётом особенностей конструкции и компоновки оборудования на каждой отдельной площадке.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05 /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Размещение котлов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Минимальные расстояния от горелок и топок до стен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Котлы на газообразном или жидком топливе / котлы с механизированными топками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29076"/>
            <a:ext cx="4572000" cy="2011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8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1–2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00396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м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65215" y="3576116"/>
            <a:ext cx="502920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065215" y="3713276"/>
            <a:ext cx="5029200" cy="7437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Минимальное расстояние от выступающих частей горелочных устройств до стены котельного помещения — не менее 1 м (для котлов на газообразном или жидком топливе); от выступающих частей механизированных топок до стены — не менее 2 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65215" y="4456988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Источник: ФНП «Установка, размещение, обвязка котлов и вспомогательного оборудования котельной установки», Раздел. Часть 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06 /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Размещение оборудования котельной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Ширина проходов вдоль фронта котлов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При установке вспомогательного оборудования и щитов управления перед фронтом котлов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23006"/>
            <a:ext cx="4572000" cy="2011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8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≥ 1,5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694326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м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65215" y="3470046"/>
            <a:ext cx="502920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065215" y="3607206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Минимальная ширина свободного прохода вдоль фронта котлов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65215" y="4064406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Установленное оборудование не должно препятствовать обслуживанию котлов.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07 /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Размещение котлов. Требования к проходам и расстояниям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Свободная высота проходов и запреты размещения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Нормируемые расстояния в котельном помещении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10911535" cy="23774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Проходы в котельном помещении должны иметь свободную высоту не менее 2 метров. Расстояние от площадок обслуживания котла, его арматуры, контрольно-измерительных приборов и иного оборудования до потолочного перекрытия или выступающих конструктивных элементов здания, элементов котла и металлоконструкций каркаса — не менее 2 метров.</a:t>
            </a: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/>
            </a: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При отсутствии необходимости перехода через котел, барабан, сухопарник или экономайзер расстояние от них до нижних конструктивных частей покрытия котельного помещения — не менее 0,7 метра.</a:t>
            </a: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/>
            </a: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Расстояние по вертикали от площадки обслуживания водоуказательных приборов до середины водоуказательного стекла (шкалы) — не менее 1 метра и не более 1,5 метра. При диаметрах барабанов менее 1,2 метра и более 2 метров — от 0,6 до 1,8 метра.</a:t>
            </a: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/>
            </a: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Размещение котлов и вспомогательного оборудования в блок-контейнерах, передвижных и транспортабельных установках осуществляется в соответствии с проектом.</a:t>
            </a: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/>
            </a: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Запрещается установка в одном помещении с котлами и экономайзерами оборудования, не имеющего отношения к обслуживанию и ремонту котлов или к технологии получения пара и (или) горячей воды.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5074920"/>
            <a:ext cx="548639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521208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Котлы электростанций допускается устанавливать в общем помещении с турбоагрегатами или в смежных помещениях без разделительных стен между котельным и машинным залом.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08 /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Подъёмные устройства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Подъёмные устройства при высоте котлов более 20 м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Требования к оснащению котельных помещений при превышении высоты 20 м от нулевой отметки до верхней площадки котлов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9116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Обязательные требования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2811208"/>
            <a:ext cx="1091153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294836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48368"/>
            <a:ext cx="10454335" cy="7715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Если расстояние от нулевой отметки котельного помещения до верхней площадки котлов превышает 20 метров — устанавливаются подъёмные устройства грузоподъёмностью не менее 1000 кг (с учётом совместного подъёма людей и грузов).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47909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847909"/>
            <a:ext cx="10454335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Использование лифта, предназначенного только для подъёма людей, в целях подъёма грузов (арматуры, деталей и элементов оборудования) не допускается.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90275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490275"/>
            <a:ext cx="10454335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Количество, тип, характеристики и места установки подъёмных устройств определяются проектом.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132641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132641"/>
            <a:ext cx="10454335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Проектом размещения котлов предусматривается система трубопроводов продувки котла и спуска воды при остановке котла, а также продувки пароперегревателя и паропровода.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852160"/>
            <a:ext cx="1091153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59436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Inter"/>
                <a:ea typeface="Inter"/>
                <a:cs typeface="Inter"/>
              </a:rPr>
              <a:t>Не допускается использование лифта для людей в целях подъёма грузов. Количество подъёмных устройств и их характеристики — только по проекту.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09 /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Подъёмные устройства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Подъёмные устройства при высоте котлов более 20 м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32378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Обязательные требования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3352418"/>
            <a:ext cx="1091153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348957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89578"/>
            <a:ext cx="10454335" cy="7715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Количество и точки присоединения продувочных, спускных, дренажных и воздушных трубопроводов выбираются так, чтобы обеспечить удаление воды, конденсата и осадков из нижних частей котла, воздуха — из верхних.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89119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19"/>
            <a:ext cx="10454335" cy="7715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При невозможности удаления рабочей среды самотёком предусматривается принудительное удаление — продувкой паром, сжатым воздухом, азотом или иными способами согласно руководству по эксплуатации.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88661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288661"/>
            <a:ext cx="1045433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Продувочный трубопровод должен отводить воду в ёмкость, работающую без давления.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10 /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Итоги модуля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Планировка и нормы размещения котельных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Ключевые требования, установленные федеральными нормами и правилами</a:t>
            </a:r>
          </a:p>
        </p:txBody>
      </p:sp>
      <p:pic>
        <p:nvPicPr>
          <p:cNvPr id="6" name="Picture 5" descr="list-che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1280160"/>
            <a:ext cx="502920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847212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Размещение котельных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847212"/>
            <a:ext cx="7071055" cy="1028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Котельные размещаются в отдельно стоящих зданиях, пристроенных или встроенных помещениях — в зависимости от категории котлов и назначения объекта. Размещение в подвальных и цокольных этажах жилых и общественных зданий ограничивается.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1945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Нормируемые расстояния и проходы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4131945"/>
            <a:ext cx="7071055" cy="7715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Устанавливаются минимальные расстояния от котлов до стен, перекрытий и между единицами оборудования — для обеспечения безопасного обслуживания и эвакуации персонала.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59502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Вентиляция и воздухообмен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5159502"/>
            <a:ext cx="7071055" cy="7715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Помещения котельных оснащаются приточно-вытяжной вентиляцией, обеспечивающей нормативный воздухообмен, исключающий накопление опасных концентраций газов и продуктов горения.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11 /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Итоги модуля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Планировка и нормы размещения котельных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86659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Эвакуационные выходы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2986659"/>
            <a:ext cx="7071055" cy="7715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Котельные залы площадью свыше установленного предела оборудуются не менее чем двумя эвакуационными выходами, расположенными в противоположных частях помещения.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14216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Освещение и маркировка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4014216"/>
            <a:ext cx="7071055" cy="7715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Рабочие зоны котельной обеспечиваются нормируемым искусственным освещением. Трубопроводы и оборудование маркируются в соответствии с установленными требованиями.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968621"/>
            <a:ext cx="10911535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5151501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Следующий модуль посвящён эксплуатационным требованиям: пуск, останов, контроль параметров и действия при аварийных ситуациях.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12 /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1097280"/>
            <a:ext cx="164592" cy="164592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МОДУЛЬ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325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Безопасная эксплуатация котлов: требования ФНП и устройство котельных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7315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Трубопроводы и арматура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Требования к устройству, монтажу и эксплуатации трубопроводов котельных установок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5760720"/>
            <a:ext cx="1091153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58978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Трубопроводы · Запорная арматура · ФНП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Раздел 8. Обвязка котлов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Схемы отвода продувочных вод и пара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Конструктивные, дренажные и предохранительные требования к системам продувки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96946"/>
            <a:ext cx="52271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Продувка и дренаж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3316986"/>
            <a:ext cx="5227167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3454146"/>
            <a:ext cx="522716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Отвод в ёмкость под давлением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82746"/>
            <a:ext cx="5227167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Допускается направлять продувочные воды в ёмкость, работающую под давлением, при условии подтверждения надёжности и эффективности продувки соответствующими расчётами.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73702"/>
            <a:ext cx="522716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Дренажи паропроводов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02302"/>
            <a:ext cx="5227167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На всех участках паропровода, отключаемых запорной арматурой, в нижних точках устраиваются дренажи для отвода конденсата.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447" y="2894076"/>
            <a:ext cx="52271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Предохранительные клапаны и запорная арматура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324447" y="3214116"/>
            <a:ext cx="5227168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24447" y="3351276"/>
            <a:ext cx="522716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Предохранительные клапаны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447" y="3579876"/>
            <a:ext cx="5227167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Предохранительные клапаны должны иметь отводящие трубопроводы для обеспечения безопасности обслуживающего персонала. Трубопроводы защищаются от замерзания и оборудуются дренажами для удаления скапливающегося конденсата.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7" y="4576572"/>
            <a:ext cx="522716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Установка запорной арматуры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4805172"/>
            <a:ext cx="5227167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Установка запорной арматуры на отводящих трубопроводах предохранительных клапанов и их дренажах — запрещается.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589788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Inter"/>
                <a:ea typeface="Inter"/>
                <a:cs typeface="Inter"/>
              </a:rPr>
              <a:t>Установка запорной арматуры на отводящих трубопроводах предохранительных клапанов и их дренажах запрещается.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14 /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Раздел 8. Обвязка котлов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Схемы отвода продувочных вод и пара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9805"/>
            <a:ext cx="52271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Продувка и дренаж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3339845"/>
            <a:ext cx="5227167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3477005"/>
            <a:ext cx="522716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Конструктивные решения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05605"/>
            <a:ext cx="5227167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Конструктивные и компоновочные решения систем продувок, опорожнения, дренажа, ввода реагента должны обеспечить надёжность эксплуатации котла на всех режимах, включая аварийные, а также надёжную консервацию при простоях.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02302"/>
            <a:ext cx="522716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Водоуказательные приборы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0902"/>
            <a:ext cx="5227167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Для спуска воды при продувке водоуказательных приборов предусматриваются воронки с защитным приспособлением и отводной трубой для свободного слива.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447" y="2814065"/>
            <a:ext cx="52271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Предохранительные клапаны и запорная арматура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324447" y="3134106"/>
            <a:ext cx="5227168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324447" y="3271265"/>
            <a:ext cx="522716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Водоотводящая труба (водогрейный котёл)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447" y="3499865"/>
            <a:ext cx="5227167" cy="1028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Водоотводящая труба от предохранительных клапанов водогрейного котла и экономайзера присоединяется к линии свободного слива воды. Ни на ней, ни на сливной линии не допускается наличие запорных органов. Система водоотводящих труб должна исключать возможность ожога людей.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447" y="4702302"/>
            <a:ext cx="522716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Питательный трубопровод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7" y="4930902"/>
            <a:ext cx="5227167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На питательном трубопроводе котла устанавливаются обратный клапан и запорный орган — до неотключаемого по воде экономайзера. У отключаемого по воде экономайзера обратный клапан и запорный орган устанавливаются также после экономайзера.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15 /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Запорная арматура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Запорная арматура на продувочных и дренажных трубопроводах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Требования к количеству и типу запорных устройств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10911535" cy="166420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На каждом продувочном, дренажном трубопроводе, а также на трубопроводе отбора проб воды (пара) котлов с рабочим давлением более 0,8 МПа устанавливается не менее двух запорных устройств либо одно запорное устройство и одно регулирующее устройство.</a:t>
            </a: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/>
            </a: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Для котлов с рабочим давлением более 10 МПа на указанных трубопроводах дополнительно допускается установка дроссельных шайб.</a:t>
            </a: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/>
            </a: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Условный проход продувочных трубопроводов и установленной на них арматуры должен составлять:</a:t>
            </a: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• не менее 20 мм — для котлов с рабочим давлением менее 14 МПа;</a:t>
            </a: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• не менее 10 мм — для котлов с рабочим давлением 14 МПа и более.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4361688"/>
            <a:ext cx="548639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4498848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В случаях, предусмотренных руководством (инструкцией) по эксплуатации, допускается для продувки камер пароперегревателей установка одного запорного устройства.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16 /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Питательные насосы. Запорные органы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Требования к запорным органам питательных насосов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При наличии общих всасывающих и нагнетательных трубопроводов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88336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Обязательные условия установки и эксплуатации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3008376"/>
            <a:ext cx="1091153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314553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45536"/>
            <a:ext cx="1045433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Запорные органы на всасывании: при установке нескольких питательных насосов с общими всасывающими трубопроводами у каждого насоса на стороне всасывания должны быть установлены запорные органы.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5361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53612"/>
            <a:ext cx="1045433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Запорные органы на нагнетании: у каждого насоса на стороне нагнетания также должны быть установлены запорные органы.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6168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361688"/>
            <a:ext cx="1045433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Обратный клапан: на стороне нагнетания каждого центробежного насоса до запорного органа должен быть установлен обратный клапан.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6976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969764"/>
            <a:ext cx="1045433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Питание котлов: осуществляется либо по групповой схеме (общий питательный трубопровод для нескольких котлов), либо по индивидуальной схеме (отдельный питательный трубопровод для каждого котла).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852160"/>
            <a:ext cx="1091153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59436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Inter"/>
                <a:ea typeface="Inter"/>
                <a:cs typeface="Inter"/>
              </a:rPr>
              <a:t>Применяемые питательные устройства:</a:t>
            </a:r>
          </a:p>
          <a:p>
            <a:pPr algn="l">
              <a:spcBef>
                <a:spcPts val="525"/>
              </a:spcBef>
            </a:pPr>
            <a:r>
              <a:rPr sz="1500" b="1" i="0">
                <a:solidFill>
                  <a:srgbClr val="F59E0B"/>
                </a:solidFill>
                <a:latin typeface="Inter"/>
                <a:ea typeface="Inter"/>
                <a:cs typeface="Inter"/>
              </a:rPr>
              <a:t>— центробежные, поршневые и плунжерные насосы с электрическим или паровым приводом</a:t>
            </a:r>
          </a:p>
          <a:p>
            <a:pPr algn="l">
              <a:spcBef>
                <a:spcPts val="525"/>
              </a:spcBef>
            </a:pPr>
            <a:r>
              <a:rPr sz="1500" b="1" i="0">
                <a:solidFill>
                  <a:srgbClr val="F59E0B"/>
                </a:solidFill>
                <a:latin typeface="Inter"/>
                <a:ea typeface="Inter"/>
                <a:cs typeface="Inter"/>
              </a:rPr>
              <a:t>— паровые инжекторы</a:t>
            </a:r>
          </a:p>
          <a:p>
            <a:pPr algn="l">
              <a:spcBef>
                <a:spcPts val="525"/>
              </a:spcBef>
            </a:pPr>
            <a:r>
              <a:rPr sz="1500" b="1" i="0">
                <a:solidFill>
                  <a:srgbClr val="F59E0B"/>
                </a:solidFill>
                <a:latin typeface="Inter"/>
                <a:ea typeface="Inter"/>
                <a:cs typeface="Inter"/>
              </a:rPr>
              <a:t>— насосы с ручным приводом</a:t>
            </a:r>
          </a:p>
          <a:p>
            <a:pPr algn="l">
              <a:spcBef>
                <a:spcPts val="525"/>
              </a:spcBef>
            </a:pPr>
            <a:r>
              <a:rPr sz="1500" b="1" i="0">
                <a:solidFill>
                  <a:srgbClr val="F59E0B"/>
                </a:solidFill>
                <a:latin typeface="Inter"/>
                <a:ea typeface="Inter"/>
                <a:cs typeface="Inter"/>
              </a:rPr>
              <a:t>— водопроводная сеть при превышении её давления над расчётным давлением в котле не менее чем на 0,15 МПа.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17 /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Питательные насосы. Запорные органы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Требования к запорным органам питательных насосов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40951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Обязательные условия установки и эксплуатации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3360991"/>
            <a:ext cx="1091153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3498151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98151"/>
            <a:ext cx="10454335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Включение котлов в одну группу по питанию: допускается только при условии, что разница рабочих давлений в разных котлах не превышает 15%.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40517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140517"/>
            <a:ext cx="10454335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Питательные насосы при групповом питании: насосы, присоединяемые к общей магистрали, должны иметь характеристики, допускающие параллельную работу.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82883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82883"/>
            <a:ext cx="10454335" cy="7715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Выбор способа питания и типа питательного устройства: осуществляется разработчиком проектной документации ОПО на основании указаний организации-изготовителя в руководстве по эксплуатации котла.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18 /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Итоги модуля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Трубопроводы и арматура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Ключевые требования, изученные в модуле</a:t>
            </a:r>
          </a:p>
        </p:txBody>
      </p:sp>
      <p:pic>
        <p:nvPicPr>
          <p:cNvPr id="6" name="Picture 5" descr="list-che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1280160"/>
            <a:ext cx="502920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3187255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Классификация трубопроводов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3187255"/>
            <a:ext cx="7071055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Трубопроводы пара и горячей воды подразделяются на категории в зависимости от рабочего давления и температуры рабочей среды.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57637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Требования к материалам и соединениям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3957637"/>
            <a:ext cx="7071055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Материалы труб, фитингов и сварных соединений должны соответствовать параметрам рабочей среды и обеспечивать герметичность трубопровода.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28019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Арматура: назначение и виды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4728019"/>
            <a:ext cx="7071055" cy="7715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Запорная, регулирующая и предохранительная арматура устанавливается в предусмотренных проектом местах и должна быть доступна для обслуживания и управления.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19 /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Итоги модуля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Трубопроводы и арматура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58643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Маркировка и документация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2858643"/>
            <a:ext cx="7071055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Трубопроводы подлежат маркировке; на каждый трубопровод оформляется паспорт установленного образца.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29025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Техническое обслуживание и контроль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3629025"/>
            <a:ext cx="7071055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Периодичность осмотров, испытаний и ревизии арматуры устанавливается производственными инструкциями и графиками, утверждёнными в организации.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99407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Запреты при эксплуатации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4399407"/>
            <a:ext cx="7071055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Запрещается эксплуатация трубопроводов с неисправной арматурой, нарушенной тепловой изоляцией, а также при отсутствии установленных КИП.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5096637"/>
            <a:ext cx="10911535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5279517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Следующий модуль посвящён требованиям к водоподготовке и водно-химическому режиму котлов.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20 /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1097280"/>
            <a:ext cx="164592" cy="164592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МОДУЛЬ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325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Безопасная эксплуатация котлов: требования ФНП и устройство котельных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7315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Автоматика и безопасность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Системы автоматического регулирования, защиты и сигнализации котельных установок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5760720"/>
            <a:ext cx="1091153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58978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Автоматика · Защита · Сигнализация · ФНП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Автоматика безопасности котлов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Условия применения одного питательного насоса с электроприводом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Паропроизводительность не более 4 т/ч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10911535" cy="2514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Допускается работа котла паропроизводительностью не более 4 т/ч с одним питательным насосом с электроприводом, если котел оснащён автоматикой безопасности, исключающей возможность недопустимого понижения уровня воды в котле с естественной или многократной принудительной циркуляцией или недопустимого уменьшения расхода воды через прямоточный котел, а также исключающей возможность недопустимого повышения давления.</a:t>
            </a: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/>
            </a: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Напор, создаваемый насосом, должен обеспечивать питание котла водой при рабочем давлении за котлом с учётом гидростатической высоты и потерь давления в тракте котла, регулирующем устройстве и в тракте питательной воды. При групповом питании котлов напор насоса выбирается исходя из условия обеспечения питания котла с наибольшим рабочим давлением или с наибольшей потерей напора в питательном трубопроводе.</a:t>
            </a: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/>
            </a: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Характеристика насоса должна обеспечивать отсутствие перерывов в питании котла при срабатывании предохранительных клапанов с учётом наибольшего повышения давления при их полном открывании. Тип, характеристику, количество и схему включения питательных устройств определяют в целях обеспечения надёжной и безопасной эксплуатации котла на всех режимах, включая аварийные остановки.</a:t>
            </a: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/>
            </a:r>
          </a:p>
          <a:p>
            <a:pPr algn="l">
              <a:spcBef>
                <a:spcPts val="525"/>
              </a:spcBef>
            </a:pPr>
            <a:r>
              <a:rPr sz="15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Подача питательных устройств определяется по номинальной паропроизводительности котлов с учётом расхода воды на непрерывную или периодическую продувку, пароохлаждение, редукционно-охладительные и охладительные устройства, потери воды или пара.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5212080"/>
            <a:ext cx="548639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534924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Напор и расход воды, создаваемый циркуляционными и подпиточными насосами, должны исключать возможность вскипания воды в водогрейном котле и системе теплоснабжения. Минимальный напор и расход воды устанавливаются проектом.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22 /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Часть 12. Вспомогательное оборудование котельной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Оснащение экономайзеров КИП и арматурой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Требования к установке, подключению и оснащению экономайзеров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36851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Обязательные требования при установке и подключении экономайзеров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2556891"/>
            <a:ext cx="1091153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2694051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94051"/>
            <a:ext cx="1045433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Установка и подключение экономайзеров к котлам осуществляются в соответствии с требованиями проектной документации и руководств (инструкций) по эксплуатации с учётом рекомендуемых в них схем включения экономайзеров.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42157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42157"/>
            <a:ext cx="1045433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Оснащение экономайзеров контрольно-измерительными приборами, запорной и регулирующей арматурой, предохранительными устройствами осуществляется в соответствии с требованиями проектной документации и руководств (инструкций) по эксплуатации.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90263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390263"/>
            <a:ext cx="1045433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Принятые проектом решения по выбору экономайзера и схеме его включения должны обеспечивать возможность эксплуатации с параметрами рабочей среды (давление, температура) не более значений, установленных расчётом на прочность.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238369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238369"/>
            <a:ext cx="1045433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Предельные значения параметров рабочей среды (давление, температура) указываются организацией-изготовителем в паспорте экономайзера — превышение этих значений не допускается.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852160"/>
            <a:ext cx="1091153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594360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Inter"/>
                <a:ea typeface="Inter"/>
                <a:cs typeface="Inter"/>
              </a:rPr>
              <a:t>Параметры рабочей среды при эксплуатации экономайзера не должны превышать значений, установленных расчётом на прочность и указанных изготовителем в паспорте.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23 /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Взрывопожаробезопасность котельных установок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Требования к подаче и подготовке топлива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Определяются индивидуально для каждого вида топлива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52271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Что определяется проектной документацией и руководством по эксплуатации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2514600"/>
            <a:ext cx="5227167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2651760"/>
            <a:ext cx="522716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Подвод топлива к горелкам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5227167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Требования к схеме подвода топлива к горелочным устройствам устанавливаются с учётом физико-химических свойств топлива.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65576"/>
            <a:ext cx="522716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Запорная, регулирующая и отсечная (предохранительная) арматура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94176"/>
            <a:ext cx="5227167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Требования к составу и характеристикам арматуры определяются для каждого вида топлива отдельно.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79392"/>
            <a:ext cx="522716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Перечень защит и блокировок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07992"/>
            <a:ext cx="5227167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Необходимые защиты и блокировки определяются исходя из вида топлива и условий эксплуатации.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093207"/>
            <a:ext cx="522716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Приготовление и подача топлива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21807"/>
            <a:ext cx="5227167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Требования к подготовке топлива устанавливаются с учётом его физико-химических свойств.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7" y="2292858"/>
            <a:ext cx="52271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Предохранительные взрывные клапаны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324447" y="2612898"/>
            <a:ext cx="5227168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324447" y="2750058"/>
            <a:ext cx="522716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Область применения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447" y="2978658"/>
            <a:ext cx="5227167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Устанавливаются (в случаях, предусмотренных проектом) на топках котлов, экономайзерах и газоходах, отводящих продукты сгорания к дымовой трубе.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447" y="3769613"/>
            <a:ext cx="522716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Защитные сбросные устройства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3998213"/>
            <a:ext cx="5227167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На каждом взрывном клапане предусматриваются кожухи или патрубки, обеспечивающие сброс избыточного давления при взрывах и хлопках в топке и газоходах в безопасное для персонала направление.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447" y="4789170"/>
            <a:ext cx="522716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Требование к конструкции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4447" y="5017770"/>
            <a:ext cx="5227167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Конструкция сбросного устройства должна обеспечивать возможность контроля состояния и герметичности (плотности) взрывного клапана в процессе его эксплуатации.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589788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Inter"/>
                <a:ea typeface="Inter"/>
                <a:cs typeface="Inter"/>
              </a:rPr>
              <a:t>Все требования к топливной системе определяются требованиями проектной документации и руководства (инструкции) по эксплуатации котла для каждого вида топлива.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24 /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Итоговая карточка курса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Безопасная эксплуатация котлов: требования ФНП и устройство котельных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Предмет регулирования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2286000"/>
            <a:ext cx="7253935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Требования промышленной безопасности при эксплуатации котлов под избыточным давлением, устройство и обслуживание котельных установок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0151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Основной нормативный документ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3001518"/>
            <a:ext cx="7253935" cy="1028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Федеральные нормы и правила в области промышленной безопасности «Правила промышленной безопасности при использовании оборудования, работающего под избыточным давлением» (ФНП ОРПД), утверждённые приказом Ростехнадзора от 15.12.2020 № 536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3138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Область применения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4231386"/>
            <a:ext cx="7253935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Паровые и водогрейные котлы, котлы-утилизаторы, энерготехнологические котлы, электрокотлы, эксплуатируемые на опасных производственных объектах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4745736"/>
            <a:ext cx="725393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… ещё 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5760720"/>
            <a:ext cx="1091153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Курс носит учебно-методический характер. При практическом применении следует руководствоваться действующей редакцией нормативных правовых актов.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6355080"/>
            <a:ext cx="1091153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25 /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