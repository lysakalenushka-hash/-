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Промышленная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Устройство и назначение трубопроводов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ФНП при использовании оборудования, работающего под избыточным давлением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Модуль охватывает нормативную базу, общие положения ФНП и устройство трубопроводов пара и горячей воды: состав, арматуру, КИПиА, опоры, дренаж, компенсаторы, заглушки, теплоизоляцию и опознавательную окраску.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Федеральные нормы и правила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Ростехнадзора от 15.12.2020 № 536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Об утверждении федеральных норм и правил в области промышленной безопасности «Правила промышленной безопасности при использовании оборудования, работающего под избыточным давлением» (далее — ФНП).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Назначение ФНП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промышленной безопасности при эксплуатации оборудования под давлением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ФНП устанавливают требования промышленной безопасности при разработке, размещении, монтаже, наладке, эксплуатации, ремонте, реконструкции, техническом освидетельствовании и диагностировании оборудования, работающего под избыточным давлением.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14</a:t>
            </a:r>
          </a:p>
        </p:txBody>
      </p:sp>
      <p:pic>
        <p:nvPicPr>
          <p:cNvPr id="11" name="Picture 10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Область применения ФНП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обязательны при следующих видах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Обязательные требования ФНП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разработке технологических процессов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техническом перевооружении опасного производственного объекта (ОПО)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размещении, монтаже и ремонте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14</a:t>
            </a:r>
          </a:p>
        </p:txBody>
      </p:sp>
      <p:pic>
        <p:nvPicPr>
          <p:cNvPr id="21" name="Picture 20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 какому оборудованию применяются ФНП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Оборудование, работающее под избыточным давлением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Объекты применения ФНП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паровые и водогрейные котлы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сосуды, работающие под давлением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трубопроводы пара и горячей воды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ФНП обязательны для всех стадий жизненного цикла оборудования под давлением.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14</a:t>
            </a:r>
          </a:p>
        </p:txBody>
      </p:sp>
      <p:pic>
        <p:nvPicPr>
          <p:cNvPr id="21" name="Picture 20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Конструкция трубопроводов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Назначение и общие требования к устройству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Трубопроводы пара и горячей воды предназначены для транспортировки теплоносителя от источника тепла к потребителям. Конструкция должна обеспечивать прочность, герметичность, компенсацию температурных деформаций и безопасную эксплуатацию.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14</a:t>
            </a:r>
          </a:p>
        </p:txBody>
      </p:sp>
      <p:pic>
        <p:nvPicPr>
          <p:cNvPr id="11" name="Picture 10" descr="pipeline_system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Состав трубопровода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Трубопровод состоит из основных элементов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Элементы трубопровода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плотно соединённых между собой прямых участков труб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фасонных деталей — отводы, переходники, тройники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крепёжных элементов — фланцы, болты, шпильки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14</a:t>
            </a:r>
          </a:p>
        </p:txBody>
      </p:sp>
      <p:pic>
        <p:nvPicPr>
          <p:cNvPr id="21" name="Picture 20" descr="pipeline_assembl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Приборы КИПиА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Контрольно-измерительные приборы и автоматика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Приборы на трубопроводе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манометры — контроль давления в трубопроводе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термометры — контроль температуры теплоносителя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расходомеры — учёт и контроль расхода среды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Приборы КИПиА обеспечивают контроль параметров и безопасную эксплуатацию.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14</a:t>
            </a:r>
          </a:p>
        </p:txBody>
      </p:sp>
      <p:pic>
        <p:nvPicPr>
          <p:cNvPr id="21" name="Picture 20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Опорно-подвесная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Крепление и поддержание трубопровода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опор и подвесок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неподвижные опоры — фиксируют положение трубопровода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подвижные опоры — допускают перемещение при температурных деформациях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скользящие, катковые и подвесные опоры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14</a:t>
            </a:r>
          </a:p>
        </p:txBody>
      </p:sp>
      <p:pic>
        <p:nvPicPr>
          <p:cNvPr id="21" name="Picture 20" descr="pipe_support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Конденсатоотводчики, дренажи и патрубки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Устройства для отвода конденсата и воздуха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 нижних точках каждого отключаемого задвижками участка трубопровода должны предусматриваться спускные штуцера с запорной арматурой для опорожнения. В верхних точках устанавливаются воздушники. Нижние концевые точки паропроводов и изгибов снабжаются устройствами для продувки. Непрерывный отвод конденсата обязателен для паропроводов насыщенного пара и тупиковых участков паропроводов перегретого пара.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14</a:t>
            </a:r>
          </a:p>
        </p:txBody>
      </p:sp>
      <p:pic>
        <p:nvPicPr>
          <p:cNvPr id="11" name="Picture 10" descr="condensate_drai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Компенсаторы температурных деформаций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компенсации удлинения трубопровода при нагреве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компенсаторов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резиновые компенсаторы с фланцами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П-образные компенсаторы (Z-образные участки)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U-образные (омегаобразные) компенсаторы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00000"/>
            <a:ext cx="5800000" cy="650000"/>
          </a:xfrm>
          <a:prstGeom prst="rect">
            <a:avLst/>
          </a:prstGeom>
          <a:solidFill>
            <a:srgbClr val="FAFAFA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00" y="2520000"/>
            <a:ext cx="57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Inter"/>
              </a:rPr>
              <a:t>При нагреве трубопровода на </a:t>
            </a:r>
            <a:r>
              <a:rPr sz="1400" b="1">
                <a:solidFill>
                  <a:srgbClr val="E30613"/>
                </a:solidFill>
                <a:latin typeface="Inter"/>
              </a:rPr>
              <a:t>100 °C</a:t>
            </a:r>
            <a:r>
              <a:rPr sz="1400" b="0">
                <a:solidFill>
                  <a:srgbClr val="1A1A1A"/>
                </a:solidFill>
                <a:latin typeface="Inter"/>
              </a:rPr>
              <a:t> удлинение стальной трубы составляет около </a:t>
            </a:r>
            <a:r>
              <a:rPr sz="1400" b="1">
                <a:solidFill>
                  <a:srgbClr val="E30613"/>
                </a:solidFill>
                <a:latin typeface="Inter"/>
              </a:rPr>
              <a:t>1,2 мм</a:t>
            </a:r>
            <a:r>
              <a:rPr sz="1400" b="0">
                <a:solidFill>
                  <a:srgbClr val="1A1A1A"/>
                </a:solidFill>
                <a:latin typeface="Inter"/>
              </a:rPr>
              <a:t> на 1 м длины.</a:t>
            </a:r>
          </a:p>
        </p:txBody>
      </p:sp>
      <p:pic>
        <p:nvPicPr>
          <p:cNvPr id="23" name="Picture 22" descr="compensators_7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Заглушки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Элементы для глухого запечатывания выходных отверстий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Заглушка — элемент трубопровода, предназначенный для глухого запечатывания его выходных отверстий; как правило используется при проведении пневмо- и гидроиспытаний. Типы: плоские сварные, фланцевые, эллиптические, сферические, быстросъёмные, межфланцевые.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14</a:t>
            </a:r>
          </a:p>
        </p:txBody>
      </p:sp>
      <p:pic>
        <p:nvPicPr>
          <p:cNvPr id="11" name="Picture 10" descr="pipe_caps_4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Теплоизоляция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Защита от потерь тепла и ожогов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Теплоизоляция трубопроводов предназначена для снижения теплопотерь, предотвращения конденсации влаги на поверхности, защиты персонала от термических ожогов и обеспечения стабильности технологических параметров.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14</a:t>
            </a:r>
          </a:p>
        </p:txBody>
      </p:sp>
      <p:pic>
        <p:nvPicPr>
          <p:cNvPr id="11" name="Picture 10" descr="thermal_insulatio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Устройство трубопроводов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Опознавательная окраска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Маркировка трубопроводов по ГОСТ 14202-69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Цветовая маркировка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коммуникации делятся на 10 основных групп по транспортируемым веществам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зелёный цвет — 1 группа, транспортирует воду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красный цвет — 2 группа, транспортирует пар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Количество предупреждающих колец зависит от давления и температуры среды.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14</a:t>
            </a:r>
          </a:p>
        </p:txBody>
      </p:sp>
      <p:pic>
        <p:nvPicPr>
          <p:cNvPr id="21" name="Picture 20" descr="pipe_identification_g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