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5" r:id="rId12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1" r:id="rId13"/>
    <p:sldId id="262" r:id="rId14"/>
    <p:sldId id="263" r:id="rId15"/>
    <p:sldId id="264" r:id="rId16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9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подключением; • Исправность оборудования — контроль каждый раз перед началом работ; • Фиксация отклонений и неисправностей в акте установленной 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1. ЭКСПЛУАТАЦИЯ ТРУБОПРОВОДОВ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Исполнительные и эксплуатационные схемы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828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На рабочих местах персонала, обслуживающего трубопровод, эксплуатирующая организация должна обеспечить наличие в доступной для постоянного использования форме комплекта исполнительных схем трубопроводов или разработанных на их основе эксплуатационных (технологических) схем, а также производственных инструкций.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0"/>
            <a:ext cx="6583680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Arial"/>
              </a:rPr>
              <a:t>Схемы нужны для безопасного пуска, отключения, ремонта и испытаний.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313815"/>
            <a:ext cx="5669280" cy="1371600"/>
          </a:xfrm>
          <a:prstGeom prst="rect">
            <a:avLst/>
          </a:prstGeom>
        </p:spPr>
      </p:pic>
      <p:pic>
        <p:nvPicPr>
          <p:cNvPr id="7" name="Picture 6" descr="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4572000" cy="4445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1. ЭКСПЛУАТАЦИЯ ТРУБОПРОВОДОВ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A1A1A"/>
                </a:solidFill>
                <a:latin typeface="Arial"/>
              </a:rPr>
              <a:t>Документы на рабочем месте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Обязательные документы для персонала, обслуживающего трубопровод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320040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Arial"/>
              </a:rPr>
              <a:t>Исполнительные и эксплуатационные схемы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3200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Arial"/>
              </a:rPr>
              <a:t>•  Обеспечивают безопасный пуск, отключение, ремонт и испытания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Дополняют указания производственных инструкций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Должны быть доступны для постоянного использования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Персонал обязан уметь применять схемы на практике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2331720"/>
            <a:ext cx="320040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Arial"/>
              </a:rPr>
              <a:t>Производственная инструкция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2743200"/>
            <a:ext cx="3200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Arial"/>
              </a:rPr>
              <a:t>•  Состав схемы и назначение трубопровода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Обязанности персонала в смену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Проверка КИП, арматуры и предохранителей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Пуск, остановка, ремонт, авария, журнал смены</a:t>
            </a:r>
          </a:p>
        </p:txBody>
      </p:sp>
      <p:pic>
        <p:nvPicPr>
          <p:cNvPr id="9" name="Picture 8" descr="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79" y="5852160"/>
            <a:ext cx="5029200" cy="1371600"/>
          </a:xfrm>
          <a:prstGeom prst="rect">
            <a:avLst/>
          </a:prstGeom>
        </p:spPr>
      </p:pic>
      <p:pic>
        <p:nvPicPr>
          <p:cNvPr id="10" name="Picture 9" descr="_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19" y="2240279"/>
            <a:ext cx="393192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Производственная инструкция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регламентирует производственная инструкция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Обязательные разделы инструкции по эксплуатации трубопровода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трубопровод (система) и входящее оборудование; назначение и состав схемы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обязанности персонала во время дежурства по наблюдению и контролю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порядок, сроки и способы проверки КИП, арматуры, предохранительных устройств, автоматики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подготовки к пуску (заполнение, прогрев), пуска и остановки трубопровода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меры безопасности при выводе в ремонт и сливе рабочей среды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Схемы и инструкция должны быть доступны на рабочем месте постоянно.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Производственная инструкция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регламентирует производственная инструкция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Аварийные случаи и документация смены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случаи немедленной остановки трубопровода и связанного оборудования (по ФНП и специфике схемы)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действий персонала при аварии или инциденте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ведения сменного (оперативного) журнала и форм приёма/сдачи смены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описание схемы и порядка пуска/остановки, при которых воздействуют на арматуру и аппаратуру</a:t>
            </a:r>
          </a:p>
        </p:txBody>
      </p:sp>
      <p:pic>
        <p:nvPicPr>
          <p:cNvPr id="6" name="Picture 5" descr="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6035040"/>
            <a:ext cx="5120640" cy="1371600"/>
          </a:xfrm>
          <a:prstGeom prst="rect">
            <a:avLst/>
          </a:prstGeom>
        </p:spPr>
      </p:pic>
      <p:pic>
        <p:nvPicPr>
          <p:cNvPr id="7" name="Picture 6" descr="_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3172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ВВОД В ЭКСПЛУАТАЦИЮ · АКТ ГОТОВНОСТИ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Акт готовности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828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Результаты проверки готовности оборудования к пуску и организации надзора оформляют актом готовности оборудования под давлением к вводу в эксплуатацию. Акт прилагают к паспорту и передают руководителю эксплуатирующей организации.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0"/>
            <a:ext cx="6583680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Arial"/>
              </a:rPr>
              <a:t>Без решения о вводе, оформленного по акту, пуск оборудования недопустим.</a:t>
            </a:r>
          </a:p>
        </p:txBody>
      </p:sp>
      <p:pic>
        <p:nvPicPr>
          <p:cNvPr id="6" name="Picture 5" descr="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418" y="5440680"/>
            <a:ext cx="4472682" cy="1371600"/>
          </a:xfrm>
          <a:prstGeom prst="rect">
            <a:avLst/>
          </a:prstGeom>
        </p:spPr>
      </p:pic>
      <p:pic>
        <p:nvPicPr>
          <p:cNvPr id="7" name="Picture 6" descr="_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058" y="1188720"/>
            <a:ext cx="337540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АКТ ГОТОВНОСТИ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1A1A1A"/>
                </a:solidFill>
                <a:latin typeface="Arial"/>
              </a:rPr>
              <a:t>Структура выводов комиссии в Акте готовности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Обязательные разделы и их 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5212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500" b="1">
                <a:solidFill>
                  <a:srgbClr val="E30613"/>
                </a:solidFill>
                <a:latin typeface="Arial"/>
              </a:rPr>
              <a:t>Раздел вывода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52120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['Соответствие объекта', 'Вывод о соответствии / несоответствии объекта установленным требованиям и проектной документации']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['Устранение замечаний', 'Фиксация факта устранения всех выявленных в ходе проверки замечаний и недостатков']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['Готовность к эксплуатации', 'Заключение о готовности / неготовности объекта к вводу в эксплуатацию']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['Особые условия', 'Перечень условий, ограничений или требований, при которых возможна эксплуатация объекта']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2331720"/>
            <a:ext cx="5212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500" b="1">
                <a:solidFill>
                  <a:srgbClr val="E30613"/>
                </a:solidFill>
                <a:latin typeface="Arial"/>
              </a:rPr>
              <a:t>Требования к оформлению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2743200"/>
            <a:ext cx="52120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['Дата и место составления', 'Указываются дата подписания акта и место проведения комиссионной проверки']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['Состав комиссии', 'Перечисляются все члены комиссии с указанием должностей и подписей']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['Основания для проверки', 'Ссылка на документ-основание (приказ, предписание, план проверок)']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1300" b="1">
                <a:solidFill>
                  <a:srgbClr val="E30613"/>
                </a:solidFill>
                <a:latin typeface="Arial"/>
              </a:rPr>
              <a:t>•  </a:t>
            </a:r>
            <a:r>
              <a:rPr sz="1300">
                <a:solidFill>
                  <a:srgbClr val="1A1A1A"/>
                </a:solidFill>
                <a:latin typeface="Arial"/>
              </a:rPr>
              <a:t>['Подписи и печати', 'Акт подписывается всеми членами комиссии; при наличии разногласий — прикладывается особое мнение']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РАБОТА КОМИССИИ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789920" cy="12801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Особое мнение члена комиссии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10515600" cy="1828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Если член комиссии не согласен с принятым решением, он вправе выразить особое мнение. Оно фиксируется в письменном виде и прикладывается к акту или протоколу комиссии как неотъемлемая часть документа.
Порядок действий:
1. Член комиссии сообщает о несогласии в ходе заседания до подписания итогового документа.
2. Излагает особое мнение в письменной форме с указанием конкретных возражений и их обоснования.
3. Письменное особое мнение передаётся председателю комиссии и приобщается к материалам.
4. В акте (протоколе) делается отметка о наличии особого мнения с указанием Ф.И.О. члена комиссии.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Особое мнение не блокирует решение комиссии, но является официальным документом и учитывается при обжаловании результатов.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АКТ ГОТОВНОСТИ ОБОРУДОВАНИЯ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Arial"/>
              </a:rPr>
              <a:t>Замечания к документации: сроки и порядок устранения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Если в Акте готовности (выводах комиссии, особом мнении) указаны замечания по документации — действуй по следующему порядку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>
                <a:solidFill>
                  <a:srgbClr val="E30613"/>
                </a:solidFill>
                <a:latin typeface="Arial"/>
              </a:rPr>
              <a:t>•  </a:t>
            </a:r>
            <a:r>
              <a:rPr sz="1000">
                <a:solidFill>
                  <a:srgbClr val="1A1A1A"/>
                </a:solidFill>
                <a:latin typeface="Arial"/>
              </a:rPr>
              <a:t>Замечания по комплектности и содержанию представленной при проверке готовности оборудования документации (производственных инструкций, руководства по эксплуатации), требующие её доработки или пересмотра, — устраняются в сроки, определённые руководителем эксплуатирующей организации по согласованию с разработчиком документации.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E30613"/>
                </a:solidFill>
                <a:latin typeface="Arial"/>
              </a:rPr>
              <a:t>•  </a:t>
            </a:r>
            <a:r>
              <a:rPr sz="1000">
                <a:solidFill>
                  <a:srgbClr val="1A1A1A"/>
                </a:solidFill>
                <a:latin typeface="Arial"/>
              </a:rPr>
              <a:t>Нарушения, отрицательно влияющие на работоспособность и/или безопасность эксплуатации оборудования (в т. ч. связанные с арматурой, горизонтальными участками, камерами, нижними элементами), — устраняются до пуска оборудования в работу; комиссия информируется об устранении.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E30613"/>
                </a:solidFill>
                <a:latin typeface="Arial"/>
              </a:rPr>
              <a:t>•  </a:t>
            </a:r>
            <a:r>
              <a:rPr sz="1000">
                <a:solidFill>
                  <a:srgbClr val="1A1A1A"/>
                </a:solidFill>
                <a:latin typeface="Arial"/>
              </a:rPr>
              <a:t>Решение о вводе в эксплуатацию оформляется распорядительным документом эксплуатирующей организации в соответствии с выводами Акта готовности оборудования.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E30613"/>
                </a:solidFill>
                <a:latin typeface="Arial"/>
              </a:rPr>
              <a:t>•  </a:t>
            </a:r>
            <a:r>
              <a:rPr sz="1000">
                <a:solidFill>
                  <a:srgbClr val="1A1A1A"/>
                </a:solidFill>
                <a:latin typeface="Arial"/>
              </a:rPr>
              <a:t>Сведения о принятом решении записываются в паспорт оборудования и заверяются подписью ответственного работника или председателя комиссии.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000" b="1">
                <a:solidFill>
                  <a:srgbClr val="E30613"/>
                </a:solidFill>
                <a:latin typeface="Arial"/>
              </a:rPr>
              <a:t>•  </a:t>
            </a:r>
            <a:r>
              <a:rPr sz="1000">
                <a:solidFill>
                  <a:srgbClr val="1A1A1A"/>
                </a:solidFill>
                <a:latin typeface="Arial"/>
              </a:rPr>
              <a:t>Прокладка, проходные элементы, горизонтальные и нижние участки, камеры, арматура — проверяются на соответствие документации перед пуском оборудования в работу.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1">
                <a:solidFill>
                  <a:srgbClr val="B02018"/>
                </a:solidFill>
                <a:latin typeface="Arial"/>
              </a:rPr>
              <a:t>Нарушения, влияющие на безопасность, должны быть устранены ДО пуска оборудования. Замечания к документации — в сроки по согласованию с разработчиком.</a:t>
            </a:r>
          </a:p>
        </p:txBody>
      </p:sp>
      <p:pic>
        <p:nvPicPr>
          <p:cNvPr id="8" name="Picture 7" descr="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6035040"/>
            <a:ext cx="5120640" cy="1371600"/>
          </a:xfrm>
          <a:prstGeom prst="rect">
            <a:avLst/>
          </a:prstGeom>
        </p:spPr>
      </p:pic>
      <p:pic>
        <p:nvPicPr>
          <p:cNvPr id="9" name="Picture 8" descr="_p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31720"/>
            <a:ext cx="402336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Контроль при эксплуатации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контролируют при эксплуатации трубопроводов и арматуры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По производственным инструкциям, руководству и проекту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величины тепловых перемещений и соответствие расчётным значениям по индикаторам (реперам)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отсутствие защемлений и повышенной вибрации трубопроводов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плотность предохранительных устройств, арматуры и фланцевых соединений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температурный режим металла при пусках и остановах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05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Контроль при эксплуатации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контролируют при эксплуатации трубопроводов и арматуры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По производственным инструкциям, руководству и проекту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степень затяжки пружин подвесок и опор в рабочем и холодном состоянии — не реже 1 раза в 2 года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герметичность сальниковых уплотнений арматуры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соответствие указателей положения регулирующей арматуры на щитах её фактическому положению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наличие смазки подшипников, узлов приводов, винтовых пар, редукторов — по руководству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При заполнении неостывших паропроводов контролируют разность температур стенки и среды.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06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Арматура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Маркировка арматуры и указатели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Требования к обозначению и индикации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на арматуре или бирке — названия и номера по технологическим схемам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указатели направления вращения штурвала (маховика)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регулирующие клапаны — указатели степени открытия регулирующего органа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запорная арматура — указатели положения запорного органа (открыто / закрыто)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07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Манометры и ПК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Сроки проверки исправности манометров и предохранительных клапанов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 результатах — запись в сменном (оперативном) журнале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давление до 1,4 МПа включительно — не реже одного раза в смену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свыше 1,4 до 4,0 МПа включительно — не реже одного раза в сутки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свыше 4 МПа и все трубопроводы на ТЭС — в сроки по утверждённой инструкции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исправность ПК — кратковременным подрывом или на испытательных стендах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08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Манометры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Класс точности, красная черта и обслуживание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Требования к выбору и установке манометров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до 2,5 МПа — класс точности не ниже 2,5; свыше 2,5 до 14 МПа — не ниже 1,5; свыше 14 МПа — не ниже 1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 шкале — красная черта разрешённого рабочего давления (или отдельный указатель max)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перед манометром — трёхходовой кран или аналог для продувки и отключения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поверка не реже одного раза в 12 месяцев (если иное не указано в документации) с клеймом/пломбой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09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Предохранительные и редуцирующие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Отвод от ПК и редуцирование давления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Когда давление источника выше разрешённого для трубопровода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ПК должны иметь отводящие трубопроводы, защищающие персонал от ожогов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 отводящих трубопроводах запорные устройства не устанавливают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при меньшем разрешённом давлении трубопровода, чем у источника — редуцирующее устройство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редуцирующие устройства — авторегулирование давления; РОУ — также температуры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10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Ремонт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Ремонтный журнал и подготовка к ремонту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Организация ремонтных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ведётся ремонтный журнал (бумажный или электронный с резервированием)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фиксируют работы, вызывающие внеочередное освидетельствование, материалы и документы качества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до ремонта трубопровод отделяют заглушками или отсоединяют от действующего оборудования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ремонт арматуры, ДУ, установка/снятие заглушек — по наряду-допуску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11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ВВОД В ЭКСПЛУАТАЦИЮ · Проверка готовности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контролируют при проверке готовности к пуску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Решение о вводе принимает руководитель эксплуатирующей организации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документация изготовителя и соответствие техрегламентам и правилам ПБ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документация качества монтажа (ремонта/реконструкции) и приёмки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положительные результаты технического освидетельствования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результаты пусконаладки и комплексного опробования (если требуются проектом)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12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ВВОД В ЭКСПЛУАТАЦИЮ · Проверка готовности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контролируют при проверке готовности к пуску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Решение о вводе принимает руководитель эксплуатирующей организации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документы о приёмке после ПНР и комплексного опробования (при необходимости)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соответствие требованиям техрегулирования и ст. 7 Федерального закона о ПБ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наличие, соответствие проекту и исправность арматуры, КИП, приборов безопасности и защит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правильность установки, размещения и обвязки оборудования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Проверку проводят ответственный за производственный контроль совместно с ответственным за исправное состояние либо комиссия по распорядительному документу.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13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ВВОД В ЭКСПЛУАТАЦИЮ · Надзор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Проверка организации надзора за эксплуатацией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Что контролируют дополнительно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наличие обслуживающего персонала, обученного и допущенного по ФНП и распорядительным документам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наличие должностных инструкций для ответственных лиц и специалистов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наличие производственных инструкций и эксплуатационной документации, их соответствие ФНП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решение о вводе оформляют распорядительным документом; сведения записывают в паспорт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Член комиссии вправе изложить особое мнение письменно — оно прилагается к акту.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14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ВВОД В ЭКСПЛУАТАЦИЮ · Идентификация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Табличка перед пуском и опознавательная окраска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Перед пуском на каждой единице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номер оборудования по системе нумерации эксплуатирующей организации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учётный номер, присвоенный территориальным органом Ростехнадзора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разрешённые параметры (давление, температура рабочей среды)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даты следующих НВО/ГИ (котлы, сосуды) или НО (трубопроводы) и срок службы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Трубопроводы окрашивают и маркируют по назначению и параметрам среды.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ТРУБОПРОВОДОВ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Уклоны, каналы и тоннели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Требования к размещению трубопроводов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горизонтальные участки пара и ГВ — уклон не менее 0,004; тепловых сетей — не менее 0,002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полупроходные каналы — высота в свету ≥ 1,5 м; ширина прохода между изолированными трубами — по нормам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проходные тоннели (коллекторы) — высота ≥ 2 м; ширина прохода — по проекту/нормам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надземная открытая прокладка допускается совместно с технологическими трубопроводами (с исключениями)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ТРУБОПРОВОДОВ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Люки, камеры, доступ к арматуре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Обслуживание подземных и надземных участков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проходные каналы — входные люки с лестницей/скобами; расстояние между люками ≤ 300 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 всех трубопроводах тепловых сетей — антикоррозионная, тепловая и гидроизоляционная защита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камеры обслуживания подземных трубопроводов — не менее двух люков с лестницами/скобами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арматура — в местах, доступных для безопасного обслуживания и ремонта; чугунная — защита от изгиба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ТРУБОПРОВОДОВ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Тепловые перемещения, ползучесть, секционирование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Проектные требования к оснащению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паропроводы Øвн &gt; 150 мм при t ≥ 300 °C — указатели тепловых перемещений (по проекту)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при температуре, вызывающей ползучесть, — устройства контроля роста остаточных деформаций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запорная арматура на всех выводах тепловых сетей от источников теплоты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 водяных сетях Øвн ≥ 100 мм — секционирующие задвижки не реже чем через 1000 м с перемычкой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Также запорная арматура на ответвлениях Øвн ≥ 100 мм и на конденсатопроводах к сборному баку.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· Дренаж и воздушники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Дренажные и воздухоудаляющие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Обязательное оснащение трубопроводов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дренажи для слива после гидравлического испытания и воздушники в верхних точках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паропроводы — дренажные устройства в местах возможного скопления конденсата при пуске и работе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в нижних точках водяных сетей и конденсатопроводов — штуцера с арматурой для спуска воды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из паропроводов тепловых сетей в нижних точках и перед вертикальными подъёмами — непрерывный отвод конденсата через конденсатоотводчики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· Дренаж и воздушники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Дренажные и воздухоудаляющие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Обязательное оснащение трубопроводов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пусковой дренаж: через 400–500 м при попутном и 200–300 м при встречном уклоне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отключаемые участки паропроводов — штуцер с запорным устройством в концевых точках для прогрева и продувки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контроль работы дренажей при прогреве; нижние концевые точки и изгибы — устройства продувки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ПРОКЛАДКА · Приводы и изоляция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Электроприводы арматуры и тепловая изоляция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Дополнительные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электроприводы на водяных сетях Øвн ≥ 500 мм при P ≥ 1,6 МПа и Øвн ≥ 300 мм при P ≥ 2,5 МПа (а также на паровых — по нормам проекта)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материалы изоляции — по параметрам и условиям эксплуатации трубопровода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изоляция фланцев, арматуры и контрольных участков (швы, бобышки ползучести) — съёмная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 открытом воздухе и у масло-/мазутопроводов — металлическое или иное защитное покрытие изоляции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10058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Ключевые требования эксплуатации трубопроводов пара и горячей 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Что должен знать обслуживающий персонал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949440" cy="3154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•  на рабочем месте — схемы, инструкция; контроль перемещений, плотности, КИП и ПК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манометры и ПК проверяют по срокам; класс точности и красная черта обязательны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ремонт — с отглушением и по наряду-допуску; ввод — по акту готовности и распоряжению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прокладка, дренажи, изоляция и арматура — строго по проекту и ФНП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50992"/>
            <a:ext cx="6949440" cy="6400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8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797296"/>
            <a:ext cx="6583679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Нарушение порядка пуска, ремонта или контроля — прямая угроза аварии на ОПО.</a:t>
            </a:r>
          </a:p>
        </p:txBody>
      </p:sp>
      <p:pic>
        <p:nvPicPr>
          <p:cNvPr id="8" name="Picture 7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067" y="6126480"/>
            <a:ext cx="4096025" cy="1371600"/>
          </a:xfrm>
          <a:prstGeom prst="rect">
            <a:avLst/>
          </a:prstGeom>
        </p:spPr>
      </p:pic>
      <p:pic>
        <p:nvPicPr>
          <p:cNvPr id="9" name="Picture 8" descr="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07" y="2331720"/>
            <a:ext cx="299874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