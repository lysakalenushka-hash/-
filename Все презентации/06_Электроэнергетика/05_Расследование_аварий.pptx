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67" r:id="rId14"/>
    <p:sldId id="265" r:id="rId9"/>
    <p:sldId id="266" r:id="rId10"/>
    <p:sldId id="268" r:id="rId13"/>
    <p:sldId id="269" r:id="rId12"/>
    <p:sldId id="270" r:id="rId11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276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3.xml"/><Relationship Id="rId12" Type="http://schemas.openxmlformats.org/officeDocument/2006/relationships/slide" Target="slides/slide12.xml"/><Relationship Id="rId13" Type="http://schemas.openxmlformats.org/officeDocument/2006/relationships/slide" Target="slides/slide11.xml"/><Relationship Id="rId14" Type="http://schemas.openxmlformats.org/officeDocument/2006/relationships/slide" Target="slides/slide10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45720" cy="5029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188720"/>
            <a:ext cx="108200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Inter"/>
              </a:rPr>
              <a:t>Аварии в электроэнергетике: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108200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E30613"/>
                </a:solidFill>
                <a:latin typeface="Inter"/>
              </a:rPr>
              <a:t>расследование и аварийные ограничения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59" y="4480560"/>
            <a:ext cx="3657601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59" y="457200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Тема 5 · Расследование причин аварий · графики аварийного ограничения · противоаварийная автоматика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576072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Электроэнергетика · НПА · Диспетчерское управление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71455" y="6492240"/>
            <a:ext cx="12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30613"/>
                </a:solidFill>
                <a:latin typeface="Inter"/>
              </a:rPr>
              <a:t>01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5.1 · Определение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Что такое авария в электроэнергетике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Нормативное определение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1094415" cy="190195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Авария — технологические нарушения на объекте электроэнергетики и (или) энергопринимающей установке, приведшие к разрушению или повреждению зданий, сооружений и (или) технических устройств, неконтролируемому взрыву и (или) выбросу опасных веществ; отклонению от установленного режима работы; полному или частичному ограничению режима потребления; возникновению или угрозе возникновения аварийного электроэнергетического режима.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416552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553712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Inter"/>
              </a:rPr>
              <a:t>Расследованию и учёту подлежат аварии на всех объектах на территории РФ.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5.1 · Термины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Что такое авария в электроэнергетике?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Нормативное определение охватывает широкий спектр событий — от разрушения оборудования до угрозы аварийного режима энергосистемы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29076"/>
            <a:ext cx="4572000" cy="20116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800" b="1">
                <a:solidFill>
                  <a:srgbClr val="E30613"/>
                </a:solidFill>
                <a:latin typeface="Inter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0039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6B7280"/>
                </a:solidFill>
                <a:latin typeface="Inter"/>
              </a:rPr>
              <a:t>видов нарушений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56655" y="3576116"/>
            <a:ext cx="502920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56655" y="3713276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Inter"/>
              </a:rPr>
              <a:t>Авария — технологическое нарушение на объекте электроэнергетики и (или) энергопринимающей установке, включающее: разрушение/повреждение оборудования; неконтролируемый взрыв, пожар, выброс опасных веществ; отклонение от технологического режима; нарушение работы релейной защиты и автоматики; ограничение режима потребления электроэнергии (мощности); возникновение или угрозу аварийного электроэнергетического режима работы энергосистемы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5.1 · Сфера применения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Расследование и учёт аварий — обязательны на всех объектах электроэнергетики РФ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Без исключений: от энергопринимающих установок до атомных станций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71323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Расследованию и учёту подлежат аварии на всех объектах электроэнергетики и (или) энергопринимающих установках, расположенных на территории Российской Федерации, соответствующие критериям, в том числе технологические нарушения на атомных станциях.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410712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547872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Требование распространяется на каждый объект электроэнергетики и каждую энергопринимающую установку на территории РФ — включая объекты атомной генерации.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5.1 · Кто расследует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Кто расследует: надзор vs собственник — обзор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Обязательность расследования и учёта распространяется на все объекты электроэнергетики на территории РФ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4343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Объекты, подлежащие расследованию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064383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201543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Объект электроэнергетики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30143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Любой объект, расположенный на территории Российской Федерации, соответствующий установленным критериям аварии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81069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Энергопринимающая установка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9669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Установки потребителей электроэнергии, расположенные на территории РФ, также подпадают под действие порядка расследования и учёта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60595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Атомная станция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89195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Технологические нарушения на атомных станциях расследуются и учитываются в том числе в рамках общего порядка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2555748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Ключевые требования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24447" y="2875788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24447" y="3012948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Расследование аварий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3241548"/>
            <a:ext cx="5318607" cy="5657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Расследованию подлежат аварии на всех объектах электроэнергетики и (или) энергопринимающих установках, расположенных на территории Российской Федерации, соответствующие критериям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981069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Учёт аварий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4209669"/>
            <a:ext cx="5318607" cy="5657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Учёту подлежат аварии на всех объектах электроэнергетики и (или) энергопринимающих установках, расположенных на территории Российской Федерации, соответствующие критериям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4949190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Территориальный охват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5177790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Требование распространяется на все объекты, расположенные на территории Российской Федерации, без исключений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«Расследованию и учету подлежат аварии на всех объектах электроэнергетики и (или) энергопринимающих установках, расположенных на территории Российской Федерации, соответствующие критериям, в том числе технологические нарушения на атомных станциях.»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5.1 · Надзор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Критерии аварий, расследуемых органом федерального государственного энергетического надзора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Расследование проводится, если в результате аварии произошло одно из следующих событий (пп. а–л)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8321"/>
            <a:ext cx="1109441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 err="1">
                <a:solidFill>
                  <a:srgbClr val="E30613"/>
                </a:solidFill>
                <a:latin typeface="Inter"/>
              </a:rPr>
              <a:t>Критерии</a:t>
            </a:r>
            <a:r>
              <a:rPr sz="1100" b="1" i="0" dirty="0">
                <a:solidFill>
                  <a:srgbClr val="E30613"/>
                </a:solidFill>
                <a:latin typeface="Inter"/>
              </a:rPr>
              <a:t> 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88361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2552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5521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ru-RU" sz="1400" dirty="0">
                <a:solidFill>
                  <a:srgbClr val="1A1A1A"/>
                </a:solidFill>
                <a:latin typeface="Inter"/>
              </a:rPr>
              <a:t>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)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Повреждение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энергетического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котла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паропроизводительностью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≥ 100 т/ч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или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водогрейного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котла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≥ 50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Гкал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/ч с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разрушением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изменением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формы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/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геометрических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размеров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котла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или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смещением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блоков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/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элементов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котла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или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металлического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каркаса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87362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73627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ru-RU" sz="1400" dirty="0">
                <a:solidFill>
                  <a:srgbClr val="1A1A1A"/>
                </a:solidFill>
                <a:latin typeface="Inter"/>
              </a:rPr>
              <a:t>Б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)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Повреждение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турбины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номинальной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мощностью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≥ 10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МВт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с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разрушением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проточной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части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изменением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формы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/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геометрических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размеров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или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смещением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корпуса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турбины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на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фундаменте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48170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1702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ru-RU" sz="1400" b="0" i="0" dirty="0">
                <a:solidFill>
                  <a:srgbClr val="1A1A1A"/>
                </a:solidFill>
                <a:latin typeface="Inter"/>
              </a:rPr>
              <a:t>В.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1)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Повреждение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генератора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установленной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мощностью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≥ 10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МВт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с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разрушением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статора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ротора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изоляции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обмоток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статора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или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ротора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08977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89779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ru-RU" sz="1400" b="0" i="0" dirty="0">
                <a:solidFill>
                  <a:srgbClr val="1A1A1A"/>
                </a:solidFill>
                <a:latin typeface="Inter"/>
              </a:rPr>
              <a:t>В.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2)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Повреждение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силового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трансформатора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(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автотрансформатора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)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мощностью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≥ 10 МВА с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разрушением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изменением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формы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/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геометрических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размеров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или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смещением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корпуса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5.1 · Надзор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Критерии аварий, расследуемых органом федерального государственного энергетического надзора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76906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Критерии (пп. а–л)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996946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13410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34106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ru-RU" sz="1400" dirty="0">
                <a:solidFill>
                  <a:srgbClr val="1A1A1A"/>
                </a:solidFill>
                <a:latin typeface="Inter"/>
              </a:rPr>
              <a:t>Г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)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Обрушение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несущих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элементов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технологических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зданий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/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сооружений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объекта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электроэнергетики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(в т. ч.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вследствие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взрыва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или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пожара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),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если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оно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повлекло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введение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аварийного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ограничения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потребления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электрической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и (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или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)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тепловой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энергии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(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мощности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8221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82212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ru-RU" sz="1400" dirty="0">
                <a:solidFill>
                  <a:srgbClr val="1A1A1A"/>
                </a:solidFill>
                <a:latin typeface="Inter"/>
              </a:rPr>
              <a:t>Д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)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Отклонение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частоты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электрического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тока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в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энергосистеме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: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за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пределы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50,00 ± 0,2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Гц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продолжительностью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≥ 3 ч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или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за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пределы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50,00 ± 0,4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Гц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продолжительностью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≥ 30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мин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459028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90288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ru-RU" sz="1400" dirty="0">
                <a:solidFill>
                  <a:srgbClr val="1A1A1A"/>
                </a:solidFill>
                <a:latin typeface="Inter"/>
              </a:rPr>
              <a:t>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)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Массовые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отключения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/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повреждения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объектов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электросетевого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хозяйства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(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высший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класс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напряжения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6–35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кВ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)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из-за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неблагоприятных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природных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явлений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если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прекращено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электроснабжение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≥ 200 000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потребителей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519836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98364"/>
            <a:ext cx="10637215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ru-RU" sz="1400" dirty="0">
                <a:solidFill>
                  <a:srgbClr val="1A1A1A"/>
                </a:solidFill>
                <a:latin typeface="Inter"/>
              </a:rPr>
              <a:t>Ж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)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Отключение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генерирующего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оборудования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или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объекта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электросетевого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хозяйства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приводящее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к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снижению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надёжности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Единой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энергетической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системы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России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или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технологически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изолированных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территориальных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электроэнергетических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систем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(в т. ч.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разделение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энергосистемы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5.1 · Пороги надзора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Inter"/>
              </a:rPr>
              <a:t>Числовые пороги критериев аварий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Орган федерального государственного энергетического надзора расследует аварии, соответствующие установленным порогам по мощности, напряжению, частоте и численности пострадавших потребителей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23006"/>
            <a:ext cx="4572000" cy="20116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800" b="1">
                <a:solidFill>
                  <a:srgbClr val="E30613"/>
                </a:solidFill>
                <a:latin typeface="Inter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9432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6B7280"/>
                </a:solidFill>
                <a:latin typeface="Inter"/>
              </a:rPr>
              <a:t>критериев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56655" y="3470046"/>
            <a:ext cx="502920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56655" y="3607206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Inter"/>
              </a:rPr>
              <a:t>Пороговые критерии аварий (пп. а–л): энергетический котёл ≥100 т/ч или ≥50 Гкал/ч · турбина ≥10 МВт · генератор ≥10 МВт · силовой трансформатор ≥10 МВА · отклонение частоты за пределы 50,00±0,2 Гц (≥3 ч) или 50,00±0,4 Гц (≥30 мин) · отключение потребителей ≥200 тыс. чел. (сети 6–35 кВ) · снижение надёжности ЕЭС России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09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5.1 · Собственник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Аварии, расследуемые собственником (владельцем) объекта или эксплуатирующей организацией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Собственник, иной законный владелец объекта электроэнергетики и (или) энергопринимающей установки либо эксплуатирующая их организация расследуют причины аварий, в результате которых произошли: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98598"/>
            <a:ext cx="1109441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 err="1">
                <a:solidFill>
                  <a:srgbClr val="E30613"/>
                </a:solidFill>
                <a:latin typeface="Inter"/>
              </a:rPr>
              <a:t>Пункты</a:t>
            </a:r>
            <a:r>
              <a:rPr sz="1100" b="1" i="0" dirty="0">
                <a:solidFill>
                  <a:srgbClr val="E30613"/>
                </a:solidFill>
                <a:latin typeface="Inter"/>
              </a:rPr>
              <a:t> 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Повреждение основного оборудования электростанции, а также отключение такого оборудования действием автоматических защитных устройств или оперативным персоналом вследствие недопустимых отклонений технологических параметров или ошибочных действий оперативного персонала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б) Отключение вспомогательного оборудования электростанции действием автоматических защитных устройств или оперативным персоналом вследствие недопустимых отклонений технологических параметров или ошибочных действий оперативного персонала, повлекшее ограничение располагаемой мощности электростанции на величину 50 МВт и более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3085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30852"/>
            <a:ext cx="1063721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в) Повреждение объекта электросетевого хозяйства (высший класс напряжения 6 кВ и выше) в электрических сетях или на электростанции, а также отключение такого объекта действием автоматических защитных устройств или оперативным персоналом вследствие недопустимых отклонений технологических параметров или ошибочных действий оперативного персонала, в том числе вызвавшее обесточивание резервных трансформаторов собственных нужд атомной электростанции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10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5.1 · Надзор (продолжение)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Дополнительные критерии федерального надзора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пп. з–л (в дополнение к а–ж)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8321"/>
            <a:ext cx="1109441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Критерии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88361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2552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5521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з) отключение сетей ≥110 кВ / генерации ≥100 МВт на ≥2 объектах с обесточением ≥200 тыс. чел. / ≥500 МВт нагрузки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87362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73627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и) нарушения противоаварийной/режимной автоматики с отключением объекта ≥110 кВ или генерации ≥100 МВт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48170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1702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к) нарушение в сетях с отклонением частоты на шинах РУ АЭС ≥110 кВ за пределы, угрожающие безопасности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08977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89779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л) потеря диспетчерской связи и дистанционного управления / телеметрии / управляющих воздействий ПА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08 / 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Inter"/>
              </a:rPr>
              <a:t>Системные и межобъектные события — компетенция федерального энергетического надзора.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5.1 · Собственник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Аварии, расследуемые собственником / эксплуатирующей организацией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пп. г–и (в дополнение к а–в)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8321"/>
            <a:ext cx="1109441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Критерии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88361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2552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5521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г) потеря управляемости объекта ≥1 ч (СН, оперативный ток, сжатый воздух, масло и др.)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87362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73627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д) неправильные действия защитных устройств и (или) систем автоматики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48170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1702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е) вывод электрооборудования системы электропитания АЭС действием РЗА от повышения напряжения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08977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89779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ж–и) превышение лимитов выбросов ×5; пожар как причина/следствие; повреждения сетей &lt;6 кВ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11 / 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Inter"/>
              </a:rPr>
              <a:t>Локальные события объекта — зона собственника, если не достигнуты пороги надзора.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5.1 · Порядок расследования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Сроки уведомления, решения и работы комиссии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Действия после аварии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8321"/>
            <a:ext cx="1109441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Ключевые сроки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88361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2552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5521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собственник незамедлительно уведомляет орган федерального энергетического надзора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87362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73627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решение о расследовании надзором — не позднее 24 часов с момента получения информации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48170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1702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собственник в срок ≤24 ч создаёт комиссию при расследовании «своих» аварий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08977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89779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срок расследования — ≤20 календарных дней; продление — не более чем на 45 дней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12 / 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Inter"/>
              </a:rPr>
              <a:t>Председатель комиссии надзора — должностное лицо органа федерального энергетического надзора.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5.1 · Комиссия и действия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Состав комиссии и обязательные действия при расследовании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Выявление причин аварии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8321"/>
            <a:ext cx="1109441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Что делают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88361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2552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5521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в комиссию при необходимости включают представителей Минэнерго, Ростехнадзора смежных сфер, сетей, генерации, СО, крупных потребителей (&gt;50 МВт)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87362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73627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сохраняют обстановку; изымают регистрограммы и записи переговоров; фиксируют положение защит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48170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1702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осмотр, фото/видео, схема места; опрос очевидцев и оперативного персонала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08977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89779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оценка действий персонала, проверка норм, проекта, области применения, СИЗ и техдокументации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13 / 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Inter"/>
              </a:rPr>
              <a:t>Действия комиссии оформляются протоколом и подписываются председателем.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5.1 · Акт и учёт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Оформление результатов и систематизация информации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Акт о расследовании причин аварии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8321"/>
            <a:ext cx="1109441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Требования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88361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2552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5521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акт составляется в 2 экземплярах; особое мнение члена комиссии прилагается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87362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73627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копии акта с приложениями — в 3-дневный срок субъектам и потребителям, чьи интересы затронуты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48170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1702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материалы хранятся надзором / собственником ≥5 лет; формируется отдельное дело с описью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08977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89779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ежемесячный сводный отчёт собственника; электронные копии актов — в базу данных об авариях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14 / 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Inter"/>
              </a:rPr>
              <a:t>Материалы используют при планировании режимов и разработке противоаварийных мероприятий.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5.2 · Аварийные ограничения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Графики аварийного ограничения и противоаварийная автоматика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Правила разработки и применения графиков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1094415" cy="190195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Правила определяют: порядок разработки графиков аварийного ограничения режима потребления электрической энергии (мощности); порядок их применения (введение диспетчерским центром); правила использования противоаварийной автоматики. Сетевые организации и владельцы сетей/генерации формируют перечни потребителей, в отношении которых может осуществляться аварийное ограничение.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416552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553712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Inter"/>
              </a:rPr>
              <a:t>Графики разрабатываются ежегодно: 1 октября — 30 сентября следующего года.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5.2 · Виды графиков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Виды графиков аварийного ограничения и основания введения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Утверждаются первичными получателями команд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8321"/>
            <a:ext cx="1109441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Состав и основания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88361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2552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5521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три вида: ограничение энергии; ограничение мощности; временное отключение потребления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87362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73627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задание диспетчерского центра на разработку — ежегодно до 15 июня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48170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1702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основания: дефицит с частотой &lt;49,8 Гц; перегрузка сечений/линий; повреждение сетей; повреждение АСУ/связи/ПА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08977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89779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вводятся при невозможности предотвратить угрозу иными мерами; без согласования с потребителем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16 / 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Inter"/>
              </a:rPr>
              <a:t>Автоматический перевод отключаемой нагрузки на другие центры питания не допускается.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5.2 · Введение графиков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Диспетчерские команды и получатели ограничений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Порядок исполнения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8321"/>
            <a:ext cx="1109441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Ключевые правила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88361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2552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5521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вводит диспетчерский центр командой/распоряжением; запись в оперативном журнале с основанием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87362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73627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первичный получатель распределяет объёмы и передаёт вторичным / потребителям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48170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1702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потребитель самостоятельно выполняет технические мероприятия; при невыполнении — принудительное ограничение сетями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08977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89779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графики ограничения энергии/мощности — с 00:00 следующих суток, уведомление потребителя ≤14:00 текущих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17 / 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Inter"/>
              </a:rPr>
              <a:t>Временное отключение — если ограничение нельзя ввести вовремя или потребитель не исполнил распоряжение.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5.2 · Противоаварийная автоматика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Использование ПА, действующей на отключение нагрузки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Предотвращение и ликвидация аварийных режимов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8321"/>
            <a:ext cx="1109441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Требования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88361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2552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5521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диспетчерский центр определяет необходимость ПА, тип, факторы запуска и объёмы воздействий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87362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73627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задания на изменение уставок/алгоритмов — в сроки задания; АЧР/ЧАПВ — ≤5 месяцев; иначе — по согласованию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48170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1702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сведения о настройке АЧР: до 1 сентября и до 20 февраля; внеочередные замеры — за 10 рабочих дней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08977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89779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минимально необходимый уровень потребления сохраняется; АРИП — по категории надёжности потребителя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18 / 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Inter"/>
              </a:rPr>
              <a:t>При срабатывании ПА перевод отключаемой нагрузки на другие центры питания не допускается.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Итоги темы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Расследование аварий и аварийные ограничения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Что должен знать работник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8321"/>
            <a:ext cx="1109441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Главные выводы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88361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2552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5521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авария — технологическое нарушение с последствиями для объекта/режима/потребления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87362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73627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крупные и системные события расследует надзор; локальные — собственник/эксплуатирующая организация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48170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1702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сроки: уведомление немедленное; решение ≤24 ч; расследование ≤20 дней (+≤45)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08977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89779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графики аварийного ограничения и ПА вводятся диспетчерским центром без согласования с потребителем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19 / 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Inter"/>
              </a:rPr>
              <a:t>Невыполнение диспетчерских команд об аварийных ограничениях недопустимо.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1644</Words>
  <Application>Microsoft Office PowerPoint</Application>
  <PresentationFormat>Широкоэкранный</PresentationFormat>
  <Paragraphs>121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Inter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smarta3@outlook.com</cp:lastModifiedBy>
  <cp:revision>3</cp:revision>
  <dcterms:created xsi:type="dcterms:W3CDTF">2013-01-27T09:14:16Z</dcterms:created>
  <dcterms:modified xsi:type="dcterms:W3CDTF">2026-07-28T13:57:48Z</dcterms:modified>
  <cp:category/>
</cp:coreProperties>
</file>