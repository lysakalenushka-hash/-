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8"/>
    <p:sldId id="273" r:id="rId19"/>
    <p:sldId id="274" r:id="rId20"/>
    <p:sldId id="275" r:id="rId21"/>
    <p:sldId id="276" r:id="rId22"/>
    <p:sldId id="278" r:id="rId24"/>
    <p:sldId id="279" r:id="rId25"/>
    <p:sldId id="280" r:id="rId26"/>
    <p:sldId id="283" r:id="rId29"/>
    <p:sldId id="284" r:id="rId30"/>
    <p:sldId id="285" r:id="rId31"/>
    <p:sldId id="286" r:id="rId28"/>
    <p:sldId id="287" r:id="rId27"/>
    <p:sldId id="288" r:id="rId23"/>
    <p:sldId id="289" r:id="rId17"/>
    <p:sldId id="290" r:id="rId16"/>
    <p:sldId id="291" r:id="rId15"/>
    <p:sldId id="292" r:id="rId14"/>
    <p:sldId id="293" r:id="rId13"/>
    <p:sldId id="294" r:id="rId36"/>
    <p:sldId id="295" r:id="rId37"/>
    <p:sldId id="296" r:id="rId38"/>
    <p:sldId id="297" r:id="rId39"/>
    <p:sldId id="298" r:id="rId40"/>
    <p:sldId id="299" r:id="rId41"/>
    <p:sldId id="300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30.xml"/><Relationship Id="rId14" Type="http://schemas.openxmlformats.org/officeDocument/2006/relationships/slide" Target="slides/slide29.xml"/><Relationship Id="rId15" Type="http://schemas.openxmlformats.org/officeDocument/2006/relationships/slide" Target="slides/slide28.xml"/><Relationship Id="rId16" Type="http://schemas.openxmlformats.org/officeDocument/2006/relationships/slide" Target="slides/slide27.xml"/><Relationship Id="rId17" Type="http://schemas.openxmlformats.org/officeDocument/2006/relationships/slide" Target="slides/slide26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5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4.xml"/><Relationship Id="rId28" Type="http://schemas.openxmlformats.org/officeDocument/2006/relationships/slide" Target="slides/slide23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Вводный</a:t>
            </a:r>
            <a:r>
              <a:rPr sz="1100" b="1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E30613"/>
                </a:solidFill>
                <a:latin typeface="Arial"/>
              </a:rPr>
              <a:t>модуль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Разрешения на допуск в эксплуатацию энергоустановок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 dirty="0" err="1">
                <a:solidFill>
                  <a:srgbClr val="E30613"/>
                </a:solidFill>
                <a:latin typeface="Arial"/>
              </a:rPr>
              <a:t>Нормативные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основания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порядок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оформления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ответственность</a:t>
            </a:r>
            <a:endParaRPr sz="1700" b="0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95097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 dirty="0" err="1">
                <a:solidFill>
                  <a:srgbClr val="1A1A1A"/>
                </a:solidFill>
                <a:latin typeface="Arial"/>
              </a:rPr>
              <a:t>Настоящий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модуль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устанавливает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порядок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изучения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требований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к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получению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разрешений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на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допуск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энергоустановок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в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эксплуатацию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.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Рассматриваются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: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основания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для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выдачи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отказа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в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выдаче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разрешения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состав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необходимой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документации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полномочия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органов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государственного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энергетического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надзора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, а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также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последствия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эксплуатации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энергоустановок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без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надлежащего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допуска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648456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785616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По завершении модуля обучающийся будет ориентироваться в нормативной базе, регулирующей допуск энергоустановок в эксплуатацию, и применять установленные требования в профессиональной деятельности.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37</a:t>
            </a:r>
          </a:p>
        </p:txBody>
      </p:sp>
      <p:pic>
        <p:nvPicPr>
          <p:cNvPr id="11" name="Picture 10" descr="elect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Нормативная</a:t>
            </a:r>
            <a:r>
              <a:rPr sz="1100" b="1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E30613"/>
                </a:solidFill>
                <a:latin typeface="Arial"/>
              </a:rPr>
              <a:t>основа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Ключевой регулирующий документ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95827"/>
            <a:ext cx="4114909" cy="19697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 dirty="0">
                <a:solidFill>
                  <a:srgbClr val="E30613"/>
                </a:solidFill>
                <a:latin typeface="Arial"/>
              </a:rPr>
              <a:t>№ 85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65215" y="3642867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65215" y="378002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Постановление Правительства Российской Федерации от 30 января 2021 года № 85 утверждает Правила выдачи разрешений на допуск в эксплуатацию энергопринимающих установок потребителей электрической энергии, объектов по производству электрической энергии, объектов электросетевого хозяйства, объектов теплоснабжения и теплопотребляющих установок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37</a:t>
            </a:r>
          </a:p>
        </p:txBody>
      </p:sp>
      <p:pic>
        <p:nvPicPr>
          <p:cNvPr id="11" name="Picture 10" descr="switchgear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Нормативная</a:t>
            </a:r>
            <a:r>
              <a:rPr sz="1100" b="1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E30613"/>
                </a:solidFill>
                <a:latin typeface="Arial"/>
              </a:rPr>
              <a:t>основа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Категории объектов, охватываемых Правилами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 dirty="0" err="1">
                <a:solidFill>
                  <a:srgbClr val="E30613"/>
                </a:solidFill>
                <a:latin typeface="Arial"/>
              </a:rPr>
              <a:t>Постановление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Правительства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Российской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Федерации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от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30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января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2021 </a:t>
            </a:r>
            <a:r>
              <a:rPr sz="1700" b="0" i="0" dirty="0" err="1">
                <a:solidFill>
                  <a:srgbClr val="E30613"/>
                </a:solidFill>
                <a:latin typeface="Arial"/>
              </a:rPr>
              <a:t>года</a:t>
            </a:r>
            <a:r>
              <a:rPr sz="1700" b="0" i="0" dirty="0">
                <a:solidFill>
                  <a:srgbClr val="E30613"/>
                </a:solidFill>
                <a:latin typeface="Arial"/>
              </a:rPr>
              <a:t> № 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Категории охватываемых объектов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Энергопринимающие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установки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потребителей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электрической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энергии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Объекты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производству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электрической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энергии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Объекты электросетевого хозяйства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Объекты теплоснабжения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Теплопотребляющие установки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A37200"/>
                </a:solidFill>
                <a:latin typeface="Arial"/>
              </a:rPr>
              <a:t>Разрешение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на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допуск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эксплуатацию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является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обязательным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для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всех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перечисленных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категорий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объектов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соответствии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с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постановлением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Правительства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Российской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Федерации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от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30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января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2021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года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№ 85.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Основные понятия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Разрешение на допуск в эксплуатацию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Запись в реестре разрешений на допуск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11535" cy="14264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Разрешением на допуск является запись в реестре разрешений на допуск в эксплуатацию, которая удостоверяет соответствие допускаемого объекта и условий его эксплуатации требованиям, установленным Федеральным законом «Об электроэнергетике», и требованиям безопасности в сфере теплоснабжения, установленным Федеральным законом «О теплоснабжении».
Под условиями эксплуатации допускаемого объекта понимаются состояние оборудования, зданий и сооружений, уровень подготовленности персонала, обеспечивающие безопасность работ на этапе эксплуатации допускаемого объекта согласно требованиям, установленным нормативными правовыми актами.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941063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078224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Основания: Федеральный закон «Об электроэнергетике»; Федеральный закон «О теплоснабжении». Разрешение на допуск фиксируется исключительно в форме записи в реестре разрешений — иные формы удостоверения соответствия не предусмотрены.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Разрешение на допуск в эксплуатацию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Состав условий эксплуатации допускаемого объекта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Разрешением на допуск является запись в реестре разрешений на допуск в эксплуатацию, которая удостоверяет соответствие допускаемого объекта и условий его эксплуатации требованиям законодательства.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Условия эксплуатации допускаемого объекта включают: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6974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Состояние оборудования — соответствие техническим требованиям, установленным нормативными правовыми актами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700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7006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Состояние зданий и сооружений — готовность к безопасной эксплуатации на всём её этапе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934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79342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Уровень подготовленности персонала — обеспечение безопасности работ согласно установленным требованиям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8167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81678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Соответствие требованиям Федерального закона «Об электроэнергетике» — обязательное условие внесения записи в реестр разрешений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2404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24044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Соответствие требованиям безопасности в сфере теплоснабжения, установленным Федеральным законом «О теплоснабжении» — обязательное условие внесения записи в реестр разрешений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38394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878"/>
                </a:solidFill>
                <a:latin typeface="Arial"/>
              </a:rPr>
              <a:t>… ещё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A37200"/>
                </a:solidFill>
                <a:latin typeface="Arial"/>
              </a:rPr>
              <a:t>Безопасность эксплуатации допускаемого объекта устанавливается совокупностью всех перечисленных условий. Отсутствие соответствия хотя бы одному из требований Федерального закона «Об электроэнергетике» или Федерального закона «О теплоснабжении» исключает внесение записи в реестр разрешений.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Порядок получения разрешения на допуск в эксплуатацию энергоустановок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Модуль завершён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В настоящем модуле рассмотрены основания и условия, при которых устанавливается обязательность получения разрешения на допуск энергоустановки в эксплуатацию. Определены субъекты, на которых возлагается соответствующая обязанность, установлен перечень документов, представляемых для получения разрешения, а также описан порядок взаимодействия с органами государственного энергетического надзора. Отдельно рассмотрены основания для отказа в выдаче разрешения и последствия эксплуатации энергоустановки без надлежащего допуска.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88620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02336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Следующий модуль посвящён порядку проведения осмотра энергоустановки органами Ростехнадзора: процедуре назначения, срокам, составу комиссии и оформлению результатов.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Категории объектов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Категория объекта определяет порядок допуска в эксплуатацию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Зачем необходимо знать категорию энергоустановки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Энергоустановки подразделяются на категории в зависимости от мощности, класса напряжения, назначения и степени потенциальной опасности. Категория объекта устанавливает: состав обязательной документации для допуска, перечень проводимых испытаний и измерений, требования к квалификации персонала, осуществляющего приёмку, а также объём надзорных мероприятий со стороны уполномоченных органов. Ошибочное определение категории влечёт применение ненадлежащего регламента допуска, что квалифицируется как нарушение требований безопасности при эксплуатации энергоустановки.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88620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02336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Корректное отнесение объекта к категории — необходимое условие законного ввода энергоустановки в эксплуатацию.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Разрешение на допуск в эксплуатацию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Категории объектов, требующих разрешения на допуск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95827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65215" y="3642867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65215" y="378002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Категории случаев обязательного получения разрешения на допуск: (а) объекты по производству электрической энергии, объекты электросетевого хозяйства и энергопринимающие установки потребителей — при технологическом присоединении (ПП № 861); (б) объекты теплоснабжения и теплопотребляющие установки — при технологическом присоединении к системам теплоснабжения (ПП № 787); (в) вновь вводимые в эксплуатацию или реконструированные объекты, технологическое присоединение которых не осуществляется; (г) энергопринимающие установки, предназначенные для производства испытаний электрооборудования повышенным напряжением.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5215" y="42372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878"/>
                </a:solidFill>
                <a:latin typeface="Arial"/>
              </a:rPr>
              <a:t>Основания: постановление Правительства Российской Федерации от 27 декабря 2004 г. № 861; постановление Правительства Российской Федерации от 5 июля 2018 г. № 787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Категории объектов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Случаи обязательного получения разрешения на допуск в эксплуатацию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Установлены четыре категории объектов и случаев в соответствии с действующим нормативным регулированием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84298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Электросетевые и электроэнергетические объекты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704338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84149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Категория «а» — ПП № 861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0098"/>
            <a:ext cx="5227167" cy="1028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Объекты по производству электрической энергии, объекты электросетевого хозяйства и энергопринимающие установки потребителей электрической энергии — в случаях, предусмотренных Правилами технологического присоединения, утверждёнными постановлением Правительства Российской Федерации от 27 декабря 2004 г. № 861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72533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Категория «в» — без технологического присоединения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01133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Вновь вводимые в эксплуатацию или реконструированные объекты, технологическое присоединение которых не осуществляется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86350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Категория «г» — испытательные установки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14950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Энергопринимающие установки, предназначенные для производства испытаний электрооборудования повышенным напряжением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300984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Объекты теплоснабжения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3621024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758183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Категория «б» — ПП № 787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986783"/>
            <a:ext cx="522716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Объекты теплоснабжения и (или) теплопотребляющие установки — в случаях, предусмотренных Правилами подключения (технологического присоединения) к системам теплоснабжения, утверждёнными постановлением Правительства Российской Федерации от 5 июля 2018 г. № 787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A37200"/>
                </a:solidFill>
                <a:latin typeface="Arial"/>
              </a:rPr>
              <a:t>Разрешение на допуск обязательно во всех четырёх категориях случаев. Реконструкция объектов приравнивается к вводу в эксплуатацию в части требований к получению разрешения.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Категории объектов, требующих разрешения на допуск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Объекты без технологического присоединения и испытательные установки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Случаи обязательного получения разрешения на допуск (категории в) и г))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1396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Разрешение на допуск в эксплуатацию является обязательным в следующих случаях:
а) для объектов по производству электрической энергии, объектов электросетевого хозяйства и энергопринимающих установок потребителей электрической энергии — в случаях, предусмотренных Правилами технологического присоединения, утверждёнными постановлением Правительства Российской Федерации от 27 декабря 2004 г. № 861;
б) для объектов теплоснабжения и (или) теплопотребляющих установок — в случаях, предусмотренных Правилами подключения (технологического присоединения) к системам теплоснабжения, утверждёнными постановлением Правительства Российской Федерации от 5 июля 2018 г. № 787;
в) для вновь вводимых в эксплуатацию или реконструированных объектов, технологическое присоединение которых не осуществляется;
г) для энергопринимающих установок, предназначенных для производства испытаний электрооборудования повышенным напряжением.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837176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974336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Источник: Категории объектов и случаи, требующие получения разрешения на допуск (a240a111_2.docx). НПА: ПП РФ от 27.12.2004 № 861; ПП РФ от 05.07.2018 № 787.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Исключения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Случаи, при которых получение разрешения на допуск не требуется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Уведомительный порядок и промышленная безопасность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6212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Разрешение на допуск НЕ требуется для: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582162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7193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19322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Энергопринимающих установок, ввод в эксплуатацию которых осуществляется в уведомительном порядке согласно пунктам 18_1–18_4 Правил технологического присоединения к электрическим сетям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61688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Оборудования, работающего под избыточным давлением, ввод в эксплуатацию которого осуществляется в соответствии с законодательством в области промышленной безопасности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A37200"/>
                </a:solidFill>
                <a:latin typeface="Arial"/>
              </a:rPr>
              <a:t>Перечисленные исключения являются исчерпывающими. Во всех иных случаях получение разрешения на допуск устанавливается как обязательное.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"/>
              </a:rPr>
              <a:t>Ключевые правила определения необходимости разрешения на допуск в эксплуатацию энергоустановок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Обязательные критерии проверки перед вводом объекта в работу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Разрешение на допуск в эксплуатацию требуется в случаях, установленных действующим законодательством в сфере электроэнергетики и технической безопасности. При определении необходимости разрешения применяются следующие правила:
1. Устанавливается принадлежность энергоустановки к категориям объектов, подлежащих обязательному надзору со стороны органов Ростехнадзора.
2. Проверяется наличие проектной, исполнительной и эксплуатационной документации, оформленной в соответствии с нормативными требованиями.
3. Определяется соответствие смонтированного оборудования техническим регламентам, стандартам и условиям выданных технических условий.
4. Устанавливается факт проведения необходимых испытаний, измерений и наладочных работ в полном объёме.
5. Допускается ввод энергоустановки в эксплуатацию исключительно при наличии положительного заключения уполномоченного органа и оформленного разрешения установленного образца.
6. Запрещается эксплуатация энергоустановок, не прошедших процедуру допуска в порядке, предусмотренном нормативными правовыми актами.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21208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Несоблюдение установленного порядка получения разрешения влечёт административную ответственность и запрет на эксплуатацию объекта до устранения выявленных нарушений.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Модуль: Временное разрешение на допуск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Временное разрешение на допуск в эксплуатацию энергоустановок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Основания применения и правовая природа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Временное разрешение на допуск устанавливается в случаях, когда энергоустановка вводится в эксплуатацию до завершения всех предусмотренных нормативными документами процедур постоянного допуска. Применение временного разрешения допускается при наличии документально подтверждённой технической готовности объекта и устранении замечаний, препятствующих безопасной эксплуатации. Срок действия временного разрешения ограничивается и не заменяет обязательного получения постоянного разрешения в установленном порядке.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88620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02336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В настоящем модуле рассматриваются условия выдачи, ограничения и порядок оформления временного разрешения на допуск энергоустановок в эксплуатацию.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Временное разрешение на допуск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Временное разрешение на допуск в эксплуатацию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Выдаётся на время проведения испытаний и пусконаладочных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В отношении объектов и установок на время проведения испытаний и пусконаладочных работ выдаётся временное разрешение на допуск в эксплуатацию. Временное разрешение выдаётся для проведения:
1. Пробных пусков и комплексных испытаний, включая комплексное опробование, генерирующего оборудования объектов по производству электрической энергии.
2. Комплексного опробования, иных испытаний и пусконаладочных работ в отношении допускаемых объектов, предусматривающих включение таких объектов в работу в составе энергосистемы, подачу на них рабочего напряжения и мощности.
3. Комплексного опробования и пусконаладочных работ в отношении допускаемых объектов, предусматривающих подключение таких объектов к системе теплоснабжения, подачу тепловой энергии и теплоносителя.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361688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49884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Понятия «пробный пуск», «комплексное опробование», «пусконаладочные работы» и «рабочее напряжение» определяют конкретный характер работ, на период которых допускается выдача временного разрешения.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Временное разрешение на допуск в эксплуатацию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Три сценария выдачи временного разрешения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Выдаётся на время проведения испытаний и пусконаладочных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84298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Сценарии выдачи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704338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84149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Сценарий 1 — Генерирующие объекты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0098"/>
            <a:ext cx="5227167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Пробные пуски и комплексные испытания, включая комплексное опробование генерирующего оборудования объектов по производству электрической энергии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6105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Сценарий 2 — Электросетевые объекты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89654"/>
            <a:ext cx="5227167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Комплексное опробование, иные испытания и пусконаладочные работы, предусматривающие включение объектов в работу в составе энергосистемы, подачу на них рабочего напряжения и мощности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80610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Сценарий 3 — Теплообъекты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09210"/>
            <a:ext cx="5227167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Комплексное опробование и пусконаладочные работы, предусматривающие подключение объектов к системе теплоснабжения, подачу тепловой энергии и теплоносителя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377440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Ключевые понятия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2697480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2834640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Временное разрешение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063240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Выдаётся на период испытаний и пусконаладочных работ до оформления постоянного допуска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64845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Пусконаладочные работы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877056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Проводятся в рамках всех трёх сценариев выдачи временного разрешения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46227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Комплексное опробование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69087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Обязательный элемент испытаний по каждому из сценариев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07034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Пробный пуск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298948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Применяется при испытаниях генерирующего оборудования (сценарий 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5486400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878"/>
                </a:solidFill>
                <a:latin typeface="Arial"/>
              </a:rPr>
              <a:t>… ещё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A37200"/>
                </a:solidFill>
                <a:latin typeface="Arial"/>
              </a:rPr>
              <a:t>Временное разрешение выдаётся исключительно на время проведения испытаний и пусконаладочных работ в отношении объектов, указанных в подпунктах «а» — «в».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Порядок подачи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Способы подачи заявления о выдаче разрешения на допуск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Заявление представляется в орган энергетического надзора одним из следующих способов по выбору заявителя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83763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Допустимые способы подачи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003803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14096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40963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На бумажном носителе — непосредственно в орган федерального государственного энергетического надзора либо посредством заказного почтового отправления с уведомлением о вручении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8332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83329"/>
            <a:ext cx="10454335" cy="77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В виде электронного документа — посредством ЕПГУ (федеральная государственная информационная система «Единый портал государственных и муниципальных услуг (функций)», Госуслуги); подписание осуществляется электронной подписью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8287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82871"/>
            <a:ext cx="10454335" cy="77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Полномочия лица, подписавшего заявление о выдаче разрешения, подтверждаются прилагаемыми документами (доверенность и иные); при подаче через ЕПГУ полномочия представителя могут быть подтверждены через платформу полномочий единого портала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A37200"/>
                </a:solidFill>
                <a:latin typeface="Arial"/>
              </a:rPr>
              <a:t>Орган энергетического надзора не принимает заявления, поданные способами, не предусмотренными установленным порядком.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"/>
              </a:rPr>
              <a:t>Ключевые шаги получения временного разрешения на допуск энергоустановки в эксплуатацию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Обязательная последовательность действий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1396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1. Подготовка технической документации: проектная документация, исполнительские схемы, акты скрытых работ, протоколы испытаний и измерений приводятся в соответствие установленным требованиям.
2. Подача заявления: заявление с комплектом документов направляется в орган государственного энергетического надзора.
3. Осмотр энергоустановки: уполномоченным инспектором проводится обследование объекта на соответствие нормативным требованиям.
4. Устранение замечаний: выявленные нарушения устраняются в установленные сроки; результаты устранения документируются.
5. Оформление акта-допуска: по итогам повторного осмотра составляется акт допуска в эксплуатацию.
6. Выдача временного разрешения: разрешение выдаётся на ограниченный срок; эксплуатация энергоустановки до его получения не допускается.
7. Контроль срока действия: до истечения временного разрешения проводятся мероприятия для получения постоянного допуска.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837176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974336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Несоблюдение установленной последовательности влечёт отказ в выдаче разрешения и запрет эксплуатации энергоустановки.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Модуль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Путь заявления: от подачи до записи в реестр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Процедура рассмотрения и регистрации разрешения на допуск энергоустановки в эксплуатацию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Настоящий модуль охватывает полный административный цикл обработки заявления о выдаче разрешения на допуск энергоустановки в эксплуатацию. Рассматриваются последовательные этапы: приём и регистрация заявления, проверка комплектности представленных документов, проведение технического осмотра, принятие решения уполномоченным органом, оформление разрешения, а также внесение сведений в реестр выданных разрешений. По итогам модуля устанавливается понимание сроков, оснований для отказа и порядка обжалования решений.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88620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02336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По завершении модуля обучающийся должен ориентироваться в каждом этапе процедуры и знать требования, предъявляемые к заявителю на каждой стадии рассмотрения.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Сроки рассмотрения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Срок рассмотрения заявления органом энергетического надзора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Исчисляется со дня регистрации заявления органом федерального государственного энергетического надзора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2907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39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5B6878"/>
                </a:solidFill>
                <a:latin typeface="Arial"/>
              </a:rPr>
              <a:t>рабочих дней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65215" y="357611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65215" y="371327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Общий срок рассмотрения заявления о выдаче разрешения на допуск в эксплуатацию энергоустановки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417047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878"/>
                </a:solidFill>
                <a:latin typeface="Arial"/>
              </a:rPr>
              <a:t>7 рабочих дней — если ранее выдано временное разрешение на допуск (сокращённый срок со дня регистрации заявления)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Реестр разрешений на допуск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Запись в реестр — это и есть разрешение на допуск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Момент возникновения разрешения определяется датой внесения записи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95097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Орган федерального государственного энергетического надзора в день принятия решения о выдаче разрешения на допуск вносит соответствующую запись в реестр разрешений. Внесение записи в реестр органом энергетического надзора является самим актом предоставления разрешения на допуск в эксплуатацию энергоустановки — отдельный документ не оформляется.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648456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785616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878"/>
                </a:solidFill>
                <a:latin typeface="Arial"/>
              </a:rPr>
              <a:t>Решение о выдаче и запись в реестр совершаются в один день. Реестр разрешений служит единственным официальным подтверждением факта допуска.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Ключевые сроки и роль реестра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5B6878"/>
                </a:solidFill>
                <a:latin typeface="Arial"/>
              </a:rPr>
              <a:t>Обязательные требования к срокам и учёту энергоустановок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68346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Контрольные положения модуля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088386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2255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25546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Допуск в эксплуатацию энергоустановки оформляется до начала её использования — эксплуатация без разрешения запрещается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679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67912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Заявление на получение разрешения подаётся в уполномоченный орган в установленные нормативными документами сроки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1027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10277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Срок рассмотрения заявления и выдачи разрешения устанавливается регламентом уполномоченного органа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1261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12614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Сведения о каждой допущенной в эксплуатацию энергоустановке вносятся в реестр — учёт обязателен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A37200"/>
                </a:solidFill>
                <a:latin typeface="Arial"/>
              </a:rPr>
              <a:t>Нарушение установленных сроков оформления разрешений и непостановка на учёт в реестре влекут административную ответственность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Ключевые сроки и роль реестра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09569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Arial"/>
              </a:rPr>
              <a:t>Контрольные положения модуля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729608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86676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66769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Реестр обеспечивает прослеживаемость состояния энергоустановок и актуальность разрешительной документации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6910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69104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При изменении характеристик энергоустановки или истечении срока действия разрешения требуется повторное прохождение процедуры допуска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1147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11471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Отсутствие записи в реестре является основанием для приостановления эксплуатации энергоустановки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2.1 · Отказ и сроки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Основания для отказа в выдаче разрешения на допуск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Орган энергонадзора отказывает при наличии следующих оснований: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Основания отказа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несоответствие содержания документов требованиям НПА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несоответствие допускаемого объекта требованиям НПА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несоответствие условий эксплуатации требованиям НПА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незавершённость монтажа, наладки и испытаний (без заключения о соответствии)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37200"/>
                </a:solidFill>
                <a:latin typeface="Inter"/>
              </a:rPr>
              <a:t>Разрешение на допуск объекта теплоснабжения — при наличии разрешения на допуск его ЭПУ.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2.1 · Сроки действия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Срок действия разрешения и продолжительность осмотра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Ключевые сроки по ПП РФ № 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Сроки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разрешение на допуск (кроме временного) действует бессрочно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временное разрешение действует 180 суток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общая продолжительность осмотра — не более 7 рабочих дней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 наличии ранее выданного временного разрешения — осмотр не более 4 рабочих дней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A37200"/>
                </a:solidFill>
                <a:latin typeface="Arial"/>
              </a:rPr>
              <a:t>Разрешение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на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допуск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эксплуатацию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является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обязательным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для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всех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перечисленных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категорий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объектов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соответствии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с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постановлением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Правительства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Российской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Федерации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от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30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января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2021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года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№ 85.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24 / 37</a:t>
            </a:r>
          </a:p>
        </p:txBody>
      </p:sp>
      <p:pic>
        <p:nvPicPr>
          <p:cNvPr id="28" name="Picture 27" descr="kipia_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2.1 · Аварийные работы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Допуск при аварийно-восстановительных работах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Особый порядок без предварительного разрешения</a:t>
            </a:r>
            <a:endParaRPr sz="1700" b="0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95097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Оформление разрешения на допуск для включения энергоустановок в работу при аварийно-восстановительных работах не требуется.
Собственник письменно уведомляет орган энергонадзора в течение 10 рабочих дней после ввода в работу. Получение разрешения (временного) — в течение 90 календарных дней после ввода.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648456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785616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37200"/>
                </a:solidFill>
                <a:latin typeface="Inter"/>
              </a:rPr>
              <a:t>Исключение действует только для аварийно-восстановительных работ.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25 / 37</a:t>
            </a:r>
          </a:p>
        </p:txBody>
      </p:sp>
      <p:pic>
        <p:nvPicPr>
          <p:cNvPr id="11" name="Picture 10" descr="elect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  <p:pic>
        <p:nvPicPr>
          <p:cNvPr id="12" name="Picture 11" descr="pipe_burst_gey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2.2 · ПТЭ потребителей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Правила технической эксплуатации электроустановок потребителей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Приказ Минэнерго России от 12 августа 2022 г. № 811</a:t>
            </a:r>
            <a:endParaRPr sz="1700" b="0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95097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Правила устанавливают требования к организации и осуществлению технической эксплуатации электроустановок потребителей.
Распространяются на юрлиц, ИП и физлиц, владеющих электроустановками. Не распространяются на физлиц с ЭУ ниже 1000 В для личных или бытовых нужд.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648456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785616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5B6878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26 / 37</a:t>
            </a:r>
          </a:p>
        </p:txBody>
      </p:sp>
      <p:pic>
        <p:nvPicPr>
          <p:cNvPr id="11" name="Picture 10" descr="elect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2.2 · ПТЭ потребителей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Что включает техническая эксплуатация электроустановок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Согласно Приказу Минэнерго № 811 эксплуатация должна включать: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Состав эксплуатации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ввод в работу новых и реконструированных электроустановок и оборудования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использование по функциональному назначению и ведение документации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оперативно-технологическое управление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ремонт и техническое обслуживание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A37200"/>
                </a:solidFill>
                <a:latin typeface="Arial"/>
              </a:rPr>
              <a:t>Разрешение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на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допуск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эксплуатацию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является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обязательным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для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всех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перечисленных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категорий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объектов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соответствии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с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постановлением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Правительства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Российской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Федерации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от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30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января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2021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года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№ 85.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2.2 · ПТЭ потребителей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Обязанности потребителя при эксплуатации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Потребитель должен обеспечить: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обязанности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содержание ЭУ в исправном состоянии и безопасную эксплуатацию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ТО и ремонт, оперативно-технологическое управление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подготовку и подтверждение готовности персонала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исправность устройств РЗА, учёт и расследование аварий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A37200"/>
                </a:solidFill>
                <a:latin typeface="Arial"/>
              </a:rPr>
              <a:t>Разрешение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на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допуск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эксплуатацию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является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обязательным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для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всех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перечисленных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категорий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объектов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соответствии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с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постановлением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Правительства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Российской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Федерации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от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30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января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2021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года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№ 85.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28 / 37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2.2 · Ответственный за электрохозяйство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Ответственный за электрохозяйство и группы по ЭБ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Назначается из числа административно-технического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Назначение и группы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руководитель назначает ответственного и его заместителя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для ИП обязанность возлагается непосредственно на ИП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группа V — выше 1000 В; группа IV — до 1000 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 простых ЭУ (до 0,4 кВ / до 150 кВт) ответственность может быть на ЕИО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37200"/>
                </a:solidFill>
                <a:latin typeface="Inter"/>
              </a:rPr>
              <a:t>Назначение — после проверки знаний и присвоения группы по электробезопасности.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2.2 · Документация и персонал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Техническая документация и категории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Ключевые требования Приказа № 811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Документация и персонал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перечни документации и схемы — пересмотр/сверка не реже 1 раза в 3 года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производственные инструкции — пересмотр не реже 1 раза в 3 года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персонал: АТП, оперативный, оперативно-ремонтный, ремонтный, вспомогательный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очередная проверка знаний: раз в 12 мес. / раз в 3 года (АТП и ОТ)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A37200"/>
                </a:solidFill>
                <a:latin typeface="Arial"/>
              </a:rPr>
              <a:t>Разрешение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на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допуск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эксплуатацию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является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обязательным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для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всех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перечисленных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категорий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объектов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соответствии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с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постановлением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Правительства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Российской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Федерации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от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30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января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2021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года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№ 85.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2.3 · Переключения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Правила переключений в электроустановках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Приказ Минэнерго России от 13 сентября 2018 г. № 757</a:t>
            </a:r>
            <a:endParaRPr sz="1700" b="0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95097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Правила устанавливают требования к инструкциям, персоналу, командам (разрешениям, подтверждениям), программам и бланкам переключений.
Переключения выполняются по программам/типовым программам (ДЦ, ЦУС) или по бланкам/типовым бланкам (оперативный персонал объектов), за исключением установленных случаев.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648456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785616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5B6878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31 / 37</a:t>
            </a:r>
          </a:p>
        </p:txBody>
      </p:sp>
      <p:pic>
        <p:nvPicPr>
          <p:cNvPr id="11" name="Picture 10" descr="elect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2.3 · Переключения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Кто выполняет и контролирует переключения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Полномочия персонала по Приказу № 757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Персонал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диспетчерский персонал ДЦ; оперативный персонал ЦУС, ВЭС/СЭС, НСО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оперативный (оперативно-ремонтный) персонал объектов электроэнергетики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персонал РЗА — операции с устройствами РЗА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контролирующее лицо обязательно, кроме единичных/несложных/аварийных/дистанционных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A37200"/>
                </a:solidFill>
                <a:latin typeface="Arial"/>
              </a:rPr>
              <a:t>Разрешение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на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допуск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эксплуатацию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является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обязательным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для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всех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перечисленных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категорий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объектов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соответствии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с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постановлением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Правительства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Российской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Федерации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от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30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января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2021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года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№ 85.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2.3 · Переключения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Программы, бланки и сложные переключения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Оформление переключений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Документы переключений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сложные переключения ДЦ/ЦУС — по программам или типовым программам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сложные и при неисправной блокировке — по бланкам или типовым бланкам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без программ/бланков — несложные и для ликвидации нарушений нормального режима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 сложным: вывод/ввод ЛЭП 110 кВ+, АТ/Т 110 кВ+, ШСВ/ОВ и др.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37200"/>
                </a:solidFill>
                <a:latin typeface="Inter"/>
              </a:rPr>
              <a:t>Перед операцией — проверка надписи на аппарате; без прочтения надписи запрещено.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33 / 37</a:t>
            </a:r>
          </a:p>
        </p:txBody>
      </p:sp>
      <p:pic>
        <p:nvPicPr>
          <p:cNvPr id="28" name="Picture 27" descr="kipia_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2.4 · Молниезащита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Устройство молниезащиты зданий, сооружений и промышленных коммуникаций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Приказ Минэнерго России от 30.06.2003 № 280 (СО 153-34.21.122-2003)</a:t>
            </a:r>
            <a:endParaRPr sz="1700" b="0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95097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Инструкция распространяется на все виды зданий, сооружений и промышленные коммуникации.
Устройство молниезащиты не предотвращает развитие молнии, но существенно снижает риск ущерба. Тип и размещение устройств выбирают на стадии проектирования.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648456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785616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5B6878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34 / 37</a:t>
            </a:r>
          </a:p>
        </p:txBody>
      </p:sp>
      <p:pic>
        <p:nvPicPr>
          <p:cNvPr id="11" name="Picture 10" descr="elect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  <p:pic>
        <p:nvPicPr>
          <p:cNvPr id="12" name="Picture 11" descr="lightning_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2.4 · Молниезащита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Основные элементы и классификация объектов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Термины и виды объектов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понятия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молниеотвод: молниеприемник + токоотвод + заземлитель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зоны защиты: 0, 0Е, 1 и прочие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обычные объекты — жилые, административные, высота не более 60 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специальные — опасные для окружения/среды, высота &gt; 60 м и др.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A37200"/>
                </a:solidFill>
                <a:latin typeface="Arial"/>
              </a:rPr>
              <a:t>Разрешение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на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допуск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эксплуатацию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является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обязательным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для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всех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перечисленных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категорий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объектов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соответствии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с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постановлением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Правительства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Российской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Федерации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от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30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января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2021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года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№ 85.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2.4 · Молниезащита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Приёмка и эксплуатация устройств молниезащиты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Порядок ввода и 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приёмка рабочей комиссией до монтажа технологического оборудования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 комиссию: ответственный за электрохозяйство, подрядчик, пожарная охрана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после приёмки — паспорт молниезащитных устройств и паспорт заземлителей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ежегодно перед грозовым сезоном — проверка и осмотр всех устройств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37200"/>
                </a:solidFill>
                <a:latin typeface="Inter"/>
              </a:rPr>
              <a:t>Задача эксплуатации — поддержание устройств в исправном и надёжном состоянии.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36 / 37</a:t>
            </a:r>
          </a:p>
        </p:txBody>
      </p:sp>
      <p:pic>
        <p:nvPicPr>
          <p:cNvPr id="28" name="Picture 27" descr="lightning_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Итоги темы 2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Ключевые требования темы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B6878"/>
                </a:solidFill>
                <a:latin typeface="Inter"/>
              </a:rPr>
              <a:t>Что должен знать персонал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Arial"/>
              </a:rPr>
              <a:t>Документ-основание</a:t>
            </a:r>
            <a:endParaRPr sz="1100" b="1" i="0" dirty="0">
              <a:solidFill>
                <a:srgbClr val="E30613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Постановление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Правительства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Российской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Федерации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от</a:t>
            </a:r>
            <a:r>
              <a:rPr sz="1200" b="0" i="0" dirty="0">
                <a:solidFill/>
                <a:latin typeface="Arial"/>
              </a:rPr>
              <a:t> 30 </a:t>
            </a:r>
            <a:r>
              <a:rPr sz="1200" b="0" i="0" dirty="0" err="1">
                <a:solidFill/>
                <a:latin typeface="Arial"/>
              </a:rPr>
              <a:t>января</a:t>
            </a:r>
            <a:r>
              <a:rPr sz="1200" b="0" i="0" dirty="0">
                <a:solidFill/>
                <a:latin typeface="Arial"/>
              </a:rPr>
              <a:t> 2021 </a:t>
            </a:r>
            <a:r>
              <a:rPr sz="1200" b="0" i="0" dirty="0" err="1">
                <a:solidFill/>
                <a:latin typeface="Arial"/>
              </a:rPr>
              <a:t>года</a:t>
            </a:r>
            <a:r>
              <a:rPr sz="1200" b="0" i="0" dirty="0">
                <a:solidFill/>
                <a:latin typeface="Arial"/>
              </a:rPr>
              <a:t> №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796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1A1A1A"/>
                </a:solidFill>
                <a:latin typeface="Arial"/>
              </a:rPr>
              <a:t>Предмет</a:t>
            </a:r>
            <a:r>
              <a:rPr sz="15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1A1A1A"/>
                </a:solidFill>
                <a:latin typeface="Arial"/>
              </a:rPr>
              <a:t>регулирования</a:t>
            </a:r>
            <a:endParaRPr sz="15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96562"/>
            <a:ext cx="522716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/>
                <a:latin typeface="Arial"/>
              </a:rPr>
              <a:t>Правила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устанавливают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категории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объектов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для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которых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требуется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получение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r>
              <a:rPr sz="1200" b="0" i="0" dirty="0">
                <a:solidFill/>
                <a:latin typeface="Arial"/>
              </a:rPr>
              <a:t> в </a:t>
            </a:r>
            <a:r>
              <a:rPr sz="1200" b="0" i="0" dirty="0" err="1">
                <a:solidFill/>
                <a:latin typeface="Arial"/>
              </a:rPr>
              <a:t>эксплуатацию</a:t>
            </a:r>
            <a:r>
              <a:rPr sz="1200" b="0" i="0" dirty="0">
                <a:solidFill/>
                <a:latin typeface="Arial"/>
              </a:rPr>
              <a:t>, а </a:t>
            </a:r>
            <a:r>
              <a:rPr sz="1200" b="0" i="0" dirty="0" err="1">
                <a:solidFill/>
                <a:latin typeface="Arial"/>
              </a:rPr>
              <a:t>также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порядок</a:t>
            </a:r>
            <a:r>
              <a:rPr sz="1200" b="0" i="0" dirty="0">
                <a:solidFill/>
                <a:latin typeface="Arial"/>
              </a:rPr>
              <a:t>, </a:t>
            </a:r>
            <a:r>
              <a:rPr sz="1200" b="0" i="0" dirty="0" err="1">
                <a:solidFill/>
                <a:latin typeface="Arial"/>
              </a:rPr>
              <a:t>случаи</a:t>
            </a:r>
            <a:r>
              <a:rPr sz="1200" b="0" i="0" dirty="0">
                <a:solidFill/>
                <a:latin typeface="Arial"/>
              </a:rPr>
              <a:t> и </a:t>
            </a:r>
            <a:r>
              <a:rPr sz="1200" b="0" i="0" dirty="0" err="1">
                <a:solidFill/>
                <a:latin typeface="Arial"/>
              </a:rPr>
              <a:t>условия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выдачи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разрешения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на</a:t>
            </a:r>
            <a:r>
              <a:rPr sz="1200" b="0" i="0" dirty="0">
                <a:solidFill/>
                <a:latin typeface="Arial"/>
              </a:rPr>
              <a:t> </a:t>
            </a:r>
            <a:r>
              <a:rPr sz="1200" b="0" i="0" dirty="0" err="1">
                <a:solidFill/>
                <a:latin typeface="Arial"/>
              </a:rPr>
              <a:t>допуск</a:t>
            </a:r>
            <a:endParaRPr sz="12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4447" y="239344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Главные выводы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2713482"/>
            <a:ext cx="5227168" cy="0"/>
          </a:xfrm>
          <a:prstGeom prst="line">
            <a:avLst/>
          </a:prstGeom>
          <a:ln w="6350">
            <a:solidFill>
              <a:srgbClr val="C7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850641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079241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допуск в эксплуатацию — по ПП РФ № 85; запись в реестре = разрешение</a:t>
            </a:r>
            <a:endParaRPr sz="1200" b="0" i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45871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687318"/>
            <a:ext cx="52271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временное разрешение — на испытания/ПНР, действует 180 суток</a:t>
            </a:r>
            <a:endParaRPr sz="1200" b="0" i="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7" y="4066794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306612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ПТЭ потребителей — Приказ № 811; ответственный за электрохозяйство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74869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03469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переключения — Приказ № 757; программы/бланки, контролирующее лицо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2829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511546"/>
            <a:ext cx="522716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599"/>
            <a:ext cx="10911535" cy="457200"/>
          </a:xfrm>
          <a:prstGeom prst="rect">
            <a:avLst/>
          </a:prstGeom>
          <a:solidFill>
            <a:srgbClr val="FAE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905027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 err="1">
                <a:solidFill>
                  <a:srgbClr val="A37200"/>
                </a:solidFill>
                <a:latin typeface="Arial"/>
              </a:rPr>
              <a:t>Разрешение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на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допуск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эксплуатацию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является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обязательным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для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всех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перечисленных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категорий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объектов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в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соответствии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с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постановлением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Правительства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Российской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Федерации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от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30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января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2021 </a:t>
            </a:r>
            <a:r>
              <a:rPr sz="1500" b="1" i="0" dirty="0" err="1">
                <a:solidFill>
                  <a:srgbClr val="A37200"/>
                </a:solidFill>
                <a:latin typeface="Arial"/>
              </a:rPr>
              <a:t>года</a:t>
            </a:r>
            <a:r>
              <a:rPr sz="1500" b="1" i="0" dirty="0">
                <a:solidFill>
                  <a:srgbClr val="A37200"/>
                </a:solidFill>
                <a:latin typeface="Arial"/>
              </a:rPr>
              <a:t> № 85.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3060</Words>
  <Application>Microsoft Office PowerPoint</Application>
  <PresentationFormat>Широкоэкранный</PresentationFormat>
  <Paragraphs>284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2026-07-28T12:58:07Z</dcterms:modified>
  <cp:category/>
</cp:coreProperties>
</file>