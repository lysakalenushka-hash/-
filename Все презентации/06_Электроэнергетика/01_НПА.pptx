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Модуль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Нормативно-правовое регулирование в электроэнергетике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Тема 1.1. Основные НПА · Тема 1.2. Термины и определения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Электроэнергетика — одна из наиболее жёстко регулируемых отраслей. Федеральные законы, постановления Правительства, правила технической эксплуатации и охраны труда определяют требования к безопасной эксплуатации электроустановок.
Цели модуля: структура нормативно-правовой базы; документы, которые обязан знать работник; ответственность за нарушение НПА; навык работы с нормативными документами.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Правовая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Структура законодательства об электроэнергетике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Иерархия нормативных правовых актов, регулирующих отрасль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Уровни регулирования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ФЗ № 35-ФЗ «Об электроэнергетике» — базовый отраслевой закон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ФЗ № 261-ФЗ «Об энергосбережении» — энергоэффективность и учёт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постановления Правительства РФ — рынки, техприсоединение, допуск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ФЗ № 261-ФЗ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Федеральный закон от 23.11.2009 № 261-ФЗ «Об энергосбережении»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Регулирует отношения по энергосбережению и повышению энергетической эффективности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Принципы правового регулирования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эффективное и рациональное использование энергетических ресурсов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поддержка и стимулирование энергосбережения и повышения энергоэффективности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системность и комплексность мероприятий по энергосбережению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Цель закона — создание правовых, экономических и организационных основ стимулирования энергосбережения.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ФЗ № 35-ФЗ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Федеральный закон от 26.03.2003 № 35-ФЗ «Об электроэнергетике»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Правовые основы экономических отношений в сфере электроэнергетики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Предмет регулирования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правовые основы экономических отношений в сфере электроэнергетики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полномочия органов государственной власти на регулирование этих отношений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основные права и обязанности субъектов электроэнергетики и потребителей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ст. 21 № 35-ФЗ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Полномочия Правительства РФ в сфере электроэнергетики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Согласно ст. 21 Правительство Российской Федерации: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полномочия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критерии и порядок отнесения объектов к единой национальной электрической сети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утверждение правил оптового рынка и основных положений розничных рынков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порядок и условия строительства и финансирования объектов электроэнергетики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Также: регулирование естественных монополий, антимонопольное регулирование, управление госсобственностью.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№ 35-ФЗ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Технологическое присоединение, аттестация и допуск в эксплуатацию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Ключевые процедуры безопасной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техприсоединение — по договору с сетевой организацией, носит однократный характер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 ЕНЭС — только устройства 110 кВ и выше (кроме случаев, установленных Правительством)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объекты микрогенерации — только к сетям до 1000 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Иные НПА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Иные нормативные правовые акты в сфере эксплуатации ТЭС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Основные подзаконные акты, которые обязан знать персонал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Перечень ключевых документов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ПП РФ № 937 — Правила технологического функционирования электроэнергетических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Приказ Минэнерго № 811 — Правила технической эксплуатации электроустановок потребителей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ПП РФ № 85 — Правила выдачи разрешений на допуск в эксплуатацию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ПП № 937 · Приказ № 811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Технологическое функционирование и ПТЭ потребителей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ПП РФ от 13.08.2018 № 937 и Приказ Минэнерго от 12.08.2022 № 811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ПП № 937 — порядок функционирования ЕЭС и изолированных энергосистем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владелец объекта обязан организовать оперативно-технологическое управление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потребитель обязан эксплуатировать электроустановки по ПТЭ потребителей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ПП № 846 · Приказ № 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Расследование аварий и правила переключений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ПП РФ от 28.10.2009 № 846 и Приказ Минэнерго от 13.09.2018 № 757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Что регулируют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ПП № 846 — порядок расследования причин аварий (кроме АЭС)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№ 757 — инструкции по производству переключений в электроустановках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требования к персоналу, осуществляющему переключения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Нарушение порядка переключений — одна из ведущих причин электротравматизма.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Приказы № 1013 и № 1070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ТОиР и Правила технической эксплуатации станций и 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Приказ Минэнерго № 1013 и Приказ Минэнерго от 04.10.2022 № 1070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№ 1013 — организация ТО, планирования, ремонта и приёмки из ремонта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№ 1070 — требования к эксплуатации объектов в составе ЕЭС и изолированных систем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эксплуатация включает: ввод, использование по назначению, документацию, ОТУ, ремонт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Приказы № 796 и № 903н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Работа с персоналом и охрана труда в электроустановках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Приказ Минэнерго от 22.09.2020 № 796 и Приказ Минтруда от 15.12.2020 № 903н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Что устанавливают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№ 796 — подготовка персонала к трудовым функциям в электроэнергетике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категории персонала, обязательные формы работы, подтверждение готовности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поддержание и повышение квалификации персонала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Приказ № 796 — о работе с персоналом; ТОиР регулирует Приказ № 1013 (не путать).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1.1 · Приказы № 290 и № 280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Аварийные ограничения и молниезащита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Приказ Минэнерго № 290 и Приказ Минэнерго № 280 (СО 153-34.21.122-2003)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Содержание документов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№ 290 — порядок разработки и применения графиков аварийного 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определение технологической и аварийной брони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порядок введения графиков диспетчерским центром и правила ПАА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1.2 · Термины и определения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Основные термины в области безопасной эксплуатации электроустановок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Ключевые понятия электроэнергетики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" y="201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Электроэнергетика — </a:t>
            </a:r>
            <a:r>
              <a:rPr sz="1100" b="0">
                <a:solidFill>
                  <a:srgbClr val="6B7280"/>
                </a:solidFill>
                <a:latin typeface="Inter"/>
              </a:rPr>
              <a:t>отрасль экономики РФ: производство, передача, ОДУ, сбыт и потребление электрической энергии с использованием производственных объектов.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" y="287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Объекты электроэнергетики — </a:t>
            </a:r>
            <a:r>
              <a:rPr sz="1100" b="0">
                <a:solidFill>
                  <a:srgbClr val="6B7280"/>
                </a:solidFill>
                <a:latin typeface="Inter"/>
              </a:rPr>
              <a:t>имущественные объекты, используемые в производстве, передаче, ОДУ и сбыте электрической энергии, в том числе объекты электросетевого хозяйства.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7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00" y="373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Потребители электрической энергии — </a:t>
            </a:r>
            <a:r>
              <a:rPr sz="1100" b="0">
                <a:solidFill>
                  <a:srgbClr val="6B7280"/>
                </a:solidFill>
                <a:latin typeface="Inter"/>
              </a:rPr>
              <a:t>лица, приобретающие электрическую энергию для собственных бытовых и (или) производственных нужд.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3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00" y="459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Энергосбережение / Энергетическая эффективность — </a:t>
            </a:r>
            <a:r>
              <a:rPr sz="1100" b="0">
                <a:solidFill>
                  <a:srgbClr val="6B7280"/>
                </a:solidFill>
                <a:latin typeface="Inter"/>
              </a:rPr>
              <a:t>меры по уменьшению объёма используемых энергоресурсов при сохранении полезного эффекта; отношение полезного эффекта к затратам энергоресурсов.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Тема 1.2 · Термины и определения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Электроустановки, линии и защитные устройства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Термины по устройству и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" y="201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Электроустановка — </a:t>
            </a:r>
            <a:r>
              <a:rPr sz="1100" b="0">
                <a:solidFill>
                  <a:srgbClr val="6B7280"/>
                </a:solidFill>
                <a:latin typeface="Inter"/>
              </a:rPr>
              <a:t>комплекс взаимосвязанного оборудования, устройств, зданий и сооружений для производства, преобразования, передачи, накопления, распределения или потребления ЭЭ.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" y="287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Воздушная / Кабельная линия электропередачи — </a:t>
            </a:r>
            <a:r>
              <a:rPr sz="1100" b="0">
                <a:solidFill>
                  <a:srgbClr val="6B7280"/>
                </a:solidFill>
                <a:latin typeface="Inter"/>
              </a:rPr>
              <a:t>ВЛ — передача ЭЭ по проводам на открытом воздухе на опорах; КЛ — один или несколько кабелей с муфтами и крепежом.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7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00" y="373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Блокировка электротехнического изделия — </a:t>
            </a:r>
            <a:r>
              <a:rPr sz="1100" b="0">
                <a:solidFill>
                  <a:srgbClr val="6B7280"/>
                </a:solidFill>
                <a:latin typeface="Inter"/>
              </a:rPr>
              <a:t>часть изделия для предотвращения или ограничения операций одними частями при определённых состояниях других — во избежание недопустимых состояний.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30000"/>
            <a:ext cx="11000000" cy="78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00" y="4590000"/>
            <a:ext cx="1088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Электропроводка / Передвижной электроприемник — </a:t>
            </a:r>
            <a:r>
              <a:rPr sz="1100" b="0">
                <a:solidFill>
                  <a:srgbClr val="6B7280"/>
                </a:solidFill>
                <a:latin typeface="Inter"/>
              </a:rPr>
              <a:t>совокупность проводов и кабелей с креплениями; электроприемник, перемещаемый вручную к месту применения.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Ключевые требования нормативно-правового регулирования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Что обязан знать и соблюдать персонал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Главные выводы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знать иерархию НПА: законы → постановления → приказы Минэнерго/Минтруда → локальные акты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аттестация по безопасности в сфере электроэнергетики — не реже 1 раза в 5 лет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переключения — только по инструкциям, программам и бланкам (Приказ № 757)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Незнание нормативных требований не освобождает от ответственности.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