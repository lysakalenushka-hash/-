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theme/theme2.xml" ContentType="application/vnd.openxmlformats-officedocument.theme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701" r:id="rId1"/>
    <p:sldMasterId id="2147483754" r:id="rId2"/>
    <p:sldMasterId id="2147483807" r:id="rId3"/>
  </p:sldMasterIdLst>
  <p:notesMasterIdLst>
    <p:notesMasterId r:id="rId27"/>
  </p:notesMasterIdLst>
  <p:sldIdLst>
    <p:sldId id="279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</p:sldIdLst>
  <p:sldSz cx="12192000" cy="6858000"/>
  <p:notesSz cx="12192000" cy="6858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DDBCD"/>
    <a:srgbClr val="FFFFFF"/>
    <a:srgbClr val="E6E6E6"/>
    <a:srgbClr val="DCDCDC"/>
    <a:srgbClr val="FEFEFE"/>
    <a:srgbClr val="1ABD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71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DB128F77-C5FE-464B-B995-B0692D448C64}" type="datetimeFigureOut">
              <a:rPr lang="ru-RU"/>
              <a:t>05.08.2026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0566603E-7D41-4B3A-A1FE-5F5EFDD65191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566603E-7D41-4B3A-A1FE-5F5EFDD65191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08651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>
                <a:solidFill>
                  <a:schemeClr val="accent1"/>
                </a:solidFill>
              </a:rPr>
              <a:t>«-»</a:t>
            </a:r>
            <a:endParaRPr/>
          </a:p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>
                <a:solidFill>
                  <a:schemeClr val="accent1"/>
                </a:solidFill>
              </a:rPr>
              <a:t>Благодарим за внимание</a:t>
            </a:r>
            <a:endParaRPr/>
          </a:p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>
                <a:solidFill>
                  <a:schemeClr val="accent1"/>
                </a:solidFill>
              </a:rPr>
              <a:t>«-»</a:t>
            </a:r>
            <a:endParaRPr/>
          </a:p>
          <a:p>
            <a:pPr>
              <a:defRPr/>
            </a:pPr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3" y="0"/>
            <a:ext cx="12195177" cy="6858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524400" y="2503487"/>
            <a:ext cx="9146383" cy="1006476"/>
          </a:xfrm>
          <a:prstGeom prst="rect">
            <a:avLst/>
          </a:prstGeom>
        </p:spPr>
        <p:txBody>
          <a:bodyPr anchor="b"/>
          <a:lstStyle>
            <a:lvl1pPr algn="ctr">
              <a:defRPr sz="44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524400" y="3602037"/>
            <a:ext cx="9146383" cy="29761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1828343" algn="ctr"/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56466" y="1854481"/>
            <a:ext cx="10518339" cy="702984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56466" y="2908545"/>
            <a:ext cx="10518339" cy="377585"/>
          </a:xfrm>
          <a:prstGeom prst="rect">
            <a:avLst/>
          </a:prstGeom>
        </p:spPr>
        <p:txBody>
          <a:bodyPr/>
          <a:lstStyle>
            <a:lvl1pPr algn="ctr">
              <a:defRPr sz="1600"/>
            </a:lvl1pPr>
            <a:lvl2pPr algn="ctr">
              <a:defRPr sz="1600"/>
            </a:lvl2pPr>
            <a:lvl3pPr algn="ctr">
              <a:defRPr sz="1600"/>
            </a:lvl3pPr>
            <a:lvl4pPr algn="ctr">
              <a:defRPr sz="1600"/>
            </a:lvl4pPr>
            <a:lvl5pPr algn="ctr">
              <a:defRPr sz="16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24" name="Rectangle 8"/>
          <p:cNvSpPr/>
          <p:nvPr/>
        </p:nvSpPr>
        <p:spPr bwMode="auto">
          <a:xfrm>
            <a:off x="5727174" y="2652996"/>
            <a:ext cx="776924" cy="45719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22860" rIns="22860" anchor="ctr"/>
          <a:lstStyle/>
          <a:p>
            <a:pPr marL="0" marR="0" lvl="0" indent="0" algn="ct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B2B2B2"/>
                </a:solidFill>
              </a:defRPr>
            </a:pPr>
            <a:endParaRPr sz="1750" b="0" i="0" u="none" strike="noStrike" cap="none" spc="0">
              <a:ln>
                <a:noFill/>
              </a:ln>
              <a:solidFill>
                <a:srgbClr val="B2B2B2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1586741" y="3729038"/>
            <a:ext cx="9020111" cy="120015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376518"/>
            <a:ext cx="10518339" cy="69084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1067364"/>
            <a:ext cx="10518339" cy="228601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7884083" y="1969048"/>
            <a:ext cx="3463382" cy="21457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4033026" y="1969051"/>
            <a:ext cx="3564041" cy="275165"/>
          </a:xfrm>
          <a:prstGeom prst="rect">
            <a:avLst/>
          </a:prstGeom>
        </p:spPr>
        <p:txBody>
          <a:bodyPr/>
          <a:lstStyle>
            <a:lvl1pPr defTabSz="850180">
              <a:spcBef>
                <a:spcPts val="900"/>
              </a:spcBef>
              <a:defRPr sz="15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7884086" y="4278169"/>
            <a:ext cx="3490723" cy="73089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4033026" y="2350053"/>
            <a:ext cx="3564041" cy="1645525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-1" y="728661"/>
            <a:ext cx="11374807" cy="5436165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22860" rIns="22860" anchor="ctr"/>
          <a:lstStyle/>
          <a:p>
            <a:pPr marL="0" marR="0" lvl="0" indent="0" algn="ct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175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174903" y="932259"/>
            <a:ext cx="11276579" cy="50168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174904" y="932259"/>
            <a:ext cx="11276578" cy="50168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02109" y="1387943"/>
            <a:ext cx="5259171" cy="72324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02109" y="1130394"/>
            <a:ext cx="5259171" cy="36223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accent4"/>
                </a:solidFill>
              </a:defRPr>
            </a:lvl1pPr>
            <a:lvl2pPr>
              <a:defRPr sz="1600">
                <a:solidFill>
                  <a:schemeClr val="accent4"/>
                </a:solidFill>
              </a:defRPr>
            </a:lvl2pPr>
            <a:lvl3pPr>
              <a:defRPr sz="1600">
                <a:solidFill>
                  <a:schemeClr val="accent4"/>
                </a:solidFill>
              </a:defRPr>
            </a:lvl3pPr>
            <a:lvl4pPr>
              <a:defRPr sz="1600">
                <a:solidFill>
                  <a:schemeClr val="accent4"/>
                </a:solidFill>
              </a:defRPr>
            </a:lvl4pPr>
            <a:lvl5pPr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22" y="314326"/>
            <a:ext cx="5032041" cy="528638"/>
          </a:xfrm>
          <a:prstGeom prst="rect">
            <a:avLst/>
          </a:prstGeom>
        </p:spPr>
        <p:txBody>
          <a:bodyPr/>
          <a:lstStyle>
            <a:lvl1pPr>
              <a:defRPr sz="27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22" y="842963"/>
            <a:ext cx="5032041" cy="22860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accent4"/>
                </a:solidFill>
              </a:defRPr>
            </a:lvl1pPr>
            <a:lvl2pPr>
              <a:defRPr sz="1600">
                <a:solidFill>
                  <a:schemeClr val="accent4"/>
                </a:solidFill>
              </a:defRPr>
            </a:lvl2pPr>
            <a:lvl3pPr>
              <a:defRPr sz="1600">
                <a:solidFill>
                  <a:schemeClr val="accent4"/>
                </a:solidFill>
              </a:defRPr>
            </a:lvl3pPr>
            <a:lvl4pPr>
              <a:defRPr sz="1600">
                <a:solidFill>
                  <a:schemeClr val="accent4"/>
                </a:solidFill>
              </a:defRPr>
            </a:lvl4pPr>
            <a:lvl5pPr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79" name="Straight Connector 7"/>
          <p:cNvSpPr/>
          <p:nvPr/>
        </p:nvSpPr>
        <p:spPr bwMode="auto">
          <a:xfrm>
            <a:off x="838419" y="1185863"/>
            <a:ext cx="2743916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22860" rIns="22860"/>
          <a:lstStyle/>
          <a:p>
            <a:pPr marL="0" marR="0" lvl="0" indent="0" algn="l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sz="1750" b="0" i="0" u="none" strike="noStrike" cap="none" spc="0">
              <a:ln>
                <a:noFill/>
              </a:ln>
              <a:solidFill>
                <a:srgbClr val="000000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2619531" y="1959162"/>
            <a:ext cx="1469814" cy="1469049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0" y="0"/>
            <a:ext cx="7403723" cy="6858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7403725" y="0"/>
            <a:ext cx="4791455" cy="6858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155527" y="1465943"/>
            <a:ext cx="3201235" cy="1105014"/>
          </a:xfrm>
          <a:prstGeom prst="rect">
            <a:avLst/>
          </a:prstGeom>
        </p:spPr>
        <p:txBody>
          <a:bodyPr/>
          <a:lstStyle>
            <a:lvl1pPr>
              <a:defRPr sz="4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191007" y="2437610"/>
            <a:ext cx="3165755" cy="228601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accent4"/>
                </a:solidFill>
              </a:defRPr>
            </a:lvl1pPr>
            <a:lvl2pPr>
              <a:defRPr sz="1600">
                <a:solidFill>
                  <a:schemeClr val="accent4"/>
                </a:solidFill>
              </a:defRPr>
            </a:lvl2pPr>
            <a:lvl3pPr>
              <a:defRPr sz="1600">
                <a:solidFill>
                  <a:schemeClr val="accent4"/>
                </a:solidFill>
              </a:defRPr>
            </a:lvl3pPr>
            <a:lvl4pPr>
              <a:defRPr sz="1600">
                <a:solidFill>
                  <a:schemeClr val="accent4"/>
                </a:solidFill>
              </a:defRPr>
            </a:lvl4pPr>
            <a:lvl5pPr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114360" y="-117926"/>
            <a:ext cx="3462756" cy="7052127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2009228" y="-117929"/>
            <a:ext cx="4371230" cy="7052129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5001654" y="-117927"/>
            <a:ext cx="4929315" cy="7052127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8633200" y="-117928"/>
            <a:ext cx="3619161" cy="7052129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415853" y="-325666"/>
            <a:ext cx="12898517" cy="7467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2879729"/>
            <a:ext cx="10518339" cy="549275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3429000"/>
            <a:ext cx="10518339" cy="228600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8464130" y="6221698"/>
            <a:ext cx="273471" cy="269304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309286"/>
            <a:ext cx="10518339" cy="690843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1000125"/>
            <a:ext cx="10518339" cy="228600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443147" y="1949827"/>
            <a:ext cx="2539923" cy="2879353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3361371" y="1949827"/>
            <a:ext cx="2539923" cy="2879353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6279592" y="1949827"/>
            <a:ext cx="2539923" cy="2879353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9197820" y="1949827"/>
            <a:ext cx="2539923" cy="2879353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1734457" y="3886201"/>
            <a:ext cx="1337451" cy="30797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4638590" y="3886201"/>
            <a:ext cx="1337452" cy="30797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7549554" y="3886201"/>
            <a:ext cx="1337451" cy="30797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10467781" y="3886201"/>
            <a:ext cx="1337451" cy="30797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826579" y="3948906"/>
            <a:ext cx="1156491" cy="182564"/>
          </a:xfrm>
          <a:prstGeom prst="rect">
            <a:avLst/>
          </a:prstGeom>
        </p:spPr>
        <p:txBody>
          <a:bodyPr/>
          <a:lstStyle>
            <a:lvl1pPr defTabSz="621636">
              <a:spcBef>
                <a:spcPts val="650"/>
              </a:spcBef>
              <a:defRPr sz="8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4726548" y="3948906"/>
            <a:ext cx="1156490" cy="182564"/>
          </a:xfrm>
          <a:prstGeom prst="rect">
            <a:avLst/>
          </a:prstGeom>
        </p:spPr>
        <p:txBody>
          <a:bodyPr/>
          <a:lstStyle>
            <a:lvl1pPr defTabSz="621636">
              <a:spcBef>
                <a:spcPts val="650"/>
              </a:spcBef>
              <a:defRPr sz="8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7640034" y="3948906"/>
            <a:ext cx="1156490" cy="182564"/>
          </a:xfrm>
          <a:prstGeom prst="rect">
            <a:avLst/>
          </a:prstGeom>
        </p:spPr>
        <p:txBody>
          <a:bodyPr/>
          <a:lstStyle>
            <a:lvl1pPr defTabSz="621636">
              <a:spcBef>
                <a:spcPts val="650"/>
              </a:spcBef>
              <a:defRPr sz="8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558259" y="3948906"/>
            <a:ext cx="1156490" cy="182564"/>
          </a:xfrm>
          <a:prstGeom prst="rect">
            <a:avLst/>
          </a:prstGeom>
        </p:spPr>
        <p:txBody>
          <a:bodyPr/>
          <a:lstStyle>
            <a:lvl1pPr defTabSz="621636">
              <a:spcBef>
                <a:spcPts val="650"/>
              </a:spcBef>
              <a:defRPr sz="8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443146" y="5002216"/>
            <a:ext cx="2539923" cy="207963"/>
          </a:xfrm>
          <a:prstGeom prst="rect">
            <a:avLst/>
          </a:prstGeom>
        </p:spPr>
        <p:txBody>
          <a:bodyPr/>
          <a:lstStyle>
            <a:lvl1pPr algn="ctr" defTabSz="713054">
              <a:spcBef>
                <a:spcPts val="750"/>
              </a:spcBef>
              <a:defRPr sz="11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443146" y="5307017"/>
            <a:ext cx="2539923" cy="556759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3343119" y="5002216"/>
            <a:ext cx="2539923" cy="207963"/>
          </a:xfrm>
          <a:prstGeom prst="rect">
            <a:avLst/>
          </a:prstGeom>
        </p:spPr>
        <p:txBody>
          <a:bodyPr/>
          <a:lstStyle>
            <a:lvl1pPr algn="ctr" defTabSz="713054">
              <a:spcBef>
                <a:spcPts val="750"/>
              </a:spcBef>
              <a:defRPr sz="11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3343119" y="5307017"/>
            <a:ext cx="2539923" cy="556759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6279592" y="5000528"/>
            <a:ext cx="2539923" cy="207963"/>
          </a:xfrm>
          <a:prstGeom prst="rect">
            <a:avLst/>
          </a:prstGeom>
        </p:spPr>
        <p:txBody>
          <a:bodyPr/>
          <a:lstStyle>
            <a:lvl1pPr algn="ctr" defTabSz="713054">
              <a:spcBef>
                <a:spcPts val="750"/>
              </a:spcBef>
              <a:defRPr sz="11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279592" y="5305330"/>
            <a:ext cx="2539923" cy="556759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9179567" y="5000528"/>
            <a:ext cx="2539923" cy="207963"/>
          </a:xfrm>
          <a:prstGeom prst="rect">
            <a:avLst/>
          </a:prstGeom>
        </p:spPr>
        <p:txBody>
          <a:bodyPr/>
          <a:lstStyle>
            <a:lvl1pPr algn="ctr" defTabSz="713054">
              <a:spcBef>
                <a:spcPts val="750"/>
              </a:spcBef>
              <a:defRPr sz="11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9179567" y="5305330"/>
            <a:ext cx="2539923" cy="556759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239526"/>
            <a:ext cx="10518339" cy="7606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1000125"/>
            <a:ext cx="10518339" cy="228600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02106" y="1989324"/>
            <a:ext cx="2090520" cy="185653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3107889" y="1989324"/>
            <a:ext cx="2090520" cy="185653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02106" y="4052047"/>
            <a:ext cx="2090520" cy="185653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3107889" y="4052047"/>
            <a:ext cx="2090520" cy="185653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6110298" y="2646552"/>
            <a:ext cx="2539923" cy="207963"/>
          </a:xfrm>
          <a:prstGeom prst="rect">
            <a:avLst/>
          </a:prstGeom>
        </p:spPr>
        <p:txBody>
          <a:bodyPr/>
          <a:lstStyle>
            <a:lvl1pPr algn="ctr" defTabSz="621636">
              <a:spcBef>
                <a:spcPts val="650"/>
              </a:spcBef>
              <a:defRPr sz="11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6110298" y="3237674"/>
            <a:ext cx="2539923" cy="556759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6110298" y="2942114"/>
            <a:ext cx="2539923" cy="207963"/>
          </a:xfrm>
          <a:prstGeom prst="rect">
            <a:avLst/>
          </a:prstGeom>
        </p:spPr>
        <p:txBody>
          <a:bodyPr/>
          <a:lstStyle>
            <a:lvl1pPr algn="ctr" defTabSz="722195">
              <a:spcBef>
                <a:spcPts val="750"/>
              </a:spcBef>
              <a:defRPr sz="95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8838577" y="2646552"/>
            <a:ext cx="2539923" cy="207963"/>
          </a:xfrm>
          <a:prstGeom prst="rect">
            <a:avLst/>
          </a:prstGeom>
        </p:spPr>
        <p:txBody>
          <a:bodyPr/>
          <a:lstStyle>
            <a:lvl1pPr algn="ctr" defTabSz="621636">
              <a:spcBef>
                <a:spcPts val="650"/>
              </a:spcBef>
              <a:defRPr sz="11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8838576" y="3237674"/>
            <a:ext cx="2539923" cy="556759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8838577" y="2942114"/>
            <a:ext cx="2539923" cy="207963"/>
          </a:xfrm>
          <a:prstGeom prst="rect">
            <a:avLst/>
          </a:prstGeom>
        </p:spPr>
        <p:txBody>
          <a:bodyPr/>
          <a:lstStyle>
            <a:lvl1pPr algn="ctr" defTabSz="722195">
              <a:spcBef>
                <a:spcPts val="750"/>
              </a:spcBef>
              <a:defRPr sz="95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6106606" y="4048643"/>
            <a:ext cx="2539923" cy="207963"/>
          </a:xfrm>
          <a:prstGeom prst="rect">
            <a:avLst/>
          </a:prstGeom>
        </p:spPr>
        <p:txBody>
          <a:bodyPr/>
          <a:lstStyle>
            <a:lvl1pPr algn="ctr" defTabSz="621636">
              <a:spcBef>
                <a:spcPts val="650"/>
              </a:spcBef>
              <a:defRPr sz="11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6106606" y="4639772"/>
            <a:ext cx="2539923" cy="556759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6106606" y="4344209"/>
            <a:ext cx="2539923" cy="207963"/>
          </a:xfrm>
          <a:prstGeom prst="rect">
            <a:avLst/>
          </a:prstGeom>
        </p:spPr>
        <p:txBody>
          <a:bodyPr/>
          <a:lstStyle>
            <a:lvl1pPr algn="ctr" defTabSz="722195">
              <a:spcBef>
                <a:spcPts val="750"/>
              </a:spcBef>
              <a:defRPr sz="95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34887" y="4048643"/>
            <a:ext cx="2539923" cy="207963"/>
          </a:xfrm>
          <a:prstGeom prst="rect">
            <a:avLst/>
          </a:prstGeom>
        </p:spPr>
        <p:txBody>
          <a:bodyPr/>
          <a:lstStyle>
            <a:lvl1pPr algn="ctr" defTabSz="621636">
              <a:spcBef>
                <a:spcPts val="650"/>
              </a:spcBef>
              <a:defRPr sz="11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8834887" y="4639772"/>
            <a:ext cx="2539923" cy="556759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8834887" y="4344209"/>
            <a:ext cx="2539923" cy="207963"/>
          </a:xfrm>
          <a:prstGeom prst="rect">
            <a:avLst/>
          </a:prstGeom>
        </p:spPr>
        <p:txBody>
          <a:bodyPr/>
          <a:lstStyle>
            <a:lvl1pPr algn="ctr" defTabSz="722195">
              <a:spcBef>
                <a:spcPts val="750"/>
              </a:spcBef>
              <a:defRPr sz="95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264648"/>
            <a:ext cx="10518339" cy="735481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1000125"/>
            <a:ext cx="10518339" cy="228600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608407" y="1998571"/>
            <a:ext cx="1686804" cy="16859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2931297" y="1998571"/>
            <a:ext cx="1686804" cy="16859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5254186" y="1998571"/>
            <a:ext cx="1686804" cy="16859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7577076" y="1998571"/>
            <a:ext cx="1686804" cy="16859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9899965" y="1968409"/>
            <a:ext cx="1686804" cy="16859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83400" y="4037264"/>
            <a:ext cx="1862641" cy="207963"/>
          </a:xfrm>
          <a:prstGeom prst="rect">
            <a:avLst/>
          </a:prstGeom>
        </p:spPr>
        <p:txBody>
          <a:bodyPr/>
          <a:lstStyle>
            <a:lvl1pPr algn="ctr" defTabSz="621636">
              <a:spcBef>
                <a:spcPts val="650"/>
              </a:spcBef>
              <a:defRPr sz="11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83400" y="4709071"/>
            <a:ext cx="1862641" cy="911803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483400" y="4332827"/>
            <a:ext cx="1862641" cy="207963"/>
          </a:xfrm>
          <a:prstGeom prst="rect">
            <a:avLst/>
          </a:prstGeom>
        </p:spPr>
        <p:txBody>
          <a:bodyPr/>
          <a:lstStyle>
            <a:lvl1pPr algn="ctr" defTabSz="722195">
              <a:spcBef>
                <a:spcPts val="750"/>
              </a:spcBef>
              <a:defRPr sz="95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2808988" y="4037264"/>
            <a:ext cx="1862641" cy="207963"/>
          </a:xfrm>
          <a:prstGeom prst="rect">
            <a:avLst/>
          </a:prstGeom>
        </p:spPr>
        <p:txBody>
          <a:bodyPr/>
          <a:lstStyle>
            <a:lvl1pPr algn="ctr" defTabSz="621636">
              <a:spcBef>
                <a:spcPts val="650"/>
              </a:spcBef>
              <a:defRPr sz="11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2808987" y="4709071"/>
            <a:ext cx="1862641" cy="911803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2808988" y="4332827"/>
            <a:ext cx="1862641" cy="207963"/>
          </a:xfrm>
          <a:prstGeom prst="rect">
            <a:avLst/>
          </a:prstGeom>
        </p:spPr>
        <p:txBody>
          <a:bodyPr/>
          <a:lstStyle>
            <a:lvl1pPr algn="ctr" defTabSz="722195">
              <a:spcBef>
                <a:spcPts val="750"/>
              </a:spcBef>
              <a:defRPr sz="95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5134573" y="4037264"/>
            <a:ext cx="1862641" cy="207963"/>
          </a:xfrm>
          <a:prstGeom prst="rect">
            <a:avLst/>
          </a:prstGeom>
        </p:spPr>
        <p:txBody>
          <a:bodyPr/>
          <a:lstStyle>
            <a:lvl1pPr algn="ctr" defTabSz="621636">
              <a:spcBef>
                <a:spcPts val="650"/>
              </a:spcBef>
              <a:defRPr sz="11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5134573" y="4709071"/>
            <a:ext cx="1862641" cy="911803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5134573" y="4332827"/>
            <a:ext cx="1862641" cy="207963"/>
          </a:xfrm>
          <a:prstGeom prst="rect">
            <a:avLst/>
          </a:prstGeom>
        </p:spPr>
        <p:txBody>
          <a:bodyPr/>
          <a:lstStyle>
            <a:lvl1pPr algn="ctr" defTabSz="722195">
              <a:spcBef>
                <a:spcPts val="750"/>
              </a:spcBef>
              <a:defRPr sz="95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7460161" y="4022183"/>
            <a:ext cx="1862641" cy="207963"/>
          </a:xfrm>
          <a:prstGeom prst="rect">
            <a:avLst/>
          </a:prstGeom>
        </p:spPr>
        <p:txBody>
          <a:bodyPr/>
          <a:lstStyle>
            <a:lvl1pPr algn="ctr" defTabSz="621636">
              <a:spcBef>
                <a:spcPts val="650"/>
              </a:spcBef>
              <a:defRPr sz="11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7460160" y="4693990"/>
            <a:ext cx="1862641" cy="911803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7460161" y="4317746"/>
            <a:ext cx="1862641" cy="207963"/>
          </a:xfrm>
          <a:prstGeom prst="rect">
            <a:avLst/>
          </a:prstGeom>
        </p:spPr>
        <p:txBody>
          <a:bodyPr/>
          <a:lstStyle>
            <a:lvl1pPr algn="ctr" defTabSz="722195">
              <a:spcBef>
                <a:spcPts val="750"/>
              </a:spcBef>
              <a:defRPr sz="95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9785747" y="4037264"/>
            <a:ext cx="1862641" cy="207963"/>
          </a:xfrm>
          <a:prstGeom prst="rect">
            <a:avLst/>
          </a:prstGeom>
        </p:spPr>
        <p:txBody>
          <a:bodyPr/>
          <a:lstStyle>
            <a:lvl1pPr algn="ctr" defTabSz="621636">
              <a:spcBef>
                <a:spcPts val="650"/>
              </a:spcBef>
              <a:defRPr sz="11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9785746" y="4709071"/>
            <a:ext cx="1862641" cy="911803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9785747" y="4332827"/>
            <a:ext cx="1862641" cy="207963"/>
          </a:xfrm>
          <a:prstGeom prst="rect">
            <a:avLst/>
          </a:prstGeom>
        </p:spPr>
        <p:txBody>
          <a:bodyPr/>
          <a:lstStyle>
            <a:lvl1pPr algn="ctr" defTabSz="722195">
              <a:spcBef>
                <a:spcPts val="750"/>
              </a:spcBef>
              <a:defRPr sz="95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22" y="347942"/>
            <a:ext cx="5032041" cy="528638"/>
          </a:xfrm>
          <a:prstGeom prst="rect">
            <a:avLst/>
          </a:prstGeom>
        </p:spPr>
        <p:txBody>
          <a:bodyPr/>
          <a:lstStyle>
            <a:lvl1pPr>
              <a:defRPr sz="27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22" y="876579"/>
            <a:ext cx="5032041" cy="228601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accent4"/>
                </a:solidFill>
              </a:defRPr>
            </a:lvl1pPr>
            <a:lvl2pPr>
              <a:defRPr sz="1600">
                <a:solidFill>
                  <a:schemeClr val="accent4"/>
                </a:solidFill>
              </a:defRPr>
            </a:lvl2pPr>
            <a:lvl3pPr>
              <a:defRPr sz="1600">
                <a:solidFill>
                  <a:schemeClr val="accent4"/>
                </a:solidFill>
              </a:defRPr>
            </a:lvl3pPr>
            <a:lvl4pPr>
              <a:defRPr sz="1600">
                <a:solidFill>
                  <a:schemeClr val="accent4"/>
                </a:solidFill>
              </a:defRPr>
            </a:lvl4pPr>
            <a:lvl5pPr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" y="1927275"/>
            <a:ext cx="3228977" cy="185653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3228978" y="1927275"/>
            <a:ext cx="3228977" cy="185653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3" y="3783807"/>
            <a:ext cx="3228977" cy="185653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3228978" y="3783807"/>
            <a:ext cx="3228977" cy="185653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964678" y="3487153"/>
            <a:ext cx="1264298" cy="29665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2024395" y="3536950"/>
            <a:ext cx="1156490" cy="182564"/>
          </a:xfrm>
          <a:prstGeom prst="rect">
            <a:avLst/>
          </a:prstGeom>
        </p:spPr>
        <p:txBody>
          <a:bodyPr/>
          <a:lstStyle>
            <a:lvl1pPr defTabSz="621636">
              <a:spcBef>
                <a:spcPts val="650"/>
              </a:spcBef>
              <a:defRPr sz="8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3228976" y="3783810"/>
            <a:ext cx="1264298" cy="29665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3288692" y="3833607"/>
            <a:ext cx="1156490" cy="182564"/>
          </a:xfrm>
          <a:prstGeom prst="rect">
            <a:avLst/>
          </a:prstGeom>
        </p:spPr>
        <p:txBody>
          <a:bodyPr/>
          <a:lstStyle>
            <a:lvl1pPr defTabSz="621636">
              <a:spcBef>
                <a:spcPts val="650"/>
              </a:spcBef>
              <a:defRPr sz="8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3228976" y="3487153"/>
            <a:ext cx="1264298" cy="29665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3288692" y="3536950"/>
            <a:ext cx="1156490" cy="182564"/>
          </a:xfrm>
          <a:prstGeom prst="rect">
            <a:avLst/>
          </a:prstGeom>
        </p:spPr>
        <p:txBody>
          <a:bodyPr/>
          <a:lstStyle>
            <a:lvl1pPr defTabSz="621636">
              <a:spcBef>
                <a:spcPts val="650"/>
              </a:spcBef>
              <a:defRPr sz="8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964678" y="3783810"/>
            <a:ext cx="1264298" cy="29665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024395" y="3833607"/>
            <a:ext cx="1156490" cy="182564"/>
          </a:xfrm>
          <a:prstGeom prst="rect">
            <a:avLst/>
          </a:prstGeom>
        </p:spPr>
        <p:txBody>
          <a:bodyPr/>
          <a:lstStyle>
            <a:lvl1pPr defTabSz="621636">
              <a:spcBef>
                <a:spcPts val="650"/>
              </a:spcBef>
              <a:defRPr sz="8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1" y="0"/>
            <a:ext cx="6116650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078532" y="0"/>
            <a:ext cx="6116649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3" y="2286000"/>
            <a:ext cx="6097589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078532" y="2286000"/>
            <a:ext cx="6097589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3" y="4572000"/>
            <a:ext cx="6097589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069372" y="4572000"/>
            <a:ext cx="6125806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407115" y="994674"/>
            <a:ext cx="1264298" cy="29665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2466831" y="1044472"/>
            <a:ext cx="1156490" cy="182564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  <a:lvl2pPr>
              <a:defRPr sz="1200">
                <a:solidFill>
                  <a:srgbClr val="FFFFFF"/>
                </a:solidFill>
              </a:defRPr>
            </a:lvl2pPr>
            <a:lvl3pPr>
              <a:defRPr sz="1200">
                <a:solidFill>
                  <a:srgbClr val="FFFFFF"/>
                </a:solidFill>
              </a:defRPr>
            </a:lvl3pPr>
            <a:lvl4pPr>
              <a:defRPr sz="1200">
                <a:solidFill>
                  <a:srgbClr val="FFFFFF"/>
                </a:solidFill>
              </a:defRPr>
            </a:lvl4pPr>
            <a:lvl5pPr>
              <a:defRPr sz="1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8504704" y="3280674"/>
            <a:ext cx="1264298" cy="29665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8564421" y="3330472"/>
            <a:ext cx="1156490" cy="182564"/>
          </a:xfrm>
          <a:prstGeom prst="rect">
            <a:avLst/>
          </a:prstGeom>
        </p:spPr>
        <p:txBody>
          <a:bodyPr/>
          <a:lstStyle>
            <a:lvl1pPr defTabSz="621636">
              <a:spcBef>
                <a:spcPts val="650"/>
              </a:spcBef>
              <a:defRPr sz="8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2455206" y="5566674"/>
            <a:ext cx="1264298" cy="29665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2514923" y="5616472"/>
            <a:ext cx="1156490" cy="182564"/>
          </a:xfrm>
          <a:prstGeom prst="rect">
            <a:avLst/>
          </a:prstGeom>
        </p:spPr>
        <p:txBody>
          <a:bodyPr/>
          <a:lstStyle>
            <a:lvl1pPr defTabSz="621636">
              <a:spcBef>
                <a:spcPts val="650"/>
              </a:spcBef>
              <a:defRPr sz="8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1" y="0"/>
            <a:ext cx="6116650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078532" y="0"/>
            <a:ext cx="6116649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3" y="2286000"/>
            <a:ext cx="6097589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078532" y="2286000"/>
            <a:ext cx="6097589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8535671" y="994674"/>
            <a:ext cx="1264298" cy="29665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8595387" y="1044472"/>
            <a:ext cx="1156490" cy="182564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  <a:lvl2pPr>
              <a:defRPr sz="1200">
                <a:solidFill>
                  <a:srgbClr val="FFFFFF"/>
                </a:solidFill>
              </a:defRPr>
            </a:lvl2pPr>
            <a:lvl3pPr>
              <a:defRPr sz="1200">
                <a:solidFill>
                  <a:srgbClr val="FFFFFF"/>
                </a:solidFill>
              </a:defRPr>
            </a:lvl3pPr>
            <a:lvl4pPr>
              <a:defRPr sz="1200">
                <a:solidFill>
                  <a:srgbClr val="FFFFFF"/>
                </a:solidFill>
              </a:defRPr>
            </a:lvl4pPr>
            <a:lvl5pPr>
              <a:defRPr sz="1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2407116" y="3287922"/>
            <a:ext cx="1264298" cy="29665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2466832" y="3337719"/>
            <a:ext cx="1156490" cy="182564"/>
          </a:xfrm>
          <a:prstGeom prst="rect">
            <a:avLst/>
          </a:prstGeom>
        </p:spPr>
        <p:txBody>
          <a:bodyPr/>
          <a:lstStyle>
            <a:lvl1pPr defTabSz="621636">
              <a:spcBef>
                <a:spcPts val="650"/>
              </a:spcBef>
              <a:defRPr sz="8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2546755" y="6128545"/>
            <a:ext cx="1156490" cy="182564"/>
          </a:xfrm>
          <a:prstGeom prst="rect">
            <a:avLst/>
          </a:prstGeom>
        </p:spPr>
        <p:txBody>
          <a:bodyPr/>
          <a:lstStyle>
            <a:lvl1pPr defTabSz="621636">
              <a:spcBef>
                <a:spcPts val="650"/>
              </a:spcBef>
              <a:defRPr sz="8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19358" y="4733365"/>
            <a:ext cx="10518339" cy="571268"/>
          </a:xfrm>
          <a:prstGeom prst="rect">
            <a:avLst/>
          </a:prstGeom>
        </p:spPr>
        <p:txBody>
          <a:bodyPr/>
          <a:lstStyle>
            <a:lvl1pPr algn="ctr">
              <a:defRPr sz="36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2" y="-1"/>
            <a:ext cx="12195179" cy="682704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19669847" y="-8686800"/>
            <a:ext cx="12195179" cy="6858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263237"/>
            <a:ext cx="10518339" cy="778451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1041692"/>
            <a:ext cx="10518339" cy="228601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10030365" y="3673873"/>
            <a:ext cx="1044722" cy="1044178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6097592" y="0"/>
            <a:ext cx="6097589" cy="6858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22860" rIns="22860" anchor="ctr"/>
          <a:lstStyle/>
          <a:p>
            <a:pPr marL="0" marR="0" lvl="0" indent="0" algn="ct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175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0"/>
            <a:ext cx="6116650" cy="6858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02106" y="2674651"/>
            <a:ext cx="4562398" cy="1703387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275" name="Rectangle 6"/>
          <p:cNvSpPr/>
          <p:nvPr/>
        </p:nvSpPr>
        <p:spPr bwMode="auto">
          <a:xfrm>
            <a:off x="3" y="0"/>
            <a:ext cx="6097589" cy="6858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22860" rIns="22860" anchor="ctr"/>
          <a:lstStyle/>
          <a:p>
            <a:pPr marL="0" marR="0" lvl="0" indent="0" algn="ct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175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02106" y="2722449"/>
            <a:ext cx="4562398" cy="1703388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6097591" y="0"/>
            <a:ext cx="6097589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097591" y="2286000"/>
            <a:ext cx="6097589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6097591" y="4572000"/>
            <a:ext cx="6097589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9277423" y="0"/>
            <a:ext cx="2917757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9277423" y="2286000"/>
            <a:ext cx="2917757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9277423" y="4572000"/>
            <a:ext cx="2917757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9507500" y="520704"/>
            <a:ext cx="2393156" cy="207963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507500" y="825503"/>
            <a:ext cx="2393156" cy="1039585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507500" y="2749553"/>
            <a:ext cx="2393156" cy="207963"/>
          </a:xfrm>
          <a:prstGeom prst="rect">
            <a:avLst/>
          </a:prstGeom>
        </p:spPr>
        <p:txBody>
          <a:bodyPr/>
          <a:lstStyle>
            <a:lvl1pPr algn="ctr" defTabSz="713054">
              <a:spcBef>
                <a:spcPts val="750"/>
              </a:spcBef>
              <a:defRPr sz="11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9507500" y="3054352"/>
            <a:ext cx="2393156" cy="1039585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507500" y="5063903"/>
            <a:ext cx="2393156" cy="207963"/>
          </a:xfrm>
          <a:prstGeom prst="rect">
            <a:avLst/>
          </a:prstGeom>
        </p:spPr>
        <p:txBody>
          <a:bodyPr/>
          <a:lstStyle>
            <a:lvl1pPr algn="ctr" defTabSz="713054">
              <a:spcBef>
                <a:spcPts val="750"/>
              </a:spcBef>
              <a:defRPr sz="11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9507500" y="5368704"/>
            <a:ext cx="2393156" cy="1039585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376518"/>
            <a:ext cx="10518339" cy="69084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1067364"/>
            <a:ext cx="10518339" cy="228601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43921" y="2114600"/>
            <a:ext cx="3228977" cy="185653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3224940" y="3674478"/>
            <a:ext cx="1647956" cy="29665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3317370" y="3724274"/>
            <a:ext cx="1507431" cy="182564"/>
          </a:xfrm>
          <a:prstGeom prst="rect">
            <a:avLst/>
          </a:prstGeom>
        </p:spPr>
        <p:txBody>
          <a:bodyPr/>
          <a:lstStyle>
            <a:lvl1pPr defTabSz="621636">
              <a:spcBef>
                <a:spcPts val="650"/>
              </a:spcBef>
              <a:defRPr sz="8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376518"/>
            <a:ext cx="10518339" cy="69084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1067364"/>
            <a:ext cx="10518339" cy="228601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43921" y="2020471"/>
            <a:ext cx="3228977" cy="185653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3221127" y="3580345"/>
            <a:ext cx="1651768" cy="29665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3313882" y="3630145"/>
            <a:ext cx="1510919" cy="198905"/>
          </a:xfrm>
          <a:prstGeom prst="rect">
            <a:avLst/>
          </a:prstGeom>
        </p:spPr>
        <p:txBody>
          <a:bodyPr/>
          <a:lstStyle>
            <a:lvl1pPr defTabSz="694770">
              <a:spcBef>
                <a:spcPts val="750"/>
              </a:spcBef>
              <a:defRPr sz="9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7252130" y="2020471"/>
            <a:ext cx="3228977" cy="185653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43921" y="4381503"/>
            <a:ext cx="3228977" cy="275433"/>
          </a:xfrm>
          <a:prstGeom prst="rect">
            <a:avLst/>
          </a:prstGeom>
        </p:spPr>
        <p:txBody>
          <a:bodyPr/>
          <a:lstStyle>
            <a:lvl1pPr defTabSz="850180">
              <a:spcBef>
                <a:spcPts val="900"/>
              </a:spcBef>
              <a:defRPr sz="15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43921" y="4721230"/>
            <a:ext cx="3228977" cy="1057461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7252129" y="4358158"/>
            <a:ext cx="3228977" cy="275433"/>
          </a:xfrm>
          <a:prstGeom prst="rect">
            <a:avLst/>
          </a:prstGeom>
        </p:spPr>
        <p:txBody>
          <a:bodyPr/>
          <a:lstStyle>
            <a:lvl1pPr defTabSz="850180">
              <a:spcBef>
                <a:spcPts val="900"/>
              </a:spcBef>
              <a:defRPr sz="15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7252129" y="4697885"/>
            <a:ext cx="3228977" cy="1057461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7252125" y="3580345"/>
            <a:ext cx="1651768" cy="29665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7344882" y="3630145"/>
            <a:ext cx="1510919" cy="198905"/>
          </a:xfrm>
          <a:prstGeom prst="rect">
            <a:avLst/>
          </a:prstGeom>
        </p:spPr>
        <p:txBody>
          <a:bodyPr/>
          <a:lstStyle>
            <a:lvl1pPr defTabSz="694770">
              <a:spcBef>
                <a:spcPts val="750"/>
              </a:spcBef>
              <a:defRPr sz="9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376518"/>
            <a:ext cx="10518339" cy="69084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1067364"/>
            <a:ext cx="10518339" cy="228601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2773221" y="2072643"/>
            <a:ext cx="2644565" cy="306229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2773221" y="2443165"/>
            <a:ext cx="2644565" cy="1018615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1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286548" y="2072643"/>
            <a:ext cx="1169621" cy="116901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2773221" y="4104435"/>
            <a:ext cx="2644565" cy="306229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2773221" y="4474958"/>
            <a:ext cx="2644565" cy="1018615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1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1286548" y="4104432"/>
            <a:ext cx="1169621" cy="116901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8155524" y="2072643"/>
            <a:ext cx="2644566" cy="306229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8155524" y="2443165"/>
            <a:ext cx="2644566" cy="1018615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1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6668850" y="2072643"/>
            <a:ext cx="1169620" cy="116901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8155524" y="4104435"/>
            <a:ext cx="2644566" cy="306229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8155524" y="4474958"/>
            <a:ext cx="2644566" cy="1018615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1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6668850" y="4104432"/>
            <a:ext cx="1169620" cy="116901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0" y="0"/>
            <a:ext cx="7233243" cy="3429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7233245" y="0"/>
            <a:ext cx="4961935" cy="3429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3" y="3429000"/>
            <a:ext cx="4961935" cy="3429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4961937" y="3429000"/>
            <a:ext cx="7233243" cy="3429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2254303" y="1695454"/>
            <a:ext cx="7669566" cy="3429001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2591935" y="1975130"/>
            <a:ext cx="6912619" cy="528638"/>
          </a:xfrm>
          <a:prstGeom prst="rect">
            <a:avLst/>
          </a:prstGeom>
        </p:spPr>
        <p:txBody>
          <a:bodyPr/>
          <a:lstStyle>
            <a:lvl1pPr algn="ctr">
              <a:defRPr sz="27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91935" y="2503771"/>
            <a:ext cx="6912619" cy="228601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rgbClr val="FFFFFF"/>
                </a:solidFill>
              </a:defRPr>
            </a:lvl1pPr>
            <a:lvl2pPr algn="ctr">
              <a:defRPr sz="1600">
                <a:solidFill>
                  <a:srgbClr val="FFFFFF"/>
                </a:solidFill>
              </a:defRPr>
            </a:lvl2pPr>
            <a:lvl3pPr algn="ctr">
              <a:defRPr sz="1600">
                <a:solidFill>
                  <a:srgbClr val="FFFFFF"/>
                </a:solidFill>
              </a:defRPr>
            </a:lvl3pPr>
            <a:lvl4pPr algn="ctr">
              <a:defRPr sz="1600">
                <a:solidFill>
                  <a:srgbClr val="FFFFFF"/>
                </a:solidFill>
              </a:defRPr>
            </a:lvl4pPr>
            <a:lvl5pPr algn="ctr">
              <a:defRPr sz="16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" y="0"/>
            <a:ext cx="4064718" cy="3429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8130460" y="0"/>
            <a:ext cx="4064718" cy="3429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4064718" y="0"/>
            <a:ext cx="4064718" cy="3429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1026" y="3429000"/>
            <a:ext cx="4064718" cy="3429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8129435" y="3429000"/>
            <a:ext cx="4064718" cy="3429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063691" y="3429000"/>
            <a:ext cx="4064718" cy="3429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3217491" y="2936875"/>
            <a:ext cx="5756099" cy="98425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534031" y="3164681"/>
            <a:ext cx="5127121" cy="528638"/>
          </a:xfrm>
          <a:prstGeom prst="rect">
            <a:avLst/>
          </a:prstGeom>
        </p:spPr>
        <p:txBody>
          <a:bodyPr/>
          <a:lstStyle>
            <a:lvl1pPr algn="ctr">
              <a:defRPr sz="27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6097591" y="0"/>
            <a:ext cx="6097589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097591" y="2286000"/>
            <a:ext cx="6097589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6097591" y="4572000"/>
            <a:ext cx="6097589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9277423" y="0"/>
            <a:ext cx="2917757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9277423" y="2286000"/>
            <a:ext cx="2917757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9277423" y="4572000"/>
            <a:ext cx="2917757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9507500" y="520704"/>
            <a:ext cx="2393156" cy="2079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507500" y="825503"/>
            <a:ext cx="2393156" cy="1039585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507500" y="2749553"/>
            <a:ext cx="2393156" cy="207963"/>
          </a:xfrm>
          <a:prstGeom prst="rect">
            <a:avLst/>
          </a:prstGeom>
        </p:spPr>
        <p:txBody>
          <a:bodyPr/>
          <a:lstStyle>
            <a:lvl1pPr defTabSz="713054">
              <a:spcBef>
                <a:spcPts val="750"/>
              </a:spcBef>
              <a:defRPr sz="11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9507500" y="3054352"/>
            <a:ext cx="2393156" cy="1039585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507500" y="5063903"/>
            <a:ext cx="2393156" cy="207963"/>
          </a:xfrm>
          <a:prstGeom prst="rect">
            <a:avLst/>
          </a:prstGeom>
        </p:spPr>
        <p:txBody>
          <a:bodyPr/>
          <a:lstStyle>
            <a:lvl1pPr defTabSz="713054">
              <a:spcBef>
                <a:spcPts val="750"/>
              </a:spcBef>
              <a:defRPr sz="11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9507500" y="5368704"/>
            <a:ext cx="2393156" cy="1039585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3" y="0"/>
            <a:ext cx="6097589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3" y="2286000"/>
            <a:ext cx="6097589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3" y="4572000"/>
            <a:ext cx="6097589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3179835" y="0"/>
            <a:ext cx="2917757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3179835" y="2286000"/>
            <a:ext cx="2917757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3179835" y="4572000"/>
            <a:ext cx="2917757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3409913" y="520704"/>
            <a:ext cx="2393156" cy="207963"/>
          </a:xfrm>
          <a:prstGeom prst="rect">
            <a:avLst/>
          </a:prstGeom>
        </p:spPr>
        <p:txBody>
          <a:bodyPr/>
          <a:lstStyle>
            <a:lvl1pPr defTabSz="713054">
              <a:spcBef>
                <a:spcPts val="750"/>
              </a:spcBef>
              <a:defRPr sz="11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3409913" y="825503"/>
            <a:ext cx="2393156" cy="1039585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3409913" y="2749553"/>
            <a:ext cx="2393156" cy="207963"/>
          </a:xfrm>
          <a:prstGeom prst="rect">
            <a:avLst/>
          </a:prstGeom>
        </p:spPr>
        <p:txBody>
          <a:bodyPr/>
          <a:lstStyle>
            <a:lvl1pPr defTabSz="713054">
              <a:spcBef>
                <a:spcPts val="750"/>
              </a:spcBef>
              <a:defRPr sz="11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3409913" y="3054352"/>
            <a:ext cx="2393156" cy="1039585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3409913" y="5063903"/>
            <a:ext cx="2393156" cy="207963"/>
          </a:xfrm>
          <a:prstGeom prst="rect">
            <a:avLst/>
          </a:prstGeom>
        </p:spPr>
        <p:txBody>
          <a:bodyPr/>
          <a:lstStyle>
            <a:lvl1pPr defTabSz="713054">
              <a:spcBef>
                <a:spcPts val="750"/>
              </a:spcBef>
              <a:defRPr sz="11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3409913" y="5368704"/>
            <a:ext cx="2393156" cy="1039585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3" y="5574"/>
            <a:ext cx="6097589" cy="685242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-1" y="4020460"/>
            <a:ext cx="6097589" cy="2837543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6097588" y="1"/>
            <a:ext cx="6097590" cy="6858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6097588" y="4018150"/>
            <a:ext cx="6097590" cy="28398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838422" y="4587148"/>
            <a:ext cx="4293467" cy="400071"/>
          </a:xfrm>
          <a:prstGeom prst="rect">
            <a:avLst/>
          </a:prstGeom>
        </p:spPr>
        <p:txBody>
          <a:bodyPr/>
          <a:lstStyle>
            <a:lvl1pPr algn="ctr">
              <a:defRPr sz="2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 sz="2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 sz="2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 sz="2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 sz="2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838422" y="5007432"/>
            <a:ext cx="4293467" cy="94172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838422" y="4255167"/>
            <a:ext cx="4293467" cy="256769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7063295" y="4572409"/>
            <a:ext cx="4293467" cy="400071"/>
          </a:xfrm>
          <a:prstGeom prst="rect">
            <a:avLst/>
          </a:prstGeom>
        </p:spPr>
        <p:txBody>
          <a:bodyPr/>
          <a:lstStyle>
            <a:lvl1pPr algn="ctr">
              <a:defRPr sz="2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7063295" y="4992693"/>
            <a:ext cx="4293467" cy="94172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7063295" y="4240428"/>
            <a:ext cx="4293467" cy="256769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3" y="1"/>
            <a:ext cx="6097589" cy="3429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6097592" y="1"/>
            <a:ext cx="6097589" cy="3429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3" y="3429004"/>
            <a:ext cx="6097589" cy="3429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6097592" y="3429004"/>
            <a:ext cx="6097589" cy="3429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318092" y="2286003"/>
            <a:ext cx="4779496" cy="1128713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097592" y="2286003"/>
            <a:ext cx="4779495" cy="1128713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318092" y="3414713"/>
            <a:ext cx="4779496" cy="11287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6097592" y="3414713"/>
            <a:ext cx="4779495" cy="11287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1"/>
            <a:ext cx="6936548" cy="400418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5827679" y="1"/>
            <a:ext cx="6367501" cy="40041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4488966"/>
            <a:ext cx="5827676" cy="2368923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6299309" y="4489079"/>
            <a:ext cx="5895871" cy="23689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24828" y="3961371"/>
            <a:ext cx="10545520" cy="615764"/>
          </a:xfrm>
          <a:prstGeom prst="rect">
            <a:avLst/>
          </a:prstGeom>
        </p:spPr>
        <p:txBody>
          <a:bodyPr/>
          <a:lstStyle>
            <a:lvl1pPr algn="ctr">
              <a:defRPr sz="3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4577138"/>
            <a:ext cx="10518339" cy="228601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8464130" y="6221698"/>
            <a:ext cx="273471" cy="269304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6097588" y="0"/>
            <a:ext cx="3179832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097588" y="2286000"/>
            <a:ext cx="3179832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6097589" y="4572000"/>
            <a:ext cx="3179831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9277423" y="0"/>
            <a:ext cx="2917757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9277423" y="2286000"/>
            <a:ext cx="2917757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9277423" y="4572000"/>
            <a:ext cx="2917757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9507500" y="520704"/>
            <a:ext cx="2393156" cy="2079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507500" y="825503"/>
            <a:ext cx="2393156" cy="1039585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507500" y="2749553"/>
            <a:ext cx="2393156" cy="207963"/>
          </a:xfrm>
          <a:prstGeom prst="rect">
            <a:avLst/>
          </a:prstGeom>
        </p:spPr>
        <p:txBody>
          <a:bodyPr/>
          <a:lstStyle>
            <a:lvl1pPr defTabSz="713054">
              <a:spcBef>
                <a:spcPts val="750"/>
              </a:spcBef>
              <a:defRPr sz="11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9507500" y="3054352"/>
            <a:ext cx="2393156" cy="1039585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507500" y="5063903"/>
            <a:ext cx="2393156" cy="207963"/>
          </a:xfrm>
          <a:prstGeom prst="rect">
            <a:avLst/>
          </a:prstGeom>
        </p:spPr>
        <p:txBody>
          <a:bodyPr/>
          <a:lstStyle>
            <a:lvl1pPr defTabSz="713054">
              <a:spcBef>
                <a:spcPts val="750"/>
              </a:spcBef>
              <a:defRPr sz="11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9507500" y="5368704"/>
            <a:ext cx="2393156" cy="1039585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917758" y="0"/>
            <a:ext cx="3179833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2917758" y="2286000"/>
            <a:ext cx="3179833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2917758" y="4572000"/>
            <a:ext cx="3179833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-1" y="15654"/>
            <a:ext cx="2917757" cy="2286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-1" y="2301654"/>
            <a:ext cx="2917757" cy="2286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-1" y="4587654"/>
            <a:ext cx="2917757" cy="2286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230084" y="536353"/>
            <a:ext cx="2393155" cy="207963"/>
          </a:xfrm>
          <a:prstGeom prst="rect">
            <a:avLst/>
          </a:prstGeom>
        </p:spPr>
        <p:txBody>
          <a:bodyPr/>
          <a:lstStyle>
            <a:lvl1pPr algn="r" defTabSz="713054">
              <a:spcBef>
                <a:spcPts val="750"/>
              </a:spcBef>
              <a:defRPr sz="11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230084" y="841153"/>
            <a:ext cx="2393155" cy="1039585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1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230084" y="2765204"/>
            <a:ext cx="2393155" cy="207963"/>
          </a:xfrm>
          <a:prstGeom prst="rect">
            <a:avLst/>
          </a:prstGeom>
        </p:spPr>
        <p:txBody>
          <a:bodyPr/>
          <a:lstStyle>
            <a:lvl1pPr algn="r" defTabSz="713054">
              <a:spcBef>
                <a:spcPts val="750"/>
              </a:spcBef>
              <a:defRPr sz="11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230084" y="3070004"/>
            <a:ext cx="2393155" cy="1039585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1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230084" y="5079553"/>
            <a:ext cx="2393155" cy="207963"/>
          </a:xfrm>
          <a:prstGeom prst="rect">
            <a:avLst/>
          </a:prstGeom>
        </p:spPr>
        <p:txBody>
          <a:bodyPr/>
          <a:lstStyle>
            <a:lvl1pPr algn="r" defTabSz="713054">
              <a:spcBef>
                <a:spcPts val="750"/>
              </a:spcBef>
              <a:defRPr sz="11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230084" y="5384354"/>
            <a:ext cx="2393155" cy="1039585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1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3" y="1986803"/>
            <a:ext cx="6097589" cy="276001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396427" y="3610115"/>
            <a:ext cx="3978761" cy="85244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376518"/>
            <a:ext cx="10518339" cy="69084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1067364"/>
            <a:ext cx="10518339" cy="228601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389795" y="3771624"/>
            <a:ext cx="2830400" cy="543953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6783371" y="1986806"/>
            <a:ext cx="3966428" cy="275433"/>
          </a:xfrm>
          <a:prstGeom prst="rect">
            <a:avLst/>
          </a:prstGeom>
        </p:spPr>
        <p:txBody>
          <a:bodyPr/>
          <a:lstStyle>
            <a:lvl1pPr defTabSz="850180">
              <a:spcBef>
                <a:spcPts val="900"/>
              </a:spcBef>
              <a:defRPr sz="15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6783371" y="2326529"/>
            <a:ext cx="3966428" cy="21403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838419" y="5110162"/>
            <a:ext cx="5259169" cy="8149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402255" y="1996892"/>
            <a:ext cx="3797691" cy="1928019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4766" y="1996889"/>
            <a:ext cx="3788161" cy="1928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3075106" y="1996892"/>
            <a:ext cx="6044971" cy="1928019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376518"/>
            <a:ext cx="10518339" cy="69084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1067364"/>
            <a:ext cx="10518339" cy="228601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22" y="200026"/>
            <a:ext cx="5032041" cy="528638"/>
          </a:xfrm>
          <a:prstGeom prst="rect">
            <a:avLst/>
          </a:prstGeom>
        </p:spPr>
        <p:txBody>
          <a:bodyPr/>
          <a:lstStyle>
            <a:lvl1pPr>
              <a:defRPr sz="27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22" y="728663"/>
            <a:ext cx="5032041" cy="22860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accent4"/>
                </a:solidFill>
              </a:defRPr>
            </a:lvl1pPr>
            <a:lvl2pPr>
              <a:defRPr sz="1600">
                <a:solidFill>
                  <a:schemeClr val="accent4"/>
                </a:solidFill>
              </a:defRPr>
            </a:lvl2pPr>
            <a:lvl3pPr>
              <a:defRPr sz="1600">
                <a:solidFill>
                  <a:schemeClr val="accent4"/>
                </a:solidFill>
              </a:defRPr>
            </a:lvl3pPr>
            <a:lvl4pPr>
              <a:defRPr sz="1600">
                <a:solidFill>
                  <a:schemeClr val="accent4"/>
                </a:solidFill>
              </a:defRPr>
            </a:lvl4pPr>
            <a:lvl5pPr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512" name="Straight Connector 7"/>
          <p:cNvSpPr/>
          <p:nvPr/>
        </p:nvSpPr>
        <p:spPr bwMode="auto">
          <a:xfrm>
            <a:off x="838419" y="1071563"/>
            <a:ext cx="2743916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22860" rIns="22860"/>
          <a:lstStyle/>
          <a:p>
            <a:pPr marL="0" marR="0" lvl="0" indent="0" algn="l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sz="1750" b="0" i="0" u="none" strike="noStrike" cap="none" spc="0">
              <a:ln>
                <a:noFill/>
              </a:ln>
              <a:solidFill>
                <a:srgbClr val="000000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6097589" y="1"/>
            <a:ext cx="1525395" cy="17208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7623019" y="1"/>
            <a:ext cx="1525395" cy="17208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9148414" y="1"/>
            <a:ext cx="1525395" cy="17208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0673841" y="1"/>
            <a:ext cx="1525395" cy="17208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6097589" y="1720803"/>
            <a:ext cx="1525395" cy="17208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7623019" y="1720803"/>
            <a:ext cx="1525395" cy="17208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9148414" y="1720803"/>
            <a:ext cx="1525395" cy="17208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0673841" y="1720803"/>
            <a:ext cx="1525395" cy="17208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097589" y="3416403"/>
            <a:ext cx="1525395" cy="17208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7623019" y="3416403"/>
            <a:ext cx="1525395" cy="17208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9148414" y="3416403"/>
            <a:ext cx="1525395" cy="17208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0673841" y="3416403"/>
            <a:ext cx="1525395" cy="17208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6097589" y="5137203"/>
            <a:ext cx="1525395" cy="17208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7623019" y="5137203"/>
            <a:ext cx="1525395" cy="17208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9148414" y="5137203"/>
            <a:ext cx="1525395" cy="17208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10673841" y="5137203"/>
            <a:ext cx="1525395" cy="17208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8464130" y="6221698"/>
            <a:ext cx="273471" cy="269304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1" y="2311306"/>
            <a:ext cx="12190412" cy="251637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376518"/>
            <a:ext cx="10518339" cy="69084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1067364"/>
            <a:ext cx="10518339" cy="228601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1" y="1832578"/>
            <a:ext cx="12190412" cy="319284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4" y="1832578"/>
            <a:ext cx="12195177" cy="319284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802109" y="2925197"/>
            <a:ext cx="10572701" cy="690843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02109" y="3616035"/>
            <a:ext cx="10572701" cy="228601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rgbClr val="FFFFFF"/>
                </a:solidFill>
              </a:defRPr>
            </a:lvl1pPr>
            <a:lvl2pPr algn="ctr">
              <a:defRPr sz="1600">
                <a:solidFill>
                  <a:srgbClr val="FFFFFF"/>
                </a:solidFill>
              </a:defRPr>
            </a:lvl2pPr>
            <a:lvl3pPr algn="ctr">
              <a:defRPr sz="1600">
                <a:solidFill>
                  <a:srgbClr val="FFFFFF"/>
                </a:solidFill>
              </a:defRPr>
            </a:lvl3pPr>
            <a:lvl4pPr algn="ctr">
              <a:defRPr sz="1600">
                <a:solidFill>
                  <a:srgbClr val="FFFFFF"/>
                </a:solidFill>
              </a:defRPr>
            </a:lvl4pPr>
            <a:lvl5pPr algn="ctr">
              <a:defRPr sz="16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3" y="0"/>
            <a:ext cx="12195177" cy="381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478740" y="3065463"/>
            <a:ext cx="1267486" cy="2132013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991117" y="1257301"/>
            <a:ext cx="5106472" cy="1579563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991117" y="2836863"/>
            <a:ext cx="5106472" cy="228600"/>
          </a:xfrm>
          <a:prstGeom prst="rect">
            <a:avLst/>
          </a:prstGeom>
        </p:spPr>
        <p:txBody>
          <a:bodyPr/>
          <a:lstStyle>
            <a:lvl1pPr algn="r">
              <a:defRPr sz="1600">
                <a:solidFill>
                  <a:schemeClr val="accent4"/>
                </a:solidFill>
              </a:defRPr>
            </a:lvl1pPr>
            <a:lvl2pPr algn="r">
              <a:defRPr sz="1600">
                <a:solidFill>
                  <a:schemeClr val="accent4"/>
                </a:solidFill>
              </a:defRPr>
            </a:lvl2pPr>
            <a:lvl3pPr algn="r">
              <a:defRPr sz="1600">
                <a:solidFill>
                  <a:schemeClr val="accent4"/>
                </a:solidFill>
              </a:defRPr>
            </a:lvl3pPr>
            <a:lvl4pPr algn="r">
              <a:defRPr sz="1600">
                <a:solidFill>
                  <a:schemeClr val="accent4"/>
                </a:solidFill>
              </a:defRPr>
            </a:lvl4pPr>
            <a:lvl5pPr algn="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514675" y="3130550"/>
            <a:ext cx="1264309" cy="212725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376518"/>
            <a:ext cx="10518339" cy="69084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1067364"/>
            <a:ext cx="10518339" cy="228601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6758304" y="2951439"/>
            <a:ext cx="2781551" cy="141483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376518"/>
            <a:ext cx="10518339" cy="69084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1067364"/>
            <a:ext cx="10518339" cy="228601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4879056" y="3694817"/>
            <a:ext cx="2774090" cy="211015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376518"/>
            <a:ext cx="10518339" cy="69084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1067364"/>
            <a:ext cx="10518339" cy="228601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4521827" y="2329101"/>
            <a:ext cx="3117596" cy="22757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376518"/>
            <a:ext cx="10518339" cy="69084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1067364"/>
            <a:ext cx="10518339" cy="228601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864061" y="2805113"/>
            <a:ext cx="3186821" cy="178117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376518"/>
            <a:ext cx="10518339" cy="69084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1067364"/>
            <a:ext cx="10518339" cy="228601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3"/>
            <a:ext cx="12195177" cy="6858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02109" y="2738160"/>
            <a:ext cx="10572701" cy="690843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02109" y="3429000"/>
            <a:ext cx="10572701" cy="228600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3"/>
            <a:ext cx="12195177" cy="6858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02108" y="3214687"/>
            <a:ext cx="10554653" cy="1014413"/>
          </a:xfrm>
          <a:prstGeom prst="rect">
            <a:avLst/>
          </a:prstGeom>
        </p:spPr>
        <p:txBody>
          <a:bodyPr/>
          <a:lstStyle>
            <a:lvl1pPr algn="ctr">
              <a:defRPr sz="4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02108" y="4229100"/>
            <a:ext cx="10554653" cy="228600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02109" y="2414591"/>
            <a:ext cx="10554653" cy="1014413"/>
          </a:xfrm>
          <a:prstGeom prst="rect">
            <a:avLst/>
          </a:prstGeom>
        </p:spPr>
        <p:txBody>
          <a:bodyPr/>
          <a:lstStyle>
            <a:lvl1pPr algn="ctr">
              <a:defRPr sz="4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02109" y="3429000"/>
            <a:ext cx="10554653" cy="228600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3778623"/>
            <a:ext cx="2995992" cy="340100"/>
          </a:xfrm>
          <a:prstGeom prst="rect">
            <a:avLst/>
          </a:prstGeom>
        </p:spPr>
        <p:txBody>
          <a:bodyPr anchor="b"/>
          <a:lstStyle>
            <a:lvl1pPr>
              <a:defRPr sz="16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22" y="4118723"/>
            <a:ext cx="2995991" cy="73566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1828343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2" y="0"/>
            <a:ext cx="3052591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3052593" y="0"/>
            <a:ext cx="3052591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6105182" y="0"/>
            <a:ext cx="3052591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9157773" y="0"/>
            <a:ext cx="3052591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" y="2286000"/>
            <a:ext cx="3052591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3052593" y="2286000"/>
            <a:ext cx="3052591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105182" y="2286000"/>
            <a:ext cx="3052591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9157773" y="2286000"/>
            <a:ext cx="3052591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2" y="4572000"/>
            <a:ext cx="3052591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3052593" y="4572000"/>
            <a:ext cx="3052591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6105182" y="4572000"/>
            <a:ext cx="3052591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9157773" y="4572000"/>
            <a:ext cx="3052591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6169768" y="3497263"/>
            <a:ext cx="3052591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21" y="365129"/>
            <a:ext cx="10518341" cy="1325563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838420" y="1825625"/>
            <a:ext cx="5182951" cy="435133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40007" y="365129"/>
            <a:ext cx="10518341" cy="1325563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40006" y="1681166"/>
            <a:ext cx="5159132" cy="823912"/>
          </a:xfrm>
          <a:prstGeom prst="rect">
            <a:avLst/>
          </a:prstGeom>
        </p:spPr>
        <p:txBody>
          <a:bodyPr anchor="b"/>
          <a:lstStyle>
            <a:lvl1pPr>
              <a:defRPr sz="2350"/>
            </a:lvl1pPr>
            <a:lvl2pPr>
              <a:defRPr sz="2350"/>
            </a:lvl2pPr>
            <a:lvl3pPr>
              <a:defRPr sz="2350"/>
            </a:lvl3pPr>
            <a:lvl4pPr>
              <a:defRPr sz="2350"/>
            </a:lvl4pPr>
            <a:lvl5pPr indent="1828343">
              <a:defRPr sz="235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6173812" y="1681166"/>
            <a:ext cx="5184539" cy="823912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21" y="365129"/>
            <a:ext cx="10518341" cy="1325563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277813" y="2648747"/>
            <a:ext cx="2650918" cy="914400"/>
          </a:xfrm>
          <a:prstGeom prst="rect">
            <a:avLst/>
          </a:prstGeom>
        </p:spPr>
        <p:txBody>
          <a:bodyPr/>
          <a:lstStyle>
            <a:lvl1pPr>
              <a:defRPr sz="4400">
                <a:latin typeface="Montserrat Semi Bold"/>
                <a:ea typeface="Montserrat Semi Bold"/>
                <a:cs typeface="Montserrat Semi Bold"/>
              </a:defRPr>
            </a:lvl1pPr>
            <a:lvl2pPr>
              <a:defRPr sz="4400">
                <a:latin typeface="Montserrat Semi Bold"/>
                <a:ea typeface="Montserrat Semi Bold"/>
                <a:cs typeface="Montserrat Semi Bold"/>
              </a:defRPr>
            </a:lvl2pPr>
            <a:lvl3pPr>
              <a:defRPr sz="4400">
                <a:latin typeface="Montserrat Semi Bold"/>
                <a:ea typeface="Montserrat Semi Bold"/>
                <a:cs typeface="Montserrat Semi Bold"/>
              </a:defRPr>
            </a:lvl3pPr>
            <a:lvl4pPr>
              <a:defRPr sz="4400">
                <a:latin typeface="Montserrat Semi Bold"/>
                <a:ea typeface="Montserrat Semi Bold"/>
                <a:cs typeface="Montserrat Semi Bold"/>
              </a:defRPr>
            </a:lvl4pPr>
            <a:lvl5pPr>
              <a:defRPr sz="4400"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1291310" y="3711577"/>
            <a:ext cx="2637418" cy="76596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4399156" y="2651923"/>
            <a:ext cx="2650918" cy="914400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</a:defRPr>
            </a:pPr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40010" y="457200"/>
            <a:ext cx="3933263" cy="1600200"/>
          </a:xfrm>
          <a:prstGeom prst="rect">
            <a:avLst/>
          </a:prstGeom>
        </p:spPr>
        <p:txBody>
          <a:bodyPr anchor="b"/>
          <a:lstStyle>
            <a:lvl1pPr>
              <a:defRPr sz="315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5184542" y="987426"/>
            <a:ext cx="6173809" cy="4873626"/>
          </a:xfrm>
          <a:prstGeom prst="rect">
            <a:avLst/>
          </a:prstGeom>
        </p:spPr>
        <p:txBody>
          <a:bodyPr/>
          <a:lstStyle>
            <a:lvl1pPr>
              <a:defRPr sz="3150"/>
            </a:lvl1pPr>
            <a:lvl2pPr>
              <a:defRPr sz="3150"/>
            </a:lvl2pPr>
            <a:lvl3pPr>
              <a:defRPr sz="3150"/>
            </a:lvl3pPr>
            <a:lvl4pPr>
              <a:defRPr sz="3150"/>
            </a:lvl4pPr>
            <a:lvl5pPr>
              <a:defRPr sz="315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840010" y="2057400"/>
            <a:ext cx="3933263" cy="3811588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40010" y="457200"/>
            <a:ext cx="3933263" cy="1600200"/>
          </a:xfrm>
          <a:prstGeom prst="rect">
            <a:avLst/>
          </a:prstGeom>
        </p:spPr>
        <p:txBody>
          <a:bodyPr anchor="b"/>
          <a:lstStyle>
            <a:lvl1pPr>
              <a:defRPr sz="315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5184542" y="987426"/>
            <a:ext cx="6173809" cy="48736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40010" y="2057400"/>
            <a:ext cx="3933263" cy="3811588"/>
          </a:xfrm>
          <a:prstGeom prst="rect">
            <a:avLst/>
          </a:prstGeom>
        </p:spPr>
        <p:txBody>
          <a:bodyPr/>
          <a:lstStyle>
            <a:lvl1pPr>
              <a:defRPr sz="1550"/>
            </a:lvl1pPr>
            <a:lvl2pPr>
              <a:defRPr sz="1550"/>
            </a:lvl2pPr>
            <a:lvl3pPr>
              <a:defRPr sz="1550"/>
            </a:lvl3pPr>
            <a:lvl4pPr>
              <a:defRPr sz="1550"/>
            </a:lvl4pPr>
            <a:lvl5pPr indent="1828343">
              <a:defRPr sz="155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7469907" y="2057400"/>
            <a:ext cx="4116945" cy="27432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8464130" y="6221698"/>
            <a:ext cx="273471" cy="269304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7621985" y="2148840"/>
            <a:ext cx="4573192" cy="27432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8464130" y="6221698"/>
            <a:ext cx="273471" cy="269304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3" y="0"/>
            <a:ext cx="12195177" cy="6858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8464130" y="6221698"/>
            <a:ext cx="273471" cy="269304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3" y="0"/>
            <a:ext cx="12195177" cy="4343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8464130" y="6221698"/>
            <a:ext cx="273471" cy="269304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3" y="0"/>
            <a:ext cx="12195177" cy="6858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524400" y="2503487"/>
            <a:ext cx="9146383" cy="1006476"/>
          </a:xfrm>
          <a:prstGeom prst="rect">
            <a:avLst/>
          </a:prstGeom>
        </p:spPr>
        <p:txBody>
          <a:bodyPr anchor="b"/>
          <a:lstStyle>
            <a:lvl1pPr algn="ctr">
              <a:defRPr sz="44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524400" y="3602037"/>
            <a:ext cx="9146383" cy="29761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1828343" algn="ctr"/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56466" y="1854481"/>
            <a:ext cx="10518339" cy="702984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56466" y="2908545"/>
            <a:ext cx="10518339" cy="377585"/>
          </a:xfrm>
          <a:prstGeom prst="rect">
            <a:avLst/>
          </a:prstGeom>
        </p:spPr>
        <p:txBody>
          <a:bodyPr/>
          <a:lstStyle>
            <a:lvl1pPr algn="ctr">
              <a:defRPr sz="1600"/>
            </a:lvl1pPr>
            <a:lvl2pPr algn="ctr">
              <a:defRPr sz="1600"/>
            </a:lvl2pPr>
            <a:lvl3pPr algn="ctr">
              <a:defRPr sz="1600"/>
            </a:lvl3pPr>
            <a:lvl4pPr algn="ctr">
              <a:defRPr sz="1600"/>
            </a:lvl4pPr>
            <a:lvl5pPr algn="ctr">
              <a:defRPr sz="16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24" name="Rectangle 8"/>
          <p:cNvSpPr/>
          <p:nvPr/>
        </p:nvSpPr>
        <p:spPr bwMode="auto">
          <a:xfrm>
            <a:off x="5727174" y="2652996"/>
            <a:ext cx="776924" cy="45719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22860" rIns="22860" anchor="ctr"/>
          <a:lstStyle/>
          <a:p>
            <a:pPr marL="0" marR="0" lvl="0" indent="0" algn="ct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B2B2B2"/>
                </a:solidFill>
              </a:defRPr>
            </a:pPr>
            <a:endParaRPr sz="1750" b="0" i="0" u="none" strike="noStrike" cap="none" spc="0">
              <a:ln>
                <a:noFill/>
              </a:ln>
              <a:solidFill>
                <a:srgbClr val="B2B2B2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1586741" y="3729038"/>
            <a:ext cx="9020111" cy="120015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376518"/>
            <a:ext cx="10518339" cy="69084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1067364"/>
            <a:ext cx="10518339" cy="228601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7884083" y="1969048"/>
            <a:ext cx="3463382" cy="21457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4033026" y="1969051"/>
            <a:ext cx="3564041" cy="275165"/>
          </a:xfrm>
          <a:prstGeom prst="rect">
            <a:avLst/>
          </a:prstGeom>
        </p:spPr>
        <p:txBody>
          <a:bodyPr/>
          <a:lstStyle>
            <a:lvl1pPr defTabSz="850180">
              <a:spcBef>
                <a:spcPts val="900"/>
              </a:spcBef>
              <a:defRPr sz="15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7884086" y="4278169"/>
            <a:ext cx="3490723" cy="73089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4033026" y="2350053"/>
            <a:ext cx="3564041" cy="1645525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-1" y="728661"/>
            <a:ext cx="11374807" cy="5436165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22860" rIns="22860" anchor="ctr"/>
          <a:lstStyle/>
          <a:p>
            <a:pPr marL="0" marR="0" lvl="0" indent="0" algn="ct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175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174903" y="932259"/>
            <a:ext cx="11276579" cy="50168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174904" y="932259"/>
            <a:ext cx="11276578" cy="50168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02109" y="1387943"/>
            <a:ext cx="5259171" cy="72324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02109" y="1130394"/>
            <a:ext cx="5259171" cy="36223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accent4"/>
                </a:solidFill>
              </a:defRPr>
            </a:lvl1pPr>
            <a:lvl2pPr>
              <a:defRPr sz="1600">
                <a:solidFill>
                  <a:schemeClr val="accent4"/>
                </a:solidFill>
              </a:defRPr>
            </a:lvl2pPr>
            <a:lvl3pPr>
              <a:defRPr sz="1600">
                <a:solidFill>
                  <a:schemeClr val="accent4"/>
                </a:solidFill>
              </a:defRPr>
            </a:lvl3pPr>
            <a:lvl4pPr>
              <a:defRPr sz="1600">
                <a:solidFill>
                  <a:schemeClr val="accent4"/>
                </a:solidFill>
              </a:defRPr>
            </a:lvl4pPr>
            <a:lvl5pPr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22" y="314326"/>
            <a:ext cx="5032041" cy="528638"/>
          </a:xfrm>
          <a:prstGeom prst="rect">
            <a:avLst/>
          </a:prstGeom>
        </p:spPr>
        <p:txBody>
          <a:bodyPr/>
          <a:lstStyle>
            <a:lvl1pPr>
              <a:defRPr sz="27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22" y="842963"/>
            <a:ext cx="5032041" cy="22860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accent4"/>
                </a:solidFill>
              </a:defRPr>
            </a:lvl1pPr>
            <a:lvl2pPr>
              <a:defRPr sz="1600">
                <a:solidFill>
                  <a:schemeClr val="accent4"/>
                </a:solidFill>
              </a:defRPr>
            </a:lvl2pPr>
            <a:lvl3pPr>
              <a:defRPr sz="1600">
                <a:solidFill>
                  <a:schemeClr val="accent4"/>
                </a:solidFill>
              </a:defRPr>
            </a:lvl3pPr>
            <a:lvl4pPr>
              <a:defRPr sz="1600">
                <a:solidFill>
                  <a:schemeClr val="accent4"/>
                </a:solidFill>
              </a:defRPr>
            </a:lvl4pPr>
            <a:lvl5pPr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79" name="Straight Connector 7"/>
          <p:cNvSpPr/>
          <p:nvPr/>
        </p:nvSpPr>
        <p:spPr bwMode="auto">
          <a:xfrm>
            <a:off x="838419" y="1185863"/>
            <a:ext cx="2743916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22860" rIns="22860"/>
          <a:lstStyle/>
          <a:p>
            <a:pPr marL="0" marR="0" lvl="0" indent="0" algn="l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sz="1750" b="0" i="0" u="none" strike="noStrike" cap="none" spc="0">
              <a:ln>
                <a:noFill/>
              </a:ln>
              <a:solidFill>
                <a:srgbClr val="000000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2619531" y="1959162"/>
            <a:ext cx="1469814" cy="1469049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0" y="0"/>
            <a:ext cx="7403723" cy="6858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7403725" y="0"/>
            <a:ext cx="4791455" cy="6858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155527" y="1465943"/>
            <a:ext cx="3201235" cy="1105014"/>
          </a:xfrm>
          <a:prstGeom prst="rect">
            <a:avLst/>
          </a:prstGeom>
        </p:spPr>
        <p:txBody>
          <a:bodyPr/>
          <a:lstStyle>
            <a:lvl1pPr>
              <a:defRPr sz="4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191007" y="2437610"/>
            <a:ext cx="3165755" cy="228601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accent4"/>
                </a:solidFill>
              </a:defRPr>
            </a:lvl1pPr>
            <a:lvl2pPr>
              <a:defRPr sz="1600">
                <a:solidFill>
                  <a:schemeClr val="accent4"/>
                </a:solidFill>
              </a:defRPr>
            </a:lvl2pPr>
            <a:lvl3pPr>
              <a:defRPr sz="1600">
                <a:solidFill>
                  <a:schemeClr val="accent4"/>
                </a:solidFill>
              </a:defRPr>
            </a:lvl3pPr>
            <a:lvl4pPr>
              <a:defRPr sz="1600">
                <a:solidFill>
                  <a:schemeClr val="accent4"/>
                </a:solidFill>
              </a:defRPr>
            </a:lvl4pPr>
            <a:lvl5pPr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114360" y="-117926"/>
            <a:ext cx="3462756" cy="7052127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2009228" y="-117929"/>
            <a:ext cx="4371230" cy="7052129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5001654" y="-117927"/>
            <a:ext cx="4929315" cy="7052127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8633200" y="-117928"/>
            <a:ext cx="3619161" cy="7052129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415853" y="-325666"/>
            <a:ext cx="12898517" cy="74676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2879729"/>
            <a:ext cx="10518339" cy="549275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3429000"/>
            <a:ext cx="10518339" cy="228600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8464130" y="6221698"/>
            <a:ext cx="273471" cy="269304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309286"/>
            <a:ext cx="10518339" cy="690843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1000125"/>
            <a:ext cx="10518339" cy="228600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443147" y="1949827"/>
            <a:ext cx="2539923" cy="2879353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3361371" y="1949827"/>
            <a:ext cx="2539923" cy="2879353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6279592" y="1949827"/>
            <a:ext cx="2539923" cy="2879353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9197820" y="1949827"/>
            <a:ext cx="2539923" cy="2879353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1734457" y="3886201"/>
            <a:ext cx="1337451" cy="30797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4638590" y="3886201"/>
            <a:ext cx="1337452" cy="30797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7549554" y="3886201"/>
            <a:ext cx="1337451" cy="30797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10467781" y="3886201"/>
            <a:ext cx="1337451" cy="30797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826579" y="3948906"/>
            <a:ext cx="1156491" cy="182564"/>
          </a:xfrm>
          <a:prstGeom prst="rect">
            <a:avLst/>
          </a:prstGeom>
        </p:spPr>
        <p:txBody>
          <a:bodyPr/>
          <a:lstStyle>
            <a:lvl1pPr defTabSz="621636">
              <a:spcBef>
                <a:spcPts val="650"/>
              </a:spcBef>
              <a:defRPr sz="8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4726548" y="3948906"/>
            <a:ext cx="1156490" cy="182564"/>
          </a:xfrm>
          <a:prstGeom prst="rect">
            <a:avLst/>
          </a:prstGeom>
        </p:spPr>
        <p:txBody>
          <a:bodyPr/>
          <a:lstStyle>
            <a:lvl1pPr defTabSz="621636">
              <a:spcBef>
                <a:spcPts val="650"/>
              </a:spcBef>
              <a:defRPr sz="8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7640034" y="3948906"/>
            <a:ext cx="1156490" cy="182564"/>
          </a:xfrm>
          <a:prstGeom prst="rect">
            <a:avLst/>
          </a:prstGeom>
        </p:spPr>
        <p:txBody>
          <a:bodyPr/>
          <a:lstStyle>
            <a:lvl1pPr defTabSz="621636">
              <a:spcBef>
                <a:spcPts val="650"/>
              </a:spcBef>
              <a:defRPr sz="8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558259" y="3948906"/>
            <a:ext cx="1156490" cy="182564"/>
          </a:xfrm>
          <a:prstGeom prst="rect">
            <a:avLst/>
          </a:prstGeom>
        </p:spPr>
        <p:txBody>
          <a:bodyPr/>
          <a:lstStyle>
            <a:lvl1pPr defTabSz="621636">
              <a:spcBef>
                <a:spcPts val="650"/>
              </a:spcBef>
              <a:defRPr sz="8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443146" y="5002216"/>
            <a:ext cx="2539923" cy="207963"/>
          </a:xfrm>
          <a:prstGeom prst="rect">
            <a:avLst/>
          </a:prstGeom>
        </p:spPr>
        <p:txBody>
          <a:bodyPr/>
          <a:lstStyle>
            <a:lvl1pPr algn="ctr" defTabSz="713054">
              <a:spcBef>
                <a:spcPts val="750"/>
              </a:spcBef>
              <a:defRPr sz="11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443146" y="5307017"/>
            <a:ext cx="2539923" cy="556759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3343119" y="5002216"/>
            <a:ext cx="2539923" cy="207963"/>
          </a:xfrm>
          <a:prstGeom prst="rect">
            <a:avLst/>
          </a:prstGeom>
        </p:spPr>
        <p:txBody>
          <a:bodyPr/>
          <a:lstStyle>
            <a:lvl1pPr algn="ctr" defTabSz="713054">
              <a:spcBef>
                <a:spcPts val="750"/>
              </a:spcBef>
              <a:defRPr sz="11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3343119" y="5307017"/>
            <a:ext cx="2539923" cy="556759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6279592" y="5000528"/>
            <a:ext cx="2539923" cy="207963"/>
          </a:xfrm>
          <a:prstGeom prst="rect">
            <a:avLst/>
          </a:prstGeom>
        </p:spPr>
        <p:txBody>
          <a:bodyPr/>
          <a:lstStyle>
            <a:lvl1pPr algn="ctr" defTabSz="713054">
              <a:spcBef>
                <a:spcPts val="750"/>
              </a:spcBef>
              <a:defRPr sz="11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279592" y="5305330"/>
            <a:ext cx="2539923" cy="556759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9179567" y="5000528"/>
            <a:ext cx="2539923" cy="207963"/>
          </a:xfrm>
          <a:prstGeom prst="rect">
            <a:avLst/>
          </a:prstGeom>
        </p:spPr>
        <p:txBody>
          <a:bodyPr/>
          <a:lstStyle>
            <a:lvl1pPr algn="ctr" defTabSz="713054">
              <a:spcBef>
                <a:spcPts val="750"/>
              </a:spcBef>
              <a:defRPr sz="11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9179567" y="5305330"/>
            <a:ext cx="2539923" cy="556759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239526"/>
            <a:ext cx="10518339" cy="7606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1000125"/>
            <a:ext cx="10518339" cy="228600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02106" y="1989324"/>
            <a:ext cx="2090520" cy="185653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3107889" y="1989324"/>
            <a:ext cx="2090520" cy="185653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02106" y="4052047"/>
            <a:ext cx="2090520" cy="185653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3107889" y="4052047"/>
            <a:ext cx="2090520" cy="185653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6110298" y="2646552"/>
            <a:ext cx="2539923" cy="207963"/>
          </a:xfrm>
          <a:prstGeom prst="rect">
            <a:avLst/>
          </a:prstGeom>
        </p:spPr>
        <p:txBody>
          <a:bodyPr/>
          <a:lstStyle>
            <a:lvl1pPr algn="ctr" defTabSz="621636">
              <a:spcBef>
                <a:spcPts val="650"/>
              </a:spcBef>
              <a:defRPr sz="11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6110298" y="3237674"/>
            <a:ext cx="2539923" cy="556759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6110298" y="2942114"/>
            <a:ext cx="2539923" cy="207963"/>
          </a:xfrm>
          <a:prstGeom prst="rect">
            <a:avLst/>
          </a:prstGeom>
        </p:spPr>
        <p:txBody>
          <a:bodyPr/>
          <a:lstStyle>
            <a:lvl1pPr algn="ctr" defTabSz="722195">
              <a:spcBef>
                <a:spcPts val="750"/>
              </a:spcBef>
              <a:defRPr sz="95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8838577" y="2646552"/>
            <a:ext cx="2539923" cy="207963"/>
          </a:xfrm>
          <a:prstGeom prst="rect">
            <a:avLst/>
          </a:prstGeom>
        </p:spPr>
        <p:txBody>
          <a:bodyPr/>
          <a:lstStyle>
            <a:lvl1pPr algn="ctr" defTabSz="621636">
              <a:spcBef>
                <a:spcPts val="650"/>
              </a:spcBef>
              <a:defRPr sz="11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8838576" y="3237674"/>
            <a:ext cx="2539923" cy="556759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8838577" y="2942114"/>
            <a:ext cx="2539923" cy="207963"/>
          </a:xfrm>
          <a:prstGeom prst="rect">
            <a:avLst/>
          </a:prstGeom>
        </p:spPr>
        <p:txBody>
          <a:bodyPr/>
          <a:lstStyle>
            <a:lvl1pPr algn="ctr" defTabSz="722195">
              <a:spcBef>
                <a:spcPts val="750"/>
              </a:spcBef>
              <a:defRPr sz="95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6106606" y="4048643"/>
            <a:ext cx="2539923" cy="207963"/>
          </a:xfrm>
          <a:prstGeom prst="rect">
            <a:avLst/>
          </a:prstGeom>
        </p:spPr>
        <p:txBody>
          <a:bodyPr/>
          <a:lstStyle>
            <a:lvl1pPr algn="ctr" defTabSz="621636">
              <a:spcBef>
                <a:spcPts val="650"/>
              </a:spcBef>
              <a:defRPr sz="11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6106606" y="4639772"/>
            <a:ext cx="2539923" cy="556759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6106606" y="4344209"/>
            <a:ext cx="2539923" cy="207963"/>
          </a:xfrm>
          <a:prstGeom prst="rect">
            <a:avLst/>
          </a:prstGeom>
        </p:spPr>
        <p:txBody>
          <a:bodyPr/>
          <a:lstStyle>
            <a:lvl1pPr algn="ctr" defTabSz="722195">
              <a:spcBef>
                <a:spcPts val="750"/>
              </a:spcBef>
              <a:defRPr sz="95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34887" y="4048643"/>
            <a:ext cx="2539923" cy="207963"/>
          </a:xfrm>
          <a:prstGeom prst="rect">
            <a:avLst/>
          </a:prstGeom>
        </p:spPr>
        <p:txBody>
          <a:bodyPr/>
          <a:lstStyle>
            <a:lvl1pPr algn="ctr" defTabSz="621636">
              <a:spcBef>
                <a:spcPts val="650"/>
              </a:spcBef>
              <a:defRPr sz="11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8834887" y="4639772"/>
            <a:ext cx="2539923" cy="556759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8834887" y="4344209"/>
            <a:ext cx="2539923" cy="207963"/>
          </a:xfrm>
          <a:prstGeom prst="rect">
            <a:avLst/>
          </a:prstGeom>
        </p:spPr>
        <p:txBody>
          <a:bodyPr/>
          <a:lstStyle>
            <a:lvl1pPr algn="ctr" defTabSz="722195">
              <a:spcBef>
                <a:spcPts val="750"/>
              </a:spcBef>
              <a:defRPr sz="95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264648"/>
            <a:ext cx="10518339" cy="735481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1000125"/>
            <a:ext cx="10518339" cy="228600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608407" y="1998571"/>
            <a:ext cx="1686804" cy="16859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2931297" y="1998571"/>
            <a:ext cx="1686804" cy="16859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5254186" y="1998571"/>
            <a:ext cx="1686804" cy="16859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7577076" y="1998571"/>
            <a:ext cx="1686804" cy="16859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9899965" y="1968409"/>
            <a:ext cx="1686804" cy="16859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83400" y="4037264"/>
            <a:ext cx="1862641" cy="207963"/>
          </a:xfrm>
          <a:prstGeom prst="rect">
            <a:avLst/>
          </a:prstGeom>
        </p:spPr>
        <p:txBody>
          <a:bodyPr/>
          <a:lstStyle>
            <a:lvl1pPr algn="ctr" defTabSz="621636">
              <a:spcBef>
                <a:spcPts val="650"/>
              </a:spcBef>
              <a:defRPr sz="11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83400" y="4709071"/>
            <a:ext cx="1862641" cy="911803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483400" y="4332827"/>
            <a:ext cx="1862641" cy="207963"/>
          </a:xfrm>
          <a:prstGeom prst="rect">
            <a:avLst/>
          </a:prstGeom>
        </p:spPr>
        <p:txBody>
          <a:bodyPr/>
          <a:lstStyle>
            <a:lvl1pPr algn="ctr" defTabSz="722195">
              <a:spcBef>
                <a:spcPts val="750"/>
              </a:spcBef>
              <a:defRPr sz="95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2808988" y="4037264"/>
            <a:ext cx="1862641" cy="207963"/>
          </a:xfrm>
          <a:prstGeom prst="rect">
            <a:avLst/>
          </a:prstGeom>
        </p:spPr>
        <p:txBody>
          <a:bodyPr/>
          <a:lstStyle>
            <a:lvl1pPr algn="ctr" defTabSz="621636">
              <a:spcBef>
                <a:spcPts val="650"/>
              </a:spcBef>
              <a:defRPr sz="11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2808987" y="4709071"/>
            <a:ext cx="1862641" cy="911803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2808988" y="4332827"/>
            <a:ext cx="1862641" cy="207963"/>
          </a:xfrm>
          <a:prstGeom prst="rect">
            <a:avLst/>
          </a:prstGeom>
        </p:spPr>
        <p:txBody>
          <a:bodyPr/>
          <a:lstStyle>
            <a:lvl1pPr algn="ctr" defTabSz="722195">
              <a:spcBef>
                <a:spcPts val="750"/>
              </a:spcBef>
              <a:defRPr sz="95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5134573" y="4037264"/>
            <a:ext cx="1862641" cy="207963"/>
          </a:xfrm>
          <a:prstGeom prst="rect">
            <a:avLst/>
          </a:prstGeom>
        </p:spPr>
        <p:txBody>
          <a:bodyPr/>
          <a:lstStyle>
            <a:lvl1pPr algn="ctr" defTabSz="621636">
              <a:spcBef>
                <a:spcPts val="650"/>
              </a:spcBef>
              <a:defRPr sz="11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5134573" y="4709071"/>
            <a:ext cx="1862641" cy="911803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5134573" y="4332827"/>
            <a:ext cx="1862641" cy="207963"/>
          </a:xfrm>
          <a:prstGeom prst="rect">
            <a:avLst/>
          </a:prstGeom>
        </p:spPr>
        <p:txBody>
          <a:bodyPr/>
          <a:lstStyle>
            <a:lvl1pPr algn="ctr" defTabSz="722195">
              <a:spcBef>
                <a:spcPts val="750"/>
              </a:spcBef>
              <a:defRPr sz="95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7460161" y="4022183"/>
            <a:ext cx="1862641" cy="207963"/>
          </a:xfrm>
          <a:prstGeom prst="rect">
            <a:avLst/>
          </a:prstGeom>
        </p:spPr>
        <p:txBody>
          <a:bodyPr/>
          <a:lstStyle>
            <a:lvl1pPr algn="ctr" defTabSz="621636">
              <a:spcBef>
                <a:spcPts val="650"/>
              </a:spcBef>
              <a:defRPr sz="11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7460160" y="4693990"/>
            <a:ext cx="1862641" cy="911803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7460161" y="4317746"/>
            <a:ext cx="1862641" cy="207963"/>
          </a:xfrm>
          <a:prstGeom prst="rect">
            <a:avLst/>
          </a:prstGeom>
        </p:spPr>
        <p:txBody>
          <a:bodyPr/>
          <a:lstStyle>
            <a:lvl1pPr algn="ctr" defTabSz="722195">
              <a:spcBef>
                <a:spcPts val="750"/>
              </a:spcBef>
              <a:defRPr sz="95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9785747" y="4037264"/>
            <a:ext cx="1862641" cy="207963"/>
          </a:xfrm>
          <a:prstGeom prst="rect">
            <a:avLst/>
          </a:prstGeom>
        </p:spPr>
        <p:txBody>
          <a:bodyPr/>
          <a:lstStyle>
            <a:lvl1pPr algn="ctr" defTabSz="621636">
              <a:spcBef>
                <a:spcPts val="650"/>
              </a:spcBef>
              <a:defRPr sz="11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9785746" y="4709071"/>
            <a:ext cx="1862641" cy="911803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9785747" y="4332827"/>
            <a:ext cx="1862641" cy="207963"/>
          </a:xfrm>
          <a:prstGeom prst="rect">
            <a:avLst/>
          </a:prstGeom>
        </p:spPr>
        <p:txBody>
          <a:bodyPr/>
          <a:lstStyle>
            <a:lvl1pPr algn="ctr" defTabSz="722195">
              <a:spcBef>
                <a:spcPts val="750"/>
              </a:spcBef>
              <a:defRPr sz="95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22" y="347942"/>
            <a:ext cx="5032041" cy="528638"/>
          </a:xfrm>
          <a:prstGeom prst="rect">
            <a:avLst/>
          </a:prstGeom>
        </p:spPr>
        <p:txBody>
          <a:bodyPr/>
          <a:lstStyle>
            <a:lvl1pPr>
              <a:defRPr sz="27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22" y="876579"/>
            <a:ext cx="5032041" cy="228601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accent4"/>
                </a:solidFill>
              </a:defRPr>
            </a:lvl1pPr>
            <a:lvl2pPr>
              <a:defRPr sz="1600">
                <a:solidFill>
                  <a:schemeClr val="accent4"/>
                </a:solidFill>
              </a:defRPr>
            </a:lvl2pPr>
            <a:lvl3pPr>
              <a:defRPr sz="1600">
                <a:solidFill>
                  <a:schemeClr val="accent4"/>
                </a:solidFill>
              </a:defRPr>
            </a:lvl3pPr>
            <a:lvl4pPr>
              <a:defRPr sz="1600">
                <a:solidFill>
                  <a:schemeClr val="accent4"/>
                </a:solidFill>
              </a:defRPr>
            </a:lvl4pPr>
            <a:lvl5pPr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" y="1927275"/>
            <a:ext cx="3228977" cy="185653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3228978" y="1927275"/>
            <a:ext cx="3228977" cy="185653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3" y="3783807"/>
            <a:ext cx="3228977" cy="185653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3228978" y="3783807"/>
            <a:ext cx="3228977" cy="185653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964678" y="3487153"/>
            <a:ext cx="1264298" cy="29665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2024395" y="3536950"/>
            <a:ext cx="1156490" cy="182564"/>
          </a:xfrm>
          <a:prstGeom prst="rect">
            <a:avLst/>
          </a:prstGeom>
        </p:spPr>
        <p:txBody>
          <a:bodyPr/>
          <a:lstStyle>
            <a:lvl1pPr defTabSz="621636">
              <a:spcBef>
                <a:spcPts val="650"/>
              </a:spcBef>
              <a:defRPr sz="8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3228976" y="3783810"/>
            <a:ext cx="1264298" cy="29665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3288692" y="3833607"/>
            <a:ext cx="1156490" cy="182564"/>
          </a:xfrm>
          <a:prstGeom prst="rect">
            <a:avLst/>
          </a:prstGeom>
        </p:spPr>
        <p:txBody>
          <a:bodyPr/>
          <a:lstStyle>
            <a:lvl1pPr defTabSz="621636">
              <a:spcBef>
                <a:spcPts val="650"/>
              </a:spcBef>
              <a:defRPr sz="8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3228976" y="3487153"/>
            <a:ext cx="1264298" cy="29665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3288692" y="3536950"/>
            <a:ext cx="1156490" cy="182564"/>
          </a:xfrm>
          <a:prstGeom prst="rect">
            <a:avLst/>
          </a:prstGeom>
        </p:spPr>
        <p:txBody>
          <a:bodyPr/>
          <a:lstStyle>
            <a:lvl1pPr defTabSz="621636">
              <a:spcBef>
                <a:spcPts val="650"/>
              </a:spcBef>
              <a:defRPr sz="8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964678" y="3783810"/>
            <a:ext cx="1264298" cy="29665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024395" y="3833607"/>
            <a:ext cx="1156490" cy="182564"/>
          </a:xfrm>
          <a:prstGeom prst="rect">
            <a:avLst/>
          </a:prstGeom>
        </p:spPr>
        <p:txBody>
          <a:bodyPr/>
          <a:lstStyle>
            <a:lvl1pPr defTabSz="621636">
              <a:spcBef>
                <a:spcPts val="650"/>
              </a:spcBef>
              <a:defRPr sz="8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1" y="0"/>
            <a:ext cx="6116650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078532" y="0"/>
            <a:ext cx="6116649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3" y="2286000"/>
            <a:ext cx="6097589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078532" y="2286000"/>
            <a:ext cx="6097589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3" y="4572000"/>
            <a:ext cx="6097589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069372" y="4572000"/>
            <a:ext cx="6125806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407115" y="994674"/>
            <a:ext cx="1264298" cy="29665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2466831" y="1044472"/>
            <a:ext cx="1156490" cy="182564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  <a:lvl2pPr>
              <a:defRPr sz="1200">
                <a:solidFill>
                  <a:srgbClr val="FFFFFF"/>
                </a:solidFill>
              </a:defRPr>
            </a:lvl2pPr>
            <a:lvl3pPr>
              <a:defRPr sz="1200">
                <a:solidFill>
                  <a:srgbClr val="FFFFFF"/>
                </a:solidFill>
              </a:defRPr>
            </a:lvl3pPr>
            <a:lvl4pPr>
              <a:defRPr sz="1200">
                <a:solidFill>
                  <a:srgbClr val="FFFFFF"/>
                </a:solidFill>
              </a:defRPr>
            </a:lvl4pPr>
            <a:lvl5pPr>
              <a:defRPr sz="1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8504704" y="3280674"/>
            <a:ext cx="1264298" cy="29665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8564421" y="3330472"/>
            <a:ext cx="1156490" cy="182564"/>
          </a:xfrm>
          <a:prstGeom prst="rect">
            <a:avLst/>
          </a:prstGeom>
        </p:spPr>
        <p:txBody>
          <a:bodyPr/>
          <a:lstStyle>
            <a:lvl1pPr defTabSz="621636">
              <a:spcBef>
                <a:spcPts val="650"/>
              </a:spcBef>
              <a:defRPr sz="8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2455206" y="5566674"/>
            <a:ext cx="1264298" cy="29665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2514923" y="5616472"/>
            <a:ext cx="1156490" cy="182564"/>
          </a:xfrm>
          <a:prstGeom prst="rect">
            <a:avLst/>
          </a:prstGeom>
        </p:spPr>
        <p:txBody>
          <a:bodyPr/>
          <a:lstStyle>
            <a:lvl1pPr defTabSz="621636">
              <a:spcBef>
                <a:spcPts val="650"/>
              </a:spcBef>
              <a:defRPr sz="8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1" y="0"/>
            <a:ext cx="6116650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078532" y="0"/>
            <a:ext cx="6116649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3" y="2286000"/>
            <a:ext cx="6097589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078532" y="2286000"/>
            <a:ext cx="6097589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8535671" y="994674"/>
            <a:ext cx="1264298" cy="29665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8595387" y="1044472"/>
            <a:ext cx="1156490" cy="182564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  <a:lvl2pPr>
              <a:defRPr sz="1200">
                <a:solidFill>
                  <a:srgbClr val="FFFFFF"/>
                </a:solidFill>
              </a:defRPr>
            </a:lvl2pPr>
            <a:lvl3pPr>
              <a:defRPr sz="1200">
                <a:solidFill>
                  <a:srgbClr val="FFFFFF"/>
                </a:solidFill>
              </a:defRPr>
            </a:lvl3pPr>
            <a:lvl4pPr>
              <a:defRPr sz="1200">
                <a:solidFill>
                  <a:srgbClr val="FFFFFF"/>
                </a:solidFill>
              </a:defRPr>
            </a:lvl4pPr>
            <a:lvl5pPr>
              <a:defRPr sz="1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2407116" y="3287922"/>
            <a:ext cx="1264298" cy="29665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2466832" y="3337719"/>
            <a:ext cx="1156490" cy="182564"/>
          </a:xfrm>
          <a:prstGeom prst="rect">
            <a:avLst/>
          </a:prstGeom>
        </p:spPr>
        <p:txBody>
          <a:bodyPr/>
          <a:lstStyle>
            <a:lvl1pPr defTabSz="621636">
              <a:spcBef>
                <a:spcPts val="650"/>
              </a:spcBef>
              <a:defRPr sz="8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2546755" y="6128545"/>
            <a:ext cx="1156490" cy="182564"/>
          </a:xfrm>
          <a:prstGeom prst="rect">
            <a:avLst/>
          </a:prstGeom>
        </p:spPr>
        <p:txBody>
          <a:bodyPr/>
          <a:lstStyle>
            <a:lvl1pPr defTabSz="621636">
              <a:spcBef>
                <a:spcPts val="650"/>
              </a:spcBef>
              <a:defRPr sz="8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19358" y="4733365"/>
            <a:ext cx="10518339" cy="571268"/>
          </a:xfrm>
          <a:prstGeom prst="rect">
            <a:avLst/>
          </a:prstGeom>
        </p:spPr>
        <p:txBody>
          <a:bodyPr/>
          <a:lstStyle>
            <a:lvl1pPr algn="ctr">
              <a:defRPr sz="36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2" y="-1"/>
            <a:ext cx="12195179" cy="682704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19669847" y="-8686800"/>
            <a:ext cx="12195179" cy="6858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263237"/>
            <a:ext cx="10518339" cy="778451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1041692"/>
            <a:ext cx="10518339" cy="228601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10030365" y="3673873"/>
            <a:ext cx="1044722" cy="1044178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6097592" y="0"/>
            <a:ext cx="6097589" cy="6858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22860" rIns="22860" anchor="ctr"/>
          <a:lstStyle/>
          <a:p>
            <a:pPr marL="0" marR="0" lvl="0" indent="0" algn="ct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175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0"/>
            <a:ext cx="6116650" cy="6858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02106" y="2674651"/>
            <a:ext cx="4562398" cy="1703387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275" name="Rectangle 6"/>
          <p:cNvSpPr/>
          <p:nvPr/>
        </p:nvSpPr>
        <p:spPr bwMode="auto">
          <a:xfrm>
            <a:off x="3" y="0"/>
            <a:ext cx="6097589" cy="6858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22860" rIns="22860" anchor="ctr"/>
          <a:lstStyle/>
          <a:p>
            <a:pPr marL="0" marR="0" lvl="0" indent="0" algn="ct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175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02106" y="2722449"/>
            <a:ext cx="4562398" cy="1703388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6097591" y="0"/>
            <a:ext cx="6097589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097591" y="2286000"/>
            <a:ext cx="6097589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6097591" y="4572000"/>
            <a:ext cx="6097589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9277423" y="0"/>
            <a:ext cx="2917757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9277423" y="2286000"/>
            <a:ext cx="2917757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9277423" y="4572000"/>
            <a:ext cx="2917757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9507500" y="520704"/>
            <a:ext cx="2393156" cy="207963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507500" y="825503"/>
            <a:ext cx="2393156" cy="1039585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507500" y="2749553"/>
            <a:ext cx="2393156" cy="207963"/>
          </a:xfrm>
          <a:prstGeom prst="rect">
            <a:avLst/>
          </a:prstGeom>
        </p:spPr>
        <p:txBody>
          <a:bodyPr/>
          <a:lstStyle>
            <a:lvl1pPr algn="ctr" defTabSz="713054">
              <a:spcBef>
                <a:spcPts val="750"/>
              </a:spcBef>
              <a:defRPr sz="11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9507500" y="3054352"/>
            <a:ext cx="2393156" cy="1039585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507500" y="5063903"/>
            <a:ext cx="2393156" cy="207963"/>
          </a:xfrm>
          <a:prstGeom prst="rect">
            <a:avLst/>
          </a:prstGeom>
        </p:spPr>
        <p:txBody>
          <a:bodyPr/>
          <a:lstStyle>
            <a:lvl1pPr algn="ctr" defTabSz="713054">
              <a:spcBef>
                <a:spcPts val="750"/>
              </a:spcBef>
              <a:defRPr sz="11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9507500" y="5368704"/>
            <a:ext cx="2393156" cy="1039585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376518"/>
            <a:ext cx="10518339" cy="69084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1067364"/>
            <a:ext cx="10518339" cy="228601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43921" y="2114600"/>
            <a:ext cx="3228977" cy="185653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3224940" y="3674478"/>
            <a:ext cx="1647956" cy="29665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3317370" y="3724274"/>
            <a:ext cx="1507431" cy="182564"/>
          </a:xfrm>
          <a:prstGeom prst="rect">
            <a:avLst/>
          </a:prstGeom>
        </p:spPr>
        <p:txBody>
          <a:bodyPr/>
          <a:lstStyle>
            <a:lvl1pPr defTabSz="621636">
              <a:spcBef>
                <a:spcPts val="650"/>
              </a:spcBef>
              <a:defRPr sz="8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376518"/>
            <a:ext cx="10518339" cy="69084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1067364"/>
            <a:ext cx="10518339" cy="228601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43921" y="2020471"/>
            <a:ext cx="3228977" cy="185653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3221127" y="3580345"/>
            <a:ext cx="1651768" cy="29665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3313882" y="3630145"/>
            <a:ext cx="1510919" cy="198905"/>
          </a:xfrm>
          <a:prstGeom prst="rect">
            <a:avLst/>
          </a:prstGeom>
        </p:spPr>
        <p:txBody>
          <a:bodyPr/>
          <a:lstStyle>
            <a:lvl1pPr defTabSz="694770">
              <a:spcBef>
                <a:spcPts val="750"/>
              </a:spcBef>
              <a:defRPr sz="9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7252130" y="2020471"/>
            <a:ext cx="3228977" cy="185653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43921" y="4381503"/>
            <a:ext cx="3228977" cy="275433"/>
          </a:xfrm>
          <a:prstGeom prst="rect">
            <a:avLst/>
          </a:prstGeom>
        </p:spPr>
        <p:txBody>
          <a:bodyPr/>
          <a:lstStyle>
            <a:lvl1pPr defTabSz="850180">
              <a:spcBef>
                <a:spcPts val="900"/>
              </a:spcBef>
              <a:defRPr sz="15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43921" y="4721230"/>
            <a:ext cx="3228977" cy="1057461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7252129" y="4358158"/>
            <a:ext cx="3228977" cy="275433"/>
          </a:xfrm>
          <a:prstGeom prst="rect">
            <a:avLst/>
          </a:prstGeom>
        </p:spPr>
        <p:txBody>
          <a:bodyPr/>
          <a:lstStyle>
            <a:lvl1pPr defTabSz="850180">
              <a:spcBef>
                <a:spcPts val="900"/>
              </a:spcBef>
              <a:defRPr sz="15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7252129" y="4697885"/>
            <a:ext cx="3228977" cy="1057461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7252125" y="3580345"/>
            <a:ext cx="1651768" cy="29665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7344882" y="3630145"/>
            <a:ext cx="1510919" cy="198905"/>
          </a:xfrm>
          <a:prstGeom prst="rect">
            <a:avLst/>
          </a:prstGeom>
        </p:spPr>
        <p:txBody>
          <a:bodyPr/>
          <a:lstStyle>
            <a:lvl1pPr defTabSz="694770">
              <a:spcBef>
                <a:spcPts val="750"/>
              </a:spcBef>
              <a:defRPr sz="9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376518"/>
            <a:ext cx="10518339" cy="69084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1067364"/>
            <a:ext cx="10518339" cy="228601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2773221" y="2072643"/>
            <a:ext cx="2644565" cy="306229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2773221" y="2443165"/>
            <a:ext cx="2644565" cy="1018615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1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286548" y="2072643"/>
            <a:ext cx="1169621" cy="116901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2773221" y="4104435"/>
            <a:ext cx="2644565" cy="306229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2773221" y="4474958"/>
            <a:ext cx="2644565" cy="1018615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1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1286548" y="4104432"/>
            <a:ext cx="1169621" cy="116901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8155524" y="2072643"/>
            <a:ext cx="2644566" cy="306229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8155524" y="2443165"/>
            <a:ext cx="2644566" cy="1018615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1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6668850" y="2072643"/>
            <a:ext cx="1169620" cy="116901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8155524" y="4104435"/>
            <a:ext cx="2644566" cy="306229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8155524" y="4474958"/>
            <a:ext cx="2644566" cy="1018615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1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6668850" y="4104432"/>
            <a:ext cx="1169620" cy="116901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0" y="0"/>
            <a:ext cx="7233243" cy="3429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7233245" y="0"/>
            <a:ext cx="4961935" cy="3429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3" y="3429000"/>
            <a:ext cx="4961935" cy="3429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4961937" y="3429000"/>
            <a:ext cx="7233243" cy="3429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2254303" y="1695454"/>
            <a:ext cx="7669566" cy="3429001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2591935" y="1975130"/>
            <a:ext cx="6912619" cy="528638"/>
          </a:xfrm>
          <a:prstGeom prst="rect">
            <a:avLst/>
          </a:prstGeom>
        </p:spPr>
        <p:txBody>
          <a:bodyPr/>
          <a:lstStyle>
            <a:lvl1pPr algn="ctr">
              <a:defRPr sz="27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91935" y="2503771"/>
            <a:ext cx="6912619" cy="228601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rgbClr val="FFFFFF"/>
                </a:solidFill>
              </a:defRPr>
            </a:lvl1pPr>
            <a:lvl2pPr algn="ctr">
              <a:defRPr sz="1600">
                <a:solidFill>
                  <a:srgbClr val="FFFFFF"/>
                </a:solidFill>
              </a:defRPr>
            </a:lvl2pPr>
            <a:lvl3pPr algn="ctr">
              <a:defRPr sz="1600">
                <a:solidFill>
                  <a:srgbClr val="FFFFFF"/>
                </a:solidFill>
              </a:defRPr>
            </a:lvl3pPr>
            <a:lvl4pPr algn="ctr">
              <a:defRPr sz="1600">
                <a:solidFill>
                  <a:srgbClr val="FFFFFF"/>
                </a:solidFill>
              </a:defRPr>
            </a:lvl4pPr>
            <a:lvl5pPr algn="ctr">
              <a:defRPr sz="16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" y="0"/>
            <a:ext cx="4064718" cy="3429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8130460" y="0"/>
            <a:ext cx="4064718" cy="3429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4064718" y="0"/>
            <a:ext cx="4064718" cy="3429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1026" y="3429000"/>
            <a:ext cx="4064718" cy="3429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8129435" y="3429000"/>
            <a:ext cx="4064718" cy="3429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063691" y="3429000"/>
            <a:ext cx="4064718" cy="3429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3217491" y="2936875"/>
            <a:ext cx="5756099" cy="98425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534031" y="3164681"/>
            <a:ext cx="5127121" cy="528638"/>
          </a:xfrm>
          <a:prstGeom prst="rect">
            <a:avLst/>
          </a:prstGeom>
        </p:spPr>
        <p:txBody>
          <a:bodyPr/>
          <a:lstStyle>
            <a:lvl1pPr algn="ctr">
              <a:defRPr sz="27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6097591" y="0"/>
            <a:ext cx="6097589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097591" y="2286000"/>
            <a:ext cx="6097589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6097591" y="4572000"/>
            <a:ext cx="6097589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9277423" y="0"/>
            <a:ext cx="2917757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9277423" y="2286000"/>
            <a:ext cx="2917757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9277423" y="4572000"/>
            <a:ext cx="2917757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9507500" y="520704"/>
            <a:ext cx="2393156" cy="2079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507500" y="825503"/>
            <a:ext cx="2393156" cy="1039585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507500" y="2749553"/>
            <a:ext cx="2393156" cy="207963"/>
          </a:xfrm>
          <a:prstGeom prst="rect">
            <a:avLst/>
          </a:prstGeom>
        </p:spPr>
        <p:txBody>
          <a:bodyPr/>
          <a:lstStyle>
            <a:lvl1pPr defTabSz="713054">
              <a:spcBef>
                <a:spcPts val="750"/>
              </a:spcBef>
              <a:defRPr sz="11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9507500" y="3054352"/>
            <a:ext cx="2393156" cy="1039585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507500" y="5063903"/>
            <a:ext cx="2393156" cy="207963"/>
          </a:xfrm>
          <a:prstGeom prst="rect">
            <a:avLst/>
          </a:prstGeom>
        </p:spPr>
        <p:txBody>
          <a:bodyPr/>
          <a:lstStyle>
            <a:lvl1pPr defTabSz="713054">
              <a:spcBef>
                <a:spcPts val="750"/>
              </a:spcBef>
              <a:defRPr sz="11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9507500" y="5368704"/>
            <a:ext cx="2393156" cy="1039585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3" y="0"/>
            <a:ext cx="6097589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3" y="2286000"/>
            <a:ext cx="6097589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3" y="4572000"/>
            <a:ext cx="6097589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3179835" y="0"/>
            <a:ext cx="2917757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3179835" y="2286000"/>
            <a:ext cx="2917757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3179835" y="4572000"/>
            <a:ext cx="2917757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3409913" y="520704"/>
            <a:ext cx="2393156" cy="207963"/>
          </a:xfrm>
          <a:prstGeom prst="rect">
            <a:avLst/>
          </a:prstGeom>
        </p:spPr>
        <p:txBody>
          <a:bodyPr/>
          <a:lstStyle>
            <a:lvl1pPr defTabSz="713054">
              <a:spcBef>
                <a:spcPts val="750"/>
              </a:spcBef>
              <a:defRPr sz="11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3409913" y="825503"/>
            <a:ext cx="2393156" cy="1039585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3409913" y="2749553"/>
            <a:ext cx="2393156" cy="207963"/>
          </a:xfrm>
          <a:prstGeom prst="rect">
            <a:avLst/>
          </a:prstGeom>
        </p:spPr>
        <p:txBody>
          <a:bodyPr/>
          <a:lstStyle>
            <a:lvl1pPr defTabSz="713054">
              <a:spcBef>
                <a:spcPts val="750"/>
              </a:spcBef>
              <a:defRPr sz="11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3409913" y="3054352"/>
            <a:ext cx="2393156" cy="1039585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3409913" y="5063903"/>
            <a:ext cx="2393156" cy="207963"/>
          </a:xfrm>
          <a:prstGeom prst="rect">
            <a:avLst/>
          </a:prstGeom>
        </p:spPr>
        <p:txBody>
          <a:bodyPr/>
          <a:lstStyle>
            <a:lvl1pPr defTabSz="713054">
              <a:spcBef>
                <a:spcPts val="750"/>
              </a:spcBef>
              <a:defRPr sz="11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3409913" y="5368704"/>
            <a:ext cx="2393156" cy="1039585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3" y="5574"/>
            <a:ext cx="6097589" cy="685242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-1" y="4020460"/>
            <a:ext cx="6097589" cy="2837543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6097588" y="1"/>
            <a:ext cx="6097590" cy="6858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6097588" y="4018150"/>
            <a:ext cx="6097590" cy="28398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838422" y="4587148"/>
            <a:ext cx="4293467" cy="400071"/>
          </a:xfrm>
          <a:prstGeom prst="rect">
            <a:avLst/>
          </a:prstGeom>
        </p:spPr>
        <p:txBody>
          <a:bodyPr/>
          <a:lstStyle>
            <a:lvl1pPr algn="ctr">
              <a:defRPr sz="2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 sz="2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 sz="2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 sz="2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 sz="2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838422" y="5007432"/>
            <a:ext cx="4293467" cy="94172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838422" y="4255167"/>
            <a:ext cx="4293467" cy="256769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7063295" y="4572409"/>
            <a:ext cx="4293467" cy="400071"/>
          </a:xfrm>
          <a:prstGeom prst="rect">
            <a:avLst/>
          </a:prstGeom>
        </p:spPr>
        <p:txBody>
          <a:bodyPr/>
          <a:lstStyle>
            <a:lvl1pPr algn="ctr">
              <a:defRPr sz="2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7063295" y="4992693"/>
            <a:ext cx="4293467" cy="94172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7063295" y="4240428"/>
            <a:ext cx="4293467" cy="256769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3" y="1"/>
            <a:ext cx="6097589" cy="3429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6097592" y="1"/>
            <a:ext cx="6097589" cy="3429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3" y="3429004"/>
            <a:ext cx="6097589" cy="3429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6097592" y="3429004"/>
            <a:ext cx="6097589" cy="3429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318092" y="2286003"/>
            <a:ext cx="4779496" cy="1128713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097592" y="2286003"/>
            <a:ext cx="4779495" cy="1128713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318092" y="3414713"/>
            <a:ext cx="4779496" cy="11287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6097592" y="3414713"/>
            <a:ext cx="4779495" cy="11287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1"/>
            <a:ext cx="6936548" cy="400418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5827679" y="1"/>
            <a:ext cx="6367501" cy="40041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4488966"/>
            <a:ext cx="5827676" cy="2368923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6299309" y="4489079"/>
            <a:ext cx="5895871" cy="23689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24828" y="3961371"/>
            <a:ext cx="10545520" cy="615764"/>
          </a:xfrm>
          <a:prstGeom prst="rect">
            <a:avLst/>
          </a:prstGeom>
        </p:spPr>
        <p:txBody>
          <a:bodyPr/>
          <a:lstStyle>
            <a:lvl1pPr algn="ctr">
              <a:defRPr sz="3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4577138"/>
            <a:ext cx="10518339" cy="228601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8464130" y="6221698"/>
            <a:ext cx="273471" cy="269304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6097588" y="0"/>
            <a:ext cx="3179832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097588" y="2286000"/>
            <a:ext cx="3179832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6097589" y="4572000"/>
            <a:ext cx="3179831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9277423" y="0"/>
            <a:ext cx="2917757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9277423" y="2286000"/>
            <a:ext cx="2917757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9277423" y="4572000"/>
            <a:ext cx="2917757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9507500" y="520704"/>
            <a:ext cx="2393156" cy="2079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507500" y="825503"/>
            <a:ext cx="2393156" cy="1039585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507500" y="2749553"/>
            <a:ext cx="2393156" cy="207963"/>
          </a:xfrm>
          <a:prstGeom prst="rect">
            <a:avLst/>
          </a:prstGeom>
        </p:spPr>
        <p:txBody>
          <a:bodyPr/>
          <a:lstStyle>
            <a:lvl1pPr defTabSz="713054">
              <a:spcBef>
                <a:spcPts val="750"/>
              </a:spcBef>
              <a:defRPr sz="11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9507500" y="3054352"/>
            <a:ext cx="2393156" cy="1039585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507500" y="5063903"/>
            <a:ext cx="2393156" cy="207963"/>
          </a:xfrm>
          <a:prstGeom prst="rect">
            <a:avLst/>
          </a:prstGeom>
        </p:spPr>
        <p:txBody>
          <a:bodyPr/>
          <a:lstStyle>
            <a:lvl1pPr defTabSz="713054">
              <a:spcBef>
                <a:spcPts val="750"/>
              </a:spcBef>
              <a:defRPr sz="11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9507500" y="5368704"/>
            <a:ext cx="2393156" cy="1039585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917758" y="0"/>
            <a:ext cx="3179833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2917758" y="2286000"/>
            <a:ext cx="3179833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2917758" y="4572000"/>
            <a:ext cx="3179833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-1" y="15654"/>
            <a:ext cx="2917757" cy="2286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-1" y="2301654"/>
            <a:ext cx="2917757" cy="2286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-1" y="4587654"/>
            <a:ext cx="2917757" cy="2286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230084" y="536353"/>
            <a:ext cx="2393155" cy="207963"/>
          </a:xfrm>
          <a:prstGeom prst="rect">
            <a:avLst/>
          </a:prstGeom>
        </p:spPr>
        <p:txBody>
          <a:bodyPr/>
          <a:lstStyle>
            <a:lvl1pPr algn="r" defTabSz="713054">
              <a:spcBef>
                <a:spcPts val="750"/>
              </a:spcBef>
              <a:defRPr sz="11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230084" y="841153"/>
            <a:ext cx="2393155" cy="1039585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1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230084" y="2765204"/>
            <a:ext cx="2393155" cy="207963"/>
          </a:xfrm>
          <a:prstGeom prst="rect">
            <a:avLst/>
          </a:prstGeom>
        </p:spPr>
        <p:txBody>
          <a:bodyPr/>
          <a:lstStyle>
            <a:lvl1pPr algn="r" defTabSz="713054">
              <a:spcBef>
                <a:spcPts val="750"/>
              </a:spcBef>
              <a:defRPr sz="11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230084" y="3070004"/>
            <a:ext cx="2393155" cy="1039585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1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230084" y="5079553"/>
            <a:ext cx="2393155" cy="207963"/>
          </a:xfrm>
          <a:prstGeom prst="rect">
            <a:avLst/>
          </a:prstGeom>
        </p:spPr>
        <p:txBody>
          <a:bodyPr/>
          <a:lstStyle>
            <a:lvl1pPr algn="r" defTabSz="713054">
              <a:spcBef>
                <a:spcPts val="750"/>
              </a:spcBef>
              <a:defRPr sz="11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230084" y="5384354"/>
            <a:ext cx="2393155" cy="1039585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1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3" y="1986803"/>
            <a:ext cx="6097589" cy="276001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396427" y="3610115"/>
            <a:ext cx="3978761" cy="85244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376518"/>
            <a:ext cx="10518339" cy="69084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1067364"/>
            <a:ext cx="10518339" cy="228601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389795" y="3771624"/>
            <a:ext cx="2830400" cy="543953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6783371" y="1986806"/>
            <a:ext cx="3966428" cy="275433"/>
          </a:xfrm>
          <a:prstGeom prst="rect">
            <a:avLst/>
          </a:prstGeom>
        </p:spPr>
        <p:txBody>
          <a:bodyPr/>
          <a:lstStyle>
            <a:lvl1pPr defTabSz="850180">
              <a:spcBef>
                <a:spcPts val="900"/>
              </a:spcBef>
              <a:defRPr sz="15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6783371" y="2326529"/>
            <a:ext cx="3966428" cy="21403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838419" y="5110162"/>
            <a:ext cx="5259169" cy="8149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402255" y="1996892"/>
            <a:ext cx="3797691" cy="1928019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4766" y="1996889"/>
            <a:ext cx="3788161" cy="1928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3075106" y="1996892"/>
            <a:ext cx="6044971" cy="1928019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376518"/>
            <a:ext cx="10518339" cy="69084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1067364"/>
            <a:ext cx="10518339" cy="228601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22" y="200026"/>
            <a:ext cx="5032041" cy="528638"/>
          </a:xfrm>
          <a:prstGeom prst="rect">
            <a:avLst/>
          </a:prstGeom>
        </p:spPr>
        <p:txBody>
          <a:bodyPr/>
          <a:lstStyle>
            <a:lvl1pPr>
              <a:defRPr sz="27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22" y="728663"/>
            <a:ext cx="5032041" cy="22860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accent4"/>
                </a:solidFill>
              </a:defRPr>
            </a:lvl1pPr>
            <a:lvl2pPr>
              <a:defRPr sz="1600">
                <a:solidFill>
                  <a:schemeClr val="accent4"/>
                </a:solidFill>
              </a:defRPr>
            </a:lvl2pPr>
            <a:lvl3pPr>
              <a:defRPr sz="1600">
                <a:solidFill>
                  <a:schemeClr val="accent4"/>
                </a:solidFill>
              </a:defRPr>
            </a:lvl3pPr>
            <a:lvl4pPr>
              <a:defRPr sz="1600">
                <a:solidFill>
                  <a:schemeClr val="accent4"/>
                </a:solidFill>
              </a:defRPr>
            </a:lvl4pPr>
            <a:lvl5pPr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512" name="Straight Connector 7"/>
          <p:cNvSpPr/>
          <p:nvPr/>
        </p:nvSpPr>
        <p:spPr bwMode="auto">
          <a:xfrm>
            <a:off x="838419" y="1071563"/>
            <a:ext cx="2743916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22860" rIns="22860"/>
          <a:lstStyle/>
          <a:p>
            <a:pPr marL="0" marR="0" lvl="0" indent="0" algn="l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sz="1750" b="0" i="0" u="none" strike="noStrike" cap="none" spc="0">
              <a:ln>
                <a:noFill/>
              </a:ln>
              <a:solidFill>
                <a:srgbClr val="000000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6097589" y="1"/>
            <a:ext cx="1525395" cy="17208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7623019" y="1"/>
            <a:ext cx="1525395" cy="17208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9148414" y="1"/>
            <a:ext cx="1525395" cy="17208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0673841" y="1"/>
            <a:ext cx="1525395" cy="17208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6097589" y="1720803"/>
            <a:ext cx="1525395" cy="17208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7623019" y="1720803"/>
            <a:ext cx="1525395" cy="17208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9148414" y="1720803"/>
            <a:ext cx="1525395" cy="17208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0673841" y="1720803"/>
            <a:ext cx="1525395" cy="17208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097589" y="3416403"/>
            <a:ext cx="1525395" cy="17208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7623019" y="3416403"/>
            <a:ext cx="1525395" cy="17208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9148414" y="3416403"/>
            <a:ext cx="1525395" cy="17208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0673841" y="3416403"/>
            <a:ext cx="1525395" cy="17208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6097589" y="5137203"/>
            <a:ext cx="1525395" cy="17208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7623019" y="5137203"/>
            <a:ext cx="1525395" cy="17208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9148414" y="5137203"/>
            <a:ext cx="1525395" cy="17208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10673841" y="5137203"/>
            <a:ext cx="1525395" cy="17208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8464130" y="6221698"/>
            <a:ext cx="273471" cy="269304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1" y="2311306"/>
            <a:ext cx="12190412" cy="251637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376518"/>
            <a:ext cx="10518339" cy="69084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1067364"/>
            <a:ext cx="10518339" cy="228601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1" y="1832578"/>
            <a:ext cx="12190412" cy="319284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4" y="1832578"/>
            <a:ext cx="12195177" cy="319284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802109" y="2925197"/>
            <a:ext cx="10572701" cy="690843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02109" y="3616035"/>
            <a:ext cx="10572701" cy="228601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rgbClr val="FFFFFF"/>
                </a:solidFill>
              </a:defRPr>
            </a:lvl1pPr>
            <a:lvl2pPr algn="ctr">
              <a:defRPr sz="1600">
                <a:solidFill>
                  <a:srgbClr val="FFFFFF"/>
                </a:solidFill>
              </a:defRPr>
            </a:lvl2pPr>
            <a:lvl3pPr algn="ctr">
              <a:defRPr sz="1600">
                <a:solidFill>
                  <a:srgbClr val="FFFFFF"/>
                </a:solidFill>
              </a:defRPr>
            </a:lvl3pPr>
            <a:lvl4pPr algn="ctr">
              <a:defRPr sz="1600">
                <a:solidFill>
                  <a:srgbClr val="FFFFFF"/>
                </a:solidFill>
              </a:defRPr>
            </a:lvl4pPr>
            <a:lvl5pPr algn="ctr">
              <a:defRPr sz="16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3" y="0"/>
            <a:ext cx="12195177" cy="381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478740" y="3065463"/>
            <a:ext cx="1267486" cy="2132013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991117" y="1257301"/>
            <a:ext cx="5106472" cy="1579563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991117" y="2836863"/>
            <a:ext cx="5106472" cy="228600"/>
          </a:xfrm>
          <a:prstGeom prst="rect">
            <a:avLst/>
          </a:prstGeom>
        </p:spPr>
        <p:txBody>
          <a:bodyPr/>
          <a:lstStyle>
            <a:lvl1pPr algn="r">
              <a:defRPr sz="1600">
                <a:solidFill>
                  <a:schemeClr val="accent4"/>
                </a:solidFill>
              </a:defRPr>
            </a:lvl1pPr>
            <a:lvl2pPr algn="r">
              <a:defRPr sz="1600">
                <a:solidFill>
                  <a:schemeClr val="accent4"/>
                </a:solidFill>
              </a:defRPr>
            </a:lvl2pPr>
            <a:lvl3pPr algn="r">
              <a:defRPr sz="1600">
                <a:solidFill>
                  <a:schemeClr val="accent4"/>
                </a:solidFill>
              </a:defRPr>
            </a:lvl3pPr>
            <a:lvl4pPr algn="r">
              <a:defRPr sz="1600">
                <a:solidFill>
                  <a:schemeClr val="accent4"/>
                </a:solidFill>
              </a:defRPr>
            </a:lvl4pPr>
            <a:lvl5pPr algn="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514675" y="3130550"/>
            <a:ext cx="1264309" cy="212725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376518"/>
            <a:ext cx="10518339" cy="69084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1067364"/>
            <a:ext cx="10518339" cy="228601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6758304" y="2951439"/>
            <a:ext cx="2781551" cy="141483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376518"/>
            <a:ext cx="10518339" cy="69084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1067364"/>
            <a:ext cx="10518339" cy="228601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4879056" y="3694817"/>
            <a:ext cx="2774090" cy="211015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376518"/>
            <a:ext cx="10518339" cy="69084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1067364"/>
            <a:ext cx="10518339" cy="228601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4521827" y="2329101"/>
            <a:ext cx="3117596" cy="22757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376518"/>
            <a:ext cx="10518339" cy="69084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1067364"/>
            <a:ext cx="10518339" cy="228601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864061" y="2805113"/>
            <a:ext cx="3186821" cy="178117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376518"/>
            <a:ext cx="10518339" cy="69084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18" y="1067364"/>
            <a:ext cx="10518339" cy="228601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3"/>
            <a:ext cx="12195177" cy="6858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02109" y="2738160"/>
            <a:ext cx="10572701" cy="690843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02109" y="3429000"/>
            <a:ext cx="10572701" cy="228600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3"/>
            <a:ext cx="12195177" cy="6858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02108" y="3214687"/>
            <a:ext cx="10554653" cy="1014413"/>
          </a:xfrm>
          <a:prstGeom prst="rect">
            <a:avLst/>
          </a:prstGeom>
        </p:spPr>
        <p:txBody>
          <a:bodyPr/>
          <a:lstStyle>
            <a:lvl1pPr algn="ctr">
              <a:defRPr sz="4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02108" y="4229100"/>
            <a:ext cx="10554653" cy="228600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02109" y="2414591"/>
            <a:ext cx="10554653" cy="1014413"/>
          </a:xfrm>
          <a:prstGeom prst="rect">
            <a:avLst/>
          </a:prstGeom>
        </p:spPr>
        <p:txBody>
          <a:bodyPr/>
          <a:lstStyle>
            <a:lvl1pPr algn="ctr">
              <a:defRPr sz="4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02109" y="3429000"/>
            <a:ext cx="10554653" cy="228600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accent4"/>
                </a:solidFill>
              </a:defRPr>
            </a:lvl1pPr>
            <a:lvl2pPr algn="ctr">
              <a:defRPr sz="1600">
                <a:solidFill>
                  <a:schemeClr val="accent4"/>
                </a:solidFill>
              </a:defRPr>
            </a:lvl2pPr>
            <a:lvl3pPr algn="ctr">
              <a:defRPr sz="1600">
                <a:solidFill>
                  <a:schemeClr val="accent4"/>
                </a:solidFill>
              </a:defRPr>
            </a:lvl3pPr>
            <a:lvl4pPr algn="ctr">
              <a:defRPr sz="1600">
                <a:solidFill>
                  <a:schemeClr val="accent4"/>
                </a:solidFill>
              </a:defRPr>
            </a:lvl4pPr>
            <a:lvl5pPr algn="ctr">
              <a:defRPr sz="16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18" y="3778623"/>
            <a:ext cx="2995992" cy="340100"/>
          </a:xfrm>
          <a:prstGeom prst="rect">
            <a:avLst/>
          </a:prstGeom>
        </p:spPr>
        <p:txBody>
          <a:bodyPr anchor="b"/>
          <a:lstStyle>
            <a:lvl1pPr>
              <a:defRPr sz="16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422" y="4118723"/>
            <a:ext cx="2995991" cy="73566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1828343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2" y="0"/>
            <a:ext cx="3052591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3052593" y="0"/>
            <a:ext cx="3052591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6105182" y="0"/>
            <a:ext cx="3052591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9157773" y="0"/>
            <a:ext cx="3052591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" y="2286000"/>
            <a:ext cx="3052591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3052593" y="2286000"/>
            <a:ext cx="3052591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105182" y="2286000"/>
            <a:ext cx="3052591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9157773" y="2286000"/>
            <a:ext cx="3052591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2" y="4572000"/>
            <a:ext cx="3052591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3052593" y="4572000"/>
            <a:ext cx="3052591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6105182" y="4572000"/>
            <a:ext cx="3052591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9157773" y="4572000"/>
            <a:ext cx="3052591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6169768" y="3497263"/>
            <a:ext cx="3052591" cy="228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21" y="365129"/>
            <a:ext cx="10518341" cy="1325563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838420" y="1825625"/>
            <a:ext cx="5182951" cy="435133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40007" y="365129"/>
            <a:ext cx="10518341" cy="1325563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40006" y="1681166"/>
            <a:ext cx="5159132" cy="823912"/>
          </a:xfrm>
          <a:prstGeom prst="rect">
            <a:avLst/>
          </a:prstGeom>
        </p:spPr>
        <p:txBody>
          <a:bodyPr anchor="b"/>
          <a:lstStyle>
            <a:lvl1pPr>
              <a:defRPr sz="2350"/>
            </a:lvl1pPr>
            <a:lvl2pPr>
              <a:defRPr sz="2350"/>
            </a:lvl2pPr>
            <a:lvl3pPr>
              <a:defRPr sz="2350"/>
            </a:lvl3pPr>
            <a:lvl4pPr>
              <a:defRPr sz="2350"/>
            </a:lvl4pPr>
            <a:lvl5pPr indent="1828343">
              <a:defRPr sz="235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6173812" y="1681166"/>
            <a:ext cx="5184539" cy="823912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38421" y="365129"/>
            <a:ext cx="10518341" cy="1325563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277813" y="2648747"/>
            <a:ext cx="2650918" cy="914400"/>
          </a:xfrm>
          <a:prstGeom prst="rect">
            <a:avLst/>
          </a:prstGeom>
        </p:spPr>
        <p:txBody>
          <a:bodyPr/>
          <a:lstStyle>
            <a:lvl1pPr>
              <a:defRPr sz="4400">
                <a:latin typeface="Montserrat Semi Bold"/>
                <a:ea typeface="Montserrat Semi Bold"/>
                <a:cs typeface="Montserrat Semi Bold"/>
              </a:defRPr>
            </a:lvl1pPr>
            <a:lvl2pPr>
              <a:defRPr sz="4400">
                <a:latin typeface="Montserrat Semi Bold"/>
                <a:ea typeface="Montserrat Semi Bold"/>
                <a:cs typeface="Montserrat Semi Bold"/>
              </a:defRPr>
            </a:lvl2pPr>
            <a:lvl3pPr>
              <a:defRPr sz="4400">
                <a:latin typeface="Montserrat Semi Bold"/>
                <a:ea typeface="Montserrat Semi Bold"/>
                <a:cs typeface="Montserrat Semi Bold"/>
              </a:defRPr>
            </a:lvl3pPr>
            <a:lvl4pPr>
              <a:defRPr sz="4400">
                <a:latin typeface="Montserrat Semi Bold"/>
                <a:ea typeface="Montserrat Semi Bold"/>
                <a:cs typeface="Montserrat Semi Bold"/>
              </a:defRPr>
            </a:lvl4pPr>
            <a:lvl5pPr>
              <a:defRPr sz="4400"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1291310" y="3711577"/>
            <a:ext cx="2637418" cy="76596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4399156" y="2651923"/>
            <a:ext cx="2650918" cy="914400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</a:defRPr>
            </a:pPr>
            <a:endParaRPr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40010" y="457200"/>
            <a:ext cx="3933263" cy="1600200"/>
          </a:xfrm>
          <a:prstGeom prst="rect">
            <a:avLst/>
          </a:prstGeom>
        </p:spPr>
        <p:txBody>
          <a:bodyPr anchor="b"/>
          <a:lstStyle>
            <a:lvl1pPr>
              <a:defRPr sz="315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5184542" y="987426"/>
            <a:ext cx="6173809" cy="4873626"/>
          </a:xfrm>
          <a:prstGeom prst="rect">
            <a:avLst/>
          </a:prstGeom>
        </p:spPr>
        <p:txBody>
          <a:bodyPr/>
          <a:lstStyle>
            <a:lvl1pPr>
              <a:defRPr sz="3150"/>
            </a:lvl1pPr>
            <a:lvl2pPr>
              <a:defRPr sz="3150"/>
            </a:lvl2pPr>
            <a:lvl3pPr>
              <a:defRPr sz="3150"/>
            </a:lvl3pPr>
            <a:lvl4pPr>
              <a:defRPr sz="3150"/>
            </a:lvl4pPr>
            <a:lvl5pPr>
              <a:defRPr sz="315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840010" y="2057400"/>
            <a:ext cx="3933263" cy="3811588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840010" y="457200"/>
            <a:ext cx="3933263" cy="1600200"/>
          </a:xfrm>
          <a:prstGeom prst="rect">
            <a:avLst/>
          </a:prstGeom>
        </p:spPr>
        <p:txBody>
          <a:bodyPr anchor="b"/>
          <a:lstStyle>
            <a:lvl1pPr>
              <a:defRPr sz="315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5184542" y="987426"/>
            <a:ext cx="6173809" cy="48736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40010" y="2057400"/>
            <a:ext cx="3933263" cy="3811588"/>
          </a:xfrm>
          <a:prstGeom prst="rect">
            <a:avLst/>
          </a:prstGeom>
        </p:spPr>
        <p:txBody>
          <a:bodyPr/>
          <a:lstStyle>
            <a:lvl1pPr>
              <a:defRPr sz="1550"/>
            </a:lvl1pPr>
            <a:lvl2pPr>
              <a:defRPr sz="1550"/>
            </a:lvl2pPr>
            <a:lvl3pPr>
              <a:defRPr sz="1550"/>
            </a:lvl3pPr>
            <a:lvl4pPr>
              <a:defRPr sz="1550"/>
            </a:lvl4pPr>
            <a:lvl5pPr indent="1828343">
              <a:defRPr sz="155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7469907" y="2057400"/>
            <a:ext cx="4116945" cy="27432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8464130" y="6221698"/>
            <a:ext cx="273471" cy="269304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7621985" y="2148840"/>
            <a:ext cx="4573192" cy="27432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8464130" y="6221698"/>
            <a:ext cx="273471" cy="269304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3" y="0"/>
            <a:ext cx="12195177" cy="6858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8464130" y="6221698"/>
            <a:ext cx="273471" cy="269304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3" y="0"/>
            <a:ext cx="12195177" cy="4343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8464130" y="6221698"/>
            <a:ext cx="273471" cy="269304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9E6BA2E-5506-49F1-BAF1-0F0B88030074}" type="datetimeFigureOut">
              <a:rPr lang="ru-RU"/>
              <a:t>05.08.2026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38EBACB-F43B-40C6-BF46-B36DA2EA5BCB}" type="slidenum">
              <a:rPr lang="ru-RU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0863954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9E6BA2E-5506-49F1-BAF1-0F0B88030074}" type="datetimeFigureOut">
              <a:rPr lang="ru-RU"/>
              <a:t>05.08.2026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38EBACB-F43B-40C6-BF46-B36DA2EA5BCB}" type="slidenum">
              <a:rPr lang="ru-RU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5362478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9E6BA2E-5506-49F1-BAF1-0F0B88030074}" type="datetimeFigureOut">
              <a:rPr lang="ru-RU"/>
              <a:t>05.08.2026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38EBACB-F43B-40C6-BF46-B36DA2EA5BCB}" type="slidenum">
              <a:rPr lang="ru-RU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767263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9E6BA2E-5506-49F1-BAF1-0F0B88030074}" type="datetimeFigureOut">
              <a:rPr lang="ru-RU"/>
              <a:t>05.08.2026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38EBACB-F43B-40C6-BF46-B36DA2EA5BCB}" type="slidenum">
              <a:rPr lang="ru-RU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5844670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9E6BA2E-5506-49F1-BAF1-0F0B88030074}" type="datetimeFigureOut">
              <a:rPr lang="ru-RU"/>
              <a:t>05.08.2026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38EBACB-F43B-40C6-BF46-B36DA2EA5BCB}" type="slidenum">
              <a:rPr lang="ru-RU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7415230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9E6BA2E-5506-49F1-BAF1-0F0B88030074}" type="datetimeFigureOut">
              <a:rPr lang="ru-RU"/>
              <a:t>05.08.2026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38EBACB-F43B-40C6-BF46-B36DA2EA5BCB}" type="slidenum">
              <a:rPr lang="ru-RU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6375089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9E6BA2E-5506-49F1-BAF1-0F0B88030074}" type="datetimeFigureOut">
              <a:rPr lang="ru-RU"/>
              <a:t>05.08.2026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38EBACB-F43B-40C6-BF46-B36DA2EA5BCB}" type="slidenum">
              <a:rPr lang="ru-RU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3362957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9E6BA2E-5506-49F1-BAF1-0F0B88030074}" type="datetimeFigureOut">
              <a:rPr lang="ru-RU"/>
              <a:t>05.08.2026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38EBACB-F43B-40C6-BF46-B36DA2EA5BCB}" type="slidenum">
              <a:rPr lang="ru-RU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5490689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9E6BA2E-5506-49F1-BAF1-0F0B88030074}" type="datetimeFigureOut">
              <a:rPr lang="ru-RU"/>
              <a:t>05.08.2026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38EBACB-F43B-40C6-BF46-B36DA2EA5BCB}" type="slidenum">
              <a:rPr lang="ru-RU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6234557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9E6BA2E-5506-49F1-BAF1-0F0B88030074}" type="datetimeFigureOut">
              <a:rPr lang="ru-RU"/>
              <a:t>05.08.2026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38EBACB-F43B-40C6-BF46-B36DA2EA5BCB}" type="slidenum">
              <a:rPr lang="ru-RU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3312175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9E6BA2E-5506-49F1-BAF1-0F0B88030074}" type="datetimeFigureOut">
              <a:rPr lang="ru-RU"/>
              <a:t>05.08.2026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38EBACB-F43B-40C6-BF46-B36DA2EA5BCB}" type="slidenum">
              <a:rPr lang="ru-RU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8381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65.xml"/><Relationship Id="rId18" Type="http://schemas.openxmlformats.org/officeDocument/2006/relationships/slideLayout" Target="../slideLayouts/slideLayout70.xml"/><Relationship Id="rId26" Type="http://schemas.openxmlformats.org/officeDocument/2006/relationships/slideLayout" Target="../slideLayouts/slideLayout78.xml"/><Relationship Id="rId39" Type="http://schemas.openxmlformats.org/officeDocument/2006/relationships/slideLayout" Target="../slideLayouts/slideLayout91.xml"/><Relationship Id="rId21" Type="http://schemas.openxmlformats.org/officeDocument/2006/relationships/slideLayout" Target="../slideLayouts/slideLayout73.xml"/><Relationship Id="rId34" Type="http://schemas.openxmlformats.org/officeDocument/2006/relationships/slideLayout" Target="../slideLayouts/slideLayout86.xml"/><Relationship Id="rId42" Type="http://schemas.openxmlformats.org/officeDocument/2006/relationships/slideLayout" Target="../slideLayouts/slideLayout94.xml"/><Relationship Id="rId47" Type="http://schemas.openxmlformats.org/officeDocument/2006/relationships/slideLayout" Target="../slideLayouts/slideLayout99.xml"/><Relationship Id="rId50" Type="http://schemas.openxmlformats.org/officeDocument/2006/relationships/slideLayout" Target="../slideLayouts/slideLayout102.xml"/><Relationship Id="rId7" Type="http://schemas.openxmlformats.org/officeDocument/2006/relationships/slideLayout" Target="../slideLayouts/slideLayout59.xml"/><Relationship Id="rId2" Type="http://schemas.openxmlformats.org/officeDocument/2006/relationships/slideLayout" Target="../slideLayouts/slideLayout54.xml"/><Relationship Id="rId16" Type="http://schemas.openxmlformats.org/officeDocument/2006/relationships/slideLayout" Target="../slideLayouts/slideLayout68.xml"/><Relationship Id="rId29" Type="http://schemas.openxmlformats.org/officeDocument/2006/relationships/slideLayout" Target="../slideLayouts/slideLayout81.xml"/><Relationship Id="rId11" Type="http://schemas.openxmlformats.org/officeDocument/2006/relationships/slideLayout" Target="../slideLayouts/slideLayout63.xml"/><Relationship Id="rId24" Type="http://schemas.openxmlformats.org/officeDocument/2006/relationships/slideLayout" Target="../slideLayouts/slideLayout76.xml"/><Relationship Id="rId32" Type="http://schemas.openxmlformats.org/officeDocument/2006/relationships/slideLayout" Target="../slideLayouts/slideLayout84.xml"/><Relationship Id="rId37" Type="http://schemas.openxmlformats.org/officeDocument/2006/relationships/slideLayout" Target="../slideLayouts/slideLayout89.xml"/><Relationship Id="rId40" Type="http://schemas.openxmlformats.org/officeDocument/2006/relationships/slideLayout" Target="../slideLayouts/slideLayout92.xml"/><Relationship Id="rId45" Type="http://schemas.openxmlformats.org/officeDocument/2006/relationships/slideLayout" Target="../slideLayouts/slideLayout97.xml"/><Relationship Id="rId53" Type="http://schemas.openxmlformats.org/officeDocument/2006/relationships/theme" Target="../theme/theme2.xml"/><Relationship Id="rId5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62.xml"/><Relationship Id="rId19" Type="http://schemas.openxmlformats.org/officeDocument/2006/relationships/slideLayout" Target="../slideLayouts/slideLayout71.xml"/><Relationship Id="rId31" Type="http://schemas.openxmlformats.org/officeDocument/2006/relationships/slideLayout" Target="../slideLayouts/slideLayout83.xml"/><Relationship Id="rId44" Type="http://schemas.openxmlformats.org/officeDocument/2006/relationships/slideLayout" Target="../slideLayouts/slideLayout96.xml"/><Relationship Id="rId52" Type="http://schemas.openxmlformats.org/officeDocument/2006/relationships/slideLayout" Target="../slideLayouts/slideLayout104.xml"/><Relationship Id="rId4" Type="http://schemas.openxmlformats.org/officeDocument/2006/relationships/slideLayout" Target="../slideLayouts/slideLayout56.xml"/><Relationship Id="rId9" Type="http://schemas.openxmlformats.org/officeDocument/2006/relationships/slideLayout" Target="../slideLayouts/slideLayout61.xml"/><Relationship Id="rId14" Type="http://schemas.openxmlformats.org/officeDocument/2006/relationships/slideLayout" Target="../slideLayouts/slideLayout66.xml"/><Relationship Id="rId22" Type="http://schemas.openxmlformats.org/officeDocument/2006/relationships/slideLayout" Target="../slideLayouts/slideLayout74.xml"/><Relationship Id="rId27" Type="http://schemas.openxmlformats.org/officeDocument/2006/relationships/slideLayout" Target="../slideLayouts/slideLayout79.xml"/><Relationship Id="rId30" Type="http://schemas.openxmlformats.org/officeDocument/2006/relationships/slideLayout" Target="../slideLayouts/slideLayout82.xml"/><Relationship Id="rId35" Type="http://schemas.openxmlformats.org/officeDocument/2006/relationships/slideLayout" Target="../slideLayouts/slideLayout87.xml"/><Relationship Id="rId43" Type="http://schemas.openxmlformats.org/officeDocument/2006/relationships/slideLayout" Target="../slideLayouts/slideLayout95.xml"/><Relationship Id="rId48" Type="http://schemas.openxmlformats.org/officeDocument/2006/relationships/slideLayout" Target="../slideLayouts/slideLayout100.xml"/><Relationship Id="rId8" Type="http://schemas.openxmlformats.org/officeDocument/2006/relationships/slideLayout" Target="../slideLayouts/slideLayout60.xml"/><Relationship Id="rId51" Type="http://schemas.openxmlformats.org/officeDocument/2006/relationships/slideLayout" Target="../slideLayouts/slideLayout103.xml"/><Relationship Id="rId3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4.xml"/><Relationship Id="rId17" Type="http://schemas.openxmlformats.org/officeDocument/2006/relationships/slideLayout" Target="../slideLayouts/slideLayout69.xml"/><Relationship Id="rId25" Type="http://schemas.openxmlformats.org/officeDocument/2006/relationships/slideLayout" Target="../slideLayouts/slideLayout77.xml"/><Relationship Id="rId33" Type="http://schemas.openxmlformats.org/officeDocument/2006/relationships/slideLayout" Target="../slideLayouts/slideLayout85.xml"/><Relationship Id="rId38" Type="http://schemas.openxmlformats.org/officeDocument/2006/relationships/slideLayout" Target="../slideLayouts/slideLayout90.xml"/><Relationship Id="rId46" Type="http://schemas.openxmlformats.org/officeDocument/2006/relationships/slideLayout" Target="../slideLayouts/slideLayout98.xml"/><Relationship Id="rId20" Type="http://schemas.openxmlformats.org/officeDocument/2006/relationships/slideLayout" Target="../slideLayouts/slideLayout72.xml"/><Relationship Id="rId41" Type="http://schemas.openxmlformats.org/officeDocument/2006/relationships/slideLayout" Target="../slideLayouts/slideLayout93.xml"/><Relationship Id="rId1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8.xml"/><Relationship Id="rId15" Type="http://schemas.openxmlformats.org/officeDocument/2006/relationships/slideLayout" Target="../slideLayouts/slideLayout67.xml"/><Relationship Id="rId23" Type="http://schemas.openxmlformats.org/officeDocument/2006/relationships/slideLayout" Target="../slideLayouts/slideLayout75.xml"/><Relationship Id="rId28" Type="http://schemas.openxmlformats.org/officeDocument/2006/relationships/slideLayout" Target="../slideLayouts/slideLayout80.xml"/><Relationship Id="rId36" Type="http://schemas.openxmlformats.org/officeDocument/2006/relationships/slideLayout" Target="../slideLayouts/slideLayout88.xml"/><Relationship Id="rId49" Type="http://schemas.openxmlformats.org/officeDocument/2006/relationships/slideLayout" Target="../slideLayouts/slideLayout10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2.xml"/><Relationship Id="rId3" Type="http://schemas.openxmlformats.org/officeDocument/2006/relationships/slideLayout" Target="../slideLayouts/slideLayout107.xml"/><Relationship Id="rId7" Type="http://schemas.openxmlformats.org/officeDocument/2006/relationships/slideLayout" Target="../slideLayouts/slideLayout11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06.xml"/><Relationship Id="rId1" Type="http://schemas.openxmlformats.org/officeDocument/2006/relationships/slideLayout" Target="../slideLayouts/slideLayout105.xml"/><Relationship Id="rId6" Type="http://schemas.openxmlformats.org/officeDocument/2006/relationships/slideLayout" Target="../slideLayouts/slideLayout110.xml"/><Relationship Id="rId11" Type="http://schemas.openxmlformats.org/officeDocument/2006/relationships/slideLayout" Target="../slideLayouts/slideLayout115.xml"/><Relationship Id="rId5" Type="http://schemas.openxmlformats.org/officeDocument/2006/relationships/slideLayout" Target="../slideLayouts/slideLayout109.xml"/><Relationship Id="rId10" Type="http://schemas.openxmlformats.org/officeDocument/2006/relationships/slideLayout" Target="../slideLayouts/slideLayout114.xml"/><Relationship Id="rId4" Type="http://schemas.openxmlformats.org/officeDocument/2006/relationships/slideLayout" Target="../slideLayouts/slideLayout108.xml"/><Relationship Id="rId9" Type="http://schemas.openxmlformats.org/officeDocument/2006/relationships/slideLayout" Target="../slideLayouts/slideLayout1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1083288" y="6404261"/>
            <a:ext cx="273471" cy="269304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150">
                <a:solidFill>
                  <a:srgbClr val="888888"/>
                </a:solidFill>
              </a:defRPr>
            </a:lvl1pPr>
          </a:lstStyle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609600" y="92075"/>
            <a:ext cx="10972800" cy="1508126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18" r:id="rId17"/>
    <p:sldLayoutId id="2147483719" r:id="rId18"/>
    <p:sldLayoutId id="2147483720" r:id="rId19"/>
    <p:sldLayoutId id="2147483721" r:id="rId20"/>
    <p:sldLayoutId id="2147483722" r:id="rId21"/>
    <p:sldLayoutId id="2147483723" r:id="rId22"/>
    <p:sldLayoutId id="2147483724" r:id="rId23"/>
    <p:sldLayoutId id="2147483725" r:id="rId24"/>
    <p:sldLayoutId id="2147483726" r:id="rId25"/>
    <p:sldLayoutId id="2147483727" r:id="rId26"/>
    <p:sldLayoutId id="2147483728" r:id="rId27"/>
    <p:sldLayoutId id="2147483729" r:id="rId28"/>
    <p:sldLayoutId id="2147483730" r:id="rId29"/>
    <p:sldLayoutId id="2147483731" r:id="rId30"/>
    <p:sldLayoutId id="2147483732" r:id="rId31"/>
    <p:sldLayoutId id="2147483733" r:id="rId32"/>
    <p:sldLayoutId id="2147483734" r:id="rId33"/>
    <p:sldLayoutId id="2147483735" r:id="rId34"/>
    <p:sldLayoutId id="2147483736" r:id="rId35"/>
    <p:sldLayoutId id="2147483737" r:id="rId36"/>
    <p:sldLayoutId id="2147483738" r:id="rId37"/>
    <p:sldLayoutId id="2147483739" r:id="rId38"/>
    <p:sldLayoutId id="2147483740" r:id="rId39"/>
    <p:sldLayoutId id="2147483741" r:id="rId40"/>
    <p:sldLayoutId id="2147483742" r:id="rId41"/>
    <p:sldLayoutId id="2147483743" r:id="rId42"/>
    <p:sldLayoutId id="2147483744" r:id="rId43"/>
    <p:sldLayoutId id="2147483745" r:id="rId44"/>
    <p:sldLayoutId id="2147483746" r:id="rId45"/>
    <p:sldLayoutId id="2147483747" r:id="rId46"/>
    <p:sldLayoutId id="2147483748" r:id="rId47"/>
    <p:sldLayoutId id="2147483749" r:id="rId48"/>
    <p:sldLayoutId id="2147483750" r:id="rId49"/>
    <p:sldLayoutId id="2147483751" r:id="rId50"/>
    <p:sldLayoutId id="2147483752" r:id="rId51"/>
    <p:sldLayoutId id="2147483753" r:id="rId52"/>
  </p:sldLayoutIdLst>
  <p:txStyles>
    <p:titleStyle>
      <a:lvl1pPr marL="0" marR="0" indent="0" algn="l" defTabSz="914172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35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1pPr>
      <a:lvl2pPr marL="0" marR="0" indent="0" algn="l" defTabSz="914172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35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2pPr>
      <a:lvl3pPr marL="0" marR="0" indent="0" algn="l" defTabSz="914172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35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3pPr>
      <a:lvl4pPr marL="0" marR="0" indent="0" algn="l" defTabSz="914172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35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4pPr>
      <a:lvl5pPr marL="0" marR="0" indent="0" algn="l" defTabSz="914172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35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5pPr>
      <a:lvl6pPr marL="0" marR="0" indent="0" algn="l" defTabSz="914172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35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6pPr>
      <a:lvl7pPr marL="0" marR="0" indent="0" algn="l" defTabSz="914172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35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7pPr>
      <a:lvl8pPr marL="0" marR="0" indent="0" algn="l" defTabSz="914172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35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8pPr>
      <a:lvl9pPr marL="0" marR="0" indent="0" algn="l" defTabSz="914172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35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9pPr>
    </p:titleStyle>
    <p:bodyStyle>
      <a:lvl1pPr marL="0" marR="0" indent="0" algn="l" defTabSz="914172">
        <a:lnSpc>
          <a:spcPct val="90000"/>
        </a:lnSpc>
        <a:spcBef>
          <a:spcPts val="1000"/>
        </a:spcBef>
        <a:spcAft>
          <a:spcPts val="0"/>
        </a:spcAft>
        <a:buClrTx/>
        <a:buSzTx/>
        <a:buFontTx/>
        <a:buNone/>
        <a:defRPr sz="14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1pPr>
      <a:lvl2pPr marL="0" marR="0" indent="457086" algn="l" defTabSz="914172">
        <a:lnSpc>
          <a:spcPct val="90000"/>
        </a:lnSpc>
        <a:spcBef>
          <a:spcPts val="1000"/>
        </a:spcBef>
        <a:spcAft>
          <a:spcPts val="0"/>
        </a:spcAft>
        <a:buClrTx/>
        <a:buSzTx/>
        <a:buFontTx/>
        <a:buNone/>
        <a:defRPr sz="14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2pPr>
      <a:lvl3pPr marL="0" marR="0" indent="914172" algn="l" defTabSz="914172">
        <a:lnSpc>
          <a:spcPct val="90000"/>
        </a:lnSpc>
        <a:spcBef>
          <a:spcPts val="1000"/>
        </a:spcBef>
        <a:spcAft>
          <a:spcPts val="0"/>
        </a:spcAft>
        <a:buClrTx/>
        <a:buSzTx/>
        <a:buFontTx/>
        <a:buNone/>
        <a:defRPr sz="14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3pPr>
      <a:lvl4pPr marL="0" marR="0" indent="1371257" algn="l" defTabSz="914172">
        <a:lnSpc>
          <a:spcPct val="90000"/>
        </a:lnSpc>
        <a:spcBef>
          <a:spcPts val="1000"/>
        </a:spcBef>
        <a:spcAft>
          <a:spcPts val="0"/>
        </a:spcAft>
        <a:buClrTx/>
        <a:buSzTx/>
        <a:buFontTx/>
        <a:buNone/>
        <a:defRPr sz="14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4pPr>
      <a:lvl5pPr marL="0" marR="0" indent="1828342" algn="l" defTabSz="914172">
        <a:lnSpc>
          <a:spcPct val="90000"/>
        </a:lnSpc>
        <a:spcBef>
          <a:spcPts val="1000"/>
        </a:spcBef>
        <a:spcAft>
          <a:spcPts val="0"/>
        </a:spcAft>
        <a:buClrTx/>
        <a:buSzTx/>
        <a:buFontTx/>
        <a:buNone/>
        <a:defRPr sz="14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5pPr>
      <a:lvl6pPr marL="2468262" marR="0" indent="-182834" algn="l" defTabSz="914172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defRPr sz="14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6pPr>
      <a:lvl7pPr marL="2925348" marR="0" indent="-182834" algn="l" defTabSz="914172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defRPr sz="14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7pPr>
      <a:lvl8pPr marL="3382435" marR="0" indent="-182834" algn="l" defTabSz="914172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defRPr sz="14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8pPr>
      <a:lvl9pPr marL="3839520" marR="0" indent="-182834" algn="l" defTabSz="914172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defRPr sz="14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9pPr>
    </p:bodyStyle>
    <p:otherStyle>
      <a:lvl1pPr marL="0" marR="0" indent="0" algn="r" defTabSz="914217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5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457108" algn="r" defTabSz="914217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5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914217" algn="r" defTabSz="914217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5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1371326" algn="r" defTabSz="914217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5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1828434" algn="r" defTabSz="914217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5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2285543" algn="r" defTabSz="914217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5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2742652" algn="r" defTabSz="914217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5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3199760" algn="r" defTabSz="914217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5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3656869" algn="r" defTabSz="914217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5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1083288" y="6404261"/>
            <a:ext cx="273471" cy="269304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150">
                <a:solidFill>
                  <a:srgbClr val="888888"/>
                </a:solidFill>
              </a:defRPr>
            </a:lvl1pPr>
          </a:lstStyle>
          <a:p>
            <a:pPr marL="0" marR="0" lvl="0" indent="0" algn="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115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>‹#›</a:t>
            </a:fld>
            <a:endParaRPr lang="ru-RU" sz="115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609600" y="92075"/>
            <a:ext cx="10972800" cy="1508126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  <p:sldLayoutId id="2147483770" r:id="rId16"/>
    <p:sldLayoutId id="2147483771" r:id="rId17"/>
    <p:sldLayoutId id="2147483772" r:id="rId18"/>
    <p:sldLayoutId id="2147483773" r:id="rId19"/>
    <p:sldLayoutId id="2147483774" r:id="rId20"/>
    <p:sldLayoutId id="2147483775" r:id="rId21"/>
    <p:sldLayoutId id="2147483776" r:id="rId22"/>
    <p:sldLayoutId id="2147483777" r:id="rId23"/>
    <p:sldLayoutId id="2147483778" r:id="rId24"/>
    <p:sldLayoutId id="2147483779" r:id="rId25"/>
    <p:sldLayoutId id="2147483780" r:id="rId26"/>
    <p:sldLayoutId id="2147483781" r:id="rId27"/>
    <p:sldLayoutId id="2147483782" r:id="rId28"/>
    <p:sldLayoutId id="2147483783" r:id="rId29"/>
    <p:sldLayoutId id="2147483784" r:id="rId30"/>
    <p:sldLayoutId id="2147483785" r:id="rId31"/>
    <p:sldLayoutId id="2147483786" r:id="rId32"/>
    <p:sldLayoutId id="2147483787" r:id="rId33"/>
    <p:sldLayoutId id="2147483788" r:id="rId34"/>
    <p:sldLayoutId id="2147483789" r:id="rId35"/>
    <p:sldLayoutId id="2147483790" r:id="rId36"/>
    <p:sldLayoutId id="2147483791" r:id="rId37"/>
    <p:sldLayoutId id="2147483792" r:id="rId38"/>
    <p:sldLayoutId id="2147483793" r:id="rId39"/>
    <p:sldLayoutId id="2147483794" r:id="rId40"/>
    <p:sldLayoutId id="2147483795" r:id="rId41"/>
    <p:sldLayoutId id="2147483796" r:id="rId42"/>
    <p:sldLayoutId id="2147483797" r:id="rId43"/>
    <p:sldLayoutId id="2147483798" r:id="rId44"/>
    <p:sldLayoutId id="2147483799" r:id="rId45"/>
    <p:sldLayoutId id="2147483800" r:id="rId46"/>
    <p:sldLayoutId id="2147483801" r:id="rId47"/>
    <p:sldLayoutId id="2147483802" r:id="rId48"/>
    <p:sldLayoutId id="2147483803" r:id="rId49"/>
    <p:sldLayoutId id="2147483804" r:id="rId50"/>
    <p:sldLayoutId id="2147483805" r:id="rId51"/>
    <p:sldLayoutId id="2147483806" r:id="rId52"/>
  </p:sldLayoutIdLst>
  <p:txStyles>
    <p:titleStyle>
      <a:lvl1pPr marL="0" marR="0" indent="0" algn="l" defTabSz="914172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35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1pPr>
      <a:lvl2pPr marL="0" marR="0" indent="0" algn="l" defTabSz="914172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35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2pPr>
      <a:lvl3pPr marL="0" marR="0" indent="0" algn="l" defTabSz="914172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35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3pPr>
      <a:lvl4pPr marL="0" marR="0" indent="0" algn="l" defTabSz="914172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35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4pPr>
      <a:lvl5pPr marL="0" marR="0" indent="0" algn="l" defTabSz="914172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35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5pPr>
      <a:lvl6pPr marL="0" marR="0" indent="0" algn="l" defTabSz="914172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35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6pPr>
      <a:lvl7pPr marL="0" marR="0" indent="0" algn="l" defTabSz="914172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35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7pPr>
      <a:lvl8pPr marL="0" marR="0" indent="0" algn="l" defTabSz="914172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35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8pPr>
      <a:lvl9pPr marL="0" marR="0" indent="0" algn="l" defTabSz="914172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35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9pPr>
    </p:titleStyle>
    <p:bodyStyle>
      <a:lvl1pPr marL="0" marR="0" indent="0" algn="l" defTabSz="914172">
        <a:lnSpc>
          <a:spcPct val="90000"/>
        </a:lnSpc>
        <a:spcBef>
          <a:spcPts val="1000"/>
        </a:spcBef>
        <a:spcAft>
          <a:spcPts val="0"/>
        </a:spcAft>
        <a:buClrTx/>
        <a:buSzTx/>
        <a:buFontTx/>
        <a:buNone/>
        <a:defRPr sz="14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1pPr>
      <a:lvl2pPr marL="0" marR="0" indent="457086" algn="l" defTabSz="914172">
        <a:lnSpc>
          <a:spcPct val="90000"/>
        </a:lnSpc>
        <a:spcBef>
          <a:spcPts val="1000"/>
        </a:spcBef>
        <a:spcAft>
          <a:spcPts val="0"/>
        </a:spcAft>
        <a:buClrTx/>
        <a:buSzTx/>
        <a:buFontTx/>
        <a:buNone/>
        <a:defRPr sz="14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2pPr>
      <a:lvl3pPr marL="0" marR="0" indent="914172" algn="l" defTabSz="914172">
        <a:lnSpc>
          <a:spcPct val="90000"/>
        </a:lnSpc>
        <a:spcBef>
          <a:spcPts val="1000"/>
        </a:spcBef>
        <a:spcAft>
          <a:spcPts val="0"/>
        </a:spcAft>
        <a:buClrTx/>
        <a:buSzTx/>
        <a:buFontTx/>
        <a:buNone/>
        <a:defRPr sz="14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3pPr>
      <a:lvl4pPr marL="0" marR="0" indent="1371257" algn="l" defTabSz="914172">
        <a:lnSpc>
          <a:spcPct val="90000"/>
        </a:lnSpc>
        <a:spcBef>
          <a:spcPts val="1000"/>
        </a:spcBef>
        <a:spcAft>
          <a:spcPts val="0"/>
        </a:spcAft>
        <a:buClrTx/>
        <a:buSzTx/>
        <a:buFontTx/>
        <a:buNone/>
        <a:defRPr sz="14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4pPr>
      <a:lvl5pPr marL="0" marR="0" indent="1828342" algn="l" defTabSz="914172">
        <a:lnSpc>
          <a:spcPct val="90000"/>
        </a:lnSpc>
        <a:spcBef>
          <a:spcPts val="1000"/>
        </a:spcBef>
        <a:spcAft>
          <a:spcPts val="0"/>
        </a:spcAft>
        <a:buClrTx/>
        <a:buSzTx/>
        <a:buFontTx/>
        <a:buNone/>
        <a:defRPr sz="14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5pPr>
      <a:lvl6pPr marL="2468262" marR="0" indent="-182834" algn="l" defTabSz="914172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defRPr sz="14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6pPr>
      <a:lvl7pPr marL="2925348" marR="0" indent="-182834" algn="l" defTabSz="914172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defRPr sz="14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7pPr>
      <a:lvl8pPr marL="3382435" marR="0" indent="-182834" algn="l" defTabSz="914172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defRPr sz="14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8pPr>
      <a:lvl9pPr marL="3839520" marR="0" indent="-182834" algn="l" defTabSz="914172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defRPr sz="14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9pPr>
    </p:bodyStyle>
    <p:otherStyle>
      <a:lvl1pPr marL="0" marR="0" indent="0" algn="r" defTabSz="914217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5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457108" algn="r" defTabSz="914217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5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914217" algn="r" defTabSz="914217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5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1371326" algn="r" defTabSz="914217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5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1828434" algn="r" defTabSz="914217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5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2285543" algn="r" defTabSz="914217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5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2742652" algn="r" defTabSz="914217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5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3199760" algn="r" defTabSz="914217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5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3656869" algn="r" defTabSz="914217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5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9E6BA2E-5506-49F1-BAF1-0F0B88030074}" type="datetimeFigureOut">
              <a:rPr lang="ru-RU"/>
              <a:t>05.08.2026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38EBACB-F43B-40C6-BF46-B36DA2EA5BCB}" type="slidenum">
              <a:rPr lang="ru-RU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9765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8" r:id="rId1"/>
    <p:sldLayoutId id="2147483809" r:id="rId2"/>
    <p:sldLayoutId id="2147483810" r:id="rId3"/>
    <p:sldLayoutId id="2147483811" r:id="rId4"/>
    <p:sldLayoutId id="2147483812" r:id="rId5"/>
    <p:sldLayoutId id="2147483813" r:id="rId6"/>
    <p:sldLayoutId id="2147483814" r:id="rId7"/>
    <p:sldLayoutId id="2147483815" r:id="rId8"/>
    <p:sldLayoutId id="2147483816" r:id="rId9"/>
    <p:sldLayoutId id="2147483817" r:id="rId10"/>
    <p:sldLayoutId id="2147483818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0.xml"/><Relationship Id="rId4" Type="http://schemas.openxmlformats.org/officeDocument/2006/relationships/image" Target="../media/image12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0.x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5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5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5E93B28-1B9C-416E-8484-3B55E30F85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253268" cy="8168845"/>
          </a:xfrm>
          <a:prstGeom prst="rect">
            <a:avLst/>
          </a:prstGeom>
        </p:spPr>
      </p:pic>
      <p:sp>
        <p:nvSpPr>
          <p:cNvPr id="2" name="Прямоугольник 1"/>
          <p:cNvSpPr/>
          <p:nvPr/>
        </p:nvSpPr>
        <p:spPr bwMode="auto">
          <a:xfrm>
            <a:off x="-69775" y="-99392"/>
            <a:ext cx="12331550" cy="8148903"/>
          </a:xfrm>
          <a:prstGeom prst="rect">
            <a:avLst/>
          </a:prstGeom>
          <a:solidFill>
            <a:schemeClr val="bg1"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8" name="Прямоугольник 7"/>
          <p:cNvSpPr/>
          <p:nvPr/>
        </p:nvSpPr>
        <p:spPr bwMode="auto">
          <a:xfrm>
            <a:off x="61268" y="3429000"/>
            <a:ext cx="12192000" cy="1314547"/>
          </a:xfrm>
          <a:prstGeom prst="rect">
            <a:avLst/>
          </a:prstGeom>
          <a:solidFill>
            <a:schemeClr val="tx1">
              <a:alpha val="53999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9" name="TextBox 8"/>
          <p:cNvSpPr txBox="1"/>
          <p:nvPr/>
        </p:nvSpPr>
        <p:spPr bwMode="auto">
          <a:xfrm>
            <a:off x="263352" y="3699646"/>
            <a:ext cx="66174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ru-RU" sz="2000" b="1" dirty="0">
                <a:solidFill>
                  <a:prstClr val="white"/>
                </a:solidFill>
                <a:latin typeface="Montserrat SemiBold"/>
              </a:rPr>
              <a:t>ОРГАНИЗАЦИЯ СИСТЕМЫ УПРАВЛЕНИЯ ОХРАНОЙ ТРУДА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11">
            <a:extLst>
              <a:ext uri="{FF2B5EF4-FFF2-40B4-BE49-F238E27FC236}">
                <a16:creationId xmlns:a16="http://schemas.microsoft.com/office/drawing/2014/main" id="{97DF60EF-5240-4029-AE49-C0A1C9140BBF}"/>
              </a:ext>
            </a:extLst>
          </p:cNvPr>
          <p:cNvSpPr/>
          <p:nvPr/>
        </p:nvSpPr>
        <p:spPr bwMode="auto">
          <a:xfrm flipH="1">
            <a:off x="5596412" y="-249968"/>
            <a:ext cx="6626820" cy="7357936"/>
          </a:xfrm>
          <a:custGeom>
            <a:avLst/>
            <a:gdLst>
              <a:gd name="connsiteX0" fmla="*/ 0 w 6095999"/>
              <a:gd name="connsiteY0" fmla="*/ 0 h 6858000"/>
              <a:gd name="connsiteX1" fmla="*/ 6095999 w 6095999"/>
              <a:gd name="connsiteY1" fmla="*/ 0 h 6858000"/>
              <a:gd name="connsiteX2" fmla="*/ 6095999 w 6095999"/>
              <a:gd name="connsiteY2" fmla="*/ 6858000 h 6858000"/>
              <a:gd name="connsiteX3" fmla="*/ 0 w 6095999"/>
              <a:gd name="connsiteY3" fmla="*/ 6858000 h 6858000"/>
              <a:gd name="connsiteX4" fmla="*/ 0 w 6095999"/>
              <a:gd name="connsiteY4" fmla="*/ 0 h 6858000"/>
              <a:gd name="connsiteX0" fmla="*/ 0 w 6095999"/>
              <a:gd name="connsiteY0" fmla="*/ 193524 h 7051524"/>
              <a:gd name="connsiteX1" fmla="*/ 6095999 w 6095999"/>
              <a:gd name="connsiteY1" fmla="*/ 193524 h 7051524"/>
              <a:gd name="connsiteX2" fmla="*/ 6095999 w 6095999"/>
              <a:gd name="connsiteY2" fmla="*/ 7051524 h 7051524"/>
              <a:gd name="connsiteX3" fmla="*/ 0 w 6095999"/>
              <a:gd name="connsiteY3" fmla="*/ 7051524 h 7051524"/>
              <a:gd name="connsiteX4" fmla="*/ 0 w 6095999"/>
              <a:gd name="connsiteY4" fmla="*/ 193524 h 7051524"/>
              <a:gd name="connsiteX0" fmla="*/ 0 w 6199211"/>
              <a:gd name="connsiteY0" fmla="*/ 193524 h 7051524"/>
              <a:gd name="connsiteX1" fmla="*/ 6095999 w 6199211"/>
              <a:gd name="connsiteY1" fmla="*/ 193524 h 7051524"/>
              <a:gd name="connsiteX2" fmla="*/ 6095999 w 6199211"/>
              <a:gd name="connsiteY2" fmla="*/ 7051524 h 7051524"/>
              <a:gd name="connsiteX3" fmla="*/ 0 w 6199211"/>
              <a:gd name="connsiteY3" fmla="*/ 7051524 h 7051524"/>
              <a:gd name="connsiteX4" fmla="*/ 0 w 6199211"/>
              <a:gd name="connsiteY4" fmla="*/ 193524 h 7051524"/>
              <a:gd name="connsiteX0" fmla="*/ 0 w 6152579"/>
              <a:gd name="connsiteY0" fmla="*/ 193524 h 7051524"/>
              <a:gd name="connsiteX1" fmla="*/ 6095999 w 6152579"/>
              <a:gd name="connsiteY1" fmla="*/ 193524 h 7051524"/>
              <a:gd name="connsiteX2" fmla="*/ 6095999 w 6152579"/>
              <a:gd name="connsiteY2" fmla="*/ 7051524 h 7051524"/>
              <a:gd name="connsiteX3" fmla="*/ 0 w 6152579"/>
              <a:gd name="connsiteY3" fmla="*/ 7051524 h 7051524"/>
              <a:gd name="connsiteX4" fmla="*/ 0 w 6152579"/>
              <a:gd name="connsiteY4" fmla="*/ 193524 h 7051524"/>
              <a:gd name="connsiteX0" fmla="*/ 0 w 6152579"/>
              <a:gd name="connsiteY0" fmla="*/ 193524 h 7225695"/>
              <a:gd name="connsiteX1" fmla="*/ 6095999 w 6152579"/>
              <a:gd name="connsiteY1" fmla="*/ 193524 h 7225695"/>
              <a:gd name="connsiteX2" fmla="*/ 6095999 w 6152579"/>
              <a:gd name="connsiteY2" fmla="*/ 7051524 h 7225695"/>
              <a:gd name="connsiteX3" fmla="*/ 0 w 6152579"/>
              <a:gd name="connsiteY3" fmla="*/ 7051524 h 7225695"/>
              <a:gd name="connsiteX4" fmla="*/ 0 w 6152579"/>
              <a:gd name="connsiteY4" fmla="*/ 193524 h 7225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52579" h="7225695" extrusionOk="0">
                <a:moveTo>
                  <a:pt x="0" y="193524"/>
                </a:moveTo>
                <a:cubicBezTo>
                  <a:pt x="2032000" y="193524"/>
                  <a:pt x="4165599" y="-241905"/>
                  <a:pt x="6095999" y="193524"/>
                </a:cubicBezTo>
                <a:cubicBezTo>
                  <a:pt x="6328228" y="2566610"/>
                  <a:pt x="5747656" y="4910667"/>
                  <a:pt x="6095999" y="7051524"/>
                </a:cubicBezTo>
                <a:cubicBezTo>
                  <a:pt x="4049484" y="7443410"/>
                  <a:pt x="2032000" y="7051524"/>
                  <a:pt x="0" y="7051524"/>
                </a:cubicBezTo>
                <a:lnTo>
                  <a:pt x="0" y="193524"/>
                </a:lnTo>
                <a:close/>
              </a:path>
            </a:pathLst>
          </a:custGeom>
          <a:solidFill>
            <a:srgbClr val="E6E6E6"/>
          </a:solidFill>
          <a:ln w="12700" cap="flat" cmpd="sng" algn="ctr">
            <a:solidFill>
              <a:srgbClr val="E6E6E6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285750" marR="0" lvl="0" indent="-28575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ru-RU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3175" y="3113533"/>
            <a:ext cx="342000" cy="63094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1750">
                <a:solidFill>
                  <a:srgbClr val="FFFFFF"/>
                </a:solidFill>
              </a:defRPr>
            </a:lvl1pPr>
          </a:lstStyle>
          <a:p>
            <a:pPr marL="0" marR="0" lvl="0" indent="0" algn="ct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sz="1750" b="0" i="0" u="none" strike="noStrike" cap="none" spc="0">
                <a:ln>
                  <a:noFill/>
                </a:ln>
                <a:solidFill>
                  <a:srgbClr val="FFFFFF"/>
                </a:solidFill>
                <a:latin typeface="Open Sans Light"/>
                <a:cs typeface="Calibri"/>
              </a:rPr>
              <a:t>2</a:t>
            </a:fld>
            <a:endParaRPr sz="175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1030626" y="892059"/>
            <a:ext cx="10117667" cy="446276"/>
          </a:xfrm>
          <a:prstGeom prst="rect">
            <a:avLst/>
          </a:prstGeom>
          <a:ln w="12700">
            <a:miter lim="400000"/>
          </a:ln>
        </p:spPr>
        <p:txBody>
          <a:bodyPr wrap="square" lIns="22860" rIns="2286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300" b="0" i="0" u="none" strike="noStrike" cap="none" spc="0">
                <a:ln>
                  <a:noFill/>
                </a:ln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</a:rPr>
              <a:t>ПОНЯТИЕ И СТРУКТУРА СИСТЕМЫ УПРАВЛЕНИЯ ОХРАНОЙ ТРУДА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1030621" y="1302335"/>
            <a:ext cx="9826916" cy="36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22860" rIns="22860" anchor="ctr"/>
          <a:lstStyle/>
          <a:p>
            <a:pPr marL="0" marR="0" lvl="0" indent="0" algn="l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175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5" name="Подзаголовок 2"/>
          <p:cNvSpPr txBox="1"/>
          <p:nvPr/>
        </p:nvSpPr>
        <p:spPr bwMode="auto">
          <a:xfrm>
            <a:off x="911424" y="1338335"/>
            <a:ext cx="3456384" cy="286312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Autofit/>
          </a:bodyPr>
          <a:lstStyle>
            <a:lvl1pPr marL="0" marR="0" indent="0" algn="r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2286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4572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6858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9144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11430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13716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16002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18288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100" b="0" i="0" u="none" strike="noStrike" cap="none" spc="0">
                <a:ln>
                  <a:noFill/>
                </a:ln>
                <a:solidFill>
                  <a:srgbClr val="535353"/>
                </a:solidFill>
                <a:latin typeface="PFDinDisplayPro-Medium"/>
                <a:ea typeface="Open Sans"/>
                <a:cs typeface="Open Sans"/>
              </a:rPr>
              <a:t>Организация системы управления охраной труда</a:t>
            </a:r>
            <a:endParaRPr sz="2800" b="0" i="0" u="none" strike="noStrike" cap="none" spc="0">
              <a:ln>
                <a:noFill/>
              </a:ln>
              <a:solidFill>
                <a:srgbClr val="535353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7" name="Овальная выноска 6"/>
          <p:cNvSpPr/>
          <p:nvPr/>
        </p:nvSpPr>
        <p:spPr bwMode="auto">
          <a:xfrm>
            <a:off x="2192495" y="1752797"/>
            <a:ext cx="4009283" cy="2925672"/>
          </a:xfrm>
          <a:prstGeom prst="wedgeEllipseCallout">
            <a:avLst>
              <a:gd name="adj1" fmla="val -67818"/>
              <a:gd name="adj2" fmla="val -27555"/>
            </a:avLst>
          </a:prstGeom>
          <a:solidFill>
            <a:srgbClr val="8DDBCD"/>
          </a:solidFill>
          <a:ln w="25400" cap="flat">
            <a:solidFill>
              <a:srgbClr val="1ABD9E"/>
            </a:solidFill>
            <a:prstDash val="dash"/>
            <a:miter lim="800000"/>
          </a:ln>
          <a:effectLst/>
        </p:spPr>
        <p:txBody>
          <a:bodyPr rot="0" spcFirstLastPara="1" vertOverflow="overflow" horzOverflow="overflow" vert="horz" wrap="square" lIns="91439" tIns="91439" rIns="91439" bIns="91439" numCol="1" spcCol="38100" rtlCol="0" anchor="ctr">
            <a:spAutoFit/>
          </a:bodyPr>
          <a:lstStyle/>
          <a:p>
            <a:pPr marL="0" marR="0" lvl="0" indent="0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600" b="0" i="0" u="none" strike="noStrike" cap="none" spc="0" dirty="0">
                <a:ln>
                  <a:noFill/>
                </a:ln>
                <a:solidFill>
                  <a:srgbClr val="535353"/>
                </a:solidFill>
              </a:rPr>
              <a:t>Обеспечение создания и функционирования системы управления охраной труда (СУОТ) является одной из обязанностей работодателя, предусмотренных статьей 214 ТК РФ</a:t>
            </a:r>
            <a:endParaRPr lang="ru-RU" sz="1600" b="0" i="0" u="none" strike="noStrike" cap="none" spc="0" dirty="0">
              <a:ln>
                <a:noFill/>
              </a:ln>
              <a:solidFill>
                <a:srgbClr val="535353"/>
              </a:solidFill>
              <a:ea typeface="Open Sans"/>
              <a:cs typeface="Open Sans"/>
            </a:endParaRPr>
          </a:p>
        </p:txBody>
      </p:sp>
      <p:sp>
        <p:nvSpPr>
          <p:cNvPr id="8" name="Прямоугольник 7"/>
          <p:cNvSpPr/>
          <p:nvPr/>
        </p:nvSpPr>
        <p:spPr bwMode="auto">
          <a:xfrm>
            <a:off x="6816080" y="2467201"/>
            <a:ext cx="4536504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600" b="1" i="0" u="none" strike="noStrike" cap="none" spc="0" dirty="0">
                <a:ln>
                  <a:noFill/>
                </a:ln>
                <a:solidFill>
                  <a:srgbClr val="535353"/>
                </a:solidFill>
              </a:rPr>
              <a:t>Система управления охраной труда</a:t>
            </a:r>
            <a:r>
              <a:rPr lang="ru-RU" sz="1600" b="0" i="0" u="none" strike="noStrike" cap="none" spc="0" dirty="0">
                <a:ln>
                  <a:noFill/>
                </a:ln>
                <a:solidFill>
                  <a:srgbClr val="535353"/>
                </a:solidFill>
              </a:rPr>
              <a:t> - комплекс взаимосвязанных и взаимодействующих между собой элементов, устанавливающих политику и цели в области охраны труда у конкретного работодателя и процедуры по достижению этих целей.</a:t>
            </a:r>
            <a:endParaRPr sz="1800" b="0" i="0" u="none" strike="noStrike" cap="none" spc="0" dirty="0">
              <a:ln>
                <a:noFill/>
              </a:ln>
              <a:solidFill>
                <a:srgbClr val="535353"/>
              </a:solidFill>
            </a:endParaRPr>
          </a:p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600" b="0" i="0" u="none" strike="noStrike" cap="none" spc="0" dirty="0">
              <a:ln>
                <a:noFill/>
              </a:ln>
              <a:solidFill>
                <a:srgbClr val="535353"/>
              </a:solidFill>
            </a:endParaRPr>
          </a:p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600" b="1" i="0" u="none" strike="noStrike" cap="none" spc="0" dirty="0">
                <a:ln>
                  <a:noFill/>
                </a:ln>
                <a:solidFill>
                  <a:srgbClr val="535353"/>
                </a:solidFill>
              </a:rPr>
              <a:t>СУОТ </a:t>
            </a:r>
            <a:r>
              <a:rPr lang="ru-RU" sz="1600" b="0" i="0" u="none" strike="noStrike" cap="none" spc="0" dirty="0">
                <a:ln>
                  <a:noFill/>
                </a:ln>
                <a:solidFill>
                  <a:srgbClr val="535353"/>
                </a:solidFill>
              </a:rPr>
              <a:t>является неотъемлемой частью управленческой и (или) производственной системы работодателя.</a:t>
            </a:r>
            <a:endParaRPr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90E3D87-5078-4390-A547-80058CCFFF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7180" y="1481491"/>
            <a:ext cx="3535777" cy="53036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" name="Прямоугольник 14">
            <a:extLst>
              <a:ext uri="{FF2B5EF4-FFF2-40B4-BE49-F238E27FC236}">
                <a16:creationId xmlns:a16="http://schemas.microsoft.com/office/drawing/2014/main" id="{EA211450-92C4-4795-AA84-BD0E98915FD0}"/>
              </a:ext>
            </a:extLst>
          </p:cNvPr>
          <p:cNvSpPr/>
          <p:nvPr/>
        </p:nvSpPr>
        <p:spPr bwMode="auto">
          <a:xfrm>
            <a:off x="174175" y="457488"/>
            <a:ext cx="10822730" cy="1174160"/>
          </a:xfrm>
          <a:custGeom>
            <a:avLst/>
            <a:gdLst>
              <a:gd name="connsiteX0" fmla="*/ 0 w 9622971"/>
              <a:gd name="connsiteY0" fmla="*/ 0 h 789319"/>
              <a:gd name="connsiteX1" fmla="*/ 9622971 w 9622971"/>
              <a:gd name="connsiteY1" fmla="*/ 0 h 789319"/>
              <a:gd name="connsiteX2" fmla="*/ 9622971 w 9622971"/>
              <a:gd name="connsiteY2" fmla="*/ 789319 h 789319"/>
              <a:gd name="connsiteX3" fmla="*/ 0 w 9622971"/>
              <a:gd name="connsiteY3" fmla="*/ 789319 h 789319"/>
              <a:gd name="connsiteX4" fmla="*/ 0 w 9622971"/>
              <a:gd name="connsiteY4" fmla="*/ 0 h 789319"/>
              <a:gd name="connsiteX0" fmla="*/ 0 w 9732634"/>
              <a:gd name="connsiteY0" fmla="*/ 0 h 789319"/>
              <a:gd name="connsiteX1" fmla="*/ 9622971 w 9732634"/>
              <a:gd name="connsiteY1" fmla="*/ 0 h 789319"/>
              <a:gd name="connsiteX2" fmla="*/ 9622971 w 9732634"/>
              <a:gd name="connsiteY2" fmla="*/ 789319 h 789319"/>
              <a:gd name="connsiteX3" fmla="*/ 0 w 9732634"/>
              <a:gd name="connsiteY3" fmla="*/ 789319 h 789319"/>
              <a:gd name="connsiteX4" fmla="*/ 0 w 9732634"/>
              <a:gd name="connsiteY4" fmla="*/ 0 h 789319"/>
              <a:gd name="connsiteX0" fmla="*/ 0 w 9732634"/>
              <a:gd name="connsiteY0" fmla="*/ 58057 h 847376"/>
              <a:gd name="connsiteX1" fmla="*/ 9622971 w 9732634"/>
              <a:gd name="connsiteY1" fmla="*/ 58057 h 847376"/>
              <a:gd name="connsiteX2" fmla="*/ 9622971 w 9732634"/>
              <a:gd name="connsiteY2" fmla="*/ 847376 h 847376"/>
              <a:gd name="connsiteX3" fmla="*/ 0 w 9732634"/>
              <a:gd name="connsiteY3" fmla="*/ 847376 h 847376"/>
              <a:gd name="connsiteX4" fmla="*/ 0 w 9732634"/>
              <a:gd name="connsiteY4" fmla="*/ 58057 h 847376"/>
              <a:gd name="connsiteX0" fmla="*/ 0 w 9732634"/>
              <a:gd name="connsiteY0" fmla="*/ 58057 h 911883"/>
              <a:gd name="connsiteX1" fmla="*/ 9622971 w 9732634"/>
              <a:gd name="connsiteY1" fmla="*/ 58057 h 911883"/>
              <a:gd name="connsiteX2" fmla="*/ 9622971 w 9732634"/>
              <a:gd name="connsiteY2" fmla="*/ 847376 h 911883"/>
              <a:gd name="connsiteX3" fmla="*/ 0 w 9732634"/>
              <a:gd name="connsiteY3" fmla="*/ 847376 h 911883"/>
              <a:gd name="connsiteX4" fmla="*/ 0 w 9732634"/>
              <a:gd name="connsiteY4" fmla="*/ 58057 h 911883"/>
              <a:gd name="connsiteX0" fmla="*/ 58057 w 9790691"/>
              <a:gd name="connsiteY0" fmla="*/ 58057 h 911883"/>
              <a:gd name="connsiteX1" fmla="*/ 9681028 w 9790691"/>
              <a:gd name="connsiteY1" fmla="*/ 58057 h 911883"/>
              <a:gd name="connsiteX2" fmla="*/ 9681028 w 9790691"/>
              <a:gd name="connsiteY2" fmla="*/ 847376 h 911883"/>
              <a:gd name="connsiteX3" fmla="*/ 58057 w 9790691"/>
              <a:gd name="connsiteY3" fmla="*/ 847376 h 911883"/>
              <a:gd name="connsiteX4" fmla="*/ 58057 w 9790691"/>
              <a:gd name="connsiteY4" fmla="*/ 58057 h 911883"/>
              <a:gd name="connsiteX0" fmla="*/ 58057 w 9790691"/>
              <a:gd name="connsiteY0" fmla="*/ 58057 h 990726"/>
              <a:gd name="connsiteX1" fmla="*/ 9681028 w 9790691"/>
              <a:gd name="connsiteY1" fmla="*/ 58057 h 990726"/>
              <a:gd name="connsiteX2" fmla="*/ 9681028 w 9790691"/>
              <a:gd name="connsiteY2" fmla="*/ 847376 h 990726"/>
              <a:gd name="connsiteX3" fmla="*/ 58057 w 9790691"/>
              <a:gd name="connsiteY3" fmla="*/ 847376 h 990726"/>
              <a:gd name="connsiteX4" fmla="*/ 58057 w 9790691"/>
              <a:gd name="connsiteY4" fmla="*/ 58057 h 990726"/>
              <a:gd name="connsiteX0" fmla="*/ 58057 w 9825747"/>
              <a:gd name="connsiteY0" fmla="*/ 58057 h 990726"/>
              <a:gd name="connsiteX1" fmla="*/ 9681028 w 9825747"/>
              <a:gd name="connsiteY1" fmla="*/ 58057 h 990726"/>
              <a:gd name="connsiteX2" fmla="*/ 9681028 w 9825747"/>
              <a:gd name="connsiteY2" fmla="*/ 847376 h 990726"/>
              <a:gd name="connsiteX3" fmla="*/ 58057 w 9825747"/>
              <a:gd name="connsiteY3" fmla="*/ 847376 h 990726"/>
              <a:gd name="connsiteX4" fmla="*/ 58057 w 9825747"/>
              <a:gd name="connsiteY4" fmla="*/ 58057 h 990726"/>
              <a:gd name="connsiteX0" fmla="*/ 58057 w 9825747"/>
              <a:gd name="connsiteY0" fmla="*/ 58057 h 944433"/>
              <a:gd name="connsiteX1" fmla="*/ 9681028 w 9825747"/>
              <a:gd name="connsiteY1" fmla="*/ 58057 h 944433"/>
              <a:gd name="connsiteX2" fmla="*/ 9681028 w 9825747"/>
              <a:gd name="connsiteY2" fmla="*/ 847376 h 944433"/>
              <a:gd name="connsiteX3" fmla="*/ 58057 w 9825747"/>
              <a:gd name="connsiteY3" fmla="*/ 847376 h 944433"/>
              <a:gd name="connsiteX4" fmla="*/ 58057 w 9825747"/>
              <a:gd name="connsiteY4" fmla="*/ 58057 h 944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25747" h="944433" extrusionOk="0">
                <a:moveTo>
                  <a:pt x="58057" y="58057"/>
                </a:moveTo>
                <a:cubicBezTo>
                  <a:pt x="3265714" y="58057"/>
                  <a:pt x="6386285" y="-72572"/>
                  <a:pt x="9681028" y="58057"/>
                </a:cubicBezTo>
                <a:cubicBezTo>
                  <a:pt x="9927771" y="190534"/>
                  <a:pt x="9811656" y="656842"/>
                  <a:pt x="9681028" y="847376"/>
                </a:cubicBezTo>
                <a:cubicBezTo>
                  <a:pt x="6531429" y="818346"/>
                  <a:pt x="3280228" y="1079605"/>
                  <a:pt x="58057" y="847376"/>
                </a:cubicBezTo>
                <a:cubicBezTo>
                  <a:pt x="-72572" y="758441"/>
                  <a:pt x="58057" y="321163"/>
                  <a:pt x="58057" y="58057"/>
                </a:cubicBezTo>
                <a:close/>
              </a:path>
            </a:pathLst>
          </a:custGeom>
          <a:solidFill>
            <a:srgbClr val="E6E6E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3175" y="3113533"/>
            <a:ext cx="342000" cy="63094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1750">
                <a:solidFill>
                  <a:srgbClr val="FFFFFF"/>
                </a:solidFill>
              </a:defRPr>
            </a:lvl1pPr>
          </a:lstStyle>
          <a:p>
            <a:pPr marL="0" marR="0" lvl="0" indent="0" algn="ct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sz="1750" b="0" i="0" u="none" strike="noStrike" cap="none" spc="0">
                <a:ln>
                  <a:noFill/>
                </a:ln>
                <a:solidFill>
                  <a:srgbClr val="FFFFFF"/>
                </a:solidFill>
                <a:latin typeface="Open Sans Light"/>
                <a:cs typeface="Calibri"/>
              </a:rPr>
              <a:t>3</a:t>
            </a:fld>
            <a:endParaRPr sz="175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1030626" y="892059"/>
            <a:ext cx="10117667" cy="446276"/>
          </a:xfrm>
          <a:prstGeom prst="rect">
            <a:avLst/>
          </a:prstGeom>
          <a:ln w="12700">
            <a:miter lim="400000"/>
          </a:ln>
        </p:spPr>
        <p:txBody>
          <a:bodyPr wrap="square" lIns="22860" rIns="2286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300" b="0" i="0" u="none" strike="noStrike" cap="none" spc="0">
                <a:ln>
                  <a:noFill/>
                </a:ln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</a:rPr>
              <a:t>ПОНЯТИЕ И СТРУКТУРА СИСТЕМЫ УПРАВЛЕНИЯ ОХРАНОЙ ТРУДА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1030621" y="1302335"/>
            <a:ext cx="9826916" cy="36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22860" rIns="22860" anchor="ctr"/>
          <a:lstStyle/>
          <a:p>
            <a:pPr marL="0" marR="0" lvl="0" indent="0" algn="l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175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5" name="Подзаголовок 2"/>
          <p:cNvSpPr txBox="1"/>
          <p:nvPr/>
        </p:nvSpPr>
        <p:spPr bwMode="auto">
          <a:xfrm>
            <a:off x="911424" y="1338335"/>
            <a:ext cx="3456384" cy="286312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Autofit/>
          </a:bodyPr>
          <a:lstStyle>
            <a:lvl1pPr marL="0" marR="0" indent="0" algn="r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2286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4572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6858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9144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11430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13716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16002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18288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100" b="0" i="0" u="none" strike="noStrike" cap="none" spc="0" dirty="0">
                <a:ln>
                  <a:noFill/>
                </a:ln>
                <a:solidFill>
                  <a:srgbClr val="535353"/>
                </a:solidFill>
                <a:latin typeface="PFDinDisplayPro-Medium"/>
                <a:ea typeface="Open Sans"/>
                <a:cs typeface="Open Sans"/>
              </a:rPr>
              <a:t>Организация системы управления охраной труда</a:t>
            </a:r>
            <a:endParaRPr sz="2800" b="0" i="0" u="none" strike="noStrike" cap="none" spc="0" dirty="0">
              <a:ln>
                <a:noFill/>
              </a:ln>
              <a:solidFill>
                <a:srgbClr val="535353"/>
              </a:solidFill>
              <a:latin typeface="Open Sans"/>
              <a:ea typeface="Open Sans"/>
              <a:cs typeface="Open Sans"/>
            </a:endParaRPr>
          </a:p>
        </p:txBody>
      </p:sp>
      <p:pic>
        <p:nvPicPr>
          <p:cNvPr id="9" name="Picture 4" descr="https://pbs.twimg.com/media/EK5GxhsVAAA7_2_.jpg"/>
          <p:cNvPicPr>
            <a:picLocks noChangeAspect="1" noChangeArrowheads="1"/>
          </p:cNvPicPr>
          <p:nvPr/>
        </p:nvPicPr>
        <p:blipFill>
          <a:blip r:embed="rId2"/>
          <a:srcRect b="7572"/>
          <a:stretch/>
        </p:blipFill>
        <p:spPr bwMode="auto">
          <a:xfrm>
            <a:off x="2467308" y="2190830"/>
            <a:ext cx="7172167" cy="3977468"/>
          </a:xfrm>
          <a:prstGeom prst="rect">
            <a:avLst/>
          </a:prstGeom>
          <a:noFill/>
        </p:spPr>
      </p:pic>
      <p:sp>
        <p:nvSpPr>
          <p:cNvPr id="10" name="Прямоугольник 9"/>
          <p:cNvSpPr/>
          <p:nvPr/>
        </p:nvSpPr>
        <p:spPr bwMode="auto">
          <a:xfrm>
            <a:off x="911424" y="3254868"/>
            <a:ext cx="3002203" cy="1077218"/>
          </a:xfrm>
          <a:prstGeom prst="rect">
            <a:avLst/>
          </a:prstGeom>
          <a:ln>
            <a:noFill/>
            <a:prstDash val="dash"/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ru-RU" sz="1600" b="1" dirty="0" err="1">
                <a:solidFill>
                  <a:srgbClr val="535353"/>
                </a:solidFill>
              </a:rPr>
              <a:t>Оргструктура</a:t>
            </a:r>
            <a:r>
              <a:rPr lang="ru-RU" sz="1600" b="1" dirty="0">
                <a:solidFill>
                  <a:srgbClr val="535353"/>
                </a:solidFill>
              </a:rPr>
              <a:t> </a:t>
            </a:r>
            <a:r>
              <a:rPr lang="ru-RU" sz="1600" dirty="0">
                <a:solidFill>
                  <a:srgbClr val="535353"/>
                </a:solidFill>
              </a:rPr>
              <a:t>— распределение обязанностей и ответственности по уровням управления</a:t>
            </a:r>
            <a:endParaRPr sz="1800" b="0" i="0" u="none" strike="noStrike" cap="none" spc="0" dirty="0">
              <a:ln>
                <a:noFill/>
              </a:ln>
              <a:solidFill>
                <a:srgbClr val="535353"/>
              </a:solidFill>
            </a:endParaRPr>
          </a:p>
        </p:txBody>
      </p:sp>
      <p:sp>
        <p:nvSpPr>
          <p:cNvPr id="11" name="Прямоугольник 10"/>
          <p:cNvSpPr/>
          <p:nvPr/>
        </p:nvSpPr>
        <p:spPr bwMode="auto">
          <a:xfrm>
            <a:off x="3984582" y="2154535"/>
            <a:ext cx="4034974" cy="584775"/>
          </a:xfrm>
          <a:prstGeom prst="rect">
            <a:avLst/>
          </a:prstGeom>
          <a:ln>
            <a:noFill/>
            <a:prstDash val="dash"/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ru-RU" sz="1600" b="1" dirty="0">
                <a:solidFill>
                  <a:srgbClr val="535353"/>
                </a:solidFill>
              </a:rPr>
              <a:t>Мероприятия</a:t>
            </a:r>
            <a:r>
              <a:rPr lang="ru-RU" sz="1600" dirty="0">
                <a:solidFill>
                  <a:srgbClr val="535353"/>
                </a:solidFill>
              </a:rPr>
              <a:t> — обеспечение работы СУОТ и контроль эффективности</a:t>
            </a:r>
            <a:endParaRPr sz="1800" b="0" i="0" u="none" strike="noStrike" cap="none" spc="0" dirty="0">
              <a:ln>
                <a:noFill/>
              </a:ln>
              <a:solidFill>
                <a:srgbClr val="535353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 bwMode="auto">
          <a:xfrm>
            <a:off x="8402364" y="3501089"/>
            <a:ext cx="3002203" cy="830997"/>
          </a:xfrm>
          <a:prstGeom prst="rect">
            <a:avLst/>
          </a:prstGeom>
          <a:ln>
            <a:noFill/>
            <a:prstDash val="dash"/>
          </a:ln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ru-RU" sz="1600" b="1" dirty="0">
                <a:solidFill>
                  <a:srgbClr val="535353"/>
                </a:solidFill>
              </a:rPr>
              <a:t>Документация </a:t>
            </a:r>
            <a:r>
              <a:rPr lang="ru-RU" sz="1600" dirty="0">
                <a:solidFill>
                  <a:srgbClr val="535353"/>
                </a:solidFill>
              </a:rPr>
              <a:t>— локальные акты, распорядительные и учетные документы</a:t>
            </a:r>
            <a:endParaRPr dirty="0"/>
          </a:p>
        </p:txBody>
      </p:sp>
      <p:sp>
        <p:nvSpPr>
          <p:cNvPr id="13" name="Прямоугольник 12"/>
          <p:cNvSpPr/>
          <p:nvPr/>
        </p:nvSpPr>
        <p:spPr bwMode="auto">
          <a:xfrm>
            <a:off x="749835" y="1631648"/>
            <a:ext cx="37795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1" i="0" u="none" strike="noStrike" cap="none" spc="0" dirty="0">
                <a:ln>
                  <a:noFill/>
                </a:ln>
                <a:solidFill>
                  <a:srgbClr val="535353"/>
                </a:solidFill>
              </a:rPr>
              <a:t>СУОТ представляет собой единство:</a:t>
            </a:r>
            <a:endParaRPr sz="1800" b="0" i="0" u="none" strike="noStrike" cap="none" spc="0" dirty="0">
              <a:ln>
                <a:noFill/>
              </a:ln>
              <a:solidFill>
                <a:srgbClr val="535353"/>
              </a:solidFill>
            </a:endParaRPr>
          </a:p>
        </p:txBody>
      </p:sp>
      <p:pic>
        <p:nvPicPr>
          <p:cNvPr id="14" name="Picture 22" descr="https://thumbs.dreamstime.com/b/%D1%83%D1%81%D1%82%D0%B0%D0%BD%D0%BE%D0%B2%D0%BB%D0%B5%D0%BD%D0%BD%D1%8B%D0%B5-%D1%81%D1%82%D1%80%D0%B5%D0%BB%D0%BA%D0%B8-%D0%BD%D0%B0%D0%B1%D0%BE%D1%80-%D1%81%D0%BE%D0%B2%D1%80%D0%B5%D0%BC%D0%B5%D0%BD%D0%BD%D0%BE%D0%B9-%D1%80%D1%83%D0%BA%D0%B8-%D0%B2%D1%8B%D1%87%D0%B5%D1%80%D1%87%D0%B5%D0%BD%D0%BD%D1%8B%D0%B9-%D1%81-%D1%87%D0%B5%D1%80%D0%BD%D1%8B%D0%BC%D0%B8-133397198.jpg"/>
          <p:cNvPicPr>
            <a:picLocks noChangeAspect="1" noChangeArrowheads="1"/>
          </p:cNvPicPr>
          <p:nvPr/>
        </p:nvPicPr>
        <p:blipFill>
          <a:blip r:embed="rId3">
            <a:duotone>
              <a:srgbClr val="A5A5A5">
                <a:shade val="45000"/>
                <a:satMod val="135000"/>
              </a:srgbClr>
              <a:prstClr val="white"/>
            </a:duotone>
          </a:blip>
          <a:srcRect r="80369" b="50000"/>
          <a:stretch/>
        </p:blipFill>
        <p:spPr bwMode="auto">
          <a:xfrm rot="3954775" flipH="1">
            <a:off x="3126874" y="1980532"/>
            <a:ext cx="456434" cy="155417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15" name="Picture 22" descr="https://thumbs.dreamstime.com/b/%D1%83%D1%81%D1%82%D0%B0%D0%BD%D0%BE%D0%B2%D0%BB%D0%B5%D0%BD%D0%BD%D1%8B%D0%B5-%D1%81%D1%82%D1%80%D0%B5%D0%BB%D0%BA%D0%B8-%D0%BD%D0%B0%D0%B1%D0%BE%D1%80-%D1%81%D0%BE%D0%B2%D1%80%D0%B5%D0%BC%D0%B5%D0%BD%D0%BD%D0%BE%D0%B9-%D1%80%D1%83%D0%BA%D0%B8-%D0%B2%D1%8B%D1%87%D0%B5%D1%80%D1%87%D0%B5%D0%BD%D0%BD%D1%8B%D0%B9-%D1%81-%D1%87%D0%B5%D1%80%D0%BD%D1%8B%D0%BC%D0%B8-133397198.jpg"/>
          <p:cNvPicPr>
            <a:picLocks noChangeAspect="1" noChangeArrowheads="1"/>
          </p:cNvPicPr>
          <p:nvPr/>
        </p:nvPicPr>
        <p:blipFill>
          <a:blip r:embed="rId3">
            <a:duotone>
              <a:srgbClr val="A5A5A5">
                <a:shade val="45000"/>
                <a:satMod val="135000"/>
              </a:srgbClr>
              <a:prstClr val="white"/>
            </a:duotone>
          </a:blip>
          <a:srcRect r="80369" b="50000"/>
          <a:stretch/>
        </p:blipFill>
        <p:spPr bwMode="auto">
          <a:xfrm rot="6953165" flipH="1">
            <a:off x="9156940" y="2118196"/>
            <a:ext cx="456434" cy="1554178"/>
          </a:xfrm>
          <a:prstGeom prst="rect">
            <a:avLst/>
          </a:prstGeom>
          <a:noFill/>
        </p:spPr>
      </p:pic>
      <p:pic>
        <p:nvPicPr>
          <p:cNvPr id="16" name="Picture 22" descr="https://thumbs.dreamstime.com/b/%D1%83%D1%81%D1%82%D0%B0%D0%BD%D0%BE%D0%B2%D0%BB%D0%B5%D0%BD%D0%BD%D1%8B%D0%B5-%D1%81%D1%82%D1%80%D0%B5%D0%BB%D0%BA%D0%B8-%D0%BD%D0%B0%D0%B1%D0%BE%D1%80-%D1%81%D0%BE%D0%B2%D1%80%D0%B5%D0%BC%D0%B5%D0%BD%D0%BD%D0%BE%D0%B9-%D1%80%D1%83%D0%BA%D0%B8-%D0%B2%D1%8B%D1%87%D0%B5%D1%80%D1%87%D0%B5%D0%BD%D0%BD%D1%8B%D0%B9-%D1%81-%D1%87%D0%B5%D1%80%D0%BD%D1%8B%D0%BC%D0%B8-133397198.jpg"/>
          <p:cNvPicPr>
            <a:picLocks noChangeAspect="1" noChangeArrowheads="1"/>
          </p:cNvPicPr>
          <p:nvPr/>
        </p:nvPicPr>
        <p:blipFill>
          <a:blip r:embed="rId3">
            <a:duotone>
              <a:srgbClr val="A5A5A5">
                <a:shade val="45000"/>
                <a:satMod val="135000"/>
              </a:srgbClr>
              <a:prstClr val="white"/>
            </a:duotone>
          </a:blip>
          <a:srcRect r="80369" b="50000"/>
          <a:stretch/>
        </p:blipFill>
        <p:spPr bwMode="auto">
          <a:xfrm rot="19655663" flipH="1">
            <a:off x="2366548" y="4558210"/>
            <a:ext cx="456434" cy="1554178"/>
          </a:xfrm>
          <a:prstGeom prst="rect">
            <a:avLst/>
          </a:prstGeom>
          <a:noFill/>
        </p:spPr>
      </p:pic>
      <p:sp>
        <p:nvSpPr>
          <p:cNvPr id="17" name="Полилиния 16"/>
          <p:cNvSpPr/>
          <p:nvPr/>
        </p:nvSpPr>
        <p:spPr bwMode="auto">
          <a:xfrm>
            <a:off x="2541483" y="5324699"/>
            <a:ext cx="7625972" cy="1254086"/>
          </a:xfrm>
          <a:custGeom>
            <a:avLst/>
            <a:gdLst>
              <a:gd name="connsiteX0" fmla="*/ 0 w 7625972"/>
              <a:gd name="connsiteY0" fmla="*/ 492442 h 1254086"/>
              <a:gd name="connsiteX1" fmla="*/ 431074 w 7625972"/>
              <a:gd name="connsiteY1" fmla="*/ 766762 h 1254086"/>
              <a:gd name="connsiteX2" fmla="*/ 1685109 w 7625972"/>
              <a:gd name="connsiteY2" fmla="*/ 1210899 h 1254086"/>
              <a:gd name="connsiteX3" fmla="*/ 2756263 w 7625972"/>
              <a:gd name="connsiteY3" fmla="*/ 1237025 h 1254086"/>
              <a:gd name="connsiteX4" fmla="*/ 4872446 w 7625972"/>
              <a:gd name="connsiteY4" fmla="*/ 1223962 h 1254086"/>
              <a:gd name="connsiteX5" fmla="*/ 6609806 w 7625972"/>
              <a:gd name="connsiteY5" fmla="*/ 1171710 h 1254086"/>
              <a:gd name="connsiteX6" fmla="*/ 7210697 w 7625972"/>
              <a:gd name="connsiteY6" fmla="*/ 792888 h 1254086"/>
              <a:gd name="connsiteX7" fmla="*/ 7589520 w 7625972"/>
              <a:gd name="connsiteY7" fmla="*/ 87493 h 1254086"/>
              <a:gd name="connsiteX8" fmla="*/ 7589520 w 7625972"/>
              <a:gd name="connsiteY8" fmla="*/ 35242 h 1254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25972" h="1254086" extrusionOk="0">
                <a:moveTo>
                  <a:pt x="0" y="492442"/>
                </a:moveTo>
                <a:cubicBezTo>
                  <a:pt x="75111" y="569730"/>
                  <a:pt x="150223" y="647019"/>
                  <a:pt x="431074" y="766762"/>
                </a:cubicBezTo>
                <a:cubicBezTo>
                  <a:pt x="711925" y="886505"/>
                  <a:pt x="1297578" y="1132522"/>
                  <a:pt x="1685109" y="1210899"/>
                </a:cubicBezTo>
                <a:cubicBezTo>
                  <a:pt x="2072640" y="1289276"/>
                  <a:pt x="2756263" y="1237025"/>
                  <a:pt x="2756263" y="1237025"/>
                </a:cubicBezTo>
                <a:lnTo>
                  <a:pt x="4872446" y="1223962"/>
                </a:lnTo>
                <a:cubicBezTo>
                  <a:pt x="5514703" y="1213076"/>
                  <a:pt x="6220097" y="1243556"/>
                  <a:pt x="6609806" y="1171710"/>
                </a:cubicBezTo>
                <a:cubicBezTo>
                  <a:pt x="6999515" y="1099864"/>
                  <a:pt x="7047411" y="973591"/>
                  <a:pt x="7210697" y="792888"/>
                </a:cubicBezTo>
                <a:cubicBezTo>
                  <a:pt x="7373983" y="612185"/>
                  <a:pt x="7526383" y="213767"/>
                  <a:pt x="7589520" y="87493"/>
                </a:cubicBezTo>
                <a:cubicBezTo>
                  <a:pt x="7652657" y="-38781"/>
                  <a:pt x="7621088" y="-1770"/>
                  <a:pt x="7589520" y="35242"/>
                </a:cubicBezTo>
              </a:path>
            </a:pathLst>
          </a:custGeom>
          <a:noFill/>
          <a:ln>
            <a:noFill/>
          </a:ln>
          <a:effectLst/>
        </p:spPr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</a:endParaRPr>
          </a:p>
        </p:txBody>
      </p:sp>
      <p:pic>
        <p:nvPicPr>
          <p:cNvPr id="18" name="Picture 22" descr="https://thumbs.dreamstime.com/b/%D1%83%D1%81%D1%82%D0%B0%D0%BD%D0%BE%D0%B2%D0%BB%D0%B5%D0%BD%D0%BD%D1%8B%D0%B5-%D1%81%D1%82%D1%80%D0%B5%D0%BB%D0%BA%D0%B8-%D0%BD%D0%B0%D0%B1%D0%BE%D1%80-%D1%81%D0%BE%D0%B2%D1%80%D0%B5%D0%BC%D0%B5%D0%BD%D0%BD%D0%BE%D0%B9-%D1%80%D1%83%D0%BA%D0%B8-%D0%B2%D1%8B%D1%87%D0%B5%D1%80%D1%87%D0%B5%D0%BD%D0%BD%D1%8B%D0%B9-%D1%81-%D1%87%D0%B5%D1%80%D0%BD%D1%8B%D0%BC%D0%B8-133397198.jpg"/>
          <p:cNvPicPr>
            <a:picLocks noChangeAspect="1" noChangeArrowheads="1"/>
          </p:cNvPicPr>
          <p:nvPr/>
        </p:nvPicPr>
        <p:blipFill>
          <a:blip r:embed="rId3">
            <a:duotone>
              <a:srgbClr val="A5A5A5">
                <a:shade val="45000"/>
                <a:satMod val="135000"/>
              </a:srgbClr>
              <a:prstClr val="white"/>
            </a:duotone>
          </a:blip>
          <a:srcRect r="80369" b="50000"/>
          <a:stretch/>
        </p:blipFill>
        <p:spPr bwMode="auto">
          <a:xfrm rot="12564597" flipH="1">
            <a:off x="9502715" y="4994876"/>
            <a:ext cx="489969" cy="166836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3175" y="3113533"/>
            <a:ext cx="342000" cy="63094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1750">
                <a:solidFill>
                  <a:srgbClr val="FFFFFF"/>
                </a:solidFill>
              </a:defRPr>
            </a:lvl1pPr>
          </a:lstStyle>
          <a:p>
            <a:pPr marL="0" marR="0" lvl="0" indent="0" algn="ct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sz="1750" b="0" i="0" u="none" strike="noStrike" cap="none" spc="0">
                <a:ln>
                  <a:noFill/>
                </a:ln>
                <a:solidFill>
                  <a:srgbClr val="FFFFFF"/>
                </a:solidFill>
                <a:latin typeface="Open Sans Light"/>
                <a:cs typeface="Calibri"/>
              </a:rPr>
              <a:t>4</a:t>
            </a:fld>
            <a:endParaRPr sz="175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1030626" y="892059"/>
            <a:ext cx="10117667" cy="446276"/>
          </a:xfrm>
          <a:prstGeom prst="rect">
            <a:avLst/>
          </a:prstGeom>
          <a:ln w="12700">
            <a:miter lim="400000"/>
          </a:ln>
        </p:spPr>
        <p:txBody>
          <a:bodyPr wrap="square" lIns="22860" rIns="2286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300" b="0" i="0" u="none" strike="noStrike" cap="none" spc="0">
                <a:ln>
                  <a:noFill/>
                </a:ln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</a:rPr>
              <a:t>ПОНЯТИЕ И СТРУКТУРА СИСТЕМЫ УПРАВЛЕНИЯ ОХРАНОЙ ТРУДА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1030621" y="1302335"/>
            <a:ext cx="9826916" cy="36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22860" rIns="22860" anchor="ctr"/>
          <a:lstStyle/>
          <a:p>
            <a:pPr marL="0" marR="0" lvl="0" indent="0" algn="l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175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5" name="Подзаголовок 2"/>
          <p:cNvSpPr txBox="1"/>
          <p:nvPr/>
        </p:nvSpPr>
        <p:spPr bwMode="auto">
          <a:xfrm>
            <a:off x="911424" y="1338335"/>
            <a:ext cx="3456384" cy="286312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Autofit/>
          </a:bodyPr>
          <a:lstStyle>
            <a:lvl1pPr marL="0" marR="0" indent="0" algn="r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2286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4572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6858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9144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11430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13716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16002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18288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100" b="0" i="0" u="none" strike="noStrike" cap="none" spc="0">
                <a:ln>
                  <a:noFill/>
                </a:ln>
                <a:solidFill>
                  <a:srgbClr val="535353"/>
                </a:solidFill>
                <a:latin typeface="PFDinDisplayPro-Medium"/>
                <a:ea typeface="Open Sans"/>
                <a:cs typeface="Open Sans"/>
              </a:rPr>
              <a:t>Организация системы управления охраной труда</a:t>
            </a:r>
            <a:endParaRPr sz="2800" b="0" i="0" u="none" strike="noStrike" cap="none" spc="0">
              <a:ln>
                <a:noFill/>
              </a:ln>
              <a:solidFill>
                <a:srgbClr val="535353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5B7BAB9-B763-428E-A096-848EE0F31C40}"/>
              </a:ext>
            </a:extLst>
          </p:cNvPr>
          <p:cNvSpPr/>
          <p:nvPr/>
        </p:nvSpPr>
        <p:spPr>
          <a:xfrm>
            <a:off x="4746086" y="1745796"/>
            <a:ext cx="221406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600" dirty="0">
                <a:solidFill>
                  <a:schemeClr val="bg2"/>
                </a:solidFill>
              </a:rPr>
              <a:t>Кого охватывает СУОТ?</a:t>
            </a:r>
          </a:p>
        </p:txBody>
      </p:sp>
      <p:sp>
        <p:nvSpPr>
          <p:cNvPr id="14" name="Овал 37">
            <a:extLst>
              <a:ext uri="{FF2B5EF4-FFF2-40B4-BE49-F238E27FC236}">
                <a16:creationId xmlns:a16="http://schemas.microsoft.com/office/drawing/2014/main" id="{6C247DAC-516E-45EF-A42E-D8287B8D080E}"/>
              </a:ext>
            </a:extLst>
          </p:cNvPr>
          <p:cNvSpPr/>
          <p:nvPr/>
        </p:nvSpPr>
        <p:spPr bwMode="auto">
          <a:xfrm>
            <a:off x="755256" y="3206491"/>
            <a:ext cx="2331807" cy="2331807"/>
          </a:xfrm>
          <a:prstGeom prst="ellipse">
            <a:avLst/>
          </a:prstGeom>
          <a:solidFill>
            <a:srgbClr val="1ABD9E"/>
          </a:solidFill>
          <a:ln w="952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Calibri"/>
                <a:cs typeface="Arial"/>
              </a:rPr>
              <a:t>СУОТ</a:t>
            </a:r>
          </a:p>
        </p:txBody>
      </p: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A75E3474-CA5C-40CF-A09B-37E6CD5A3A13}"/>
              </a:ext>
            </a:extLst>
          </p:cNvPr>
          <p:cNvGrpSpPr/>
          <p:nvPr/>
        </p:nvGrpSpPr>
        <p:grpSpPr>
          <a:xfrm>
            <a:off x="342948" y="2732138"/>
            <a:ext cx="3225930" cy="3229594"/>
            <a:chOff x="-22816" y="2908658"/>
            <a:chExt cx="3225930" cy="3229594"/>
          </a:xfrm>
        </p:grpSpPr>
        <p:sp>
          <p:nvSpPr>
            <p:cNvPr id="11" name="Дуга 38">
              <a:extLst>
                <a:ext uri="{FF2B5EF4-FFF2-40B4-BE49-F238E27FC236}">
                  <a16:creationId xmlns:a16="http://schemas.microsoft.com/office/drawing/2014/main" id="{734A4352-DD2B-4371-AB7F-CFA242F1CA2B}"/>
                </a:ext>
              </a:extLst>
            </p:cNvPr>
            <p:cNvSpPr/>
            <p:nvPr/>
          </p:nvSpPr>
          <p:spPr bwMode="auto">
            <a:xfrm rot="21360267">
              <a:off x="-22816" y="2998245"/>
              <a:ext cx="3121922" cy="3094533"/>
            </a:xfrm>
            <a:prstGeom prst="arc">
              <a:avLst>
                <a:gd name="adj1" fmla="val 16499433"/>
                <a:gd name="adj2" fmla="val 5624949"/>
              </a:avLst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Arial"/>
              </a:endParaRPr>
            </a:p>
          </p:txBody>
        </p:sp>
        <p:sp>
          <p:nvSpPr>
            <p:cNvPr id="12" name="Овал 39">
              <a:extLst>
                <a:ext uri="{FF2B5EF4-FFF2-40B4-BE49-F238E27FC236}">
                  <a16:creationId xmlns:a16="http://schemas.microsoft.com/office/drawing/2014/main" id="{61D1C04B-275B-45F5-BFDB-451976F7BA96}"/>
                </a:ext>
              </a:extLst>
            </p:cNvPr>
            <p:cNvSpPr/>
            <p:nvPr/>
          </p:nvSpPr>
          <p:spPr bwMode="auto">
            <a:xfrm>
              <a:off x="2946892" y="4387064"/>
              <a:ext cx="256222" cy="256222"/>
            </a:xfrm>
            <a:prstGeom prst="ellipse">
              <a:avLst/>
            </a:prstGeom>
            <a:solidFill>
              <a:srgbClr val="1ABD9E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0" cap="none" spc="0" normalizeH="0" baseline="0" noProof="0">
                <a:ln w="9525">
                  <a:solidFill>
                    <a:prstClr val="black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Arial"/>
              </a:endParaRPr>
            </a:p>
          </p:txBody>
        </p:sp>
        <p:sp>
          <p:nvSpPr>
            <p:cNvPr id="13" name="Овал 41">
              <a:extLst>
                <a:ext uri="{FF2B5EF4-FFF2-40B4-BE49-F238E27FC236}">
                  <a16:creationId xmlns:a16="http://schemas.microsoft.com/office/drawing/2014/main" id="{F48B5D57-9203-4FD5-8FF4-CD664174ED14}"/>
                </a:ext>
              </a:extLst>
            </p:cNvPr>
            <p:cNvSpPr/>
            <p:nvPr/>
          </p:nvSpPr>
          <p:spPr bwMode="auto">
            <a:xfrm>
              <a:off x="1810720" y="5882030"/>
              <a:ext cx="256222" cy="256222"/>
            </a:xfrm>
            <a:prstGeom prst="ellipse">
              <a:avLst/>
            </a:prstGeom>
            <a:solidFill>
              <a:srgbClr val="1ABD9E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0" cap="none" spc="0" normalizeH="0" baseline="0" noProof="0">
                <a:ln w="9525">
                  <a:solidFill>
                    <a:prstClr val="black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Arial"/>
              </a:endParaRPr>
            </a:p>
          </p:txBody>
        </p:sp>
        <p:sp>
          <p:nvSpPr>
            <p:cNvPr id="15" name="Овал 40">
              <a:extLst>
                <a:ext uri="{FF2B5EF4-FFF2-40B4-BE49-F238E27FC236}">
                  <a16:creationId xmlns:a16="http://schemas.microsoft.com/office/drawing/2014/main" id="{85483C16-1525-4F30-864C-BE6EC3DBB908}"/>
                </a:ext>
              </a:extLst>
            </p:cNvPr>
            <p:cNvSpPr/>
            <p:nvPr/>
          </p:nvSpPr>
          <p:spPr bwMode="auto">
            <a:xfrm>
              <a:off x="1810720" y="2908658"/>
              <a:ext cx="256222" cy="256222"/>
            </a:xfrm>
            <a:prstGeom prst="ellipse">
              <a:avLst/>
            </a:prstGeom>
            <a:solidFill>
              <a:srgbClr val="1ABD9E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0" cap="none" spc="0" normalizeH="0" baseline="0" noProof="0">
                <a:ln w="9525">
                  <a:solidFill>
                    <a:prstClr val="black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Arial"/>
              </a:endParaRPr>
            </a:p>
          </p:txBody>
        </p:sp>
      </p:grpSp>
      <p:sp>
        <p:nvSpPr>
          <p:cNvPr id="16" name="Прямоугольник: скругленные углы 46">
            <a:extLst>
              <a:ext uri="{FF2B5EF4-FFF2-40B4-BE49-F238E27FC236}">
                <a16:creationId xmlns:a16="http://schemas.microsoft.com/office/drawing/2014/main" id="{FDDD8340-42BE-4DCF-8B69-8340D01C2A93}"/>
              </a:ext>
            </a:extLst>
          </p:cNvPr>
          <p:cNvSpPr/>
          <p:nvPr/>
        </p:nvSpPr>
        <p:spPr bwMode="auto">
          <a:xfrm>
            <a:off x="3431704" y="2544053"/>
            <a:ext cx="3456384" cy="641463"/>
          </a:xfrm>
          <a:prstGeom prst="roundRect">
            <a:avLst>
              <a:gd name="adj" fmla="val 16667"/>
            </a:avLst>
          </a:prstGeom>
          <a:solidFill>
            <a:srgbClr val="1ABD9E"/>
          </a:solidFill>
          <a:ln w="9525" cap="flat" cmpd="sng" algn="ctr">
            <a:solidFill>
              <a:sysClr val="windowText" lastClr="000000">
                <a:lumMod val="95000"/>
                <a:lumOff val="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ctr">
              <a:defRPr/>
            </a:pPr>
            <a:r>
              <a:rPr lang="ru-RU" sz="1600">
                <a:solidFill>
                  <a:schemeClr val="bg2"/>
                </a:solidFill>
                <a:cs typeface="Arial"/>
              </a:rPr>
              <a:t>Работники</a:t>
            </a:r>
            <a:endParaRPr kumimoji="0" lang="ru-RU" sz="16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17" name="Прямоугольник: скругленные углы 52">
            <a:extLst>
              <a:ext uri="{FF2B5EF4-FFF2-40B4-BE49-F238E27FC236}">
                <a16:creationId xmlns:a16="http://schemas.microsoft.com/office/drawing/2014/main" id="{52BF8EF0-9A3D-4043-BF0B-8792679F9FD3}"/>
              </a:ext>
            </a:extLst>
          </p:cNvPr>
          <p:cNvSpPr/>
          <p:nvPr/>
        </p:nvSpPr>
        <p:spPr bwMode="auto">
          <a:xfrm>
            <a:off x="3913519" y="3835013"/>
            <a:ext cx="3456384" cy="641463"/>
          </a:xfrm>
          <a:prstGeom prst="roundRect">
            <a:avLst>
              <a:gd name="adj" fmla="val 16667"/>
            </a:avLst>
          </a:prstGeom>
          <a:solidFill>
            <a:srgbClr val="1ABD9E"/>
          </a:solidFill>
          <a:ln w="9525" cap="flat" cmpd="sng" algn="ctr">
            <a:solidFill>
              <a:sysClr val="windowText" lastClr="000000">
                <a:lumMod val="95000"/>
                <a:lumOff val="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ctr">
              <a:defRPr/>
            </a:pPr>
            <a:r>
              <a:rPr lang="ru-RU" sz="1600" dirty="0">
                <a:solidFill>
                  <a:schemeClr val="bg2"/>
                </a:solidFill>
                <a:cs typeface="Arial"/>
              </a:rPr>
              <a:t>Территория</a:t>
            </a:r>
            <a:endParaRPr kumimoji="0" lang="ru-RU" sz="16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18" name="Прямоугольник: скругленные углы 56">
            <a:extLst>
              <a:ext uri="{FF2B5EF4-FFF2-40B4-BE49-F238E27FC236}">
                <a16:creationId xmlns:a16="http://schemas.microsoft.com/office/drawing/2014/main" id="{E7B01E21-D19E-40A7-88B1-C110A4B35E54}"/>
              </a:ext>
            </a:extLst>
          </p:cNvPr>
          <p:cNvSpPr/>
          <p:nvPr/>
        </p:nvSpPr>
        <p:spPr bwMode="auto">
          <a:xfrm>
            <a:off x="3431704" y="5373216"/>
            <a:ext cx="3456384" cy="641463"/>
          </a:xfrm>
          <a:prstGeom prst="roundRect">
            <a:avLst>
              <a:gd name="adj" fmla="val 16667"/>
            </a:avLst>
          </a:prstGeom>
          <a:solidFill>
            <a:srgbClr val="1ABD9E"/>
          </a:solidFill>
          <a:ln w="9525" cap="flat" cmpd="sng" algn="ctr">
            <a:solidFill>
              <a:sysClr val="windowText" lastClr="000000">
                <a:lumMod val="95000"/>
                <a:lumOff val="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ctr">
              <a:defRPr/>
            </a:pPr>
            <a:r>
              <a:rPr lang="ru-RU" sz="1600" dirty="0">
                <a:solidFill>
                  <a:schemeClr val="bg2"/>
                </a:solidFill>
                <a:cs typeface="Arial"/>
              </a:rPr>
              <a:t>Третьи лица  </a:t>
            </a:r>
            <a:endParaRPr kumimoji="0" lang="ru-RU" sz="16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1F6485B-E2CC-4F54-B8F8-6784CF18FDF9}"/>
              </a:ext>
            </a:extLst>
          </p:cNvPr>
          <p:cNvSpPr/>
          <p:nvPr/>
        </p:nvSpPr>
        <p:spPr>
          <a:xfrm>
            <a:off x="3431704" y="3144767"/>
            <a:ext cx="322235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>
                <a:solidFill>
                  <a:schemeClr val="bg2"/>
                </a:solidFill>
              </a:rPr>
              <a:t>Все сотрудники по трудовому договору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A8AE3FF-9906-4A32-BEDF-B3B94BD40C1A}"/>
              </a:ext>
            </a:extLst>
          </p:cNvPr>
          <p:cNvSpPr/>
          <p:nvPr/>
        </p:nvSpPr>
        <p:spPr>
          <a:xfrm>
            <a:off x="4007768" y="4475696"/>
            <a:ext cx="352981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chemeClr val="bg2"/>
                </a:solidFill>
              </a:rPr>
              <a:t>Все рабочие места, подразделения, филиалы, здания, сооружения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C797418-DF3E-43BE-B48A-C21F2B02273F}"/>
              </a:ext>
            </a:extLst>
          </p:cNvPr>
          <p:cNvSpPr/>
          <p:nvPr/>
        </p:nvSpPr>
        <p:spPr>
          <a:xfrm>
            <a:off x="3431705" y="6013118"/>
            <a:ext cx="345638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chemeClr val="bg2"/>
                </a:solidFill>
              </a:rPr>
              <a:t>Все, кто находится на территории (надзор, подрядчики)</a:t>
            </a: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0D874652-1A0F-42BA-A564-949D27B6EFEF}"/>
              </a:ext>
            </a:extLst>
          </p:cNvPr>
          <p:cNvGrpSpPr/>
          <p:nvPr/>
        </p:nvGrpSpPr>
        <p:grpSpPr>
          <a:xfrm>
            <a:off x="5399193" y="2684716"/>
            <a:ext cx="3225930" cy="3229594"/>
            <a:chOff x="5555706" y="2626353"/>
            <a:chExt cx="3225930" cy="3229594"/>
          </a:xfrm>
        </p:grpSpPr>
        <p:sp>
          <p:nvSpPr>
            <p:cNvPr id="52" name="Дуга 38">
              <a:extLst>
                <a:ext uri="{FF2B5EF4-FFF2-40B4-BE49-F238E27FC236}">
                  <a16:creationId xmlns:a16="http://schemas.microsoft.com/office/drawing/2014/main" id="{984AD12C-E4B1-4168-B6B0-C4024C7902C9}"/>
                </a:ext>
              </a:extLst>
            </p:cNvPr>
            <p:cNvSpPr/>
            <p:nvPr/>
          </p:nvSpPr>
          <p:spPr bwMode="auto">
            <a:xfrm rot="21360267">
              <a:off x="5555706" y="2715940"/>
              <a:ext cx="3121922" cy="3094533"/>
            </a:xfrm>
            <a:prstGeom prst="arc">
              <a:avLst>
                <a:gd name="adj1" fmla="val 16499433"/>
                <a:gd name="adj2" fmla="val 5624949"/>
              </a:avLst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Arial"/>
              </a:endParaRPr>
            </a:p>
          </p:txBody>
        </p:sp>
        <p:sp>
          <p:nvSpPr>
            <p:cNvPr id="53" name="Овал 39">
              <a:extLst>
                <a:ext uri="{FF2B5EF4-FFF2-40B4-BE49-F238E27FC236}">
                  <a16:creationId xmlns:a16="http://schemas.microsoft.com/office/drawing/2014/main" id="{441B6137-B794-4E80-99B0-1E448CA965D1}"/>
                </a:ext>
              </a:extLst>
            </p:cNvPr>
            <p:cNvSpPr/>
            <p:nvPr/>
          </p:nvSpPr>
          <p:spPr bwMode="auto">
            <a:xfrm>
              <a:off x="8525414" y="4104759"/>
              <a:ext cx="256222" cy="256222"/>
            </a:xfrm>
            <a:prstGeom prst="ellipse">
              <a:avLst/>
            </a:prstGeom>
            <a:solidFill>
              <a:srgbClr val="1ABD9E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0" cap="none" spc="0" normalizeH="0" baseline="0" noProof="0">
                <a:ln w="9525">
                  <a:solidFill>
                    <a:prstClr val="black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Arial"/>
              </a:endParaRPr>
            </a:p>
          </p:txBody>
        </p:sp>
        <p:sp>
          <p:nvSpPr>
            <p:cNvPr id="54" name="Овал 41">
              <a:extLst>
                <a:ext uri="{FF2B5EF4-FFF2-40B4-BE49-F238E27FC236}">
                  <a16:creationId xmlns:a16="http://schemas.microsoft.com/office/drawing/2014/main" id="{07E328AB-C069-4FBE-B8A6-AA019FB2AFC4}"/>
                </a:ext>
              </a:extLst>
            </p:cNvPr>
            <p:cNvSpPr/>
            <p:nvPr/>
          </p:nvSpPr>
          <p:spPr bwMode="auto">
            <a:xfrm>
              <a:off x="7389242" y="5599725"/>
              <a:ext cx="256222" cy="256222"/>
            </a:xfrm>
            <a:prstGeom prst="ellipse">
              <a:avLst/>
            </a:prstGeom>
            <a:solidFill>
              <a:srgbClr val="1ABD9E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0" cap="none" spc="0" normalizeH="0" baseline="0" noProof="0">
                <a:ln w="9525">
                  <a:solidFill>
                    <a:prstClr val="black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Arial"/>
              </a:endParaRPr>
            </a:p>
          </p:txBody>
        </p:sp>
        <p:sp>
          <p:nvSpPr>
            <p:cNvPr id="55" name="Овал 40">
              <a:extLst>
                <a:ext uri="{FF2B5EF4-FFF2-40B4-BE49-F238E27FC236}">
                  <a16:creationId xmlns:a16="http://schemas.microsoft.com/office/drawing/2014/main" id="{60230E77-2B6B-4735-8021-0A4DFE2C99DB}"/>
                </a:ext>
              </a:extLst>
            </p:cNvPr>
            <p:cNvSpPr/>
            <p:nvPr/>
          </p:nvSpPr>
          <p:spPr bwMode="auto">
            <a:xfrm>
              <a:off x="7389242" y="2626353"/>
              <a:ext cx="256222" cy="256222"/>
            </a:xfrm>
            <a:prstGeom prst="ellipse">
              <a:avLst/>
            </a:prstGeom>
            <a:solidFill>
              <a:srgbClr val="1ABD9E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0" cap="none" spc="0" normalizeH="0" baseline="0" noProof="0">
                <a:ln w="9525">
                  <a:solidFill>
                    <a:prstClr val="black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Arial"/>
              </a:endParaRPr>
            </a:p>
          </p:txBody>
        </p:sp>
      </p:grp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D1BAD33-D5DF-4BD5-B2A8-FE1ED6E6F7EF}"/>
              </a:ext>
            </a:extLst>
          </p:cNvPr>
          <p:cNvSpPr/>
          <p:nvPr/>
        </p:nvSpPr>
        <p:spPr>
          <a:xfrm>
            <a:off x="9048317" y="3875734"/>
            <a:ext cx="218971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b="1" dirty="0">
                <a:solidFill>
                  <a:schemeClr val="bg2"/>
                </a:solidFill>
              </a:rPr>
              <a:t>Как доводится: </a:t>
            </a:r>
            <a:r>
              <a:rPr lang="ru-RU" sz="1600" dirty="0">
                <a:solidFill>
                  <a:schemeClr val="bg2"/>
                </a:solidFill>
              </a:rPr>
              <a:t>Вводный инструктаж и договоры подряда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4611AD6B-B32F-4BB0-9EF4-D09DD94C80E8}"/>
              </a:ext>
            </a:extLst>
          </p:cNvPr>
          <p:cNvSpPr/>
          <p:nvPr/>
        </p:nvSpPr>
        <p:spPr>
          <a:xfrm>
            <a:off x="8616269" y="4125645"/>
            <a:ext cx="43204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📢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" name="Рисунок 1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8904312" y="4813821"/>
            <a:ext cx="3287688" cy="2044179"/>
          </a:xfrm>
          <a:prstGeom prst="rect">
            <a:avLst/>
          </a:prstGeom>
        </p:spPr>
      </p:pic>
      <p:sp>
        <p:nvSpPr>
          <p:cNvPr id="13" name="Прямоугольник 11">
            <a:extLst>
              <a:ext uri="{FF2B5EF4-FFF2-40B4-BE49-F238E27FC236}">
                <a16:creationId xmlns:a16="http://schemas.microsoft.com/office/drawing/2014/main" id="{50646DA7-D805-43F5-A32A-F78A18278D6D}"/>
              </a:ext>
            </a:extLst>
          </p:cNvPr>
          <p:cNvSpPr/>
          <p:nvPr/>
        </p:nvSpPr>
        <p:spPr bwMode="auto">
          <a:xfrm>
            <a:off x="-937062" y="-249968"/>
            <a:ext cx="6626820" cy="7357936"/>
          </a:xfrm>
          <a:custGeom>
            <a:avLst/>
            <a:gdLst>
              <a:gd name="connsiteX0" fmla="*/ 0 w 6095999"/>
              <a:gd name="connsiteY0" fmla="*/ 0 h 6858000"/>
              <a:gd name="connsiteX1" fmla="*/ 6095999 w 6095999"/>
              <a:gd name="connsiteY1" fmla="*/ 0 h 6858000"/>
              <a:gd name="connsiteX2" fmla="*/ 6095999 w 6095999"/>
              <a:gd name="connsiteY2" fmla="*/ 6858000 h 6858000"/>
              <a:gd name="connsiteX3" fmla="*/ 0 w 6095999"/>
              <a:gd name="connsiteY3" fmla="*/ 6858000 h 6858000"/>
              <a:gd name="connsiteX4" fmla="*/ 0 w 6095999"/>
              <a:gd name="connsiteY4" fmla="*/ 0 h 6858000"/>
              <a:gd name="connsiteX0" fmla="*/ 0 w 6095999"/>
              <a:gd name="connsiteY0" fmla="*/ 193524 h 7051524"/>
              <a:gd name="connsiteX1" fmla="*/ 6095999 w 6095999"/>
              <a:gd name="connsiteY1" fmla="*/ 193524 h 7051524"/>
              <a:gd name="connsiteX2" fmla="*/ 6095999 w 6095999"/>
              <a:gd name="connsiteY2" fmla="*/ 7051524 h 7051524"/>
              <a:gd name="connsiteX3" fmla="*/ 0 w 6095999"/>
              <a:gd name="connsiteY3" fmla="*/ 7051524 h 7051524"/>
              <a:gd name="connsiteX4" fmla="*/ 0 w 6095999"/>
              <a:gd name="connsiteY4" fmla="*/ 193524 h 7051524"/>
              <a:gd name="connsiteX0" fmla="*/ 0 w 6199211"/>
              <a:gd name="connsiteY0" fmla="*/ 193524 h 7051524"/>
              <a:gd name="connsiteX1" fmla="*/ 6095999 w 6199211"/>
              <a:gd name="connsiteY1" fmla="*/ 193524 h 7051524"/>
              <a:gd name="connsiteX2" fmla="*/ 6095999 w 6199211"/>
              <a:gd name="connsiteY2" fmla="*/ 7051524 h 7051524"/>
              <a:gd name="connsiteX3" fmla="*/ 0 w 6199211"/>
              <a:gd name="connsiteY3" fmla="*/ 7051524 h 7051524"/>
              <a:gd name="connsiteX4" fmla="*/ 0 w 6199211"/>
              <a:gd name="connsiteY4" fmla="*/ 193524 h 7051524"/>
              <a:gd name="connsiteX0" fmla="*/ 0 w 6152579"/>
              <a:gd name="connsiteY0" fmla="*/ 193524 h 7051524"/>
              <a:gd name="connsiteX1" fmla="*/ 6095999 w 6152579"/>
              <a:gd name="connsiteY1" fmla="*/ 193524 h 7051524"/>
              <a:gd name="connsiteX2" fmla="*/ 6095999 w 6152579"/>
              <a:gd name="connsiteY2" fmla="*/ 7051524 h 7051524"/>
              <a:gd name="connsiteX3" fmla="*/ 0 w 6152579"/>
              <a:gd name="connsiteY3" fmla="*/ 7051524 h 7051524"/>
              <a:gd name="connsiteX4" fmla="*/ 0 w 6152579"/>
              <a:gd name="connsiteY4" fmla="*/ 193524 h 7051524"/>
              <a:gd name="connsiteX0" fmla="*/ 0 w 6152579"/>
              <a:gd name="connsiteY0" fmla="*/ 193524 h 7225695"/>
              <a:gd name="connsiteX1" fmla="*/ 6095999 w 6152579"/>
              <a:gd name="connsiteY1" fmla="*/ 193524 h 7225695"/>
              <a:gd name="connsiteX2" fmla="*/ 6095999 w 6152579"/>
              <a:gd name="connsiteY2" fmla="*/ 7051524 h 7225695"/>
              <a:gd name="connsiteX3" fmla="*/ 0 w 6152579"/>
              <a:gd name="connsiteY3" fmla="*/ 7051524 h 7225695"/>
              <a:gd name="connsiteX4" fmla="*/ 0 w 6152579"/>
              <a:gd name="connsiteY4" fmla="*/ 193524 h 7225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52579" h="7225695" extrusionOk="0">
                <a:moveTo>
                  <a:pt x="0" y="193524"/>
                </a:moveTo>
                <a:cubicBezTo>
                  <a:pt x="2032000" y="193524"/>
                  <a:pt x="4165599" y="-241905"/>
                  <a:pt x="6095999" y="193524"/>
                </a:cubicBezTo>
                <a:cubicBezTo>
                  <a:pt x="6328228" y="2566610"/>
                  <a:pt x="5747656" y="4910667"/>
                  <a:pt x="6095999" y="7051524"/>
                </a:cubicBezTo>
                <a:cubicBezTo>
                  <a:pt x="4049484" y="7443410"/>
                  <a:pt x="2032000" y="7051524"/>
                  <a:pt x="0" y="7051524"/>
                </a:cubicBezTo>
                <a:lnTo>
                  <a:pt x="0" y="193524"/>
                </a:lnTo>
                <a:close/>
              </a:path>
            </a:pathLst>
          </a:custGeom>
          <a:solidFill>
            <a:srgbClr val="E6E6E6"/>
          </a:solidFill>
          <a:ln w="12700" cap="flat" cmpd="sng" algn="ctr">
            <a:solidFill>
              <a:srgbClr val="E6E6E6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285750" marR="0" lvl="0" indent="-28575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ru-RU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3175" y="3113533"/>
            <a:ext cx="342000" cy="63094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1750">
                <a:solidFill>
                  <a:srgbClr val="FFFFFF"/>
                </a:solidFill>
              </a:defRPr>
            </a:lvl1pPr>
          </a:lstStyle>
          <a:p>
            <a:pPr marL="0" marR="0" lvl="0" indent="0" algn="ct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sz="1750" b="0" i="0" u="none" strike="noStrike" cap="none" spc="0">
                <a:ln>
                  <a:noFill/>
                </a:ln>
                <a:solidFill>
                  <a:srgbClr val="FFFFFF"/>
                </a:solidFill>
                <a:latin typeface="Open Sans Light"/>
                <a:cs typeface="Calibri"/>
              </a:rPr>
              <a:t>5</a:t>
            </a:fld>
            <a:endParaRPr sz="175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1030626" y="892059"/>
            <a:ext cx="10117667" cy="446276"/>
          </a:xfrm>
          <a:prstGeom prst="rect">
            <a:avLst/>
          </a:prstGeom>
          <a:ln w="12700">
            <a:miter lim="400000"/>
          </a:ln>
        </p:spPr>
        <p:txBody>
          <a:bodyPr wrap="square" lIns="22860" rIns="2286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300" b="0" i="0" u="none" strike="noStrike" cap="none" spc="0">
                <a:ln>
                  <a:noFill/>
                </a:ln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</a:rPr>
              <a:t>ПОНЯТИЕ И СТРУКТУРА СИСТЕМЫ УПРАВЛЕНИЯ ОХРАНОЙ ТРУДА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1030621" y="1302335"/>
            <a:ext cx="9826916" cy="36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22860" rIns="22860" anchor="ctr"/>
          <a:lstStyle/>
          <a:p>
            <a:pPr marL="0" marR="0" lvl="0" indent="0" algn="l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175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5" name="Подзаголовок 2"/>
          <p:cNvSpPr txBox="1"/>
          <p:nvPr/>
        </p:nvSpPr>
        <p:spPr bwMode="auto">
          <a:xfrm>
            <a:off x="911424" y="1338335"/>
            <a:ext cx="3456384" cy="286312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Autofit/>
          </a:bodyPr>
          <a:lstStyle>
            <a:lvl1pPr marL="0" marR="0" indent="0" algn="r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2286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4572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6858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9144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11430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13716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16002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18288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100" b="0" i="0" u="none" strike="noStrike" cap="none" spc="0">
                <a:ln>
                  <a:noFill/>
                </a:ln>
                <a:solidFill>
                  <a:srgbClr val="535353"/>
                </a:solidFill>
                <a:latin typeface="PFDinDisplayPro-Medium"/>
                <a:ea typeface="Open Sans"/>
                <a:cs typeface="Open Sans"/>
              </a:rPr>
              <a:t>Организация системы управления охраной труда</a:t>
            </a:r>
            <a:endParaRPr sz="2800" b="0" i="0" u="none" strike="noStrike" cap="none" spc="0">
              <a:ln>
                <a:noFill/>
              </a:ln>
              <a:solidFill>
                <a:srgbClr val="535353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3E4243D-DA15-44E3-8093-922896E6FBB6}"/>
              </a:ext>
            </a:extLst>
          </p:cNvPr>
          <p:cNvSpPr/>
          <p:nvPr/>
        </p:nvSpPr>
        <p:spPr>
          <a:xfrm>
            <a:off x="1171734" y="2274838"/>
            <a:ext cx="446252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bg2"/>
                </a:solidFill>
              </a:rPr>
              <a:t>Разработка СУОТ ведется с учетом:</a:t>
            </a:r>
          </a:p>
          <a:p>
            <a:endParaRPr lang="ru-RU" b="1" dirty="0">
              <a:solidFill>
                <a:schemeClr val="bg2"/>
              </a:solidFill>
            </a:endParaRPr>
          </a:p>
          <a:p>
            <a:r>
              <a:rPr lang="ru-RU" dirty="0">
                <a:solidFill>
                  <a:schemeClr val="bg2"/>
                </a:solidFill>
              </a:rPr>
              <a:t>👉 Специфики деятельности организации</a:t>
            </a:r>
          </a:p>
          <a:p>
            <a:r>
              <a:rPr lang="ru-RU" dirty="0">
                <a:solidFill>
                  <a:schemeClr val="bg2"/>
                </a:solidFill>
              </a:rPr>
              <a:t>👉 Обязательств по охране труда (стандарты, руководства)</a:t>
            </a:r>
          </a:p>
          <a:p>
            <a:r>
              <a:rPr lang="ru-RU" dirty="0">
                <a:solidFill>
                  <a:schemeClr val="bg2"/>
                </a:solidFill>
              </a:rPr>
              <a:t>👉 Современных практик и достижений науки</a:t>
            </a:r>
          </a:p>
          <a:p>
            <a:endParaRPr lang="ru-RU" dirty="0">
              <a:solidFill>
                <a:schemeClr val="bg2"/>
              </a:solidFill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D931D9F-03FB-4EE9-9E5D-4843369A3B19}"/>
              </a:ext>
            </a:extLst>
          </p:cNvPr>
          <p:cNvSpPr/>
          <p:nvPr/>
        </p:nvSpPr>
        <p:spPr>
          <a:xfrm>
            <a:off x="6579511" y="2157185"/>
            <a:ext cx="4649602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b="1" dirty="0">
                <a:solidFill>
                  <a:schemeClr val="bg2"/>
                </a:solidFill>
              </a:rPr>
              <a:t>Ожидаемые результаты:</a:t>
            </a:r>
          </a:p>
          <a:p>
            <a:pPr lvl="0"/>
            <a:endParaRPr lang="ru-RU" dirty="0">
              <a:solidFill>
                <a:schemeClr val="bg2"/>
              </a:solidFill>
            </a:endParaRPr>
          </a:p>
          <a:p>
            <a:pPr lvl="0"/>
            <a:r>
              <a:rPr lang="ru-RU" dirty="0">
                <a:solidFill>
                  <a:schemeClr val="bg2"/>
                </a:solidFill>
              </a:rPr>
              <a:t>📈 Постоянное улучшение показателей охраны труда</a:t>
            </a:r>
          </a:p>
          <a:p>
            <a:pPr lvl="0"/>
            <a:r>
              <a:rPr lang="ru-RU" dirty="0">
                <a:solidFill>
                  <a:schemeClr val="bg2"/>
                </a:solidFill>
              </a:rPr>
              <a:t>⚖️ Соблюдение законодательных норм</a:t>
            </a:r>
          </a:p>
          <a:p>
            <a:pPr lvl="0"/>
            <a:r>
              <a:rPr lang="ru-RU" dirty="0">
                <a:solidFill>
                  <a:schemeClr val="bg2"/>
                </a:solidFill>
              </a:rPr>
              <a:t>🎯 Достижение целей в области охраны труда</a:t>
            </a:r>
          </a:p>
          <a:p>
            <a:pPr lvl="0"/>
            <a:endParaRPr lang="ru-RU" dirty="0">
              <a:solidFill>
                <a:schemeClr val="bg2"/>
              </a:solidFill>
            </a:endParaRPr>
          </a:p>
          <a:p>
            <a:pPr lvl="0"/>
            <a:r>
              <a:rPr lang="ru-RU" b="1" dirty="0">
                <a:solidFill>
                  <a:srgbClr val="1ABD9E"/>
                </a:solidFill>
              </a:rPr>
              <a:t>📌 Главная цель: </a:t>
            </a:r>
            <a:r>
              <a:rPr lang="ru-RU" dirty="0">
                <a:solidFill>
                  <a:schemeClr val="bg2"/>
                </a:solidFill>
              </a:rPr>
              <a:t>исключение и минимизация профессиональных рисков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6E70070-E737-438A-A848-5B6F3DF05387}"/>
              </a:ext>
            </a:extLst>
          </p:cNvPr>
          <p:cNvSpPr/>
          <p:nvPr/>
        </p:nvSpPr>
        <p:spPr>
          <a:xfrm>
            <a:off x="1127448" y="1763499"/>
            <a:ext cx="24978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bg2"/>
                </a:solidFill>
              </a:rPr>
              <a:t>Цели и принципы СУОТ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C5EF14E-657C-43EA-B94F-BD6B1ABDF0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5303912" y="1748611"/>
            <a:ext cx="8033589" cy="844668"/>
          </a:xfrm>
          <a:prstGeom prst="rect">
            <a:avLst/>
          </a:prstGeom>
        </p:spPr>
      </p:pic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3175" y="3113533"/>
            <a:ext cx="342000" cy="63094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1750">
                <a:solidFill>
                  <a:srgbClr val="FFFFFF"/>
                </a:solidFill>
              </a:defRPr>
            </a:lvl1pPr>
          </a:lstStyle>
          <a:p>
            <a:pPr marL="0" marR="0" lvl="0" indent="0" algn="ct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sz="1750" b="0" i="0" u="none" strike="noStrike" cap="none" spc="0">
                <a:ln>
                  <a:noFill/>
                </a:ln>
                <a:solidFill>
                  <a:srgbClr val="FFFFFF"/>
                </a:solidFill>
                <a:latin typeface="Open Sans Light"/>
                <a:cs typeface="Calibri"/>
              </a:rPr>
              <a:t>6</a:t>
            </a:fld>
            <a:endParaRPr sz="175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1030626" y="892059"/>
            <a:ext cx="10117667" cy="446276"/>
          </a:xfrm>
          <a:prstGeom prst="rect">
            <a:avLst/>
          </a:prstGeom>
          <a:ln w="12700">
            <a:miter lim="400000"/>
          </a:ln>
        </p:spPr>
        <p:txBody>
          <a:bodyPr wrap="square" lIns="22860" rIns="2286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457200">
              <a:defRPr/>
            </a:pPr>
            <a:r>
              <a:rPr lang="ru-RU" sz="230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</a:rPr>
              <a:t>ПОЛИТИКА И ЦЕЛИ РАБОТОДАТЕЛЯ В ОБЛАСТИ ОХРАНЫ ТРУДА</a:t>
            </a:r>
            <a:endParaRPr lang="ru-RU" sz="2300" b="0" i="0" u="none" strike="noStrike" cap="none" spc="0">
              <a:ln>
                <a:noFill/>
              </a:ln>
              <a:solidFill>
                <a:srgbClr val="404040"/>
              </a:solidFill>
              <a:latin typeface="PFDinDisplayPro-Regular"/>
              <a:ea typeface="PFDinDisplayPro-Regular"/>
              <a:cs typeface="PFDinDisplayPro-Regular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1030623" y="1302335"/>
            <a:ext cx="9433839" cy="36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22860" rIns="22860" anchor="ctr"/>
          <a:lstStyle/>
          <a:p>
            <a:pPr marL="0" marR="0" lvl="0" indent="0" algn="l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175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5" name="Подзаголовок 2"/>
          <p:cNvSpPr txBox="1"/>
          <p:nvPr/>
        </p:nvSpPr>
        <p:spPr bwMode="auto">
          <a:xfrm>
            <a:off x="911424" y="1338335"/>
            <a:ext cx="3456384" cy="286312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Autofit/>
          </a:bodyPr>
          <a:lstStyle>
            <a:lvl1pPr marL="0" marR="0" indent="0" algn="r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2286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4572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6858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9144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11430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13716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16002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18288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100" b="0" i="0" u="none" strike="noStrike" cap="none" spc="0">
                <a:ln>
                  <a:noFill/>
                </a:ln>
                <a:solidFill>
                  <a:srgbClr val="535353"/>
                </a:solidFill>
                <a:latin typeface="PFDinDisplayPro-Medium"/>
                <a:ea typeface="Open Sans"/>
                <a:cs typeface="Open Sans"/>
              </a:rPr>
              <a:t>Организация системы управления охраной труда</a:t>
            </a:r>
            <a:endParaRPr sz="2800" b="0" i="0" u="none" strike="noStrike" cap="none" spc="0">
              <a:ln>
                <a:noFill/>
              </a:ln>
              <a:solidFill>
                <a:srgbClr val="535353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9" name="Текст 3"/>
          <p:cNvSpPr txBox="1"/>
          <p:nvPr/>
        </p:nvSpPr>
        <p:spPr bwMode="auto">
          <a:xfrm>
            <a:off x="939777" y="2102251"/>
            <a:ext cx="3925227" cy="1098620"/>
          </a:xfrm>
          <a:prstGeom prst="rect">
            <a:avLst/>
          </a:prstGeom>
          <a:ln w="25400">
            <a:miter lim="400000"/>
          </a:ln>
        </p:spPr>
        <p:txBody>
          <a:bodyPr tIns="91439" bIns="91439">
            <a:noAutofit/>
          </a:bodyPr>
          <a:lstStyle>
            <a:lvl1pPr marL="0" marR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2286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4572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6858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9144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11430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13716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16002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18288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600" b="1" i="0" u="none" strike="noStrike" cap="none" spc="0" dirty="0">
                <a:ln>
                  <a:noFill/>
                </a:ln>
                <a:solidFill>
                  <a:srgbClr val="A7A7A7">
                    <a:lumMod val="50000"/>
                  </a:srgbClr>
                </a:solidFill>
                <a:latin typeface="Calibri"/>
                <a:ea typeface="Open Sans Semibold"/>
                <a:cs typeface="Open Sans Semibold"/>
              </a:rPr>
              <a:t>Политика </a:t>
            </a:r>
            <a:r>
              <a:rPr lang="ru-RU" sz="1600" b="0" i="0" u="none" strike="noStrike" cap="none" spc="0" dirty="0">
                <a:ln>
                  <a:noFill/>
                </a:ln>
                <a:solidFill>
                  <a:srgbClr val="535353"/>
                </a:solidFill>
                <a:latin typeface="Calibri"/>
                <a:ea typeface="Open Sans Semibold"/>
                <a:cs typeface="Open Sans Semibold"/>
              </a:rPr>
              <a:t>– это намерения и направление развития организации, официально сформулированные высшим</a:t>
            </a:r>
            <a:endParaRPr sz="1200" b="0" i="0" u="none" strike="noStrike" cap="none" spc="0" dirty="0">
              <a:ln>
                <a:noFill/>
              </a:ln>
              <a:solidFill>
                <a:srgbClr val="535353"/>
              </a:solidFill>
              <a:latin typeface="Open Sans"/>
              <a:ea typeface="Open Sans"/>
              <a:cs typeface="Open Sans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600" b="0" i="0" u="none" strike="noStrike" cap="none" spc="0" dirty="0">
                <a:ln>
                  <a:noFill/>
                </a:ln>
                <a:solidFill>
                  <a:srgbClr val="535353"/>
                </a:solidFill>
                <a:latin typeface="Calibri"/>
                <a:ea typeface="Open Sans Semibold"/>
                <a:cs typeface="Open Sans Semibold"/>
              </a:rPr>
              <a:t>руководством.</a:t>
            </a:r>
            <a:endParaRPr sz="1200" b="0" i="0" u="none" strike="noStrike" cap="none" spc="0" dirty="0">
              <a:ln>
                <a:noFill/>
              </a:ln>
              <a:solidFill>
                <a:srgbClr val="535353"/>
              </a:solidFill>
              <a:latin typeface="Open Sans"/>
              <a:ea typeface="Open Sans"/>
              <a:cs typeface="Open Sans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600" b="0" i="0" u="none" strike="noStrike" cap="none" spc="0" dirty="0">
              <a:ln>
                <a:noFill/>
              </a:ln>
              <a:solidFill>
                <a:srgbClr val="535353"/>
              </a:solidFill>
              <a:latin typeface="Calibri"/>
              <a:ea typeface="Open Sans Semibold"/>
              <a:cs typeface="Open Sans Semibold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600" b="0" i="0" u="none" strike="noStrike" cap="none" spc="0" dirty="0">
              <a:ln>
                <a:noFill/>
              </a:ln>
              <a:solidFill>
                <a:srgbClr val="535353"/>
              </a:solidFill>
              <a:latin typeface="Calibri"/>
              <a:ea typeface="Open Sans Semibold"/>
              <a:cs typeface="Open Sans Semibold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600" b="1" i="0" u="none" strike="noStrike" cap="none" spc="0" dirty="0">
                <a:ln>
                  <a:noFill/>
                </a:ln>
                <a:solidFill>
                  <a:srgbClr val="A7A7A7">
                    <a:lumMod val="50000"/>
                  </a:srgbClr>
                </a:solidFill>
                <a:latin typeface="Calibri"/>
                <a:ea typeface="Open Sans Semibold"/>
                <a:cs typeface="Open Sans Semibold"/>
              </a:rPr>
              <a:t>Политика охраны здоровья и безопасности труда </a:t>
            </a:r>
            <a:r>
              <a:rPr lang="ru-RU" sz="1600" b="0" i="0" u="none" strike="noStrike" cap="none" spc="0" dirty="0">
                <a:ln>
                  <a:noFill/>
                </a:ln>
                <a:solidFill>
                  <a:srgbClr val="535353"/>
                </a:solidFill>
                <a:latin typeface="Calibri"/>
                <a:ea typeface="Open Sans Semibold"/>
                <a:cs typeface="Open Sans Semibold"/>
              </a:rPr>
              <a:t>– это политика для предотвращения производственных травм и ущерба для здоровья работников и обеспечения безопасных в плане здоровья и условий труда рабочих мест.</a:t>
            </a:r>
            <a:endParaRPr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BCF5094-E481-4D39-B503-D63341ACEAE7}"/>
              </a:ext>
            </a:extLst>
          </p:cNvPr>
          <p:cNvSpPr/>
          <p:nvPr/>
        </p:nvSpPr>
        <p:spPr>
          <a:xfrm>
            <a:off x="6312025" y="2102251"/>
            <a:ext cx="4152438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1ABD9E"/>
                </a:solidFill>
              </a:rPr>
              <a:t>Политика в области охраны труда:</a:t>
            </a:r>
          </a:p>
          <a:p>
            <a:endParaRPr lang="ru-RU" sz="1600" dirty="0">
              <a:solidFill>
                <a:schemeClr val="bg2"/>
              </a:solidFill>
            </a:endParaRPr>
          </a:p>
          <a:p>
            <a:r>
              <a:rPr lang="ru-RU" sz="1600" b="1" dirty="0">
                <a:solidFill>
                  <a:schemeClr val="bg2"/>
                </a:solidFill>
              </a:rPr>
              <a:t>Что это:</a:t>
            </a:r>
          </a:p>
          <a:p>
            <a:r>
              <a:rPr lang="ru-RU" sz="1600" dirty="0">
                <a:solidFill>
                  <a:schemeClr val="bg2"/>
                </a:solidFill>
              </a:rPr>
              <a:t>Локальный акт (или раздел в нем) с целями и мероприятиями по сохранению жизни и здоровья работников</a:t>
            </a:r>
          </a:p>
          <a:p>
            <a:endParaRPr lang="ru-RU" sz="1600" dirty="0">
              <a:solidFill>
                <a:schemeClr val="bg2"/>
              </a:solidFill>
            </a:endParaRPr>
          </a:p>
          <a:p>
            <a:r>
              <a:rPr lang="ru-RU" sz="1600" b="1" dirty="0">
                <a:solidFill>
                  <a:schemeClr val="bg2"/>
                </a:solidFill>
              </a:rPr>
              <a:t>Что отражает:</a:t>
            </a:r>
          </a:p>
          <a:p>
            <a:r>
              <a:rPr lang="ru-RU" sz="1600" dirty="0">
                <a:solidFill>
                  <a:schemeClr val="bg2"/>
                </a:solidFill>
              </a:rPr>
              <a:t>Публичное заявление работодателя о соблюдении норм охраны труда и добровольных обязательствах</a:t>
            </a:r>
          </a:p>
          <a:p>
            <a:endParaRPr lang="ru-RU" sz="1600" b="1" dirty="0">
              <a:solidFill>
                <a:schemeClr val="bg2"/>
              </a:solidFill>
            </a:endParaRPr>
          </a:p>
          <a:p>
            <a:r>
              <a:rPr lang="ru-RU" sz="1600" b="1" dirty="0">
                <a:solidFill>
                  <a:schemeClr val="bg2"/>
                </a:solidFill>
              </a:rPr>
              <a:t>Как принимается:</a:t>
            </a:r>
          </a:p>
          <a:p>
            <a:r>
              <a:rPr lang="ru-RU" sz="1600" dirty="0">
                <a:solidFill>
                  <a:schemeClr val="bg2"/>
                </a:solidFill>
              </a:rPr>
              <a:t>С учетом мнения профсоюза или иного уполномоченного органа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" name="Picture 6" descr="https://img2.freepng.ru/20180611/kea/kisspng-offer-and-acceptance-contract-of-sale-proposal-zak-inventory-management-software-5b1e5574946513.3219275815287146126079.jpg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6744072" y="2520054"/>
            <a:ext cx="5444753" cy="4476797"/>
          </a:xfrm>
          <a:prstGeom prst="rect">
            <a:avLst/>
          </a:prstGeom>
          <a:noFill/>
        </p:spPr>
      </p:pic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3175" y="3113533"/>
            <a:ext cx="342000" cy="63094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1750">
                <a:solidFill>
                  <a:srgbClr val="FFFFFF"/>
                </a:solidFill>
              </a:defRPr>
            </a:lvl1pPr>
          </a:lstStyle>
          <a:p>
            <a:pPr marL="0" marR="0" lvl="0" indent="0" algn="ct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sz="1750" b="0" i="0" u="none" strike="noStrike" cap="none" spc="0">
                <a:ln>
                  <a:noFill/>
                </a:ln>
                <a:solidFill>
                  <a:srgbClr val="FFFFFF"/>
                </a:solidFill>
                <a:latin typeface="Open Sans Light"/>
                <a:cs typeface="Calibri"/>
              </a:rPr>
              <a:t>7</a:t>
            </a:fld>
            <a:endParaRPr sz="175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1030626" y="892059"/>
            <a:ext cx="10117667" cy="446276"/>
          </a:xfrm>
          <a:prstGeom prst="rect">
            <a:avLst/>
          </a:prstGeom>
          <a:ln w="12700">
            <a:miter lim="400000"/>
          </a:ln>
        </p:spPr>
        <p:txBody>
          <a:bodyPr wrap="square" lIns="22860" rIns="2286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300" b="0" i="0" u="none" strike="noStrike" cap="none" spc="0">
                <a:ln>
                  <a:noFill/>
                </a:ln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</a:rPr>
              <a:t>ПОЛИТИКА И ЦЕЛИ РАБОТОДАТЕЛЯ В ОБЛАСТИ ОХРАНЫ ТРУДА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1030623" y="1302335"/>
            <a:ext cx="9433839" cy="36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22860" rIns="22860" anchor="ctr"/>
          <a:lstStyle/>
          <a:p>
            <a:pPr marL="0" marR="0" lvl="0" indent="0" algn="l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175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5" name="Подзаголовок 2"/>
          <p:cNvSpPr txBox="1"/>
          <p:nvPr/>
        </p:nvSpPr>
        <p:spPr bwMode="auto">
          <a:xfrm>
            <a:off x="911424" y="1338335"/>
            <a:ext cx="3456384" cy="286312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Autofit/>
          </a:bodyPr>
          <a:lstStyle>
            <a:lvl1pPr marL="0" marR="0" indent="0" algn="r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2286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4572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6858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9144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11430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13716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16002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18288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100" b="0" i="0" u="none" strike="noStrike" cap="none" spc="0">
                <a:ln>
                  <a:noFill/>
                </a:ln>
                <a:solidFill>
                  <a:srgbClr val="535353"/>
                </a:solidFill>
                <a:latin typeface="PFDinDisplayPro-Medium"/>
                <a:ea typeface="Open Sans"/>
                <a:cs typeface="Open Sans"/>
              </a:rPr>
              <a:t>Организация системы управления охраной труда</a:t>
            </a:r>
            <a:endParaRPr sz="2800" b="0" i="0" u="none" strike="noStrike" cap="none" spc="0">
              <a:ln>
                <a:noFill/>
              </a:ln>
              <a:solidFill>
                <a:srgbClr val="535353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1" name="Прямоугольник 10"/>
          <p:cNvSpPr/>
          <p:nvPr/>
        </p:nvSpPr>
        <p:spPr bwMode="auto">
          <a:xfrm>
            <a:off x="1343472" y="1677470"/>
            <a:ext cx="591312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600" b="1" i="0" u="none" strike="noStrike" cap="none" spc="0" dirty="0">
                <a:ln>
                  <a:noFill/>
                </a:ln>
                <a:solidFill>
                  <a:srgbClr val="A7A7A7">
                    <a:lumMod val="50000"/>
                  </a:srgbClr>
                </a:solidFill>
                <a:ea typeface="Open Sans Semibold"/>
                <a:cs typeface="Open Sans Semibold"/>
              </a:rPr>
              <a:t>Политика (стратегия) по охране труда направлена на:</a:t>
            </a:r>
            <a:endParaRPr sz="1800" b="0" i="0" u="none" strike="noStrike" cap="none" spc="0" dirty="0">
              <a:ln>
                <a:noFill/>
              </a:ln>
              <a:solidFill>
                <a:srgbClr val="535353"/>
              </a:solidFill>
            </a:endParaRPr>
          </a:p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600" b="0" i="0" u="none" strike="noStrike" cap="none" spc="0" dirty="0">
              <a:ln>
                <a:noFill/>
              </a:ln>
              <a:solidFill>
                <a:srgbClr val="A7A7A7">
                  <a:lumMod val="50000"/>
                </a:srgbClr>
              </a:solidFill>
              <a:ea typeface="Open Sans Semibold"/>
              <a:cs typeface="Open Sans Semibold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B1D4D9C-0136-466E-8B88-6F93F33B6550}"/>
              </a:ext>
            </a:extLst>
          </p:cNvPr>
          <p:cNvSpPr/>
          <p:nvPr/>
        </p:nvSpPr>
        <p:spPr>
          <a:xfrm>
            <a:off x="1199456" y="2100027"/>
            <a:ext cx="5880378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2"/>
                </a:solidFill>
              </a:rPr>
              <a:t>🛡️ Сохранение жизни и здоровья работников</a:t>
            </a:r>
          </a:p>
          <a:p>
            <a:r>
              <a:rPr lang="ru-RU" dirty="0">
                <a:solidFill>
                  <a:schemeClr val="bg2"/>
                </a:solidFill>
              </a:rPr>
              <a:t>⚠️ Обеспечение безопасных условий и управление рисками</a:t>
            </a:r>
          </a:p>
          <a:p>
            <a:endParaRPr lang="ru-RU" dirty="0">
              <a:solidFill>
                <a:schemeClr val="bg2"/>
              </a:solidFill>
            </a:endParaRPr>
          </a:p>
          <a:p>
            <a:r>
              <a:rPr lang="ru-RU" dirty="0">
                <a:solidFill>
                  <a:schemeClr val="bg2"/>
                </a:solidFill>
              </a:rPr>
              <a:t>Учитывает:</a:t>
            </a:r>
          </a:p>
          <a:p>
            <a:r>
              <a:rPr lang="ru-RU" dirty="0">
                <a:solidFill>
                  <a:schemeClr val="bg2"/>
                </a:solidFill>
              </a:rPr>
              <a:t>Специфику деятельности и </a:t>
            </a:r>
            <a:r>
              <a:rPr lang="ru-RU" dirty="0" err="1">
                <a:solidFill>
                  <a:schemeClr val="bg2"/>
                </a:solidFill>
              </a:rPr>
              <a:t>профриски</a:t>
            </a:r>
            <a:endParaRPr lang="ru-RU" dirty="0">
              <a:solidFill>
                <a:schemeClr val="bg2"/>
              </a:solidFill>
            </a:endParaRPr>
          </a:p>
          <a:p>
            <a:r>
              <a:rPr lang="ru-RU" dirty="0">
                <a:solidFill>
                  <a:schemeClr val="bg2"/>
                </a:solidFill>
              </a:rPr>
              <a:t>Мнение профсоюза (при наличии)</a:t>
            </a:r>
          </a:p>
          <a:p>
            <a:endParaRPr lang="ru-RU" dirty="0">
              <a:solidFill>
                <a:schemeClr val="bg2"/>
              </a:solidFill>
            </a:endParaRPr>
          </a:p>
          <a:p>
            <a:r>
              <a:rPr lang="ru-RU" dirty="0">
                <a:solidFill>
                  <a:schemeClr val="bg2"/>
                </a:solidFill>
              </a:rPr>
              <a:t>Обязательства работодателя:</a:t>
            </a:r>
          </a:p>
          <a:p>
            <a:r>
              <a:rPr lang="ru-RU" dirty="0">
                <a:solidFill>
                  <a:schemeClr val="bg2"/>
                </a:solidFill>
              </a:rPr>
              <a:t>✅ Устранение опасностей и снижение рисков</a:t>
            </a:r>
          </a:p>
          <a:p>
            <a:r>
              <a:rPr lang="ru-RU" dirty="0">
                <a:solidFill>
                  <a:schemeClr val="bg2"/>
                </a:solidFill>
              </a:rPr>
              <a:t>✅ Совершенствование СУОТ</a:t>
            </a:r>
          </a:p>
          <a:p>
            <a:endParaRPr lang="ru-RU" dirty="0">
              <a:solidFill>
                <a:schemeClr val="bg2"/>
              </a:solidFill>
            </a:endParaRPr>
          </a:p>
          <a:p>
            <a:r>
              <a:rPr lang="ru-RU" dirty="0">
                <a:solidFill>
                  <a:schemeClr val="bg2"/>
                </a:solidFill>
              </a:rPr>
              <a:t>Рекомендации: наделять ответственных лиц полномочиями и доводить эту информацию до работников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3175" y="3113533"/>
            <a:ext cx="342000" cy="63094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1750">
                <a:solidFill>
                  <a:srgbClr val="FFFFFF"/>
                </a:solidFill>
              </a:defRPr>
            </a:lvl1pPr>
          </a:lstStyle>
          <a:p>
            <a:pPr marL="0" marR="0" lvl="0" indent="0" algn="ct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sz="1750" b="0" i="0" u="none" strike="noStrike" cap="none" spc="0">
                <a:ln>
                  <a:noFill/>
                </a:ln>
                <a:solidFill>
                  <a:srgbClr val="FFFFFF"/>
                </a:solidFill>
                <a:latin typeface="Open Sans Light"/>
                <a:cs typeface="Calibri"/>
              </a:rPr>
              <a:t>8</a:t>
            </a:fld>
            <a:endParaRPr sz="175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1030626" y="892059"/>
            <a:ext cx="10117667" cy="446276"/>
          </a:xfrm>
          <a:prstGeom prst="rect">
            <a:avLst/>
          </a:prstGeom>
          <a:ln w="12700">
            <a:miter lim="400000"/>
          </a:ln>
        </p:spPr>
        <p:txBody>
          <a:bodyPr wrap="square" lIns="22860" rIns="2286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300" b="0" i="0" u="none" strike="noStrike" cap="none" spc="0">
                <a:ln>
                  <a:noFill/>
                </a:ln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</a:rPr>
              <a:t>ПОЛИТИКА И ЦЕЛИ РАБОТОДАТЕЛЯ В ОБЛАСТИ ОХРАНЫ ТРУДА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1030623" y="1302335"/>
            <a:ext cx="9433839" cy="36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22860" rIns="22860" anchor="ctr"/>
          <a:lstStyle/>
          <a:p>
            <a:pPr marL="0" marR="0" lvl="0" indent="0" algn="l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175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5" name="Подзаголовок 2"/>
          <p:cNvSpPr txBox="1"/>
          <p:nvPr/>
        </p:nvSpPr>
        <p:spPr bwMode="auto">
          <a:xfrm>
            <a:off x="911424" y="1338335"/>
            <a:ext cx="3456384" cy="286312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Autofit/>
          </a:bodyPr>
          <a:lstStyle>
            <a:lvl1pPr marL="0" marR="0" indent="0" algn="r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2286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4572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6858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9144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11430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13716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16002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18288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100" b="0" i="0" u="none" strike="noStrike" cap="none" spc="0">
                <a:ln>
                  <a:noFill/>
                </a:ln>
                <a:solidFill>
                  <a:srgbClr val="535353"/>
                </a:solidFill>
                <a:latin typeface="PFDinDisplayPro-Medium"/>
                <a:ea typeface="Open Sans"/>
                <a:cs typeface="Open Sans"/>
              </a:rPr>
              <a:t>Организация системы управления охраной труда</a:t>
            </a:r>
            <a:endParaRPr sz="2800" b="0" i="0" u="none" strike="noStrike" cap="none" spc="0">
              <a:ln>
                <a:noFill/>
              </a:ln>
              <a:solidFill>
                <a:srgbClr val="535353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B06B423-5FED-45B9-BCA6-51DFDFDB3483}"/>
              </a:ext>
            </a:extLst>
          </p:cNvPr>
          <p:cNvSpPr/>
          <p:nvPr/>
        </p:nvSpPr>
        <p:spPr>
          <a:xfrm>
            <a:off x="924069" y="1897814"/>
            <a:ext cx="618004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2"/>
                </a:solidFill>
              </a:rPr>
              <a:t>Взаимодействие с работниками в рамках СУОТ</a:t>
            </a:r>
          </a:p>
          <a:p>
            <a:endParaRPr lang="ru-RU" dirty="0">
              <a:solidFill>
                <a:schemeClr val="bg2"/>
              </a:solidFill>
            </a:endParaRPr>
          </a:p>
          <a:p>
            <a:endParaRPr lang="ru-RU" dirty="0">
              <a:solidFill>
                <a:schemeClr val="bg2"/>
              </a:solidFill>
            </a:endParaRPr>
          </a:p>
        </p:txBody>
      </p:sp>
      <p:sp>
        <p:nvSpPr>
          <p:cNvPr id="10" name="Rounded Rectangle 4">
            <a:extLst>
              <a:ext uri="{FF2B5EF4-FFF2-40B4-BE49-F238E27FC236}">
                <a16:creationId xmlns:a16="http://schemas.microsoft.com/office/drawing/2014/main" id="{87C2CC7C-D2F6-42FF-9772-14038A02F2F2}"/>
              </a:ext>
            </a:extLst>
          </p:cNvPr>
          <p:cNvSpPr/>
          <p:nvPr/>
        </p:nvSpPr>
        <p:spPr bwMode="auto">
          <a:xfrm>
            <a:off x="559034" y="2419988"/>
            <a:ext cx="5040560" cy="3163780"/>
          </a:xfrm>
          <a:prstGeom prst="roundRect">
            <a:avLst/>
          </a:prstGeom>
          <a:solidFill>
            <a:sysClr val="window" lastClr="FFFFFF"/>
          </a:solidFill>
          <a:ln w="9525" cap="flat" cmpd="sng" algn="ctr">
            <a:solidFill>
              <a:srgbClr val="D2D2D2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lvl="0" defTabSz="457200" rtl="0"/>
            <a:r>
              <a:rPr lang="ru-RU" b="1" kern="1200" dirty="0">
                <a:solidFill>
                  <a:schemeClr val="bg2"/>
                </a:solidFill>
                <a:latin typeface="Montserrat Light"/>
                <a:cs typeface="Arial"/>
              </a:rPr>
              <a:t>👥Ответственные лица:</a:t>
            </a:r>
          </a:p>
          <a:p>
            <a:pPr lvl="0" defTabSz="457200" rtl="0"/>
            <a:endParaRPr lang="ru-RU" kern="1200" dirty="0">
              <a:solidFill>
                <a:schemeClr val="bg2"/>
              </a:solidFill>
              <a:latin typeface="Montserrat Light"/>
              <a:cs typeface="Arial"/>
            </a:endParaRPr>
          </a:p>
          <a:p>
            <a:pPr lvl="0" defTabSz="457200" rtl="0"/>
            <a:r>
              <a:rPr lang="ru-RU" kern="1200" dirty="0">
                <a:solidFill>
                  <a:schemeClr val="bg2"/>
                </a:solidFill>
                <a:latin typeface="Montserrat Light"/>
                <a:cs typeface="Arial"/>
              </a:rPr>
              <a:t>✔️ Назначаются работодателем</a:t>
            </a:r>
          </a:p>
          <a:p>
            <a:pPr lvl="0" defTabSz="457200" rtl="0"/>
            <a:r>
              <a:rPr lang="ru-RU" kern="1200" dirty="0">
                <a:solidFill>
                  <a:schemeClr val="bg2"/>
                </a:solidFill>
                <a:latin typeface="Montserrat Light"/>
                <a:cs typeface="Arial"/>
              </a:rPr>
              <a:t>✔️ Наделяются полномочиями для взаимодействия с руководством</a:t>
            </a:r>
          </a:p>
          <a:p>
            <a:pPr lvl="0" defTabSz="457200" rtl="0"/>
            <a:r>
              <a:rPr lang="ru-RU" kern="1200" dirty="0">
                <a:solidFill>
                  <a:schemeClr val="bg2"/>
                </a:solidFill>
                <a:latin typeface="Montserrat Light"/>
                <a:cs typeface="Arial"/>
              </a:rPr>
              <a:t>✔️ Информация о них доводится до всех уровней управления</a:t>
            </a:r>
          </a:p>
        </p:txBody>
      </p:sp>
      <p:sp>
        <p:nvSpPr>
          <p:cNvPr id="11" name="Rounded Rectangle 4">
            <a:extLst>
              <a:ext uri="{FF2B5EF4-FFF2-40B4-BE49-F238E27FC236}">
                <a16:creationId xmlns:a16="http://schemas.microsoft.com/office/drawing/2014/main" id="{BB0B5093-BD58-4AE2-B6C1-6E3322FAF39C}"/>
              </a:ext>
            </a:extLst>
          </p:cNvPr>
          <p:cNvSpPr/>
          <p:nvPr/>
        </p:nvSpPr>
        <p:spPr bwMode="auto">
          <a:xfrm>
            <a:off x="6596980" y="2409389"/>
            <a:ext cx="5187651" cy="3163780"/>
          </a:xfrm>
          <a:prstGeom prst="roundRect">
            <a:avLst/>
          </a:prstGeom>
          <a:solidFill>
            <a:sysClr val="window" lastClr="FFFFFF"/>
          </a:solidFill>
          <a:ln w="9525" cap="flat" cmpd="sng" algn="ctr">
            <a:solidFill>
              <a:srgbClr val="D2D2D2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lvl="0" defTabSz="457200" rtl="0"/>
            <a:r>
              <a:rPr lang="ru-RU" b="1" kern="1200" dirty="0">
                <a:solidFill>
                  <a:schemeClr val="bg2"/>
                </a:solidFill>
                <a:latin typeface="Montserrat Light"/>
                <a:cs typeface="Arial"/>
              </a:rPr>
              <a:t>Участие работников в СУОТ обеспечивается через:</a:t>
            </a:r>
          </a:p>
          <a:p>
            <a:pPr lvl="0" defTabSz="457200" rtl="0"/>
            <a:endParaRPr lang="ru-RU" kern="1200" dirty="0">
              <a:solidFill>
                <a:schemeClr val="bg2"/>
              </a:solidFill>
              <a:latin typeface="Montserrat Light"/>
              <a:cs typeface="Arial"/>
            </a:endParaRPr>
          </a:p>
          <a:p>
            <a:pPr lvl="0" defTabSz="457200" rtl="0"/>
            <a:r>
              <a:rPr lang="ru-RU" kern="1200" dirty="0">
                <a:solidFill>
                  <a:schemeClr val="bg2"/>
                </a:solidFill>
                <a:latin typeface="Montserrat Light"/>
                <a:cs typeface="Arial"/>
              </a:rPr>
              <a:t>📅 Механизмы, время и ресурсы для участия в обеспечении безопасности</a:t>
            </a:r>
          </a:p>
          <a:p>
            <a:pPr lvl="0" defTabSz="457200" rtl="0"/>
            <a:r>
              <a:rPr lang="ru-RU" kern="1200" dirty="0">
                <a:solidFill>
                  <a:schemeClr val="bg2"/>
                </a:solidFill>
                <a:latin typeface="Montserrat Light"/>
                <a:cs typeface="Arial"/>
              </a:rPr>
              <a:t>📢 Доступ к актуальной информации по СУОТ</a:t>
            </a:r>
          </a:p>
          <a:p>
            <a:pPr lvl="0" defTabSz="457200" rtl="0"/>
            <a:r>
              <a:rPr lang="ru-RU" kern="1200" dirty="0">
                <a:solidFill>
                  <a:schemeClr val="bg2"/>
                </a:solidFill>
                <a:latin typeface="Montserrat Light"/>
                <a:cs typeface="Arial"/>
              </a:rPr>
              <a:t>🚫 Устранение препятствий для участия работников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CEC9039-32FC-4291-ADD1-80F51DDED1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65593">
            <a:off x="5558345" y="3323891"/>
            <a:ext cx="1079885" cy="10836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" name="Picture 3" descr="https://avatars.mds.yandex.net/get-zen_doc/1587994/pub_5e70b0c348e91e561b28bae7_5e70b250441c2a303839a27a/scale_1200"/>
          <p:cNvPicPr>
            <a:picLocks noChangeAspect="1" noChangeArrowheads="1"/>
          </p:cNvPicPr>
          <p:nvPr/>
        </p:nvPicPr>
        <p:blipFill>
          <a:blip r:embed="rId2"/>
          <a:srcRect l="2546" r="5997"/>
          <a:stretch/>
        </p:blipFill>
        <p:spPr bwMode="auto">
          <a:xfrm>
            <a:off x="11523" y="1844824"/>
            <a:ext cx="5500956" cy="4108617"/>
          </a:xfrm>
          <a:prstGeom prst="rect">
            <a:avLst/>
          </a:prstGeom>
          <a:noFill/>
        </p:spPr>
      </p:pic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4CEBD065-D34F-4804-829D-34EB5E128C05}"/>
              </a:ext>
            </a:extLst>
          </p:cNvPr>
          <p:cNvSpPr/>
          <p:nvPr/>
        </p:nvSpPr>
        <p:spPr bwMode="auto">
          <a:xfrm flipH="1">
            <a:off x="5596412" y="-249968"/>
            <a:ext cx="6626820" cy="7357936"/>
          </a:xfrm>
          <a:custGeom>
            <a:avLst/>
            <a:gdLst>
              <a:gd name="connsiteX0" fmla="*/ 0 w 6095999"/>
              <a:gd name="connsiteY0" fmla="*/ 0 h 6858000"/>
              <a:gd name="connsiteX1" fmla="*/ 6095999 w 6095999"/>
              <a:gd name="connsiteY1" fmla="*/ 0 h 6858000"/>
              <a:gd name="connsiteX2" fmla="*/ 6095999 w 6095999"/>
              <a:gd name="connsiteY2" fmla="*/ 6858000 h 6858000"/>
              <a:gd name="connsiteX3" fmla="*/ 0 w 6095999"/>
              <a:gd name="connsiteY3" fmla="*/ 6858000 h 6858000"/>
              <a:gd name="connsiteX4" fmla="*/ 0 w 6095999"/>
              <a:gd name="connsiteY4" fmla="*/ 0 h 6858000"/>
              <a:gd name="connsiteX0" fmla="*/ 0 w 6095999"/>
              <a:gd name="connsiteY0" fmla="*/ 193524 h 7051524"/>
              <a:gd name="connsiteX1" fmla="*/ 6095999 w 6095999"/>
              <a:gd name="connsiteY1" fmla="*/ 193524 h 7051524"/>
              <a:gd name="connsiteX2" fmla="*/ 6095999 w 6095999"/>
              <a:gd name="connsiteY2" fmla="*/ 7051524 h 7051524"/>
              <a:gd name="connsiteX3" fmla="*/ 0 w 6095999"/>
              <a:gd name="connsiteY3" fmla="*/ 7051524 h 7051524"/>
              <a:gd name="connsiteX4" fmla="*/ 0 w 6095999"/>
              <a:gd name="connsiteY4" fmla="*/ 193524 h 7051524"/>
              <a:gd name="connsiteX0" fmla="*/ 0 w 6199211"/>
              <a:gd name="connsiteY0" fmla="*/ 193524 h 7051524"/>
              <a:gd name="connsiteX1" fmla="*/ 6095999 w 6199211"/>
              <a:gd name="connsiteY1" fmla="*/ 193524 h 7051524"/>
              <a:gd name="connsiteX2" fmla="*/ 6095999 w 6199211"/>
              <a:gd name="connsiteY2" fmla="*/ 7051524 h 7051524"/>
              <a:gd name="connsiteX3" fmla="*/ 0 w 6199211"/>
              <a:gd name="connsiteY3" fmla="*/ 7051524 h 7051524"/>
              <a:gd name="connsiteX4" fmla="*/ 0 w 6199211"/>
              <a:gd name="connsiteY4" fmla="*/ 193524 h 7051524"/>
              <a:gd name="connsiteX0" fmla="*/ 0 w 6152579"/>
              <a:gd name="connsiteY0" fmla="*/ 193524 h 7051524"/>
              <a:gd name="connsiteX1" fmla="*/ 6095999 w 6152579"/>
              <a:gd name="connsiteY1" fmla="*/ 193524 h 7051524"/>
              <a:gd name="connsiteX2" fmla="*/ 6095999 w 6152579"/>
              <a:gd name="connsiteY2" fmla="*/ 7051524 h 7051524"/>
              <a:gd name="connsiteX3" fmla="*/ 0 w 6152579"/>
              <a:gd name="connsiteY3" fmla="*/ 7051524 h 7051524"/>
              <a:gd name="connsiteX4" fmla="*/ 0 w 6152579"/>
              <a:gd name="connsiteY4" fmla="*/ 193524 h 7051524"/>
              <a:gd name="connsiteX0" fmla="*/ 0 w 6152579"/>
              <a:gd name="connsiteY0" fmla="*/ 193524 h 7225695"/>
              <a:gd name="connsiteX1" fmla="*/ 6095999 w 6152579"/>
              <a:gd name="connsiteY1" fmla="*/ 193524 h 7225695"/>
              <a:gd name="connsiteX2" fmla="*/ 6095999 w 6152579"/>
              <a:gd name="connsiteY2" fmla="*/ 7051524 h 7225695"/>
              <a:gd name="connsiteX3" fmla="*/ 0 w 6152579"/>
              <a:gd name="connsiteY3" fmla="*/ 7051524 h 7225695"/>
              <a:gd name="connsiteX4" fmla="*/ 0 w 6152579"/>
              <a:gd name="connsiteY4" fmla="*/ 193524 h 7225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52579" h="7225695" extrusionOk="0">
                <a:moveTo>
                  <a:pt x="0" y="193524"/>
                </a:moveTo>
                <a:cubicBezTo>
                  <a:pt x="2032000" y="193524"/>
                  <a:pt x="4165599" y="-241905"/>
                  <a:pt x="6095999" y="193524"/>
                </a:cubicBezTo>
                <a:cubicBezTo>
                  <a:pt x="6328228" y="2566610"/>
                  <a:pt x="5747656" y="4910667"/>
                  <a:pt x="6095999" y="7051524"/>
                </a:cubicBezTo>
                <a:cubicBezTo>
                  <a:pt x="4049484" y="7443410"/>
                  <a:pt x="2032000" y="7051524"/>
                  <a:pt x="0" y="7051524"/>
                </a:cubicBezTo>
                <a:lnTo>
                  <a:pt x="0" y="193524"/>
                </a:lnTo>
                <a:close/>
              </a:path>
            </a:pathLst>
          </a:custGeom>
          <a:solidFill>
            <a:srgbClr val="E6E6E6"/>
          </a:solidFill>
          <a:ln w="12700" cap="flat" cmpd="sng" algn="ctr">
            <a:solidFill>
              <a:srgbClr val="E6E6E6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285750" marR="0" lvl="0" indent="-28575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ru-RU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3175" y="3113533"/>
            <a:ext cx="342000" cy="63094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1750">
                <a:solidFill>
                  <a:srgbClr val="FFFFFF"/>
                </a:solidFill>
              </a:defRPr>
            </a:lvl1pPr>
          </a:lstStyle>
          <a:p>
            <a:pPr marL="0" marR="0" lvl="0" indent="0" algn="ct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sz="1750" b="0" i="0" u="none" strike="noStrike" cap="none" spc="0">
                <a:ln>
                  <a:noFill/>
                </a:ln>
                <a:solidFill>
                  <a:srgbClr val="FFFFFF"/>
                </a:solidFill>
                <a:latin typeface="Open Sans Light"/>
                <a:cs typeface="Calibri"/>
              </a:rPr>
              <a:t>9</a:t>
            </a:fld>
            <a:endParaRPr sz="175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1030623" y="537820"/>
            <a:ext cx="10117667" cy="800219"/>
          </a:xfrm>
          <a:prstGeom prst="rect">
            <a:avLst/>
          </a:prstGeom>
          <a:ln w="12700">
            <a:miter lim="400000"/>
          </a:ln>
        </p:spPr>
        <p:txBody>
          <a:bodyPr wrap="square" lIns="22860" rIns="2286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457200">
              <a:defRPr/>
            </a:pPr>
            <a:r>
              <a:rPr lang="ru-RU" sz="230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</a:rPr>
              <a:t>РАСПРЕДЕЛЕНИЕ ОБЯЗАННОСТЕЙ В СФЕРЕ ОХРАНЫ ТРУДА </a:t>
            </a:r>
            <a:br>
              <a:rPr lang="ru-RU" sz="230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</a:rPr>
            </a:br>
            <a:r>
              <a:rPr lang="ru-RU" sz="230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</a:rPr>
              <a:t>МЕЖДУ ДОЛЖНОСТНЫМИ ЛИЦАМИ РАБОТОДАТЕЛЯ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1030625" y="1302335"/>
            <a:ext cx="8942494" cy="36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22860" rIns="22860" anchor="ctr"/>
          <a:lstStyle/>
          <a:p>
            <a:pPr marL="0" marR="0" lvl="0" indent="0" algn="l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175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5" name="Подзаголовок 2"/>
          <p:cNvSpPr txBox="1"/>
          <p:nvPr/>
        </p:nvSpPr>
        <p:spPr bwMode="auto">
          <a:xfrm>
            <a:off x="911424" y="1338335"/>
            <a:ext cx="3456384" cy="286312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Autofit/>
          </a:bodyPr>
          <a:lstStyle>
            <a:lvl1pPr marL="0" marR="0" indent="0" algn="r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2286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4572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6858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9144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11430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13716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16002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18288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100" b="0" i="0" u="none" strike="noStrike" cap="none" spc="0" dirty="0">
                <a:ln>
                  <a:noFill/>
                </a:ln>
                <a:solidFill>
                  <a:srgbClr val="535353"/>
                </a:solidFill>
                <a:latin typeface="PFDinDisplayPro-Medium"/>
                <a:ea typeface="Open Sans"/>
                <a:cs typeface="Open Sans"/>
              </a:rPr>
              <a:t>Организация системы управления охраной труда</a:t>
            </a:r>
            <a:endParaRPr sz="2800" b="0" i="0" u="none" strike="noStrike" cap="none" spc="0" dirty="0">
              <a:ln>
                <a:noFill/>
              </a:ln>
              <a:solidFill>
                <a:srgbClr val="535353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AE38423-5C89-477A-8B14-C9B6D06F43AD}"/>
              </a:ext>
            </a:extLst>
          </p:cNvPr>
          <p:cNvSpPr/>
          <p:nvPr/>
        </p:nvSpPr>
        <p:spPr>
          <a:xfrm>
            <a:off x="6096000" y="1662415"/>
            <a:ext cx="592182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2"/>
                </a:solidFill>
              </a:rPr>
              <a:t> Управление СУОТ с участием работников</a:t>
            </a:r>
          </a:p>
          <a:p>
            <a:endParaRPr lang="ru-RU" dirty="0">
              <a:solidFill>
                <a:schemeClr val="bg2"/>
              </a:solidFill>
            </a:endParaRPr>
          </a:p>
          <a:p>
            <a:r>
              <a:rPr lang="ru-RU" b="1" dirty="0">
                <a:solidFill>
                  <a:schemeClr val="bg2"/>
                </a:solidFill>
              </a:rPr>
              <a:t>Управление охраной труда осуществляется:</a:t>
            </a:r>
          </a:p>
          <a:p>
            <a:r>
              <a:rPr lang="ru-RU" dirty="0">
                <a:solidFill>
                  <a:srgbClr val="1ABD9E"/>
                </a:solidFill>
              </a:rPr>
              <a:t>👥</a:t>
            </a:r>
            <a:r>
              <a:rPr lang="ru-RU" dirty="0">
                <a:solidFill>
                  <a:schemeClr val="bg2"/>
                </a:solidFill>
              </a:rPr>
              <a:t> При непосредственном участии работников</a:t>
            </a:r>
          </a:p>
          <a:p>
            <a:r>
              <a:rPr lang="ru-RU" dirty="0">
                <a:solidFill>
                  <a:srgbClr val="1ABD9E"/>
                </a:solidFill>
              </a:rPr>
              <a:t>🤝</a:t>
            </a:r>
            <a:r>
              <a:rPr lang="ru-RU" dirty="0">
                <a:solidFill>
                  <a:schemeClr val="bg2"/>
                </a:solidFill>
              </a:rPr>
              <a:t> Через уполномоченных представителей (профсоюз, комитет по охране труда, доверенные лица)</a:t>
            </a:r>
          </a:p>
          <a:p>
            <a:endParaRPr lang="ru-RU" dirty="0">
              <a:solidFill>
                <a:schemeClr val="bg2"/>
              </a:solidFill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BE2EE56-97E4-4ADE-B7A2-BBE30A443075}"/>
              </a:ext>
            </a:extLst>
          </p:cNvPr>
          <p:cNvSpPr/>
          <p:nvPr/>
        </p:nvSpPr>
        <p:spPr>
          <a:xfrm>
            <a:off x="6258652" y="4221088"/>
            <a:ext cx="592182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bg2"/>
                </a:solidFill>
              </a:rPr>
              <a:t>Работодатель вправе организовать взаимодействие:</a:t>
            </a:r>
          </a:p>
          <a:p>
            <a:r>
              <a:rPr lang="ru-RU" dirty="0">
                <a:solidFill>
                  <a:srgbClr val="1ABD9E"/>
                </a:solidFill>
              </a:rPr>
              <a:t>👥</a:t>
            </a:r>
            <a:r>
              <a:rPr lang="ru-RU" dirty="0">
                <a:solidFill>
                  <a:schemeClr val="bg2"/>
                </a:solidFill>
              </a:rPr>
              <a:t> На всех уровнях управления</a:t>
            </a:r>
          </a:p>
          <a:p>
            <a:r>
              <a:rPr lang="ru-RU" dirty="0">
                <a:solidFill>
                  <a:srgbClr val="1ABD9E"/>
                </a:solidFill>
              </a:rPr>
              <a:t>👷</a:t>
            </a:r>
            <a:r>
              <a:rPr lang="ru-RU" dirty="0">
                <a:solidFill>
                  <a:schemeClr val="bg2"/>
                </a:solidFill>
              </a:rPr>
              <a:t> С работниками и их представителями</a:t>
            </a:r>
          </a:p>
          <a:p>
            <a:r>
              <a:rPr lang="ru-RU" dirty="0">
                <a:solidFill>
                  <a:srgbClr val="1ABD9E"/>
                </a:solidFill>
              </a:rPr>
              <a:t>🛠️</a:t>
            </a:r>
            <a:r>
              <a:rPr lang="ru-RU" dirty="0">
                <a:solidFill>
                  <a:schemeClr val="bg2"/>
                </a:solidFill>
              </a:rPr>
              <a:t> В вопросах разработки, планирования, функционирования и улучшения СУОТ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14">
            <a:extLst>
              <a:ext uri="{FF2B5EF4-FFF2-40B4-BE49-F238E27FC236}">
                <a16:creationId xmlns:a16="http://schemas.microsoft.com/office/drawing/2014/main" id="{F2774758-9443-47A5-A208-9EBF07047725}"/>
              </a:ext>
            </a:extLst>
          </p:cNvPr>
          <p:cNvSpPr/>
          <p:nvPr/>
        </p:nvSpPr>
        <p:spPr bwMode="auto">
          <a:xfrm>
            <a:off x="-96688" y="1648414"/>
            <a:ext cx="8518849" cy="1205740"/>
          </a:xfrm>
          <a:custGeom>
            <a:avLst/>
            <a:gdLst>
              <a:gd name="connsiteX0" fmla="*/ 0 w 9622971"/>
              <a:gd name="connsiteY0" fmla="*/ 0 h 789319"/>
              <a:gd name="connsiteX1" fmla="*/ 9622971 w 9622971"/>
              <a:gd name="connsiteY1" fmla="*/ 0 h 789319"/>
              <a:gd name="connsiteX2" fmla="*/ 9622971 w 9622971"/>
              <a:gd name="connsiteY2" fmla="*/ 789319 h 789319"/>
              <a:gd name="connsiteX3" fmla="*/ 0 w 9622971"/>
              <a:gd name="connsiteY3" fmla="*/ 789319 h 789319"/>
              <a:gd name="connsiteX4" fmla="*/ 0 w 9622971"/>
              <a:gd name="connsiteY4" fmla="*/ 0 h 789319"/>
              <a:gd name="connsiteX0" fmla="*/ 0 w 9732634"/>
              <a:gd name="connsiteY0" fmla="*/ 0 h 789319"/>
              <a:gd name="connsiteX1" fmla="*/ 9622971 w 9732634"/>
              <a:gd name="connsiteY1" fmla="*/ 0 h 789319"/>
              <a:gd name="connsiteX2" fmla="*/ 9622971 w 9732634"/>
              <a:gd name="connsiteY2" fmla="*/ 789319 h 789319"/>
              <a:gd name="connsiteX3" fmla="*/ 0 w 9732634"/>
              <a:gd name="connsiteY3" fmla="*/ 789319 h 789319"/>
              <a:gd name="connsiteX4" fmla="*/ 0 w 9732634"/>
              <a:gd name="connsiteY4" fmla="*/ 0 h 789319"/>
              <a:gd name="connsiteX0" fmla="*/ 0 w 9732634"/>
              <a:gd name="connsiteY0" fmla="*/ 58057 h 847376"/>
              <a:gd name="connsiteX1" fmla="*/ 9622971 w 9732634"/>
              <a:gd name="connsiteY1" fmla="*/ 58057 h 847376"/>
              <a:gd name="connsiteX2" fmla="*/ 9622971 w 9732634"/>
              <a:gd name="connsiteY2" fmla="*/ 847376 h 847376"/>
              <a:gd name="connsiteX3" fmla="*/ 0 w 9732634"/>
              <a:gd name="connsiteY3" fmla="*/ 847376 h 847376"/>
              <a:gd name="connsiteX4" fmla="*/ 0 w 9732634"/>
              <a:gd name="connsiteY4" fmla="*/ 58057 h 847376"/>
              <a:gd name="connsiteX0" fmla="*/ 0 w 9732634"/>
              <a:gd name="connsiteY0" fmla="*/ 58057 h 911883"/>
              <a:gd name="connsiteX1" fmla="*/ 9622971 w 9732634"/>
              <a:gd name="connsiteY1" fmla="*/ 58057 h 911883"/>
              <a:gd name="connsiteX2" fmla="*/ 9622971 w 9732634"/>
              <a:gd name="connsiteY2" fmla="*/ 847376 h 911883"/>
              <a:gd name="connsiteX3" fmla="*/ 0 w 9732634"/>
              <a:gd name="connsiteY3" fmla="*/ 847376 h 911883"/>
              <a:gd name="connsiteX4" fmla="*/ 0 w 9732634"/>
              <a:gd name="connsiteY4" fmla="*/ 58057 h 911883"/>
              <a:gd name="connsiteX0" fmla="*/ 58057 w 9790691"/>
              <a:gd name="connsiteY0" fmla="*/ 58057 h 911883"/>
              <a:gd name="connsiteX1" fmla="*/ 9681028 w 9790691"/>
              <a:gd name="connsiteY1" fmla="*/ 58057 h 911883"/>
              <a:gd name="connsiteX2" fmla="*/ 9681028 w 9790691"/>
              <a:gd name="connsiteY2" fmla="*/ 847376 h 911883"/>
              <a:gd name="connsiteX3" fmla="*/ 58057 w 9790691"/>
              <a:gd name="connsiteY3" fmla="*/ 847376 h 911883"/>
              <a:gd name="connsiteX4" fmla="*/ 58057 w 9790691"/>
              <a:gd name="connsiteY4" fmla="*/ 58057 h 911883"/>
              <a:gd name="connsiteX0" fmla="*/ 58057 w 9790691"/>
              <a:gd name="connsiteY0" fmla="*/ 58057 h 990726"/>
              <a:gd name="connsiteX1" fmla="*/ 9681028 w 9790691"/>
              <a:gd name="connsiteY1" fmla="*/ 58057 h 990726"/>
              <a:gd name="connsiteX2" fmla="*/ 9681028 w 9790691"/>
              <a:gd name="connsiteY2" fmla="*/ 847376 h 990726"/>
              <a:gd name="connsiteX3" fmla="*/ 58057 w 9790691"/>
              <a:gd name="connsiteY3" fmla="*/ 847376 h 990726"/>
              <a:gd name="connsiteX4" fmla="*/ 58057 w 9790691"/>
              <a:gd name="connsiteY4" fmla="*/ 58057 h 990726"/>
              <a:gd name="connsiteX0" fmla="*/ 58057 w 9825747"/>
              <a:gd name="connsiteY0" fmla="*/ 58057 h 990726"/>
              <a:gd name="connsiteX1" fmla="*/ 9681028 w 9825747"/>
              <a:gd name="connsiteY1" fmla="*/ 58057 h 990726"/>
              <a:gd name="connsiteX2" fmla="*/ 9681028 w 9825747"/>
              <a:gd name="connsiteY2" fmla="*/ 847376 h 990726"/>
              <a:gd name="connsiteX3" fmla="*/ 58057 w 9825747"/>
              <a:gd name="connsiteY3" fmla="*/ 847376 h 990726"/>
              <a:gd name="connsiteX4" fmla="*/ 58057 w 9825747"/>
              <a:gd name="connsiteY4" fmla="*/ 58057 h 990726"/>
              <a:gd name="connsiteX0" fmla="*/ 58057 w 9825747"/>
              <a:gd name="connsiteY0" fmla="*/ 58057 h 944433"/>
              <a:gd name="connsiteX1" fmla="*/ 9681028 w 9825747"/>
              <a:gd name="connsiteY1" fmla="*/ 58057 h 944433"/>
              <a:gd name="connsiteX2" fmla="*/ 9681028 w 9825747"/>
              <a:gd name="connsiteY2" fmla="*/ 847376 h 944433"/>
              <a:gd name="connsiteX3" fmla="*/ 58057 w 9825747"/>
              <a:gd name="connsiteY3" fmla="*/ 847376 h 944433"/>
              <a:gd name="connsiteX4" fmla="*/ 58057 w 9825747"/>
              <a:gd name="connsiteY4" fmla="*/ 58057 h 944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25747" h="944433" extrusionOk="0">
                <a:moveTo>
                  <a:pt x="58057" y="58057"/>
                </a:moveTo>
                <a:cubicBezTo>
                  <a:pt x="3265714" y="58057"/>
                  <a:pt x="6386285" y="-72572"/>
                  <a:pt x="9681028" y="58057"/>
                </a:cubicBezTo>
                <a:cubicBezTo>
                  <a:pt x="9927771" y="190534"/>
                  <a:pt x="9811656" y="656842"/>
                  <a:pt x="9681028" y="847376"/>
                </a:cubicBezTo>
                <a:cubicBezTo>
                  <a:pt x="6531429" y="818346"/>
                  <a:pt x="3280228" y="1079605"/>
                  <a:pt x="58057" y="847376"/>
                </a:cubicBezTo>
                <a:cubicBezTo>
                  <a:pt x="-72572" y="758441"/>
                  <a:pt x="58057" y="321163"/>
                  <a:pt x="58057" y="58057"/>
                </a:cubicBezTo>
                <a:close/>
              </a:path>
            </a:pathLst>
          </a:custGeom>
          <a:solidFill>
            <a:srgbClr val="E6E6E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3174" y="3113533"/>
            <a:ext cx="452551" cy="63094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1750">
                <a:solidFill>
                  <a:srgbClr val="FFFFFF"/>
                </a:solidFill>
              </a:defRPr>
            </a:lvl1pPr>
          </a:lstStyle>
          <a:p>
            <a:pPr marL="0" marR="0" lvl="0" indent="0" algn="ct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sz="1750" b="0" i="0" u="none" strike="noStrike" cap="none" spc="0">
                <a:ln>
                  <a:noFill/>
                </a:ln>
                <a:solidFill>
                  <a:srgbClr val="FFFFFF"/>
                </a:solidFill>
                <a:latin typeface="Open Sans Light"/>
                <a:cs typeface="Calibri"/>
              </a:rPr>
              <a:t>10</a:t>
            </a:fld>
            <a:endParaRPr sz="175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1030623" y="537820"/>
            <a:ext cx="10117667" cy="800219"/>
          </a:xfrm>
          <a:prstGeom prst="rect">
            <a:avLst/>
          </a:prstGeom>
          <a:ln w="12700">
            <a:miter lim="400000"/>
          </a:ln>
        </p:spPr>
        <p:txBody>
          <a:bodyPr wrap="square" lIns="22860" rIns="2286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300" b="0" i="0" u="none" strike="noStrike" cap="none" spc="0">
                <a:ln>
                  <a:noFill/>
                </a:ln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</a:rPr>
              <a:t>РАСПРЕДЕЛЕНИЕ ОБЯЗАННОСТЕЙ В СФЕРЕ ОХРАНЫ ТРУДА </a:t>
            </a:r>
            <a:br>
              <a:rPr lang="ru-RU" sz="2300" b="0" i="0" u="none" strike="noStrike" cap="none" spc="0">
                <a:ln>
                  <a:noFill/>
                </a:ln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</a:rPr>
            </a:br>
            <a:r>
              <a:rPr lang="ru-RU" sz="2300" b="0" i="0" u="none" strike="noStrike" cap="none" spc="0">
                <a:ln>
                  <a:noFill/>
                </a:ln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</a:rPr>
              <a:t>МЕЖДУ ДОЛЖНОСТНЫМИ ЛИЦАМИ РАБОТОДАТЕЛЯ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1030625" y="1302335"/>
            <a:ext cx="8942494" cy="36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22860" rIns="22860" anchor="ctr"/>
          <a:lstStyle/>
          <a:p>
            <a:pPr marL="0" marR="0" lvl="0" indent="0" algn="l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175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5" name="Подзаголовок 2"/>
          <p:cNvSpPr txBox="1"/>
          <p:nvPr/>
        </p:nvSpPr>
        <p:spPr bwMode="auto">
          <a:xfrm>
            <a:off x="911424" y="1338335"/>
            <a:ext cx="3456384" cy="286312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Autofit/>
          </a:bodyPr>
          <a:lstStyle>
            <a:lvl1pPr marL="0" marR="0" indent="0" algn="r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2286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4572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6858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9144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11430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13716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16002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18288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100" b="0" i="0" u="none" strike="noStrike" cap="none" spc="0">
                <a:ln>
                  <a:noFill/>
                </a:ln>
                <a:solidFill>
                  <a:srgbClr val="535353"/>
                </a:solidFill>
                <a:latin typeface="PFDinDisplayPro-Medium"/>
                <a:ea typeface="Open Sans"/>
                <a:cs typeface="Open Sans"/>
              </a:rPr>
              <a:t>Организация системы управления охраной труда</a:t>
            </a:r>
            <a:endParaRPr sz="2800" b="0" i="0" u="none" strike="noStrike" cap="none" spc="0">
              <a:ln>
                <a:noFill/>
              </a:ln>
              <a:solidFill>
                <a:srgbClr val="535353"/>
              </a:solidFill>
              <a:latin typeface="Open Sans"/>
              <a:ea typeface="Open Sans"/>
              <a:cs typeface="Open Sans"/>
            </a:endParaRPr>
          </a:p>
        </p:txBody>
      </p:sp>
      <p:pic>
        <p:nvPicPr>
          <p:cNvPr id="9" name="Picture 13" descr="http://compactchair.com/wp-content/uploads/2016/03/steps-min.png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7001399" y="2458896"/>
            <a:ext cx="4918286" cy="3584202"/>
          </a:xfrm>
          <a:prstGeom prst="rect">
            <a:avLst/>
          </a:prstGeom>
          <a:noFill/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723C5A3-4D12-4D7A-9156-BBDBD69D943D}"/>
              </a:ext>
            </a:extLst>
          </p:cNvPr>
          <p:cNvSpPr/>
          <p:nvPr/>
        </p:nvSpPr>
        <p:spPr>
          <a:xfrm>
            <a:off x="927295" y="1921511"/>
            <a:ext cx="6162419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bg2"/>
                </a:solidFill>
              </a:rPr>
              <a:t>Координация и взаимодействие с работниками и их представителями осуществляется по вопросам:</a:t>
            </a:r>
          </a:p>
          <a:p>
            <a:endParaRPr lang="ru-RU" dirty="0">
              <a:solidFill>
                <a:schemeClr val="bg2"/>
              </a:solidFill>
            </a:endParaRPr>
          </a:p>
          <a:p>
            <a:endParaRPr lang="ru-RU" dirty="0">
              <a:solidFill>
                <a:schemeClr val="bg2"/>
              </a:solidFill>
            </a:endParaRPr>
          </a:p>
          <a:p>
            <a:r>
              <a:rPr lang="ru-RU" dirty="0">
                <a:solidFill>
                  <a:schemeClr val="bg2"/>
                </a:solidFill>
              </a:rPr>
              <a:t>📋 Потребности и ожидания работников в рамках СУОТ</a:t>
            </a:r>
          </a:p>
          <a:p>
            <a:endParaRPr lang="ru-RU" dirty="0">
              <a:solidFill>
                <a:schemeClr val="bg2"/>
              </a:solidFill>
            </a:endParaRPr>
          </a:p>
          <a:p>
            <a:r>
              <a:rPr lang="ru-RU" dirty="0">
                <a:solidFill>
                  <a:schemeClr val="bg2"/>
                </a:solidFill>
              </a:rPr>
              <a:t>🎯 Цели в области охраны труда и их достижение</a:t>
            </a:r>
          </a:p>
          <a:p>
            <a:endParaRPr lang="ru-RU" dirty="0">
              <a:solidFill>
                <a:schemeClr val="bg2"/>
              </a:solidFill>
            </a:endParaRPr>
          </a:p>
          <a:p>
            <a:r>
              <a:rPr lang="ru-RU" dirty="0">
                <a:solidFill>
                  <a:schemeClr val="bg2"/>
                </a:solidFill>
              </a:rPr>
              <a:t>⚠️ Управление рисками — выявление опасностей, оценка рисков, план мероприятий по улучшению условий труда</a:t>
            </a:r>
          </a:p>
          <a:p>
            <a:endParaRPr lang="ru-RU" dirty="0">
              <a:solidFill>
                <a:schemeClr val="bg2"/>
              </a:solidFill>
            </a:endParaRPr>
          </a:p>
          <a:p>
            <a:r>
              <a:rPr lang="ru-RU" dirty="0">
                <a:solidFill>
                  <a:schemeClr val="bg2"/>
                </a:solidFill>
              </a:rPr>
              <a:t>📄 Обязанности и полномочия — закрепление в локальных актах</a:t>
            </a:r>
          </a:p>
          <a:p>
            <a:endParaRPr lang="ru-RU" dirty="0">
              <a:solidFill>
                <a:schemeClr val="bg2"/>
              </a:solidFill>
            </a:endParaRPr>
          </a:p>
          <a:p>
            <a:r>
              <a:rPr lang="ru-RU" dirty="0">
                <a:solidFill>
                  <a:schemeClr val="bg2"/>
                </a:solidFill>
              </a:rPr>
              <a:t>🤝 Механизмы консультирования и участия работников в обсуждении и решении вопросов охраны труда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" name="Прямоугольник 11">
            <a:extLst>
              <a:ext uri="{FF2B5EF4-FFF2-40B4-BE49-F238E27FC236}">
                <a16:creationId xmlns:a16="http://schemas.microsoft.com/office/drawing/2014/main" id="{8BB92F77-F917-47C1-9A71-8CA8D3B91D5E}"/>
              </a:ext>
            </a:extLst>
          </p:cNvPr>
          <p:cNvSpPr/>
          <p:nvPr/>
        </p:nvSpPr>
        <p:spPr bwMode="auto">
          <a:xfrm flipH="1">
            <a:off x="5137450" y="-328864"/>
            <a:ext cx="7051375" cy="7357936"/>
          </a:xfrm>
          <a:custGeom>
            <a:avLst/>
            <a:gdLst>
              <a:gd name="connsiteX0" fmla="*/ 0 w 6095999"/>
              <a:gd name="connsiteY0" fmla="*/ 0 h 6858000"/>
              <a:gd name="connsiteX1" fmla="*/ 6095999 w 6095999"/>
              <a:gd name="connsiteY1" fmla="*/ 0 h 6858000"/>
              <a:gd name="connsiteX2" fmla="*/ 6095999 w 6095999"/>
              <a:gd name="connsiteY2" fmla="*/ 6858000 h 6858000"/>
              <a:gd name="connsiteX3" fmla="*/ 0 w 6095999"/>
              <a:gd name="connsiteY3" fmla="*/ 6858000 h 6858000"/>
              <a:gd name="connsiteX4" fmla="*/ 0 w 6095999"/>
              <a:gd name="connsiteY4" fmla="*/ 0 h 6858000"/>
              <a:gd name="connsiteX0" fmla="*/ 0 w 6095999"/>
              <a:gd name="connsiteY0" fmla="*/ 193524 h 7051524"/>
              <a:gd name="connsiteX1" fmla="*/ 6095999 w 6095999"/>
              <a:gd name="connsiteY1" fmla="*/ 193524 h 7051524"/>
              <a:gd name="connsiteX2" fmla="*/ 6095999 w 6095999"/>
              <a:gd name="connsiteY2" fmla="*/ 7051524 h 7051524"/>
              <a:gd name="connsiteX3" fmla="*/ 0 w 6095999"/>
              <a:gd name="connsiteY3" fmla="*/ 7051524 h 7051524"/>
              <a:gd name="connsiteX4" fmla="*/ 0 w 6095999"/>
              <a:gd name="connsiteY4" fmla="*/ 193524 h 7051524"/>
              <a:gd name="connsiteX0" fmla="*/ 0 w 6199211"/>
              <a:gd name="connsiteY0" fmla="*/ 193524 h 7051524"/>
              <a:gd name="connsiteX1" fmla="*/ 6095999 w 6199211"/>
              <a:gd name="connsiteY1" fmla="*/ 193524 h 7051524"/>
              <a:gd name="connsiteX2" fmla="*/ 6095999 w 6199211"/>
              <a:gd name="connsiteY2" fmla="*/ 7051524 h 7051524"/>
              <a:gd name="connsiteX3" fmla="*/ 0 w 6199211"/>
              <a:gd name="connsiteY3" fmla="*/ 7051524 h 7051524"/>
              <a:gd name="connsiteX4" fmla="*/ 0 w 6199211"/>
              <a:gd name="connsiteY4" fmla="*/ 193524 h 7051524"/>
              <a:gd name="connsiteX0" fmla="*/ 0 w 6152579"/>
              <a:gd name="connsiteY0" fmla="*/ 193524 h 7051524"/>
              <a:gd name="connsiteX1" fmla="*/ 6095999 w 6152579"/>
              <a:gd name="connsiteY1" fmla="*/ 193524 h 7051524"/>
              <a:gd name="connsiteX2" fmla="*/ 6095999 w 6152579"/>
              <a:gd name="connsiteY2" fmla="*/ 7051524 h 7051524"/>
              <a:gd name="connsiteX3" fmla="*/ 0 w 6152579"/>
              <a:gd name="connsiteY3" fmla="*/ 7051524 h 7051524"/>
              <a:gd name="connsiteX4" fmla="*/ 0 w 6152579"/>
              <a:gd name="connsiteY4" fmla="*/ 193524 h 7051524"/>
              <a:gd name="connsiteX0" fmla="*/ 0 w 6152579"/>
              <a:gd name="connsiteY0" fmla="*/ 193524 h 7225695"/>
              <a:gd name="connsiteX1" fmla="*/ 6095999 w 6152579"/>
              <a:gd name="connsiteY1" fmla="*/ 193524 h 7225695"/>
              <a:gd name="connsiteX2" fmla="*/ 6095999 w 6152579"/>
              <a:gd name="connsiteY2" fmla="*/ 7051524 h 7225695"/>
              <a:gd name="connsiteX3" fmla="*/ 0 w 6152579"/>
              <a:gd name="connsiteY3" fmla="*/ 7051524 h 7225695"/>
              <a:gd name="connsiteX4" fmla="*/ 0 w 6152579"/>
              <a:gd name="connsiteY4" fmla="*/ 193524 h 7225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52579" h="7225695" extrusionOk="0">
                <a:moveTo>
                  <a:pt x="0" y="193524"/>
                </a:moveTo>
                <a:cubicBezTo>
                  <a:pt x="2032000" y="193524"/>
                  <a:pt x="4165599" y="-241905"/>
                  <a:pt x="6095999" y="193524"/>
                </a:cubicBezTo>
                <a:cubicBezTo>
                  <a:pt x="6328228" y="2566610"/>
                  <a:pt x="5747656" y="4910667"/>
                  <a:pt x="6095999" y="7051524"/>
                </a:cubicBezTo>
                <a:cubicBezTo>
                  <a:pt x="4049484" y="7443410"/>
                  <a:pt x="2032000" y="7051524"/>
                  <a:pt x="0" y="7051524"/>
                </a:cubicBezTo>
                <a:lnTo>
                  <a:pt x="0" y="193524"/>
                </a:lnTo>
                <a:close/>
              </a:path>
            </a:pathLst>
          </a:custGeom>
          <a:solidFill>
            <a:srgbClr val="E6E6E6"/>
          </a:solidFill>
          <a:ln w="12700" cap="flat" cmpd="sng" algn="ctr">
            <a:solidFill>
              <a:srgbClr val="E6E6E6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285750" marR="0" lvl="0" indent="-28575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ru-RU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3174" y="3113533"/>
            <a:ext cx="452551" cy="63094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1750">
                <a:solidFill>
                  <a:srgbClr val="FFFFFF"/>
                </a:solidFill>
              </a:defRPr>
            </a:lvl1pPr>
          </a:lstStyle>
          <a:p>
            <a:pPr marL="0" marR="0" lvl="0" indent="0" algn="ct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sz="1750" b="0" i="0" u="none" strike="noStrike" cap="none" spc="0">
                <a:ln>
                  <a:noFill/>
                </a:ln>
                <a:solidFill>
                  <a:srgbClr val="FFFFFF"/>
                </a:solidFill>
                <a:latin typeface="Open Sans Light"/>
                <a:cs typeface="Calibri"/>
              </a:rPr>
              <a:t>11</a:t>
            </a:fld>
            <a:endParaRPr sz="175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1030625" y="888595"/>
            <a:ext cx="10117667" cy="446276"/>
          </a:xfrm>
          <a:prstGeom prst="rect">
            <a:avLst/>
          </a:prstGeom>
          <a:ln w="12700">
            <a:miter lim="400000"/>
          </a:ln>
        </p:spPr>
        <p:txBody>
          <a:bodyPr wrap="square" lIns="22860" rIns="2286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457200">
              <a:defRPr/>
            </a:pPr>
            <a:r>
              <a:rPr lang="ru-RU" sz="230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</a:rPr>
              <a:t>ПЛАНИРОВАНИЕ СУОТ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1030649" y="1302335"/>
            <a:ext cx="3341151" cy="36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22860" rIns="22860" anchor="ctr"/>
          <a:lstStyle/>
          <a:p>
            <a:pPr marL="0" marR="0" lvl="0" indent="0" algn="l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175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5" name="Подзаголовок 2"/>
          <p:cNvSpPr txBox="1"/>
          <p:nvPr/>
        </p:nvSpPr>
        <p:spPr bwMode="auto">
          <a:xfrm>
            <a:off x="911424" y="1338335"/>
            <a:ext cx="3456384" cy="286312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Autofit/>
          </a:bodyPr>
          <a:lstStyle>
            <a:lvl1pPr marL="0" marR="0" indent="0" algn="r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2286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4572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6858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9144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11430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13716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16002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18288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100" b="0" i="0" u="none" strike="noStrike" cap="none" spc="0">
                <a:ln>
                  <a:noFill/>
                </a:ln>
                <a:solidFill>
                  <a:srgbClr val="535353"/>
                </a:solidFill>
                <a:latin typeface="PFDinDisplayPro-Medium"/>
                <a:ea typeface="Open Sans"/>
                <a:cs typeface="Open Sans"/>
              </a:rPr>
              <a:t>Организация системы управления охраной труда</a:t>
            </a:r>
            <a:endParaRPr sz="2800" b="0" i="0" u="none" strike="noStrike" cap="none" spc="0">
              <a:ln>
                <a:noFill/>
              </a:ln>
              <a:solidFill>
                <a:srgbClr val="535353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435806D-B704-4123-A070-C169679B873A}"/>
              </a:ext>
            </a:extLst>
          </p:cNvPr>
          <p:cNvSpPr/>
          <p:nvPr/>
        </p:nvSpPr>
        <p:spPr>
          <a:xfrm>
            <a:off x="994732" y="1979698"/>
            <a:ext cx="390271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2"/>
                </a:solidFill>
              </a:rPr>
              <a:t>При планировании СУОТ учитываются профессиональные риски, требующие мер для предотвращения нарушений безопасности.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C54B1A9-EC8A-4061-9953-2B9198AE8964}"/>
              </a:ext>
            </a:extLst>
          </p:cNvPr>
          <p:cNvSpPr/>
          <p:nvPr/>
        </p:nvSpPr>
        <p:spPr>
          <a:xfrm>
            <a:off x="6672064" y="1249483"/>
            <a:ext cx="3195609" cy="6453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2"/>
                </a:solidFill>
              </a:rPr>
              <a:t>УПРАВЛЕНИЕ РИСКАМИ — это комплекс мероприятий: </a:t>
            </a:r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E7BEE4F4-C217-4048-964C-FBA761C0DB2A}"/>
              </a:ext>
            </a:extLst>
          </p:cNvPr>
          <p:cNvGrpSpPr/>
          <p:nvPr/>
        </p:nvGrpSpPr>
        <p:grpSpPr>
          <a:xfrm>
            <a:off x="5663952" y="2101040"/>
            <a:ext cx="5400600" cy="4155748"/>
            <a:chOff x="5740881" y="2570193"/>
            <a:chExt cx="5400600" cy="4155748"/>
          </a:xfrm>
        </p:grpSpPr>
        <p:sp>
          <p:nvSpPr>
            <p:cNvPr id="23" name="Rounded Rectangle 4">
              <a:extLst>
                <a:ext uri="{FF2B5EF4-FFF2-40B4-BE49-F238E27FC236}">
                  <a16:creationId xmlns:a16="http://schemas.microsoft.com/office/drawing/2014/main" id="{FC4AD440-217D-4479-B226-046D4B7E875D}"/>
                </a:ext>
              </a:extLst>
            </p:cNvPr>
            <p:cNvSpPr/>
            <p:nvPr/>
          </p:nvSpPr>
          <p:spPr bwMode="auto">
            <a:xfrm>
              <a:off x="9045357" y="5021902"/>
              <a:ext cx="2096124" cy="1704039"/>
            </a:xfrm>
            <a:prstGeom prst="roundRect">
              <a:avLst/>
            </a:prstGeom>
            <a:solidFill>
              <a:sysClr val="window" lastClr="FFFFFF"/>
            </a:solidFill>
            <a:ln w="9525" cap="flat" cmpd="sng" algn="ctr">
              <a:solidFill>
                <a:srgbClr val="D2D2D2"/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lvl="0" defTabSz="457200" rtl="0"/>
              <a:endParaRPr lang="ru-RU" kern="1200" dirty="0">
                <a:solidFill>
                  <a:schemeClr val="bg2"/>
                </a:solidFill>
                <a:latin typeface="Montserrat Light"/>
                <a:cs typeface="Arial"/>
              </a:endParaRPr>
            </a:p>
          </p:txBody>
        </p:sp>
        <p:sp>
          <p:nvSpPr>
            <p:cNvPr id="21" name="Rounded Rectangle 4">
              <a:extLst>
                <a:ext uri="{FF2B5EF4-FFF2-40B4-BE49-F238E27FC236}">
                  <a16:creationId xmlns:a16="http://schemas.microsoft.com/office/drawing/2014/main" id="{EB794FF0-E752-4771-9BC8-7A2ABB78C97D}"/>
                </a:ext>
              </a:extLst>
            </p:cNvPr>
            <p:cNvSpPr/>
            <p:nvPr/>
          </p:nvSpPr>
          <p:spPr bwMode="auto">
            <a:xfrm>
              <a:off x="5740881" y="5002425"/>
              <a:ext cx="2088143" cy="1704039"/>
            </a:xfrm>
            <a:prstGeom prst="roundRect">
              <a:avLst/>
            </a:prstGeom>
            <a:solidFill>
              <a:sysClr val="window" lastClr="FFFFFF"/>
            </a:solidFill>
            <a:ln w="9525" cap="flat" cmpd="sng" algn="ctr">
              <a:solidFill>
                <a:srgbClr val="D2D2D2"/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lvl="0" algn="ctr" defTabSz="457200" rtl="0"/>
              <a:endParaRPr lang="ru-RU" kern="1200" dirty="0">
                <a:solidFill>
                  <a:schemeClr val="bg2"/>
                </a:solidFill>
                <a:latin typeface="Montserrat Light"/>
                <a:cs typeface="Arial"/>
              </a:endParaRPr>
            </a:p>
          </p:txBody>
        </p:sp>
        <p:sp>
          <p:nvSpPr>
            <p:cNvPr id="20" name="Rounded Rectangle 4">
              <a:extLst>
                <a:ext uri="{FF2B5EF4-FFF2-40B4-BE49-F238E27FC236}">
                  <a16:creationId xmlns:a16="http://schemas.microsoft.com/office/drawing/2014/main" id="{868C623F-44EB-4619-8A2B-16C60957A236}"/>
                </a:ext>
              </a:extLst>
            </p:cNvPr>
            <p:cNvSpPr/>
            <p:nvPr/>
          </p:nvSpPr>
          <p:spPr bwMode="auto">
            <a:xfrm>
              <a:off x="9012717" y="2570193"/>
              <a:ext cx="2056756" cy="1567856"/>
            </a:xfrm>
            <a:prstGeom prst="roundRect">
              <a:avLst/>
            </a:prstGeom>
            <a:solidFill>
              <a:sysClr val="window" lastClr="FFFFFF"/>
            </a:solidFill>
            <a:ln w="9525" cap="flat" cmpd="sng" algn="ctr">
              <a:solidFill>
                <a:srgbClr val="D2D2D2"/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lvl="0" defTabSz="457200" rtl="0"/>
              <a:endParaRPr lang="ru-RU" kern="1200" dirty="0">
                <a:solidFill>
                  <a:schemeClr val="bg2"/>
                </a:solidFill>
                <a:latin typeface="Montserrat Light"/>
                <a:cs typeface="Arial"/>
              </a:endParaRPr>
            </a:p>
          </p:txBody>
        </p:sp>
        <p:sp>
          <p:nvSpPr>
            <p:cNvPr id="19" name="Rounded Rectangle 4">
              <a:extLst>
                <a:ext uri="{FF2B5EF4-FFF2-40B4-BE49-F238E27FC236}">
                  <a16:creationId xmlns:a16="http://schemas.microsoft.com/office/drawing/2014/main" id="{5CCF4D8D-0745-412D-93C2-71173DB3B6E0}"/>
                </a:ext>
              </a:extLst>
            </p:cNvPr>
            <p:cNvSpPr/>
            <p:nvPr/>
          </p:nvSpPr>
          <p:spPr bwMode="auto">
            <a:xfrm>
              <a:off x="5740881" y="2600565"/>
              <a:ext cx="2056756" cy="1518842"/>
            </a:xfrm>
            <a:prstGeom prst="roundRect">
              <a:avLst/>
            </a:prstGeom>
            <a:solidFill>
              <a:sysClr val="window" lastClr="FFFFFF"/>
            </a:solidFill>
            <a:ln w="9525" cap="flat" cmpd="sng" algn="ctr">
              <a:solidFill>
                <a:srgbClr val="D2D2D2"/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rtlCol="0" anchor="ctr"/>
            <a:lstStyle/>
            <a:p>
              <a:pPr lvl="0" defTabSz="457200" rtl="0"/>
              <a:endParaRPr lang="ru-RU" kern="1200" dirty="0">
                <a:solidFill>
                  <a:schemeClr val="bg2"/>
                </a:solidFill>
                <a:latin typeface="Montserrat Light"/>
                <a:cs typeface="Arial"/>
              </a:endParaRPr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09279618-9F4D-470A-92CF-9B86ACC9B137}"/>
                </a:ext>
              </a:extLst>
            </p:cNvPr>
            <p:cNvSpPr/>
            <p:nvPr/>
          </p:nvSpPr>
          <p:spPr>
            <a:xfrm>
              <a:off x="6071692" y="2898321"/>
              <a:ext cx="1448750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ru-RU" dirty="0">
                  <a:solidFill>
                    <a:schemeClr val="bg2"/>
                  </a:solidFill>
                </a:rPr>
                <a:t>🔍 Выявление опасностей   </a:t>
              </a:r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4772D9B7-B53F-48A2-93F8-73A5D3720480}"/>
                </a:ext>
              </a:extLst>
            </p:cNvPr>
            <p:cNvSpPr/>
            <p:nvPr/>
          </p:nvSpPr>
          <p:spPr>
            <a:xfrm>
              <a:off x="9122268" y="2938030"/>
              <a:ext cx="1825220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ru-RU" dirty="0">
                  <a:solidFill>
                    <a:schemeClr val="bg2"/>
                  </a:solidFill>
                </a:rPr>
                <a:t>📊 </a:t>
              </a:r>
            </a:p>
            <a:p>
              <a:pPr algn="ctr"/>
              <a:r>
                <a:rPr lang="ru-RU" dirty="0">
                  <a:solidFill>
                    <a:schemeClr val="bg2"/>
                  </a:solidFill>
                </a:rPr>
                <a:t>Оценка (ОПР) уровня рисков  </a:t>
              </a:r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B8062C99-6AB9-49F0-B89D-5F87A05D4F97}"/>
                </a:ext>
              </a:extLst>
            </p:cNvPr>
            <p:cNvSpPr/>
            <p:nvPr/>
          </p:nvSpPr>
          <p:spPr>
            <a:xfrm>
              <a:off x="5794498" y="5043940"/>
              <a:ext cx="2003139" cy="147732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ru-RU" dirty="0">
                  <a:solidFill>
                    <a:schemeClr val="bg2"/>
                  </a:solidFill>
                </a:rPr>
                <a:t> ✅ </a:t>
              </a:r>
            </a:p>
            <a:p>
              <a:pPr algn="ctr"/>
              <a:r>
                <a:rPr lang="ru-RU" dirty="0">
                  <a:solidFill>
                    <a:schemeClr val="bg2"/>
                  </a:solidFill>
                </a:rPr>
                <a:t>Меры по снижению рисков или их недопущению</a:t>
              </a:r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D2ACD038-DF08-454A-B86B-2BF544BC8BDF}"/>
                </a:ext>
              </a:extLst>
            </p:cNvPr>
            <p:cNvSpPr/>
            <p:nvPr/>
          </p:nvSpPr>
          <p:spPr>
            <a:xfrm>
              <a:off x="9252332" y="5075549"/>
              <a:ext cx="1739234" cy="147732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ru-RU" dirty="0">
                  <a:solidFill>
                    <a:schemeClr val="bg2"/>
                  </a:solidFill>
                </a:rPr>
                <a:t>🔄</a:t>
              </a:r>
            </a:p>
            <a:p>
              <a:pPr algn="ctr"/>
              <a:r>
                <a:rPr lang="ru-RU" dirty="0">
                  <a:solidFill>
                    <a:schemeClr val="bg2"/>
                  </a:solidFill>
                </a:rPr>
                <a:t>Контроль и пересмотр выявленных рисков  </a:t>
              </a:r>
            </a:p>
          </p:txBody>
        </p:sp>
      </p:grp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96478464-9902-41E4-83E0-84B5364FB4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46815">
            <a:off x="7634212" y="2104894"/>
            <a:ext cx="1505843" cy="1511939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4D48B434-AD5B-4B42-8309-426E12ADB9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 rot="7827655">
            <a:off x="6354336" y="3570703"/>
            <a:ext cx="1079885" cy="1083635"/>
          </a:xfrm>
          <a:prstGeom prst="rect">
            <a:avLst/>
          </a:prstGeom>
        </p:spPr>
      </p:pic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4A1E483A-B597-4FA8-973C-84A96005FD5F}"/>
              </a:ext>
            </a:extLst>
          </p:cNvPr>
          <p:cNvGrpSpPr/>
          <p:nvPr/>
        </p:nvGrpSpPr>
        <p:grpSpPr>
          <a:xfrm rot="249187">
            <a:off x="7705737" y="4519241"/>
            <a:ext cx="1505843" cy="1511939"/>
            <a:chOff x="10289020" y="3230034"/>
            <a:chExt cx="1505843" cy="1511939"/>
          </a:xfrm>
        </p:grpSpPr>
        <p:pic>
          <p:nvPicPr>
            <p:cNvPr id="26" name="Рисунок 25">
              <a:extLst>
                <a:ext uri="{FF2B5EF4-FFF2-40B4-BE49-F238E27FC236}">
                  <a16:creationId xmlns:a16="http://schemas.microsoft.com/office/drawing/2014/main" id="{3215A0AD-9755-40FB-8BE1-B3DA7E3F95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 bwMode="auto">
            <a:xfrm>
              <a:off x="10289020" y="3230034"/>
              <a:ext cx="1505843" cy="1511939"/>
            </a:xfrm>
            <a:prstGeom prst="rect">
              <a:avLst/>
            </a:prstGeom>
          </p:spPr>
        </p:pic>
        <p:pic>
          <p:nvPicPr>
            <p:cNvPr id="27" name="Рисунок 26">
              <a:extLst>
                <a:ext uri="{FF2B5EF4-FFF2-40B4-BE49-F238E27FC236}">
                  <a16:creationId xmlns:a16="http://schemas.microsoft.com/office/drawing/2014/main" id="{185A6FDF-7D65-468B-B470-F2B63752D14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2997" t="42417" r="18349" b="28192"/>
            <a:stretch/>
          </p:blipFill>
          <p:spPr bwMode="auto">
            <a:xfrm flipH="1">
              <a:off x="10423620" y="3930527"/>
              <a:ext cx="280890" cy="444368"/>
            </a:xfrm>
            <a:prstGeom prst="rect">
              <a:avLst/>
            </a:prstGeom>
          </p:spPr>
        </p:pic>
      </p:grp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F44E79FF-9B3C-4EB1-978D-80559F28C0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510" y="3538340"/>
            <a:ext cx="3810940" cy="3177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3174" y="3113533"/>
            <a:ext cx="452551" cy="63094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1750">
                <a:solidFill>
                  <a:srgbClr val="FFFFFF"/>
                </a:solidFill>
              </a:defRPr>
            </a:lvl1pPr>
          </a:lstStyle>
          <a:p>
            <a:pPr marL="0" marR="0" lvl="0" indent="0" algn="ct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sz="1750" b="0" i="0" u="none" strike="noStrike" cap="none" spc="0">
                <a:ln>
                  <a:noFill/>
                </a:ln>
                <a:solidFill>
                  <a:srgbClr val="FFFFFF"/>
                </a:solidFill>
                <a:latin typeface="Open Sans Light"/>
                <a:cs typeface="Calibri"/>
              </a:rPr>
              <a:t>12</a:t>
            </a:fld>
            <a:endParaRPr sz="175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1030625" y="888595"/>
            <a:ext cx="10117667" cy="446276"/>
          </a:xfrm>
          <a:prstGeom prst="rect">
            <a:avLst/>
          </a:prstGeom>
          <a:ln w="12700">
            <a:miter lim="400000"/>
          </a:ln>
        </p:spPr>
        <p:txBody>
          <a:bodyPr wrap="square" lIns="22860" rIns="2286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300" b="0" i="0" u="none" strike="noStrike" cap="none" spc="0">
                <a:ln>
                  <a:noFill/>
                </a:ln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</a:rPr>
              <a:t>ПЛАНИРОВАНИЕ СУОТ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1030649" y="1302335"/>
            <a:ext cx="3341151" cy="36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22860" rIns="22860" anchor="ctr"/>
          <a:lstStyle/>
          <a:p>
            <a:pPr marL="0" marR="0" lvl="0" indent="0" algn="l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175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5" name="Подзаголовок 2"/>
          <p:cNvSpPr txBox="1"/>
          <p:nvPr/>
        </p:nvSpPr>
        <p:spPr bwMode="auto">
          <a:xfrm>
            <a:off x="911424" y="1338335"/>
            <a:ext cx="3456384" cy="286312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Autofit/>
          </a:bodyPr>
          <a:lstStyle>
            <a:lvl1pPr marL="0" marR="0" indent="0" algn="r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2286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4572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6858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9144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11430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13716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16002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18288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100" b="0" i="0" u="none" strike="noStrike" cap="none" spc="0">
                <a:ln>
                  <a:noFill/>
                </a:ln>
                <a:solidFill>
                  <a:srgbClr val="535353"/>
                </a:solidFill>
                <a:latin typeface="PFDinDisplayPro-Medium"/>
                <a:ea typeface="Open Sans"/>
                <a:cs typeface="Open Sans"/>
              </a:rPr>
              <a:t>Организация системы управления охраной труда</a:t>
            </a:r>
            <a:endParaRPr sz="2800" b="0" i="0" u="none" strike="noStrike" cap="none" spc="0">
              <a:ln>
                <a:noFill/>
              </a:ln>
              <a:solidFill>
                <a:srgbClr val="535353"/>
              </a:solidFill>
              <a:latin typeface="Open Sans"/>
              <a:ea typeface="Open Sans"/>
              <a:cs typeface="Open Sans"/>
            </a:endParaRPr>
          </a:p>
        </p:txBody>
      </p:sp>
      <p:pic>
        <p:nvPicPr>
          <p:cNvPr id="9" name="Picture 3" descr="https://navika.pro/images/uploads/83QK8yxgiZY5E09XgtN9tzJ7S.jpg"/>
          <p:cNvPicPr>
            <a:picLocks noChangeAspect="1" noChangeArrowheads="1"/>
          </p:cNvPicPr>
          <p:nvPr/>
        </p:nvPicPr>
        <p:blipFill>
          <a:blip r:embed="rId2"/>
          <a:srcRect l="11766" r="10087"/>
          <a:stretch/>
        </p:blipFill>
        <p:spPr bwMode="auto">
          <a:xfrm flipH="1">
            <a:off x="5519936" y="1320335"/>
            <a:ext cx="6220691" cy="4740879"/>
          </a:xfrm>
          <a:prstGeom prst="rect">
            <a:avLst/>
          </a:prstGeom>
          <a:noFill/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55DD314-8363-4936-9DD1-A6BD42250EE0}"/>
              </a:ext>
            </a:extLst>
          </p:cNvPr>
          <p:cNvSpPr/>
          <p:nvPr/>
        </p:nvSpPr>
        <p:spPr>
          <a:xfrm>
            <a:off x="911424" y="1781660"/>
            <a:ext cx="4824536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>
                <a:solidFill>
                  <a:schemeClr val="bg2"/>
                </a:solidFill>
              </a:rPr>
              <a:t>Выявление (идентификация) опасностей:</a:t>
            </a:r>
          </a:p>
          <a:p>
            <a:pPr algn="just"/>
            <a:r>
              <a:rPr lang="ru-RU" dirty="0">
                <a:solidFill>
                  <a:schemeClr val="bg2"/>
                </a:solidFill>
              </a:rPr>
              <a:t>Проводится с учетом рекомендаций по классификации, обнаружению и описанию опасностей.</a:t>
            </a:r>
          </a:p>
          <a:p>
            <a:pPr algn="just"/>
            <a:r>
              <a:rPr lang="ru-RU" dirty="0">
                <a:solidFill>
                  <a:schemeClr val="bg2"/>
                </a:solidFill>
              </a:rPr>
              <a:t>🎯 Результат — перечень (реестр) опасностей</a:t>
            </a:r>
          </a:p>
          <a:p>
            <a:pPr algn="just"/>
            <a:endParaRPr lang="ru-RU" dirty="0">
              <a:solidFill>
                <a:schemeClr val="bg2"/>
              </a:solidFill>
            </a:endParaRPr>
          </a:p>
          <a:p>
            <a:pPr algn="just"/>
            <a:endParaRPr lang="ru-RU" b="1" dirty="0">
              <a:solidFill>
                <a:schemeClr val="bg2"/>
              </a:solidFill>
            </a:endParaRPr>
          </a:p>
          <a:p>
            <a:pPr algn="just"/>
            <a:r>
              <a:rPr lang="ru-RU" b="1" dirty="0">
                <a:solidFill>
                  <a:schemeClr val="bg2"/>
                </a:solidFill>
              </a:rPr>
              <a:t>Оценка профессиональных рисков (ОПР):</a:t>
            </a:r>
          </a:p>
          <a:p>
            <a:pPr algn="just"/>
            <a:r>
              <a:rPr lang="ru-RU" dirty="0">
                <a:solidFill>
                  <a:schemeClr val="bg2"/>
                </a:solidFill>
              </a:rPr>
              <a:t>🛡️ Проводится для всех выявленных опасностей</a:t>
            </a:r>
          </a:p>
          <a:p>
            <a:pPr algn="just"/>
            <a:r>
              <a:rPr lang="ru-RU" dirty="0">
                <a:solidFill>
                  <a:schemeClr val="bg2"/>
                </a:solidFill>
              </a:rPr>
              <a:t>🔍 Методы оценки определяются с учетом характера деятельности</a:t>
            </a:r>
          </a:p>
          <a:p>
            <a:pPr algn="just"/>
            <a:r>
              <a:rPr lang="ru-RU" dirty="0">
                <a:solidFill>
                  <a:schemeClr val="bg2"/>
                </a:solidFill>
              </a:rPr>
              <a:t>👔 Допускается привлечение независимой компетентной организации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4">
            <a:extLst>
              <a:ext uri="{FF2B5EF4-FFF2-40B4-BE49-F238E27FC236}">
                <a16:creationId xmlns:a16="http://schemas.microsoft.com/office/drawing/2014/main" id="{FAEF7845-193A-4017-A261-CD152A23E96B}"/>
              </a:ext>
            </a:extLst>
          </p:cNvPr>
          <p:cNvSpPr/>
          <p:nvPr/>
        </p:nvSpPr>
        <p:spPr bwMode="auto">
          <a:xfrm>
            <a:off x="6066607" y="1481491"/>
            <a:ext cx="6338361" cy="1012265"/>
          </a:xfrm>
          <a:custGeom>
            <a:avLst/>
            <a:gdLst>
              <a:gd name="connsiteX0" fmla="*/ 0 w 9622971"/>
              <a:gd name="connsiteY0" fmla="*/ 0 h 789319"/>
              <a:gd name="connsiteX1" fmla="*/ 9622971 w 9622971"/>
              <a:gd name="connsiteY1" fmla="*/ 0 h 789319"/>
              <a:gd name="connsiteX2" fmla="*/ 9622971 w 9622971"/>
              <a:gd name="connsiteY2" fmla="*/ 789319 h 789319"/>
              <a:gd name="connsiteX3" fmla="*/ 0 w 9622971"/>
              <a:gd name="connsiteY3" fmla="*/ 789319 h 789319"/>
              <a:gd name="connsiteX4" fmla="*/ 0 w 9622971"/>
              <a:gd name="connsiteY4" fmla="*/ 0 h 789319"/>
              <a:gd name="connsiteX0" fmla="*/ 0 w 9732634"/>
              <a:gd name="connsiteY0" fmla="*/ 0 h 789319"/>
              <a:gd name="connsiteX1" fmla="*/ 9622971 w 9732634"/>
              <a:gd name="connsiteY1" fmla="*/ 0 h 789319"/>
              <a:gd name="connsiteX2" fmla="*/ 9622971 w 9732634"/>
              <a:gd name="connsiteY2" fmla="*/ 789319 h 789319"/>
              <a:gd name="connsiteX3" fmla="*/ 0 w 9732634"/>
              <a:gd name="connsiteY3" fmla="*/ 789319 h 789319"/>
              <a:gd name="connsiteX4" fmla="*/ 0 w 9732634"/>
              <a:gd name="connsiteY4" fmla="*/ 0 h 789319"/>
              <a:gd name="connsiteX0" fmla="*/ 0 w 9732634"/>
              <a:gd name="connsiteY0" fmla="*/ 58057 h 847376"/>
              <a:gd name="connsiteX1" fmla="*/ 9622971 w 9732634"/>
              <a:gd name="connsiteY1" fmla="*/ 58057 h 847376"/>
              <a:gd name="connsiteX2" fmla="*/ 9622971 w 9732634"/>
              <a:gd name="connsiteY2" fmla="*/ 847376 h 847376"/>
              <a:gd name="connsiteX3" fmla="*/ 0 w 9732634"/>
              <a:gd name="connsiteY3" fmla="*/ 847376 h 847376"/>
              <a:gd name="connsiteX4" fmla="*/ 0 w 9732634"/>
              <a:gd name="connsiteY4" fmla="*/ 58057 h 847376"/>
              <a:gd name="connsiteX0" fmla="*/ 0 w 9732634"/>
              <a:gd name="connsiteY0" fmla="*/ 58057 h 911883"/>
              <a:gd name="connsiteX1" fmla="*/ 9622971 w 9732634"/>
              <a:gd name="connsiteY1" fmla="*/ 58057 h 911883"/>
              <a:gd name="connsiteX2" fmla="*/ 9622971 w 9732634"/>
              <a:gd name="connsiteY2" fmla="*/ 847376 h 911883"/>
              <a:gd name="connsiteX3" fmla="*/ 0 w 9732634"/>
              <a:gd name="connsiteY3" fmla="*/ 847376 h 911883"/>
              <a:gd name="connsiteX4" fmla="*/ 0 w 9732634"/>
              <a:gd name="connsiteY4" fmla="*/ 58057 h 911883"/>
              <a:gd name="connsiteX0" fmla="*/ 58057 w 9790691"/>
              <a:gd name="connsiteY0" fmla="*/ 58057 h 911883"/>
              <a:gd name="connsiteX1" fmla="*/ 9681028 w 9790691"/>
              <a:gd name="connsiteY1" fmla="*/ 58057 h 911883"/>
              <a:gd name="connsiteX2" fmla="*/ 9681028 w 9790691"/>
              <a:gd name="connsiteY2" fmla="*/ 847376 h 911883"/>
              <a:gd name="connsiteX3" fmla="*/ 58057 w 9790691"/>
              <a:gd name="connsiteY3" fmla="*/ 847376 h 911883"/>
              <a:gd name="connsiteX4" fmla="*/ 58057 w 9790691"/>
              <a:gd name="connsiteY4" fmla="*/ 58057 h 911883"/>
              <a:gd name="connsiteX0" fmla="*/ 58057 w 9790691"/>
              <a:gd name="connsiteY0" fmla="*/ 58057 h 990726"/>
              <a:gd name="connsiteX1" fmla="*/ 9681028 w 9790691"/>
              <a:gd name="connsiteY1" fmla="*/ 58057 h 990726"/>
              <a:gd name="connsiteX2" fmla="*/ 9681028 w 9790691"/>
              <a:gd name="connsiteY2" fmla="*/ 847376 h 990726"/>
              <a:gd name="connsiteX3" fmla="*/ 58057 w 9790691"/>
              <a:gd name="connsiteY3" fmla="*/ 847376 h 990726"/>
              <a:gd name="connsiteX4" fmla="*/ 58057 w 9790691"/>
              <a:gd name="connsiteY4" fmla="*/ 58057 h 990726"/>
              <a:gd name="connsiteX0" fmla="*/ 58057 w 9825747"/>
              <a:gd name="connsiteY0" fmla="*/ 58057 h 990726"/>
              <a:gd name="connsiteX1" fmla="*/ 9681028 w 9825747"/>
              <a:gd name="connsiteY1" fmla="*/ 58057 h 990726"/>
              <a:gd name="connsiteX2" fmla="*/ 9681028 w 9825747"/>
              <a:gd name="connsiteY2" fmla="*/ 847376 h 990726"/>
              <a:gd name="connsiteX3" fmla="*/ 58057 w 9825747"/>
              <a:gd name="connsiteY3" fmla="*/ 847376 h 990726"/>
              <a:gd name="connsiteX4" fmla="*/ 58057 w 9825747"/>
              <a:gd name="connsiteY4" fmla="*/ 58057 h 990726"/>
              <a:gd name="connsiteX0" fmla="*/ 58057 w 9825747"/>
              <a:gd name="connsiteY0" fmla="*/ 58057 h 944433"/>
              <a:gd name="connsiteX1" fmla="*/ 9681028 w 9825747"/>
              <a:gd name="connsiteY1" fmla="*/ 58057 h 944433"/>
              <a:gd name="connsiteX2" fmla="*/ 9681028 w 9825747"/>
              <a:gd name="connsiteY2" fmla="*/ 847376 h 944433"/>
              <a:gd name="connsiteX3" fmla="*/ 58057 w 9825747"/>
              <a:gd name="connsiteY3" fmla="*/ 847376 h 944433"/>
              <a:gd name="connsiteX4" fmla="*/ 58057 w 9825747"/>
              <a:gd name="connsiteY4" fmla="*/ 58057 h 944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25747" h="944433" extrusionOk="0">
                <a:moveTo>
                  <a:pt x="58057" y="58057"/>
                </a:moveTo>
                <a:cubicBezTo>
                  <a:pt x="3265714" y="58057"/>
                  <a:pt x="6386285" y="-72572"/>
                  <a:pt x="9681028" y="58057"/>
                </a:cubicBezTo>
                <a:cubicBezTo>
                  <a:pt x="9927771" y="190534"/>
                  <a:pt x="9811656" y="656842"/>
                  <a:pt x="9681028" y="847376"/>
                </a:cubicBezTo>
                <a:cubicBezTo>
                  <a:pt x="6531429" y="818346"/>
                  <a:pt x="3280228" y="1079605"/>
                  <a:pt x="58057" y="847376"/>
                </a:cubicBezTo>
                <a:cubicBezTo>
                  <a:pt x="-72572" y="758441"/>
                  <a:pt x="58057" y="321163"/>
                  <a:pt x="58057" y="58057"/>
                </a:cubicBezTo>
                <a:close/>
              </a:path>
            </a:pathLst>
          </a:custGeom>
          <a:solidFill>
            <a:srgbClr val="E6E6E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3174" y="3113533"/>
            <a:ext cx="452551" cy="63094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1750">
                <a:solidFill>
                  <a:srgbClr val="FFFFFF"/>
                </a:solidFill>
              </a:defRPr>
            </a:lvl1pPr>
          </a:lstStyle>
          <a:p>
            <a:pPr marL="0" marR="0" lvl="0" indent="0" algn="ct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sz="1750" b="0" i="0" u="none" strike="noStrike" cap="none" spc="0">
                <a:ln>
                  <a:noFill/>
                </a:ln>
                <a:solidFill>
                  <a:srgbClr val="FFFFFF"/>
                </a:solidFill>
                <a:latin typeface="Open Sans Light"/>
                <a:cs typeface="Calibri"/>
              </a:rPr>
              <a:t>13</a:t>
            </a:fld>
            <a:endParaRPr sz="175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807931" y="332656"/>
            <a:ext cx="10117667" cy="446276"/>
          </a:xfrm>
          <a:prstGeom prst="rect">
            <a:avLst/>
          </a:prstGeom>
          <a:ln w="12700">
            <a:miter lim="400000"/>
          </a:ln>
        </p:spPr>
        <p:txBody>
          <a:bodyPr wrap="square" lIns="22860" rIns="2286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300" b="0" i="0" u="none" strike="noStrike" cap="none" spc="0" dirty="0">
                <a:ln>
                  <a:noFill/>
                </a:ln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</a:rPr>
              <a:t>ПЛАНИРОВАНИЕ СУОТ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800531" y="725658"/>
            <a:ext cx="3341151" cy="36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22860" rIns="22860" anchor="ctr"/>
          <a:lstStyle/>
          <a:p>
            <a:pPr marL="0" marR="0" lvl="0" indent="0" algn="l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175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5" name="Подзаголовок 2"/>
          <p:cNvSpPr txBox="1"/>
          <p:nvPr/>
        </p:nvSpPr>
        <p:spPr bwMode="auto">
          <a:xfrm>
            <a:off x="503204" y="839536"/>
            <a:ext cx="3456384" cy="286312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Autofit/>
          </a:bodyPr>
          <a:lstStyle>
            <a:lvl1pPr marL="0" marR="0" indent="0" algn="r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2286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4572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6858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9144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11430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13716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16002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18288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100" b="0" i="0" u="none" strike="noStrike" cap="none" spc="0" dirty="0">
                <a:ln>
                  <a:noFill/>
                </a:ln>
                <a:solidFill>
                  <a:srgbClr val="535353"/>
                </a:solidFill>
                <a:latin typeface="PFDinDisplayPro-Medium"/>
                <a:ea typeface="Open Sans"/>
                <a:cs typeface="Open Sans"/>
              </a:rPr>
              <a:t>Организация системы управления охраной труда</a:t>
            </a:r>
            <a:endParaRPr sz="2800" b="0" i="0" u="none" strike="noStrike" cap="none" spc="0" dirty="0">
              <a:ln>
                <a:noFill/>
              </a:ln>
              <a:solidFill>
                <a:srgbClr val="535353"/>
              </a:solidFill>
              <a:latin typeface="Open Sans"/>
              <a:ea typeface="Open Sans"/>
              <a:cs typeface="Open Sans"/>
            </a:endParaRPr>
          </a:p>
        </p:txBody>
      </p:sp>
      <p:grpSp>
        <p:nvGrpSpPr>
          <p:cNvPr id="14" name="Группа 13"/>
          <p:cNvGrpSpPr/>
          <p:nvPr/>
        </p:nvGrpSpPr>
        <p:grpSpPr bwMode="auto">
          <a:xfrm>
            <a:off x="0" y="3861048"/>
            <a:ext cx="4152330" cy="2996952"/>
            <a:chOff x="7125419" y="2881222"/>
            <a:chExt cx="5063754" cy="3976777"/>
          </a:xfrm>
        </p:grpSpPr>
        <p:pic>
          <p:nvPicPr>
            <p:cNvPr id="18" name="Picture 7" descr="https://static.tildacdn.com/tild6361-6666-4462-b031-343738666438/142-1429614_the-adva.png"/>
            <p:cNvPicPr>
              <a:picLocks noChangeAspect="1" noChangeArrowheads="1"/>
            </p:cNvPicPr>
            <p:nvPr/>
          </p:nvPicPr>
          <p:blipFill>
            <a:blip r:embed="rId2"/>
            <a:stretch/>
          </p:blipFill>
          <p:spPr bwMode="auto">
            <a:xfrm>
              <a:off x="7125419" y="2881222"/>
              <a:ext cx="5063754" cy="3976777"/>
            </a:xfrm>
            <a:prstGeom prst="rect">
              <a:avLst/>
            </a:prstGeom>
            <a:noFill/>
          </p:spPr>
        </p:pic>
        <p:sp>
          <p:nvSpPr>
            <p:cNvPr id="19" name="TextBox 18"/>
            <p:cNvSpPr txBox="1"/>
            <p:nvPr/>
          </p:nvSpPr>
          <p:spPr bwMode="auto">
            <a:xfrm>
              <a:off x="8500338" y="3040435"/>
              <a:ext cx="1638588" cy="387796"/>
            </a:xfrm>
            <a:prstGeom prst="rect">
              <a:avLst/>
            </a:prstGeom>
            <a:noFill/>
            <a:ln w="25400" cap="flat">
              <a:noFill/>
              <a:miter lim="400000"/>
            </a:ln>
            <a:effectLst/>
          </p:spPr>
          <p:txBody>
            <a:bodyPr rot="0" spcFirstLastPara="1" vertOverflow="overflow" horzOverflow="overflow" vert="horz" wrap="none" lIns="91439" tIns="91439" rIns="91439" bIns="91439" numCol="1" spcCol="38100" rtlCol="0" anchor="t">
              <a:spAutoFit/>
            </a:bodyPr>
            <a:lstStyle/>
            <a:p>
              <a:pPr marL="0" marR="0" lvl="0" indent="0" defTabSz="182880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ru-RU" sz="1200" b="1" i="0" u="none" strike="noStrike" cap="none" spc="0" dirty="0">
                  <a:ln>
                    <a:noFill/>
                  </a:ln>
                  <a:solidFill>
                    <a:srgbClr val="535353">
                      <a:lumMod val="50000"/>
                    </a:srgbClr>
                  </a:solidFill>
                  <a:latin typeface="Open Sans"/>
                  <a:ea typeface="Open Sans"/>
                  <a:cs typeface="Open Sans"/>
                </a:rPr>
                <a:t>План мероприятий</a:t>
              </a:r>
              <a:endParaRPr dirty="0"/>
            </a:p>
          </p:txBody>
        </p:sp>
      </p:grpSp>
      <p:sp>
        <p:nvSpPr>
          <p:cNvPr id="20" name="Прямоугольник 19"/>
          <p:cNvSpPr/>
          <p:nvPr/>
        </p:nvSpPr>
        <p:spPr bwMode="auto">
          <a:xfrm>
            <a:off x="800531" y="1585815"/>
            <a:ext cx="4719045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ru-RU" sz="1600" b="1" dirty="0">
                <a:solidFill>
                  <a:schemeClr val="bg2"/>
                </a:solidFill>
              </a:rPr>
              <a:t>Обязанность работодателя:</a:t>
            </a:r>
          </a:p>
          <a:p>
            <a:pPr lvl="0">
              <a:defRPr/>
            </a:pPr>
            <a:r>
              <a:rPr lang="ru-RU" sz="1600" dirty="0">
                <a:solidFill>
                  <a:srgbClr val="535353"/>
                </a:solidFill>
              </a:rPr>
              <a:t>Систематическое выявление опасностей и рисков.</a:t>
            </a:r>
          </a:p>
          <a:p>
            <a:pPr lvl="0">
              <a:defRPr/>
            </a:pPr>
            <a:r>
              <a:rPr lang="ru-RU" sz="1600" dirty="0">
                <a:solidFill>
                  <a:srgbClr val="535353"/>
                </a:solidFill>
              </a:rPr>
              <a:t>Регулярный анализ и оценка.</a:t>
            </a:r>
          </a:p>
          <a:p>
            <a:pPr lvl="0">
              <a:defRPr/>
            </a:pPr>
            <a:endParaRPr lang="ru-RU" sz="1600" dirty="0">
              <a:solidFill>
                <a:srgbClr val="535353"/>
              </a:solidFill>
            </a:endParaRPr>
          </a:p>
          <a:p>
            <a:pPr lvl="0">
              <a:defRPr/>
            </a:pPr>
            <a:r>
              <a:rPr lang="ru-RU" sz="1600" b="1" dirty="0">
                <a:solidFill>
                  <a:srgbClr val="535353"/>
                </a:solidFill>
              </a:rPr>
              <a:t>Цель планирования:</a:t>
            </a:r>
          </a:p>
          <a:p>
            <a:pPr lvl="0">
              <a:defRPr/>
            </a:pPr>
            <a:r>
              <a:rPr lang="ru-RU" sz="1600" dirty="0">
                <a:solidFill>
                  <a:srgbClr val="535353"/>
                </a:solidFill>
              </a:rPr>
              <a:t>Определение перечня мероприятий по охране труда в рамках СУОТ.</a:t>
            </a:r>
            <a:endParaRPr dirty="0"/>
          </a:p>
        </p:txBody>
      </p:sp>
      <p:sp>
        <p:nvSpPr>
          <p:cNvPr id="21" name="Прямоугольник 20"/>
          <p:cNvSpPr/>
          <p:nvPr/>
        </p:nvSpPr>
        <p:spPr bwMode="auto">
          <a:xfrm>
            <a:off x="6384032" y="1607164"/>
            <a:ext cx="432048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600" b="1" i="0" u="none" strike="noStrike" cap="none" spc="0" dirty="0">
                <a:ln>
                  <a:noFill/>
                </a:ln>
                <a:solidFill>
                  <a:srgbClr val="535353"/>
                </a:solidFill>
              </a:rPr>
              <a:t>В Плане мероприятий по охране труда организации рекомендуется указывать следующие сведения:</a:t>
            </a:r>
            <a:endParaRPr lang="ru-RU" sz="1600" b="0" i="0" u="none" strike="noStrike" cap="none" spc="0" dirty="0">
              <a:ln>
                <a:noFill/>
              </a:ln>
              <a:solidFill>
                <a:srgbClr val="535353"/>
              </a:solidFill>
            </a:endParaRPr>
          </a:p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600" b="0" i="0" u="none" strike="noStrike" cap="none" spc="0" dirty="0">
                <a:ln>
                  <a:noFill/>
                </a:ln>
                <a:solidFill>
                  <a:srgbClr val="535353"/>
                </a:solidFill>
              </a:rPr>
              <a:t> </a:t>
            </a:r>
            <a:endParaRPr sz="1800" b="0" i="0" u="none" strike="noStrike" cap="none" spc="0" dirty="0">
              <a:ln>
                <a:noFill/>
              </a:ln>
              <a:solidFill>
                <a:srgbClr val="535353"/>
              </a:solidFill>
            </a:endParaRPr>
          </a:p>
          <a:p>
            <a:pPr marL="285750" marR="0" lvl="0" indent="-28575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/>
              <a:buChar char="ü"/>
              <a:defRPr/>
            </a:pPr>
            <a:r>
              <a:rPr lang="ru-RU" sz="1600" b="0" i="0" u="none" strike="noStrike" cap="none" spc="0" dirty="0">
                <a:ln>
                  <a:noFill/>
                </a:ln>
                <a:solidFill>
                  <a:srgbClr val="535353"/>
                </a:solidFill>
              </a:rPr>
              <a:t>наименование мероприятий;</a:t>
            </a:r>
            <a:endParaRPr sz="1800" b="0" i="0" u="none" strike="noStrike" cap="none" spc="0" dirty="0">
              <a:ln>
                <a:noFill/>
              </a:ln>
              <a:solidFill>
                <a:srgbClr val="535353"/>
              </a:solidFill>
            </a:endParaRPr>
          </a:p>
          <a:p>
            <a:pPr marL="285750" marR="0" lvl="0" indent="-28575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/>
              <a:buChar char="ü"/>
              <a:defRPr/>
            </a:pPr>
            <a:r>
              <a:rPr lang="ru-RU" sz="1600" b="0" i="0" u="none" strike="noStrike" cap="none" spc="0" dirty="0">
                <a:ln>
                  <a:noFill/>
                </a:ln>
                <a:solidFill>
                  <a:srgbClr val="535353"/>
                </a:solidFill>
              </a:rPr>
              <a:t>ожидаемый результат по каждому мероприятию;</a:t>
            </a:r>
            <a:endParaRPr sz="1800" b="0" i="0" u="none" strike="noStrike" cap="none" spc="0" dirty="0">
              <a:ln>
                <a:noFill/>
              </a:ln>
              <a:solidFill>
                <a:srgbClr val="535353"/>
              </a:solidFill>
            </a:endParaRPr>
          </a:p>
          <a:p>
            <a:pPr marL="285750" marR="0" lvl="0" indent="-285750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/>
              <a:buChar char="ü"/>
              <a:defRPr/>
            </a:pPr>
            <a:r>
              <a:rPr lang="ru-RU" sz="1600" b="0" i="0" u="none" strike="noStrike" cap="none" spc="0" dirty="0">
                <a:ln>
                  <a:noFill/>
                </a:ln>
                <a:solidFill>
                  <a:srgbClr val="535353"/>
                </a:solidFill>
              </a:rPr>
              <a:t>сроки реализации по каждому мероприятию;</a:t>
            </a:r>
            <a:endParaRPr sz="1800" b="0" i="0" u="none" strike="noStrike" cap="none" spc="0" dirty="0">
              <a:ln>
                <a:noFill/>
              </a:ln>
              <a:solidFill>
                <a:srgbClr val="535353"/>
              </a:solidFill>
            </a:endParaRPr>
          </a:p>
          <a:p>
            <a:pPr marL="285750" marR="0" lvl="0" indent="-28575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/>
              <a:buChar char="ü"/>
              <a:defRPr/>
            </a:pPr>
            <a:r>
              <a:rPr lang="ru-RU" sz="1600" b="0" i="0" u="none" strike="noStrike" cap="none" spc="0" dirty="0">
                <a:ln>
                  <a:noFill/>
                </a:ln>
                <a:solidFill>
                  <a:srgbClr val="535353"/>
                </a:solidFill>
              </a:rPr>
              <a:t>ответственные лица за реализацию мероприятий;</a:t>
            </a:r>
            <a:endParaRPr sz="1800" b="0" i="0" u="none" strike="noStrike" cap="none" spc="0" dirty="0">
              <a:ln>
                <a:noFill/>
              </a:ln>
              <a:solidFill>
                <a:srgbClr val="535353"/>
              </a:solidFill>
            </a:endParaRPr>
          </a:p>
          <a:p>
            <a:pPr marL="285750" marR="0" lvl="0" indent="-28575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/>
              <a:buChar char="ü"/>
              <a:defRPr/>
            </a:pPr>
            <a:r>
              <a:rPr lang="ru-RU" sz="1600" b="0" i="0" u="none" strike="noStrike" cap="none" spc="0" dirty="0">
                <a:ln>
                  <a:noFill/>
                </a:ln>
                <a:solidFill>
                  <a:srgbClr val="535353"/>
                </a:solidFill>
              </a:rPr>
              <a:t>выделяемые ресурсы и источники финансирования мероприятий.</a:t>
            </a:r>
            <a:endParaRPr sz="1800" b="0" i="0" u="none" strike="noStrike" cap="none" spc="0" dirty="0">
              <a:ln>
                <a:noFill/>
              </a:ln>
              <a:solidFill>
                <a:srgbClr val="535353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" name="Shape 15">
            <a:extLst>
              <a:ext uri="{FF2B5EF4-FFF2-40B4-BE49-F238E27FC236}">
                <a16:creationId xmlns:a16="http://schemas.microsoft.com/office/drawing/2014/main" id="{27F8D781-B6B0-4808-9967-C38AC5EC1AF2}"/>
              </a:ext>
            </a:extLst>
          </p:cNvPr>
          <p:cNvSpPr/>
          <p:nvPr/>
        </p:nvSpPr>
        <p:spPr bwMode="auto">
          <a:xfrm>
            <a:off x="6465186" y="4293096"/>
            <a:ext cx="4683106" cy="657125"/>
          </a:xfrm>
          <a:prstGeom prst="roundRect">
            <a:avLst>
              <a:gd name="adj" fmla="val 50000"/>
            </a:avLst>
          </a:prstGeom>
          <a:solidFill>
            <a:srgbClr val="1ABD9E">
              <a:alpha val="77000"/>
            </a:srgbClr>
          </a:solidFill>
          <a:ln w="4763">
            <a:solidFill>
              <a:srgbClr val="C7C7D0"/>
            </a:solidFill>
            <a:prstDash val="solid"/>
          </a:ln>
        </p:spPr>
        <p:txBody>
          <a:bodyPr/>
          <a:lstStyle/>
          <a:p>
            <a:r>
              <a:rPr lang="ru-RU" dirty="0">
                <a:solidFill>
                  <a:schemeClr val="bg2"/>
                </a:solidFill>
              </a:rPr>
              <a:t>Способы и показатели оценки достижения</a:t>
            </a:r>
          </a:p>
          <a:p>
            <a:endParaRPr lang="ru-RU" dirty="0"/>
          </a:p>
        </p:txBody>
      </p:sp>
      <p:sp>
        <p:nvSpPr>
          <p:cNvPr id="16" name="Shape 15">
            <a:extLst>
              <a:ext uri="{FF2B5EF4-FFF2-40B4-BE49-F238E27FC236}">
                <a16:creationId xmlns:a16="http://schemas.microsoft.com/office/drawing/2014/main" id="{F3084F33-20B5-4781-A0D4-2102E54B9417}"/>
              </a:ext>
            </a:extLst>
          </p:cNvPr>
          <p:cNvSpPr/>
          <p:nvPr/>
        </p:nvSpPr>
        <p:spPr bwMode="auto">
          <a:xfrm>
            <a:off x="6491216" y="5079243"/>
            <a:ext cx="4657076" cy="743540"/>
          </a:xfrm>
          <a:prstGeom prst="roundRect">
            <a:avLst>
              <a:gd name="adj" fmla="val 50000"/>
            </a:avLst>
          </a:prstGeom>
          <a:solidFill>
            <a:srgbClr val="1ABD9E">
              <a:alpha val="77000"/>
            </a:srgbClr>
          </a:solidFill>
          <a:ln w="4763">
            <a:solidFill>
              <a:srgbClr val="C7C7D0"/>
            </a:solidFill>
            <a:prstDash val="solid"/>
          </a:ln>
        </p:spPr>
        <p:txBody>
          <a:bodyPr/>
          <a:lstStyle/>
          <a:p>
            <a:r>
              <a:rPr lang="ru-RU" dirty="0">
                <a:solidFill>
                  <a:schemeClr val="bg2"/>
                </a:solidFill>
              </a:rPr>
              <a:t>Влияние на бизнес-процессы</a:t>
            </a:r>
          </a:p>
          <a:p>
            <a:endParaRPr lang="ru-RU" dirty="0"/>
          </a:p>
        </p:txBody>
      </p:sp>
      <p:sp>
        <p:nvSpPr>
          <p:cNvPr id="14" name="Shape 15">
            <a:extLst>
              <a:ext uri="{FF2B5EF4-FFF2-40B4-BE49-F238E27FC236}">
                <a16:creationId xmlns:a16="http://schemas.microsoft.com/office/drawing/2014/main" id="{E484C12E-DCC3-425B-94D4-0556B4C61C85}"/>
              </a:ext>
            </a:extLst>
          </p:cNvPr>
          <p:cNvSpPr/>
          <p:nvPr/>
        </p:nvSpPr>
        <p:spPr bwMode="auto">
          <a:xfrm>
            <a:off x="6421560" y="3527935"/>
            <a:ext cx="4726732" cy="610997"/>
          </a:xfrm>
          <a:prstGeom prst="roundRect">
            <a:avLst>
              <a:gd name="adj" fmla="val 50000"/>
            </a:avLst>
          </a:prstGeom>
          <a:solidFill>
            <a:srgbClr val="1ABD9E">
              <a:alpha val="77000"/>
            </a:srgbClr>
          </a:solidFill>
          <a:ln w="4763">
            <a:solidFill>
              <a:srgbClr val="C7C7D0"/>
            </a:solidFill>
            <a:prstDash val="solid"/>
          </a:ln>
        </p:spPr>
        <p:txBody>
          <a:bodyPr/>
          <a:lstStyle/>
          <a:p>
            <a:r>
              <a:rPr lang="ru-RU" dirty="0">
                <a:solidFill>
                  <a:schemeClr val="bg2"/>
                </a:solidFill>
              </a:rPr>
              <a:t>Сроки (долгосрочные / краткосрочные)</a:t>
            </a:r>
          </a:p>
        </p:txBody>
      </p:sp>
      <p:sp>
        <p:nvSpPr>
          <p:cNvPr id="13" name="Shape 15">
            <a:extLst>
              <a:ext uri="{FF2B5EF4-FFF2-40B4-BE49-F238E27FC236}">
                <a16:creationId xmlns:a16="http://schemas.microsoft.com/office/drawing/2014/main" id="{CBD38323-CD58-45D6-A479-524D5697558E}"/>
              </a:ext>
            </a:extLst>
          </p:cNvPr>
          <p:cNvSpPr/>
          <p:nvPr/>
        </p:nvSpPr>
        <p:spPr bwMode="auto">
          <a:xfrm>
            <a:off x="6410236" y="2774612"/>
            <a:ext cx="4726732" cy="630940"/>
          </a:xfrm>
          <a:prstGeom prst="roundRect">
            <a:avLst>
              <a:gd name="adj" fmla="val 50000"/>
            </a:avLst>
          </a:prstGeom>
          <a:solidFill>
            <a:srgbClr val="1ABD9E">
              <a:alpha val="75000"/>
            </a:srgbClr>
          </a:solidFill>
          <a:ln w="4763">
            <a:solidFill>
              <a:srgbClr val="C7C7D0"/>
            </a:solidFill>
            <a:prstDash val="solid"/>
          </a:ln>
        </p:spPr>
        <p:txBody>
          <a:bodyPr/>
          <a:lstStyle/>
          <a:p>
            <a:r>
              <a:rPr lang="ru-RU" dirty="0">
                <a:solidFill>
                  <a:schemeClr val="bg2"/>
                </a:solidFill>
              </a:rPr>
              <a:t>Ответственные лица</a:t>
            </a:r>
          </a:p>
          <a:p>
            <a:endParaRPr lang="ru-RU" dirty="0"/>
          </a:p>
        </p:txBody>
      </p:sp>
      <p:sp>
        <p:nvSpPr>
          <p:cNvPr id="10" name="Shape 15">
            <a:extLst>
              <a:ext uri="{FF2B5EF4-FFF2-40B4-BE49-F238E27FC236}">
                <a16:creationId xmlns:a16="http://schemas.microsoft.com/office/drawing/2014/main" id="{EC146C1C-B827-4B02-B017-881131A5E2EC}"/>
              </a:ext>
            </a:extLst>
          </p:cNvPr>
          <p:cNvSpPr/>
          <p:nvPr/>
        </p:nvSpPr>
        <p:spPr bwMode="auto">
          <a:xfrm>
            <a:off x="6421560" y="2025915"/>
            <a:ext cx="4726732" cy="610997"/>
          </a:xfrm>
          <a:prstGeom prst="roundRect">
            <a:avLst>
              <a:gd name="adj" fmla="val 50000"/>
            </a:avLst>
          </a:prstGeom>
          <a:solidFill>
            <a:srgbClr val="1ABD9E">
              <a:alpha val="77000"/>
            </a:srgbClr>
          </a:solidFill>
          <a:ln w="4763">
            <a:solidFill>
              <a:srgbClr val="C7C7D0"/>
            </a:solidFill>
            <a:prstDash val="solid"/>
          </a:ln>
        </p:spPr>
        <p:txBody>
          <a:bodyPr/>
          <a:lstStyle/>
          <a:p>
            <a:r>
              <a:rPr lang="ru-RU" dirty="0">
                <a:solidFill>
                  <a:schemeClr val="bg2"/>
                </a:solidFill>
              </a:rPr>
              <a:t>Ресурсы</a:t>
            </a:r>
          </a:p>
          <a:p>
            <a:endParaRPr lang="ru-RU" dirty="0"/>
          </a:p>
        </p:txBody>
      </p:sp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3174" y="3113533"/>
            <a:ext cx="452551" cy="63094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1750">
                <a:solidFill>
                  <a:srgbClr val="FFFFFF"/>
                </a:solidFill>
              </a:defRPr>
            </a:lvl1pPr>
          </a:lstStyle>
          <a:p>
            <a:pPr marL="0" marR="0" lvl="0" indent="0" algn="ct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sz="1750" b="0" i="0" u="none" strike="noStrike" cap="none" spc="0">
                <a:ln>
                  <a:noFill/>
                </a:ln>
                <a:solidFill>
                  <a:srgbClr val="FFFFFF"/>
                </a:solidFill>
                <a:latin typeface="Open Sans Light"/>
                <a:cs typeface="Calibri"/>
              </a:rPr>
              <a:t>14</a:t>
            </a:fld>
            <a:endParaRPr sz="175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1030625" y="888595"/>
            <a:ext cx="10117667" cy="446276"/>
          </a:xfrm>
          <a:prstGeom prst="rect">
            <a:avLst/>
          </a:prstGeom>
          <a:ln w="12700">
            <a:miter lim="400000"/>
          </a:ln>
        </p:spPr>
        <p:txBody>
          <a:bodyPr wrap="square" lIns="22860" rIns="2286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300" b="0" i="0" u="none" strike="noStrike" cap="none" spc="0">
                <a:ln>
                  <a:noFill/>
                </a:ln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</a:rPr>
              <a:t>ПЛАНИРОВАНИЕ СУОТ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1030649" y="1302335"/>
            <a:ext cx="3341151" cy="36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22860" rIns="22860" anchor="ctr"/>
          <a:lstStyle/>
          <a:p>
            <a:pPr marL="0" marR="0" lvl="0" indent="0" algn="l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175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5" name="Подзаголовок 2"/>
          <p:cNvSpPr txBox="1"/>
          <p:nvPr/>
        </p:nvSpPr>
        <p:spPr bwMode="auto">
          <a:xfrm>
            <a:off x="911424" y="1338335"/>
            <a:ext cx="3456384" cy="286312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Autofit/>
          </a:bodyPr>
          <a:lstStyle>
            <a:lvl1pPr marL="0" marR="0" indent="0" algn="r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2286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4572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6858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9144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11430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13716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16002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18288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100" b="0" i="0" u="none" strike="noStrike" cap="none" spc="0">
                <a:ln>
                  <a:noFill/>
                </a:ln>
                <a:solidFill>
                  <a:srgbClr val="535353"/>
                </a:solidFill>
                <a:latin typeface="PFDinDisplayPro-Medium"/>
                <a:ea typeface="Open Sans"/>
                <a:cs typeface="Open Sans"/>
              </a:rPr>
              <a:t>Организация системы управления охраной труда</a:t>
            </a:r>
            <a:endParaRPr sz="2800" b="0" i="0" u="none" strike="noStrike" cap="none" spc="0">
              <a:ln>
                <a:noFill/>
              </a:ln>
              <a:solidFill>
                <a:srgbClr val="535353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32408C5-1D88-4B41-8B11-B995E5A31D2B}"/>
              </a:ext>
            </a:extLst>
          </p:cNvPr>
          <p:cNvSpPr/>
          <p:nvPr/>
        </p:nvSpPr>
        <p:spPr>
          <a:xfrm>
            <a:off x="1415480" y="2132856"/>
            <a:ext cx="4184155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2"/>
                </a:solidFill>
              </a:rPr>
              <a:t>При выборе целей учитываются:</a:t>
            </a:r>
          </a:p>
          <a:p>
            <a:endParaRPr lang="ru-RU" dirty="0">
              <a:solidFill>
                <a:schemeClr val="bg2"/>
              </a:solidFill>
            </a:endParaRPr>
          </a:p>
          <a:p>
            <a:r>
              <a:rPr lang="ru-RU" dirty="0">
                <a:solidFill>
                  <a:schemeClr val="bg2"/>
                </a:solidFill>
              </a:rPr>
              <a:t>📊 Возможность измерения или оценки достижения</a:t>
            </a:r>
          </a:p>
          <a:p>
            <a:r>
              <a:rPr lang="ru-RU" dirty="0">
                <a:solidFill>
                  <a:schemeClr val="bg2"/>
                </a:solidFill>
              </a:rPr>
              <a:t>📋 Применимые нормы, результаты оценки рисков, мнение работников</a:t>
            </a:r>
          </a:p>
          <a:p>
            <a:endParaRPr lang="ru-RU" dirty="0">
              <a:solidFill>
                <a:schemeClr val="bg2"/>
              </a:solidFill>
            </a:endParaRPr>
          </a:p>
          <a:p>
            <a:r>
              <a:rPr lang="ru-RU" dirty="0">
                <a:solidFill>
                  <a:schemeClr val="bg2"/>
                </a:solidFill>
              </a:rPr>
              <a:t>Пересмотр целей: ежегодно (при необходимости) по результатам эффективности СУОТ</a:t>
            </a:r>
          </a:p>
          <a:p>
            <a:endParaRPr lang="ru-RU" dirty="0">
              <a:solidFill>
                <a:schemeClr val="bg2"/>
              </a:solidFill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471F9FB-ADCF-4FA0-887A-786B2149FC2B}"/>
              </a:ext>
            </a:extLst>
          </p:cNvPr>
          <p:cNvSpPr/>
          <p:nvPr/>
        </p:nvSpPr>
        <p:spPr>
          <a:xfrm>
            <a:off x="6476454" y="1490890"/>
            <a:ext cx="50405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2"/>
                </a:solidFill>
              </a:rPr>
              <a:t>Планирование достижения целей включает:</a:t>
            </a:r>
          </a:p>
          <a:p>
            <a:endParaRPr lang="ru-RU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11">
            <a:extLst>
              <a:ext uri="{FF2B5EF4-FFF2-40B4-BE49-F238E27FC236}">
                <a16:creationId xmlns:a16="http://schemas.microsoft.com/office/drawing/2014/main" id="{A5E9303E-199C-4BAD-AF38-A0F8C3399FC4}"/>
              </a:ext>
            </a:extLst>
          </p:cNvPr>
          <p:cNvSpPr/>
          <p:nvPr/>
        </p:nvSpPr>
        <p:spPr bwMode="auto">
          <a:xfrm flipH="1">
            <a:off x="5137450" y="-328864"/>
            <a:ext cx="7051375" cy="7357936"/>
          </a:xfrm>
          <a:custGeom>
            <a:avLst/>
            <a:gdLst>
              <a:gd name="connsiteX0" fmla="*/ 0 w 6095999"/>
              <a:gd name="connsiteY0" fmla="*/ 0 h 6858000"/>
              <a:gd name="connsiteX1" fmla="*/ 6095999 w 6095999"/>
              <a:gd name="connsiteY1" fmla="*/ 0 h 6858000"/>
              <a:gd name="connsiteX2" fmla="*/ 6095999 w 6095999"/>
              <a:gd name="connsiteY2" fmla="*/ 6858000 h 6858000"/>
              <a:gd name="connsiteX3" fmla="*/ 0 w 6095999"/>
              <a:gd name="connsiteY3" fmla="*/ 6858000 h 6858000"/>
              <a:gd name="connsiteX4" fmla="*/ 0 w 6095999"/>
              <a:gd name="connsiteY4" fmla="*/ 0 h 6858000"/>
              <a:gd name="connsiteX0" fmla="*/ 0 w 6095999"/>
              <a:gd name="connsiteY0" fmla="*/ 193524 h 7051524"/>
              <a:gd name="connsiteX1" fmla="*/ 6095999 w 6095999"/>
              <a:gd name="connsiteY1" fmla="*/ 193524 h 7051524"/>
              <a:gd name="connsiteX2" fmla="*/ 6095999 w 6095999"/>
              <a:gd name="connsiteY2" fmla="*/ 7051524 h 7051524"/>
              <a:gd name="connsiteX3" fmla="*/ 0 w 6095999"/>
              <a:gd name="connsiteY3" fmla="*/ 7051524 h 7051524"/>
              <a:gd name="connsiteX4" fmla="*/ 0 w 6095999"/>
              <a:gd name="connsiteY4" fmla="*/ 193524 h 7051524"/>
              <a:gd name="connsiteX0" fmla="*/ 0 w 6199211"/>
              <a:gd name="connsiteY0" fmla="*/ 193524 h 7051524"/>
              <a:gd name="connsiteX1" fmla="*/ 6095999 w 6199211"/>
              <a:gd name="connsiteY1" fmla="*/ 193524 h 7051524"/>
              <a:gd name="connsiteX2" fmla="*/ 6095999 w 6199211"/>
              <a:gd name="connsiteY2" fmla="*/ 7051524 h 7051524"/>
              <a:gd name="connsiteX3" fmla="*/ 0 w 6199211"/>
              <a:gd name="connsiteY3" fmla="*/ 7051524 h 7051524"/>
              <a:gd name="connsiteX4" fmla="*/ 0 w 6199211"/>
              <a:gd name="connsiteY4" fmla="*/ 193524 h 7051524"/>
              <a:gd name="connsiteX0" fmla="*/ 0 w 6152579"/>
              <a:gd name="connsiteY0" fmla="*/ 193524 h 7051524"/>
              <a:gd name="connsiteX1" fmla="*/ 6095999 w 6152579"/>
              <a:gd name="connsiteY1" fmla="*/ 193524 h 7051524"/>
              <a:gd name="connsiteX2" fmla="*/ 6095999 w 6152579"/>
              <a:gd name="connsiteY2" fmla="*/ 7051524 h 7051524"/>
              <a:gd name="connsiteX3" fmla="*/ 0 w 6152579"/>
              <a:gd name="connsiteY3" fmla="*/ 7051524 h 7051524"/>
              <a:gd name="connsiteX4" fmla="*/ 0 w 6152579"/>
              <a:gd name="connsiteY4" fmla="*/ 193524 h 7051524"/>
              <a:gd name="connsiteX0" fmla="*/ 0 w 6152579"/>
              <a:gd name="connsiteY0" fmla="*/ 193524 h 7225695"/>
              <a:gd name="connsiteX1" fmla="*/ 6095999 w 6152579"/>
              <a:gd name="connsiteY1" fmla="*/ 193524 h 7225695"/>
              <a:gd name="connsiteX2" fmla="*/ 6095999 w 6152579"/>
              <a:gd name="connsiteY2" fmla="*/ 7051524 h 7225695"/>
              <a:gd name="connsiteX3" fmla="*/ 0 w 6152579"/>
              <a:gd name="connsiteY3" fmla="*/ 7051524 h 7225695"/>
              <a:gd name="connsiteX4" fmla="*/ 0 w 6152579"/>
              <a:gd name="connsiteY4" fmla="*/ 193524 h 7225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52579" h="7225695" extrusionOk="0">
                <a:moveTo>
                  <a:pt x="0" y="193524"/>
                </a:moveTo>
                <a:cubicBezTo>
                  <a:pt x="2032000" y="193524"/>
                  <a:pt x="4165599" y="-241905"/>
                  <a:pt x="6095999" y="193524"/>
                </a:cubicBezTo>
                <a:cubicBezTo>
                  <a:pt x="6328228" y="2566610"/>
                  <a:pt x="5747656" y="4910667"/>
                  <a:pt x="6095999" y="7051524"/>
                </a:cubicBezTo>
                <a:cubicBezTo>
                  <a:pt x="4049484" y="7443410"/>
                  <a:pt x="2032000" y="7051524"/>
                  <a:pt x="0" y="7051524"/>
                </a:cubicBezTo>
                <a:lnTo>
                  <a:pt x="0" y="193524"/>
                </a:lnTo>
                <a:close/>
              </a:path>
            </a:pathLst>
          </a:custGeom>
          <a:solidFill>
            <a:srgbClr val="E6E6E6"/>
          </a:solidFill>
          <a:ln w="12700" cap="flat" cmpd="sng" algn="ctr">
            <a:solidFill>
              <a:srgbClr val="E6E6E6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285750" marR="0" lvl="0" indent="-28575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ru-RU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3174" y="3113533"/>
            <a:ext cx="452551" cy="63094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1750">
                <a:solidFill>
                  <a:srgbClr val="FFFFFF"/>
                </a:solidFill>
              </a:defRPr>
            </a:lvl1pPr>
          </a:lstStyle>
          <a:p>
            <a:pPr marL="0" marR="0" lvl="0" indent="0" algn="ct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sz="1750" b="0" i="0" u="none" strike="noStrike" cap="none" spc="0">
                <a:ln>
                  <a:noFill/>
                </a:ln>
                <a:solidFill>
                  <a:srgbClr val="FFFFFF"/>
                </a:solidFill>
                <a:latin typeface="Open Sans Light"/>
                <a:cs typeface="Calibri"/>
              </a:rPr>
              <a:t>15</a:t>
            </a:fld>
            <a:endParaRPr sz="175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1030625" y="888595"/>
            <a:ext cx="10117667" cy="446276"/>
          </a:xfrm>
          <a:prstGeom prst="rect">
            <a:avLst/>
          </a:prstGeom>
          <a:ln w="12700">
            <a:miter lim="400000"/>
          </a:ln>
        </p:spPr>
        <p:txBody>
          <a:bodyPr wrap="square" lIns="22860" rIns="2286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457200">
              <a:defRPr/>
            </a:pPr>
            <a:r>
              <a:rPr lang="ru-RU" sz="230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</a:rPr>
              <a:t>ОБЕСПЕЧЕНИЕ ФУНКЦИОНИРОВАНИЯ СУОТ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1030631" y="1302335"/>
            <a:ext cx="6567363" cy="36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22860" rIns="22860" anchor="ctr"/>
          <a:lstStyle/>
          <a:p>
            <a:pPr marL="0" marR="0" lvl="0" indent="0" algn="l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175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5" name="Подзаголовок 2"/>
          <p:cNvSpPr txBox="1"/>
          <p:nvPr/>
        </p:nvSpPr>
        <p:spPr bwMode="auto">
          <a:xfrm>
            <a:off x="911424" y="1338335"/>
            <a:ext cx="3456384" cy="286312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Autofit/>
          </a:bodyPr>
          <a:lstStyle>
            <a:lvl1pPr marL="0" marR="0" indent="0" algn="r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2286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4572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6858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9144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11430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13716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16002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18288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100" b="0" i="0" u="none" strike="noStrike" cap="none" spc="0">
                <a:ln>
                  <a:noFill/>
                </a:ln>
                <a:solidFill>
                  <a:srgbClr val="535353"/>
                </a:solidFill>
                <a:latin typeface="PFDinDisplayPro-Medium"/>
                <a:ea typeface="Open Sans"/>
                <a:cs typeface="Open Sans"/>
              </a:rPr>
              <a:t>Организация системы управления охраной труда</a:t>
            </a:r>
            <a:endParaRPr sz="2800" b="0" i="0" u="none" strike="noStrike" cap="none" spc="0">
              <a:ln>
                <a:noFill/>
              </a:ln>
              <a:solidFill>
                <a:srgbClr val="535353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8" name="Прямоугольник 7"/>
          <p:cNvSpPr/>
          <p:nvPr/>
        </p:nvSpPr>
        <p:spPr bwMode="auto">
          <a:xfrm>
            <a:off x="752588" y="1664189"/>
            <a:ext cx="408799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600" b="1" i="0" u="none" strike="noStrike" cap="none" spc="0" dirty="0">
                <a:ln>
                  <a:noFill/>
                </a:ln>
                <a:solidFill>
                  <a:srgbClr val="535353"/>
                </a:solidFill>
              </a:rPr>
              <a:t>Для обеспечения функционирования СУОТ работодателю рекомендуется:</a:t>
            </a:r>
            <a:endParaRPr lang="ru-RU" sz="1600" b="0" i="0" u="none" strike="noStrike" cap="none" spc="0" dirty="0">
              <a:ln>
                <a:noFill/>
              </a:ln>
              <a:solidFill>
                <a:srgbClr val="535353"/>
              </a:solidFill>
            </a:endParaRPr>
          </a:p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600" b="0" i="0" u="none" strike="noStrike" cap="none" spc="0" dirty="0">
                <a:ln>
                  <a:noFill/>
                </a:ln>
                <a:solidFill>
                  <a:srgbClr val="535353"/>
                </a:solidFill>
              </a:rPr>
              <a:t> </a:t>
            </a:r>
            <a:endParaRPr sz="1800" b="0" i="0" u="none" strike="noStrike" cap="none" spc="0" dirty="0">
              <a:ln>
                <a:noFill/>
              </a:ln>
              <a:solidFill>
                <a:srgbClr val="535353"/>
              </a:solidFill>
            </a:endParaRPr>
          </a:p>
        </p:txBody>
      </p:sp>
      <p:pic>
        <p:nvPicPr>
          <p:cNvPr id="9" name="Picture 7" descr="https://lift-pitch.ru/images/landing/top.png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5329136" y="1079181"/>
            <a:ext cx="7236540" cy="5738577"/>
          </a:xfrm>
          <a:prstGeom prst="rect">
            <a:avLst/>
          </a:prstGeom>
          <a:noFill/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2EF12B6-1B18-4021-B9EA-CE31F8406FB9}"/>
              </a:ext>
            </a:extLst>
          </p:cNvPr>
          <p:cNvSpPr/>
          <p:nvPr/>
        </p:nvSpPr>
        <p:spPr>
          <a:xfrm>
            <a:off x="718558" y="2458231"/>
            <a:ext cx="4122029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bg2"/>
                </a:solidFill>
              </a:rPr>
              <a:t>1. Определить необходимые компетенции работников, влияющих на безопасность (в т.ч. по </a:t>
            </a:r>
            <a:r>
              <a:rPr lang="ru-RU" sz="1600" dirty="0" err="1">
                <a:solidFill>
                  <a:schemeClr val="bg2"/>
                </a:solidFill>
              </a:rPr>
              <a:t>профстандартам</a:t>
            </a:r>
            <a:r>
              <a:rPr lang="ru-RU" sz="1600" dirty="0">
                <a:solidFill>
                  <a:schemeClr val="bg2"/>
                </a:solidFill>
              </a:rPr>
              <a:t>)</a:t>
            </a:r>
          </a:p>
          <a:p>
            <a:endParaRPr lang="ru-RU" sz="1600" dirty="0">
              <a:solidFill>
                <a:schemeClr val="bg2"/>
              </a:solidFill>
            </a:endParaRPr>
          </a:p>
          <a:p>
            <a:r>
              <a:rPr lang="ru-RU" sz="1600" dirty="0">
                <a:solidFill>
                  <a:schemeClr val="bg2"/>
                </a:solidFill>
              </a:rPr>
              <a:t>2. Обеспечить подготовку работников по выявлению опасностей и мерам реагирования</a:t>
            </a:r>
          </a:p>
          <a:p>
            <a:endParaRPr lang="ru-RU" sz="1600" dirty="0">
              <a:solidFill>
                <a:schemeClr val="bg2"/>
              </a:solidFill>
            </a:endParaRPr>
          </a:p>
          <a:p>
            <a:r>
              <a:rPr lang="ru-RU" sz="1600" dirty="0">
                <a:solidFill>
                  <a:schemeClr val="bg2"/>
                </a:solidFill>
              </a:rPr>
              <a:t>3. Обеспечить непрерывное обучение и повышение квалификации по охране труда</a:t>
            </a:r>
          </a:p>
          <a:p>
            <a:endParaRPr lang="ru-RU" sz="1600" dirty="0">
              <a:solidFill>
                <a:schemeClr val="bg2"/>
              </a:solidFill>
            </a:endParaRPr>
          </a:p>
          <a:p>
            <a:r>
              <a:rPr lang="ru-RU" sz="1600" dirty="0">
                <a:solidFill>
                  <a:schemeClr val="bg2"/>
                </a:solidFill>
              </a:rPr>
              <a:t>4. Документировать информацию об обучении и повышении квалификации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3174" y="3113533"/>
            <a:ext cx="452551" cy="63094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1750">
                <a:solidFill>
                  <a:srgbClr val="FFFFFF"/>
                </a:solidFill>
              </a:defRPr>
            </a:lvl1pPr>
          </a:lstStyle>
          <a:p>
            <a:pPr marL="0" marR="0" lvl="0" indent="0" algn="ct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sz="1750" b="0" i="0" u="none" strike="noStrike" cap="none" spc="0">
                <a:ln>
                  <a:noFill/>
                </a:ln>
                <a:solidFill>
                  <a:srgbClr val="FFFFFF"/>
                </a:solidFill>
                <a:latin typeface="Open Sans Light"/>
                <a:cs typeface="Calibri"/>
              </a:rPr>
              <a:t>16</a:t>
            </a:fld>
            <a:endParaRPr sz="175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1030625" y="888595"/>
            <a:ext cx="10117667" cy="446276"/>
          </a:xfrm>
          <a:prstGeom prst="rect">
            <a:avLst/>
          </a:prstGeom>
          <a:ln w="12700">
            <a:miter lim="400000"/>
          </a:ln>
        </p:spPr>
        <p:txBody>
          <a:bodyPr wrap="square" lIns="22860" rIns="2286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457200">
              <a:defRPr/>
            </a:pPr>
            <a:r>
              <a:rPr lang="ru-RU" sz="2300" dirty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</a:rPr>
              <a:t>ФОРМЫ ИНФОРМИРОВАНИЯ РАБОТНИКОВ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1030631" y="1302335"/>
            <a:ext cx="6567363" cy="36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22860" rIns="22860" anchor="ctr"/>
          <a:lstStyle/>
          <a:p>
            <a:pPr marL="0" marR="0" lvl="0" indent="0" algn="l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175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5" name="Подзаголовок 2"/>
          <p:cNvSpPr txBox="1"/>
          <p:nvPr/>
        </p:nvSpPr>
        <p:spPr bwMode="auto">
          <a:xfrm>
            <a:off x="911424" y="1338335"/>
            <a:ext cx="3456384" cy="286312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Autofit/>
          </a:bodyPr>
          <a:lstStyle>
            <a:lvl1pPr marL="0" marR="0" indent="0" algn="r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2286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4572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6858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9144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11430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13716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16002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18288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100" b="0" i="0" u="none" strike="noStrike" cap="none" spc="0">
                <a:ln>
                  <a:noFill/>
                </a:ln>
                <a:solidFill>
                  <a:srgbClr val="535353"/>
                </a:solidFill>
                <a:latin typeface="PFDinDisplayPro-Medium"/>
                <a:ea typeface="Open Sans"/>
                <a:cs typeface="Open Sans"/>
              </a:rPr>
              <a:t>Организация системы управления охраной труда</a:t>
            </a:r>
            <a:endParaRPr sz="2800" b="0" i="0" u="none" strike="noStrike" cap="none" spc="0">
              <a:ln>
                <a:noFill/>
              </a:ln>
              <a:solidFill>
                <a:srgbClr val="535353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A1BDA6E-2CBB-4DA6-B93B-ADD3A847D1E6}"/>
              </a:ext>
            </a:extLst>
          </p:cNvPr>
          <p:cNvSpPr/>
          <p:nvPr/>
        </p:nvSpPr>
        <p:spPr>
          <a:xfrm>
            <a:off x="4421580" y="4825718"/>
            <a:ext cx="239671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2"/>
                </a:solidFill>
              </a:rPr>
              <a:t>Инструктажи, информационные стенды</a:t>
            </a:r>
          </a:p>
        </p:txBody>
      </p:sp>
      <p:sp>
        <p:nvSpPr>
          <p:cNvPr id="13" name="Shape 15">
            <a:extLst>
              <a:ext uri="{FF2B5EF4-FFF2-40B4-BE49-F238E27FC236}">
                <a16:creationId xmlns:a16="http://schemas.microsoft.com/office/drawing/2014/main" id="{119DF577-20E6-4779-8141-A34C03F6CB13}"/>
              </a:ext>
            </a:extLst>
          </p:cNvPr>
          <p:cNvSpPr/>
          <p:nvPr/>
        </p:nvSpPr>
        <p:spPr bwMode="auto">
          <a:xfrm>
            <a:off x="962980" y="2043259"/>
            <a:ext cx="2396716" cy="610997"/>
          </a:xfrm>
          <a:prstGeom prst="roundRect">
            <a:avLst>
              <a:gd name="adj" fmla="val 50000"/>
            </a:avLst>
          </a:prstGeom>
          <a:solidFill>
            <a:srgbClr val="FEFEFE">
              <a:alpha val="77000"/>
            </a:srgbClr>
          </a:solidFill>
          <a:ln w="4763">
            <a:solidFill>
              <a:srgbClr val="C7C7D0"/>
            </a:solidFill>
            <a:prstDash val="solid"/>
          </a:ln>
        </p:spPr>
        <p:txBody>
          <a:bodyPr/>
          <a:lstStyle/>
          <a:p>
            <a:r>
              <a:rPr lang="ru-RU" dirty="0">
                <a:solidFill>
                  <a:schemeClr val="bg2"/>
                </a:solidFill>
              </a:rPr>
              <a:t>📄 Документы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132E355-C861-4F65-A014-2A77EB46B46A}"/>
              </a:ext>
            </a:extLst>
          </p:cNvPr>
          <p:cNvSpPr/>
          <p:nvPr/>
        </p:nvSpPr>
        <p:spPr>
          <a:xfrm>
            <a:off x="1092011" y="2674190"/>
            <a:ext cx="226768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2"/>
                </a:solidFill>
              </a:rPr>
              <a:t>Трудовой договор, результаты СОУТ и оценки рисков</a:t>
            </a:r>
          </a:p>
        </p:txBody>
      </p:sp>
      <p:sp>
        <p:nvSpPr>
          <p:cNvPr id="14" name="Shape 15">
            <a:extLst>
              <a:ext uri="{FF2B5EF4-FFF2-40B4-BE49-F238E27FC236}">
                <a16:creationId xmlns:a16="http://schemas.microsoft.com/office/drawing/2014/main" id="{69B0F1F6-F360-41DC-B2B3-0A84933B2B58}"/>
              </a:ext>
            </a:extLst>
          </p:cNvPr>
          <p:cNvSpPr/>
          <p:nvPr/>
        </p:nvSpPr>
        <p:spPr bwMode="auto">
          <a:xfrm>
            <a:off x="4432541" y="1991466"/>
            <a:ext cx="2396716" cy="610997"/>
          </a:xfrm>
          <a:prstGeom prst="roundRect">
            <a:avLst>
              <a:gd name="adj" fmla="val 50000"/>
            </a:avLst>
          </a:prstGeom>
          <a:solidFill>
            <a:srgbClr val="FEFEFE">
              <a:alpha val="77000"/>
            </a:srgbClr>
          </a:solidFill>
          <a:ln w="4763">
            <a:solidFill>
              <a:srgbClr val="C7C7D0"/>
            </a:solidFill>
            <a:prstDash val="solid"/>
          </a:ln>
        </p:spPr>
        <p:txBody>
          <a:bodyPr/>
          <a:lstStyle/>
          <a:p>
            <a:r>
              <a:rPr lang="ru-RU" dirty="0">
                <a:solidFill>
                  <a:schemeClr val="bg2"/>
                </a:solidFill>
              </a:rPr>
              <a:t>🗣️ Мероприятия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E77F426-FBE8-4EAD-89F1-0481576AC090}"/>
              </a:ext>
            </a:extLst>
          </p:cNvPr>
          <p:cNvSpPr/>
          <p:nvPr/>
        </p:nvSpPr>
        <p:spPr>
          <a:xfrm>
            <a:off x="4450282" y="2598632"/>
            <a:ext cx="239671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dirty="0">
                <a:solidFill>
                  <a:srgbClr val="535353"/>
                </a:solidFill>
              </a:rPr>
              <a:t>Совещания, семинары, конференции, встречи, переговоры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A08FF9D8-3DC3-4326-855C-B3F42335EACD}"/>
              </a:ext>
            </a:extLst>
          </p:cNvPr>
          <p:cNvSpPr/>
          <p:nvPr/>
        </p:nvSpPr>
        <p:spPr bwMode="auto">
          <a:xfrm>
            <a:off x="7896200" y="2035559"/>
            <a:ext cx="2396716" cy="610997"/>
          </a:xfrm>
          <a:prstGeom prst="roundRect">
            <a:avLst>
              <a:gd name="adj" fmla="val 50000"/>
            </a:avLst>
          </a:prstGeom>
          <a:solidFill>
            <a:srgbClr val="FEFEFE">
              <a:alpha val="77000"/>
            </a:srgbClr>
          </a:solidFill>
          <a:ln w="4763">
            <a:solidFill>
              <a:srgbClr val="C7C7D0"/>
            </a:solidFill>
            <a:prstDash val="solid"/>
          </a:ln>
        </p:spPr>
        <p:txBody>
          <a:bodyPr/>
          <a:lstStyle/>
          <a:p>
            <a:r>
              <a:rPr lang="ru-RU" dirty="0">
                <a:solidFill>
                  <a:schemeClr val="bg2"/>
                </a:solidFill>
              </a:rPr>
              <a:t>📺 Материалы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F8E8CCA-A1B5-4745-8ABD-D0CE6B4DF236}"/>
              </a:ext>
            </a:extLst>
          </p:cNvPr>
          <p:cNvSpPr/>
          <p:nvPr/>
        </p:nvSpPr>
        <p:spPr>
          <a:xfrm>
            <a:off x="7896200" y="2705486"/>
            <a:ext cx="252028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535353"/>
                </a:solidFill>
              </a:rPr>
              <a:t>Печатная продукция, аудио-, видеоматериалы, плакаты, бюллетени</a:t>
            </a:r>
            <a:endParaRPr lang="ru-RU" dirty="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1AB389C9-3BA2-4691-8552-8C4D84908101}"/>
              </a:ext>
            </a:extLst>
          </p:cNvPr>
          <p:cNvSpPr/>
          <p:nvPr/>
        </p:nvSpPr>
        <p:spPr bwMode="auto">
          <a:xfrm>
            <a:off x="883129" y="4149018"/>
            <a:ext cx="2396716" cy="610997"/>
          </a:xfrm>
          <a:prstGeom prst="roundRect">
            <a:avLst>
              <a:gd name="adj" fmla="val 50000"/>
            </a:avLst>
          </a:prstGeom>
          <a:solidFill>
            <a:srgbClr val="FEFEFE">
              <a:alpha val="77000"/>
            </a:srgbClr>
          </a:solidFill>
          <a:ln w="4763">
            <a:solidFill>
              <a:srgbClr val="C7C7D0"/>
            </a:solidFill>
            <a:prstDash val="solid"/>
          </a:ln>
        </p:spPr>
        <p:txBody>
          <a:bodyPr/>
          <a:lstStyle/>
          <a:p>
            <a:r>
              <a:rPr lang="ru-RU">
                <a:solidFill>
                  <a:schemeClr val="bg2"/>
                </a:solidFill>
              </a:rPr>
              <a:t>💻 Ресурсы</a:t>
            </a:r>
            <a:endParaRPr lang="ru-RU" dirty="0">
              <a:solidFill>
                <a:schemeClr val="bg2"/>
              </a:solidFill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2956406E-4423-4B47-BE3C-BA1958ACCE67}"/>
              </a:ext>
            </a:extLst>
          </p:cNvPr>
          <p:cNvSpPr/>
          <p:nvPr/>
        </p:nvSpPr>
        <p:spPr>
          <a:xfrm>
            <a:off x="883129" y="4786157"/>
            <a:ext cx="239671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535353"/>
                </a:solidFill>
              </a:rPr>
              <a:t>Интернет-ресурсы, размещение в общедоступных местах</a:t>
            </a:r>
            <a:endParaRPr lang="ru-RU" dirty="0"/>
          </a:p>
        </p:txBody>
      </p:sp>
      <p:sp>
        <p:nvSpPr>
          <p:cNvPr id="21" name="Shape 15">
            <a:extLst>
              <a:ext uri="{FF2B5EF4-FFF2-40B4-BE49-F238E27FC236}">
                <a16:creationId xmlns:a16="http://schemas.microsoft.com/office/drawing/2014/main" id="{18E1384E-6452-46D2-BBFC-4F2464B210EE}"/>
              </a:ext>
            </a:extLst>
          </p:cNvPr>
          <p:cNvSpPr/>
          <p:nvPr/>
        </p:nvSpPr>
        <p:spPr bwMode="auto">
          <a:xfrm>
            <a:off x="4432541" y="4214721"/>
            <a:ext cx="2396716" cy="610997"/>
          </a:xfrm>
          <a:prstGeom prst="roundRect">
            <a:avLst>
              <a:gd name="adj" fmla="val 50000"/>
            </a:avLst>
          </a:prstGeom>
          <a:solidFill>
            <a:srgbClr val="FEFEFE">
              <a:alpha val="77000"/>
            </a:srgbClr>
          </a:solidFill>
          <a:ln w="4763">
            <a:solidFill>
              <a:srgbClr val="C7C7D0"/>
            </a:solidFill>
            <a:prstDash val="solid"/>
          </a:ln>
        </p:spPr>
        <p:txBody>
          <a:bodyPr/>
          <a:lstStyle/>
          <a:p>
            <a:r>
              <a:rPr lang="ru-RU" dirty="0">
                <a:solidFill>
                  <a:schemeClr val="bg2"/>
                </a:solidFill>
              </a:rPr>
              <a:t>🛠️ Обучение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3174" y="3113533"/>
            <a:ext cx="452551" cy="63094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1750">
                <a:solidFill>
                  <a:srgbClr val="FFFFFF"/>
                </a:solidFill>
              </a:defRPr>
            </a:lvl1pPr>
          </a:lstStyle>
          <a:p>
            <a:pPr marL="0" marR="0" lvl="0" indent="0" algn="ct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sz="1750" b="0" i="0" u="none" strike="noStrike" cap="none" spc="0">
                <a:ln>
                  <a:noFill/>
                </a:ln>
                <a:solidFill>
                  <a:srgbClr val="FFFFFF"/>
                </a:solidFill>
                <a:latin typeface="Open Sans Light"/>
                <a:cs typeface="Calibri"/>
              </a:rPr>
              <a:t>17</a:t>
            </a:fld>
            <a:endParaRPr sz="175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975887" y="482268"/>
            <a:ext cx="10117667" cy="446276"/>
          </a:xfrm>
          <a:prstGeom prst="rect">
            <a:avLst/>
          </a:prstGeom>
          <a:ln w="12700">
            <a:miter lim="400000"/>
          </a:ln>
        </p:spPr>
        <p:txBody>
          <a:bodyPr wrap="square" lIns="22860" rIns="2286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457200">
              <a:defRPr/>
            </a:pPr>
            <a:r>
              <a:rPr lang="ru-RU" sz="230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</a:rPr>
              <a:t>ФУНКЦИОНИРОВАНИЕ СУОТ И ОПР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990340" y="966359"/>
            <a:ext cx="5196154" cy="36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22860" rIns="22860" anchor="ctr"/>
          <a:lstStyle/>
          <a:p>
            <a:pPr marL="0" marR="0" lvl="0" indent="0" algn="l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175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5" name="Подзаголовок 2"/>
          <p:cNvSpPr txBox="1"/>
          <p:nvPr/>
        </p:nvSpPr>
        <p:spPr bwMode="auto">
          <a:xfrm>
            <a:off x="660415" y="1030348"/>
            <a:ext cx="3456384" cy="286312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Autofit/>
          </a:bodyPr>
          <a:lstStyle>
            <a:lvl1pPr marL="0" marR="0" indent="0" algn="r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2286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4572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6858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9144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11430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13716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16002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18288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100" b="0" i="0" u="none" strike="noStrike" cap="none" spc="0" dirty="0">
                <a:ln>
                  <a:noFill/>
                </a:ln>
                <a:solidFill>
                  <a:srgbClr val="535353"/>
                </a:solidFill>
                <a:latin typeface="PFDinDisplayPro-Medium"/>
                <a:ea typeface="Open Sans"/>
                <a:cs typeface="Open Sans"/>
              </a:rPr>
              <a:t>Организация системы управления охраной труда</a:t>
            </a:r>
            <a:endParaRPr sz="2800" b="0" i="0" u="none" strike="noStrike" cap="none" spc="0" dirty="0">
              <a:ln>
                <a:noFill/>
              </a:ln>
              <a:solidFill>
                <a:srgbClr val="535353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9" name="Прямоугольник 8"/>
          <p:cNvSpPr/>
          <p:nvPr/>
        </p:nvSpPr>
        <p:spPr bwMode="auto">
          <a:xfrm>
            <a:off x="925116" y="1399000"/>
            <a:ext cx="522000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600" b="1" i="0" u="none" strike="noStrike" cap="none" spc="0" dirty="0">
                <a:ln>
                  <a:noFill/>
                </a:ln>
                <a:solidFill>
                  <a:srgbClr val="535353"/>
                </a:solidFill>
              </a:rPr>
              <a:t>Основными процессами по охране труда являются:</a:t>
            </a:r>
            <a:endParaRPr lang="ru-RU" sz="1600" b="0" i="0" u="none" strike="noStrike" cap="none" spc="0" dirty="0">
              <a:ln>
                <a:noFill/>
              </a:ln>
              <a:solidFill>
                <a:srgbClr val="535353"/>
              </a:solidFill>
            </a:endParaRPr>
          </a:p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sz="1800" b="0" i="0" u="none" strike="noStrike" cap="none" spc="0" dirty="0">
              <a:ln>
                <a:noFill/>
              </a:ln>
              <a:solidFill>
                <a:srgbClr val="535353"/>
              </a:solidFill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AC4CA09-311B-4BB8-B5F1-3960D6067742}"/>
              </a:ext>
            </a:extLst>
          </p:cNvPr>
          <p:cNvSpPr/>
          <p:nvPr/>
        </p:nvSpPr>
        <p:spPr>
          <a:xfrm>
            <a:off x="925116" y="2204864"/>
            <a:ext cx="4954860" cy="4428496"/>
          </a:xfrm>
          <a:prstGeom prst="rect">
            <a:avLst/>
          </a:prstGeom>
        </p:spPr>
        <p:txBody>
          <a:bodyPr/>
          <a:lstStyle/>
          <a:p>
            <a:pPr lvl="1">
              <a:buChar char="•"/>
            </a:pPr>
            <a:endParaRPr lang="ru-RU" sz="1400" dirty="0">
              <a:solidFill>
                <a:schemeClr val="bg2"/>
              </a:solidFill>
            </a:endParaRPr>
          </a:p>
        </p:txBody>
      </p:sp>
      <p:sp>
        <p:nvSpPr>
          <p:cNvPr id="11" name="Rounded Rectangle 4">
            <a:extLst>
              <a:ext uri="{FF2B5EF4-FFF2-40B4-BE49-F238E27FC236}">
                <a16:creationId xmlns:a16="http://schemas.microsoft.com/office/drawing/2014/main" id="{55DB4F12-3FAB-4C33-B393-332670B63E58}"/>
              </a:ext>
            </a:extLst>
          </p:cNvPr>
          <p:cNvSpPr/>
          <p:nvPr/>
        </p:nvSpPr>
        <p:spPr bwMode="auto">
          <a:xfrm>
            <a:off x="898357" y="1844824"/>
            <a:ext cx="2056756" cy="1518842"/>
          </a:xfrm>
          <a:prstGeom prst="roundRect">
            <a:avLst/>
          </a:prstGeom>
          <a:solidFill>
            <a:sysClr val="window" lastClr="FFFFFF"/>
          </a:solidFill>
          <a:ln w="9525" cap="flat" cmpd="sng" algn="ctr">
            <a:solidFill>
              <a:srgbClr val="D2D2D2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lvl="0" defTabSz="457200" rtl="0"/>
            <a:r>
              <a:rPr lang="ru-RU" sz="1400" b="1" kern="1200" dirty="0">
                <a:solidFill>
                  <a:schemeClr val="bg2"/>
                </a:solidFill>
                <a:latin typeface="Montserrat Light"/>
                <a:cs typeface="Arial"/>
              </a:rPr>
              <a:t>🔍 Оценка условий и рисков</a:t>
            </a:r>
            <a:endParaRPr lang="ru-RU" sz="1400" kern="1200" dirty="0">
              <a:solidFill>
                <a:schemeClr val="bg2"/>
              </a:solidFill>
              <a:latin typeface="Montserrat Light"/>
              <a:cs typeface="Arial"/>
            </a:endParaRPr>
          </a:p>
          <a:p>
            <a:pPr lvl="0" defTabSz="457200" rtl="0"/>
            <a:r>
              <a:rPr lang="ru-RU" sz="1400" kern="1200" dirty="0">
                <a:solidFill>
                  <a:schemeClr val="bg2"/>
                </a:solidFill>
                <a:latin typeface="Montserrat Light"/>
                <a:cs typeface="Arial"/>
              </a:rPr>
              <a:t>СОУТ, Оценка профессиональных рисков (ОПР)</a:t>
            </a:r>
          </a:p>
        </p:txBody>
      </p:sp>
      <p:sp>
        <p:nvSpPr>
          <p:cNvPr id="12" name="Rounded Rectangle 4">
            <a:extLst>
              <a:ext uri="{FF2B5EF4-FFF2-40B4-BE49-F238E27FC236}">
                <a16:creationId xmlns:a16="http://schemas.microsoft.com/office/drawing/2014/main" id="{0A83E54B-FEA8-4F82-A44C-51A35D2FC6BF}"/>
              </a:ext>
            </a:extLst>
          </p:cNvPr>
          <p:cNvSpPr/>
          <p:nvPr/>
        </p:nvSpPr>
        <p:spPr bwMode="auto">
          <a:xfrm>
            <a:off x="7494443" y="1827665"/>
            <a:ext cx="2056756" cy="1518842"/>
          </a:xfrm>
          <a:prstGeom prst="roundRect">
            <a:avLst/>
          </a:prstGeom>
          <a:solidFill>
            <a:sysClr val="window" lastClr="FFFFFF"/>
          </a:solidFill>
          <a:ln w="9525" cap="flat" cmpd="sng" algn="ctr">
            <a:solidFill>
              <a:srgbClr val="D2D2D2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lvl="0" defTabSz="457200" rtl="0"/>
            <a:r>
              <a:rPr lang="ru-RU" sz="1400" b="1" kern="1200" dirty="0">
                <a:solidFill>
                  <a:schemeClr val="bg2"/>
                </a:solidFill>
                <a:latin typeface="Montserrat Light"/>
                <a:cs typeface="Arial"/>
              </a:rPr>
              <a:t>🎓 Обучение</a:t>
            </a:r>
            <a:r>
              <a:rPr lang="ru-RU" sz="1400" kern="1200" dirty="0">
                <a:solidFill>
                  <a:schemeClr val="bg2"/>
                </a:solidFill>
                <a:latin typeface="Montserrat Light"/>
                <a:cs typeface="Arial"/>
              </a:rPr>
              <a:t>	</a:t>
            </a:r>
          </a:p>
          <a:p>
            <a:pPr lvl="0" defTabSz="457200" rtl="0"/>
            <a:r>
              <a:rPr lang="ru-RU" sz="1400" kern="1200" dirty="0">
                <a:solidFill>
                  <a:schemeClr val="bg2"/>
                </a:solidFill>
                <a:latin typeface="Montserrat Light"/>
                <a:cs typeface="Arial"/>
              </a:rPr>
              <a:t>Обучение работников</a:t>
            </a:r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725D285A-1782-4F66-AFBE-54462CC6B3FA}"/>
              </a:ext>
            </a:extLst>
          </p:cNvPr>
          <p:cNvSpPr/>
          <p:nvPr/>
        </p:nvSpPr>
        <p:spPr bwMode="auto">
          <a:xfrm>
            <a:off x="5268927" y="1833900"/>
            <a:ext cx="2056756" cy="1518842"/>
          </a:xfrm>
          <a:prstGeom prst="roundRect">
            <a:avLst/>
          </a:prstGeom>
          <a:solidFill>
            <a:sysClr val="window" lastClr="FFFFFF"/>
          </a:solidFill>
          <a:ln w="9525" cap="flat" cmpd="sng" algn="ctr">
            <a:solidFill>
              <a:srgbClr val="D2D2D2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lvl="0" defTabSz="457200" rtl="0"/>
            <a:r>
              <a:rPr lang="ru-RU" sz="1400" b="1" kern="1200" dirty="0">
                <a:solidFill>
                  <a:schemeClr val="bg2"/>
                </a:solidFill>
                <a:latin typeface="Montserrat Light"/>
                <a:cs typeface="Arial"/>
              </a:rPr>
              <a:t>🛡️ Средства защиты</a:t>
            </a:r>
            <a:r>
              <a:rPr lang="ru-RU" sz="1400" kern="1200" dirty="0">
                <a:solidFill>
                  <a:schemeClr val="bg2"/>
                </a:solidFill>
                <a:latin typeface="Montserrat Light"/>
                <a:cs typeface="Arial"/>
              </a:rPr>
              <a:t>	</a:t>
            </a:r>
          </a:p>
          <a:p>
            <a:pPr lvl="0" defTabSz="457200" rtl="0"/>
            <a:r>
              <a:rPr lang="ru-RU" sz="1400" kern="1200" dirty="0">
                <a:solidFill>
                  <a:schemeClr val="bg2"/>
                </a:solidFill>
                <a:latin typeface="Montserrat Light"/>
                <a:cs typeface="Arial"/>
              </a:rPr>
              <a:t>Обеспечение СИЗ</a:t>
            </a:r>
          </a:p>
        </p:txBody>
      </p:sp>
      <p:sp>
        <p:nvSpPr>
          <p:cNvPr id="15" name="Rounded Rectangle 4">
            <a:extLst>
              <a:ext uri="{FF2B5EF4-FFF2-40B4-BE49-F238E27FC236}">
                <a16:creationId xmlns:a16="http://schemas.microsoft.com/office/drawing/2014/main" id="{283B5CD9-FAE6-4A9E-90C9-7B7A5E066B9D}"/>
              </a:ext>
            </a:extLst>
          </p:cNvPr>
          <p:cNvSpPr/>
          <p:nvPr/>
        </p:nvSpPr>
        <p:spPr bwMode="auto">
          <a:xfrm>
            <a:off x="3088421" y="1844824"/>
            <a:ext cx="2056756" cy="1518842"/>
          </a:xfrm>
          <a:prstGeom prst="roundRect">
            <a:avLst/>
          </a:prstGeom>
          <a:solidFill>
            <a:sysClr val="window" lastClr="FFFFFF"/>
          </a:solidFill>
          <a:ln w="9525" cap="flat" cmpd="sng" algn="ctr">
            <a:solidFill>
              <a:srgbClr val="D2D2D2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lvl="0" defTabSz="457200" rtl="0"/>
            <a:r>
              <a:rPr lang="ru-RU" sz="1400" kern="1200" dirty="0">
                <a:solidFill>
                  <a:schemeClr val="bg2"/>
                </a:solidFill>
                <a:latin typeface="Montserrat Light"/>
                <a:cs typeface="Arial"/>
              </a:rPr>
              <a:t>🏥 </a:t>
            </a:r>
            <a:r>
              <a:rPr lang="ru-RU" sz="1400" b="1" kern="1200" dirty="0">
                <a:solidFill>
                  <a:schemeClr val="bg2"/>
                </a:solidFill>
                <a:latin typeface="Montserrat Light"/>
                <a:cs typeface="Arial"/>
              </a:rPr>
              <a:t>Медицинское обеспечение</a:t>
            </a:r>
            <a:r>
              <a:rPr lang="ru-RU" sz="1400" kern="1200" dirty="0">
                <a:solidFill>
                  <a:schemeClr val="bg2"/>
                </a:solidFill>
                <a:latin typeface="Montserrat Light"/>
                <a:cs typeface="Arial"/>
              </a:rPr>
              <a:t>	</a:t>
            </a:r>
          </a:p>
          <a:p>
            <a:pPr lvl="0" defTabSz="457200" rtl="0"/>
            <a:r>
              <a:rPr lang="ru-RU" sz="1400" kern="1200" dirty="0">
                <a:solidFill>
                  <a:schemeClr val="bg2"/>
                </a:solidFill>
                <a:latin typeface="Montserrat Light"/>
                <a:cs typeface="Arial"/>
              </a:rPr>
              <a:t>Медосмотры и освидетельствования</a:t>
            </a:r>
          </a:p>
        </p:txBody>
      </p:sp>
      <p:sp>
        <p:nvSpPr>
          <p:cNvPr id="16" name="Rounded Rectangle 4">
            <a:extLst>
              <a:ext uri="{FF2B5EF4-FFF2-40B4-BE49-F238E27FC236}">
                <a16:creationId xmlns:a16="http://schemas.microsoft.com/office/drawing/2014/main" id="{FB03191F-9066-4815-BA0B-176CEC204B75}"/>
              </a:ext>
            </a:extLst>
          </p:cNvPr>
          <p:cNvSpPr/>
          <p:nvPr/>
        </p:nvSpPr>
        <p:spPr bwMode="auto">
          <a:xfrm>
            <a:off x="3031132" y="5150518"/>
            <a:ext cx="2056756" cy="1518842"/>
          </a:xfrm>
          <a:prstGeom prst="roundRect">
            <a:avLst/>
          </a:prstGeom>
          <a:solidFill>
            <a:sysClr val="window" lastClr="FFFFFF"/>
          </a:solidFill>
          <a:ln w="9525" cap="flat" cmpd="sng" algn="ctr">
            <a:solidFill>
              <a:srgbClr val="D2D2D2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lvl="0" defTabSz="457200" rtl="0"/>
            <a:r>
              <a:rPr lang="ru-RU" sz="1400" b="1" kern="1200" dirty="0">
                <a:solidFill>
                  <a:schemeClr val="bg2"/>
                </a:solidFill>
                <a:latin typeface="Montserrat Light"/>
                <a:cs typeface="Arial"/>
              </a:rPr>
              <a:t>🚨 Реагирование	</a:t>
            </a:r>
          </a:p>
          <a:p>
            <a:pPr lvl="0" defTabSz="457200" rtl="0"/>
            <a:r>
              <a:rPr lang="ru-RU" sz="1400" kern="1200" dirty="0">
                <a:solidFill>
                  <a:schemeClr val="bg2"/>
                </a:solidFill>
                <a:latin typeface="Montserrat Light"/>
                <a:cs typeface="Arial"/>
              </a:rPr>
              <a:t>Аварийные ситуации, несчастные случаи, профзаболевания</a:t>
            </a:r>
          </a:p>
        </p:txBody>
      </p:sp>
      <p:sp>
        <p:nvSpPr>
          <p:cNvPr id="17" name="Rounded Rectangle 4">
            <a:extLst>
              <a:ext uri="{FF2B5EF4-FFF2-40B4-BE49-F238E27FC236}">
                <a16:creationId xmlns:a16="http://schemas.microsoft.com/office/drawing/2014/main" id="{D400ABA5-8C79-4BCF-B39C-5981E9639CAD}"/>
              </a:ext>
            </a:extLst>
          </p:cNvPr>
          <p:cNvSpPr/>
          <p:nvPr/>
        </p:nvSpPr>
        <p:spPr bwMode="auto">
          <a:xfrm>
            <a:off x="7495628" y="3501008"/>
            <a:ext cx="2056756" cy="1518842"/>
          </a:xfrm>
          <a:prstGeom prst="roundRect">
            <a:avLst/>
          </a:prstGeom>
          <a:solidFill>
            <a:sysClr val="window" lastClr="FFFFFF"/>
          </a:solidFill>
          <a:ln w="9525" cap="flat" cmpd="sng" algn="ctr">
            <a:solidFill>
              <a:srgbClr val="D2D2D2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lvl="0" defTabSz="457200" rtl="0"/>
            <a:r>
              <a:rPr lang="ru-RU" sz="1400" b="1" kern="1200" dirty="0">
                <a:solidFill>
                  <a:schemeClr val="bg2"/>
                </a:solidFill>
                <a:latin typeface="Montserrat Light"/>
                <a:cs typeface="Arial"/>
              </a:rPr>
              <a:t>🏛️ Взаимодействие</a:t>
            </a:r>
          </a:p>
          <a:p>
            <a:pPr lvl="0" defTabSz="457200" rtl="0"/>
            <a:r>
              <a:rPr lang="ru-RU" sz="1400" kern="1200" dirty="0">
                <a:solidFill>
                  <a:schemeClr val="bg2"/>
                </a:solidFill>
                <a:latin typeface="Montserrat Light"/>
                <a:cs typeface="Arial"/>
              </a:rPr>
              <a:t>Госорганы, исполнительная власть, профсоюзный контроль</a:t>
            </a:r>
          </a:p>
        </p:txBody>
      </p:sp>
      <p:sp>
        <p:nvSpPr>
          <p:cNvPr id="18" name="Rounded Rectangle 4">
            <a:extLst>
              <a:ext uri="{FF2B5EF4-FFF2-40B4-BE49-F238E27FC236}">
                <a16:creationId xmlns:a16="http://schemas.microsoft.com/office/drawing/2014/main" id="{A5D17F67-1B35-4D4E-B43A-3EA7C5BF0DD7}"/>
              </a:ext>
            </a:extLst>
          </p:cNvPr>
          <p:cNvSpPr/>
          <p:nvPr/>
        </p:nvSpPr>
        <p:spPr bwMode="auto">
          <a:xfrm>
            <a:off x="808033" y="5157192"/>
            <a:ext cx="2056756" cy="1518842"/>
          </a:xfrm>
          <a:prstGeom prst="roundRect">
            <a:avLst/>
          </a:prstGeom>
          <a:solidFill>
            <a:sysClr val="window" lastClr="FFFFFF"/>
          </a:solidFill>
          <a:ln w="9525" cap="flat" cmpd="sng" algn="ctr">
            <a:solidFill>
              <a:srgbClr val="D2D2D2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lvl="0" defTabSz="457200" rtl="0"/>
            <a:r>
              <a:rPr lang="ru-RU" sz="1400" b="1" kern="1200" dirty="0">
                <a:solidFill>
                  <a:schemeClr val="bg2"/>
                </a:solidFill>
                <a:latin typeface="Montserrat Light"/>
                <a:cs typeface="Arial"/>
              </a:rPr>
              <a:t>📋 Страхование	</a:t>
            </a:r>
          </a:p>
          <a:p>
            <a:pPr lvl="0" defTabSz="457200" rtl="0"/>
            <a:r>
              <a:rPr lang="ru-RU" sz="1400" b="1" kern="1200" dirty="0">
                <a:solidFill>
                  <a:schemeClr val="bg2"/>
                </a:solidFill>
                <a:latin typeface="Montserrat Light"/>
                <a:cs typeface="Arial"/>
              </a:rPr>
              <a:t>Социальное </a:t>
            </a:r>
            <a:r>
              <a:rPr lang="ru-RU" sz="1400" kern="1200" dirty="0">
                <a:solidFill>
                  <a:schemeClr val="bg2"/>
                </a:solidFill>
                <a:latin typeface="Montserrat Light"/>
                <a:cs typeface="Arial"/>
              </a:rPr>
              <a:t>страхование работников</a:t>
            </a:r>
          </a:p>
        </p:txBody>
      </p:sp>
      <p:sp>
        <p:nvSpPr>
          <p:cNvPr id="19" name="Rounded Rectangle 4">
            <a:extLst>
              <a:ext uri="{FF2B5EF4-FFF2-40B4-BE49-F238E27FC236}">
                <a16:creationId xmlns:a16="http://schemas.microsoft.com/office/drawing/2014/main" id="{2ABEF8B3-794C-4513-BEE2-ACE00DD7214A}"/>
              </a:ext>
            </a:extLst>
          </p:cNvPr>
          <p:cNvSpPr/>
          <p:nvPr/>
        </p:nvSpPr>
        <p:spPr bwMode="auto">
          <a:xfrm>
            <a:off x="870892" y="3501008"/>
            <a:ext cx="2056756" cy="1518842"/>
          </a:xfrm>
          <a:prstGeom prst="roundRect">
            <a:avLst/>
          </a:prstGeom>
          <a:solidFill>
            <a:sysClr val="window" lastClr="FFFFFF"/>
          </a:solidFill>
          <a:ln w="9525" cap="flat" cmpd="sng" algn="ctr">
            <a:solidFill>
              <a:srgbClr val="D2D2D2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lvl="0" defTabSz="457200" rtl="0"/>
            <a:r>
              <a:rPr lang="ru-RU" sz="1400" b="1" kern="1200" dirty="0">
                <a:solidFill>
                  <a:schemeClr val="bg2"/>
                </a:solidFill>
                <a:latin typeface="Montserrat Light"/>
                <a:cs typeface="Arial"/>
              </a:rPr>
              <a:t>⏰ Режим труда</a:t>
            </a:r>
            <a:r>
              <a:rPr lang="ru-RU" sz="1400" kern="1200" dirty="0">
                <a:solidFill>
                  <a:schemeClr val="bg2"/>
                </a:solidFill>
                <a:latin typeface="Montserrat Light"/>
                <a:cs typeface="Arial"/>
              </a:rPr>
              <a:t>	</a:t>
            </a:r>
          </a:p>
          <a:p>
            <a:pPr lvl="0" defTabSz="457200" rtl="0"/>
            <a:r>
              <a:rPr lang="ru-RU" sz="1400" kern="1200" dirty="0">
                <a:solidFill>
                  <a:schemeClr val="bg2"/>
                </a:solidFill>
                <a:latin typeface="Montserrat Light"/>
                <a:cs typeface="Arial"/>
              </a:rPr>
              <a:t>Режимы труда и отдыха</a:t>
            </a:r>
          </a:p>
        </p:txBody>
      </p:sp>
      <p:sp>
        <p:nvSpPr>
          <p:cNvPr id="20" name="Rounded Rectangle 4">
            <a:extLst>
              <a:ext uri="{FF2B5EF4-FFF2-40B4-BE49-F238E27FC236}">
                <a16:creationId xmlns:a16="http://schemas.microsoft.com/office/drawing/2014/main" id="{645863A8-C86C-4D81-913B-632B91CCF000}"/>
              </a:ext>
            </a:extLst>
          </p:cNvPr>
          <p:cNvSpPr/>
          <p:nvPr/>
        </p:nvSpPr>
        <p:spPr bwMode="auto">
          <a:xfrm>
            <a:off x="5263380" y="3501008"/>
            <a:ext cx="2056756" cy="1518842"/>
          </a:xfrm>
          <a:prstGeom prst="roundRect">
            <a:avLst/>
          </a:prstGeom>
          <a:solidFill>
            <a:sysClr val="window" lastClr="FFFFFF"/>
          </a:solidFill>
          <a:ln w="9525" cap="flat" cmpd="sng" algn="ctr">
            <a:solidFill>
              <a:srgbClr val="D2D2D2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lvl="0" defTabSz="457200" rtl="0"/>
            <a:r>
              <a:rPr lang="ru-RU" sz="1400" b="1" kern="1200" dirty="0">
                <a:solidFill>
                  <a:schemeClr val="bg2"/>
                </a:solidFill>
                <a:latin typeface="Montserrat Light"/>
                <a:cs typeface="Arial"/>
              </a:rPr>
              <a:t>🍽️ Питание и быт</a:t>
            </a:r>
          </a:p>
          <a:p>
            <a:pPr lvl="0" defTabSz="457200" rtl="0"/>
            <a:r>
              <a:rPr lang="ru-RU" sz="1400" kern="1200" dirty="0">
                <a:solidFill>
                  <a:schemeClr val="bg2"/>
                </a:solidFill>
                <a:latin typeface="Montserrat Light"/>
                <a:cs typeface="Arial"/>
              </a:rPr>
              <a:t>Санитарно-бытовое обеспечение, выдача молока, лечебно-профилактическое питание</a:t>
            </a:r>
          </a:p>
        </p:txBody>
      </p:sp>
      <p:sp>
        <p:nvSpPr>
          <p:cNvPr id="21" name="Rounded Rectangle 4">
            <a:extLst>
              <a:ext uri="{FF2B5EF4-FFF2-40B4-BE49-F238E27FC236}">
                <a16:creationId xmlns:a16="http://schemas.microsoft.com/office/drawing/2014/main" id="{BE20F3E6-0735-4D9A-8A69-09A4E4F74546}"/>
              </a:ext>
            </a:extLst>
          </p:cNvPr>
          <p:cNvSpPr/>
          <p:nvPr/>
        </p:nvSpPr>
        <p:spPr bwMode="auto">
          <a:xfrm>
            <a:off x="3071664" y="3501008"/>
            <a:ext cx="2056756" cy="1518842"/>
          </a:xfrm>
          <a:prstGeom prst="roundRect">
            <a:avLst/>
          </a:prstGeom>
          <a:solidFill>
            <a:sysClr val="window" lastClr="FFFFFF"/>
          </a:solidFill>
          <a:ln w="9525" cap="flat" cmpd="sng" algn="ctr">
            <a:solidFill>
              <a:srgbClr val="D2D2D2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lvl="0" defTabSz="457200" rtl="0"/>
            <a:r>
              <a:rPr lang="ru-RU" sz="1400" b="1" kern="1200" dirty="0">
                <a:solidFill>
                  <a:schemeClr val="bg2"/>
                </a:solidFill>
                <a:latin typeface="Montserrat Light"/>
                <a:cs typeface="Arial"/>
              </a:rPr>
              <a:t>🤝 Подрядчики</a:t>
            </a:r>
            <a:r>
              <a:rPr lang="ru-RU" sz="1400" kern="1200" dirty="0">
                <a:solidFill>
                  <a:schemeClr val="bg2"/>
                </a:solidFill>
                <a:latin typeface="Montserrat Light"/>
                <a:cs typeface="Arial"/>
              </a:rPr>
              <a:t>	</a:t>
            </a:r>
          </a:p>
          <a:p>
            <a:pPr lvl="0" defTabSz="457200" rtl="0"/>
            <a:r>
              <a:rPr lang="ru-RU" sz="1400" kern="1200" dirty="0">
                <a:solidFill>
                  <a:schemeClr val="bg2"/>
                </a:solidFill>
                <a:latin typeface="Montserrat Light"/>
                <a:cs typeface="Arial"/>
              </a:rPr>
              <a:t>Безопасность работников подрядных организаций</a:t>
            </a:r>
          </a:p>
        </p:txBody>
      </p:sp>
      <p:sp>
        <p:nvSpPr>
          <p:cNvPr id="23" name="Rounded Rectangle 4">
            <a:extLst>
              <a:ext uri="{FF2B5EF4-FFF2-40B4-BE49-F238E27FC236}">
                <a16:creationId xmlns:a16="http://schemas.microsoft.com/office/drawing/2014/main" id="{D7736813-B231-41B0-BF38-692CDE69BABA}"/>
              </a:ext>
            </a:extLst>
          </p:cNvPr>
          <p:cNvSpPr/>
          <p:nvPr/>
        </p:nvSpPr>
        <p:spPr bwMode="auto">
          <a:xfrm>
            <a:off x="9715585" y="1861400"/>
            <a:ext cx="2056756" cy="3284214"/>
          </a:xfrm>
          <a:prstGeom prst="roundRect">
            <a:avLst/>
          </a:prstGeom>
          <a:solidFill>
            <a:sysClr val="window" lastClr="FFFFFF"/>
          </a:solidFill>
          <a:ln w="9525" cap="flat" cmpd="sng" algn="ctr">
            <a:solidFill>
              <a:srgbClr val="D2D2D2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lvl="0" defTabSz="457200" rtl="0"/>
            <a:r>
              <a:rPr lang="ru-RU" sz="1400" b="1" kern="1200" dirty="0">
                <a:solidFill>
                  <a:schemeClr val="bg2"/>
                </a:solidFill>
                <a:latin typeface="Montserrat Light"/>
                <a:cs typeface="Arial"/>
              </a:rPr>
              <a:t>🏗️ Безопасность инфраструктуры</a:t>
            </a:r>
            <a:r>
              <a:rPr lang="ru-RU" sz="1400" kern="1200" dirty="0">
                <a:solidFill>
                  <a:schemeClr val="bg2"/>
                </a:solidFill>
                <a:latin typeface="Montserrat Light"/>
                <a:cs typeface="Arial"/>
              </a:rPr>
              <a:t>	</a:t>
            </a:r>
          </a:p>
          <a:p>
            <a:pPr lvl="0" defTabSz="457200" rtl="0"/>
            <a:r>
              <a:rPr lang="ru-RU" sz="1400" kern="1200" dirty="0">
                <a:solidFill>
                  <a:schemeClr val="bg2"/>
                </a:solidFill>
                <a:latin typeface="Montserrat Light"/>
                <a:cs typeface="Arial"/>
              </a:rPr>
              <a:t>Эксплуатация зданий, сооружений, оборудования, инструментов, технологических процессов, сырья и материалов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1">
            <a:extLst>
              <a:ext uri="{FF2B5EF4-FFF2-40B4-BE49-F238E27FC236}">
                <a16:creationId xmlns:a16="http://schemas.microsoft.com/office/drawing/2014/main" id="{3793D5F2-00FC-4BEC-BC7A-955E4AA4228E}"/>
              </a:ext>
            </a:extLst>
          </p:cNvPr>
          <p:cNvSpPr/>
          <p:nvPr/>
        </p:nvSpPr>
        <p:spPr bwMode="auto">
          <a:xfrm>
            <a:off x="-107089" y="-315416"/>
            <a:ext cx="6626820" cy="7357936"/>
          </a:xfrm>
          <a:custGeom>
            <a:avLst/>
            <a:gdLst>
              <a:gd name="connsiteX0" fmla="*/ 0 w 6095999"/>
              <a:gd name="connsiteY0" fmla="*/ 0 h 6858000"/>
              <a:gd name="connsiteX1" fmla="*/ 6095999 w 6095999"/>
              <a:gd name="connsiteY1" fmla="*/ 0 h 6858000"/>
              <a:gd name="connsiteX2" fmla="*/ 6095999 w 6095999"/>
              <a:gd name="connsiteY2" fmla="*/ 6858000 h 6858000"/>
              <a:gd name="connsiteX3" fmla="*/ 0 w 6095999"/>
              <a:gd name="connsiteY3" fmla="*/ 6858000 h 6858000"/>
              <a:gd name="connsiteX4" fmla="*/ 0 w 6095999"/>
              <a:gd name="connsiteY4" fmla="*/ 0 h 6858000"/>
              <a:gd name="connsiteX0" fmla="*/ 0 w 6095999"/>
              <a:gd name="connsiteY0" fmla="*/ 193524 h 7051524"/>
              <a:gd name="connsiteX1" fmla="*/ 6095999 w 6095999"/>
              <a:gd name="connsiteY1" fmla="*/ 193524 h 7051524"/>
              <a:gd name="connsiteX2" fmla="*/ 6095999 w 6095999"/>
              <a:gd name="connsiteY2" fmla="*/ 7051524 h 7051524"/>
              <a:gd name="connsiteX3" fmla="*/ 0 w 6095999"/>
              <a:gd name="connsiteY3" fmla="*/ 7051524 h 7051524"/>
              <a:gd name="connsiteX4" fmla="*/ 0 w 6095999"/>
              <a:gd name="connsiteY4" fmla="*/ 193524 h 7051524"/>
              <a:gd name="connsiteX0" fmla="*/ 0 w 6199211"/>
              <a:gd name="connsiteY0" fmla="*/ 193524 h 7051524"/>
              <a:gd name="connsiteX1" fmla="*/ 6095999 w 6199211"/>
              <a:gd name="connsiteY1" fmla="*/ 193524 h 7051524"/>
              <a:gd name="connsiteX2" fmla="*/ 6095999 w 6199211"/>
              <a:gd name="connsiteY2" fmla="*/ 7051524 h 7051524"/>
              <a:gd name="connsiteX3" fmla="*/ 0 w 6199211"/>
              <a:gd name="connsiteY3" fmla="*/ 7051524 h 7051524"/>
              <a:gd name="connsiteX4" fmla="*/ 0 w 6199211"/>
              <a:gd name="connsiteY4" fmla="*/ 193524 h 7051524"/>
              <a:gd name="connsiteX0" fmla="*/ 0 w 6152579"/>
              <a:gd name="connsiteY0" fmla="*/ 193524 h 7051524"/>
              <a:gd name="connsiteX1" fmla="*/ 6095999 w 6152579"/>
              <a:gd name="connsiteY1" fmla="*/ 193524 h 7051524"/>
              <a:gd name="connsiteX2" fmla="*/ 6095999 w 6152579"/>
              <a:gd name="connsiteY2" fmla="*/ 7051524 h 7051524"/>
              <a:gd name="connsiteX3" fmla="*/ 0 w 6152579"/>
              <a:gd name="connsiteY3" fmla="*/ 7051524 h 7051524"/>
              <a:gd name="connsiteX4" fmla="*/ 0 w 6152579"/>
              <a:gd name="connsiteY4" fmla="*/ 193524 h 7051524"/>
              <a:gd name="connsiteX0" fmla="*/ 0 w 6152579"/>
              <a:gd name="connsiteY0" fmla="*/ 193524 h 7225695"/>
              <a:gd name="connsiteX1" fmla="*/ 6095999 w 6152579"/>
              <a:gd name="connsiteY1" fmla="*/ 193524 h 7225695"/>
              <a:gd name="connsiteX2" fmla="*/ 6095999 w 6152579"/>
              <a:gd name="connsiteY2" fmla="*/ 7051524 h 7225695"/>
              <a:gd name="connsiteX3" fmla="*/ 0 w 6152579"/>
              <a:gd name="connsiteY3" fmla="*/ 7051524 h 7225695"/>
              <a:gd name="connsiteX4" fmla="*/ 0 w 6152579"/>
              <a:gd name="connsiteY4" fmla="*/ 193524 h 7225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52579" h="7225695" extrusionOk="0">
                <a:moveTo>
                  <a:pt x="0" y="193524"/>
                </a:moveTo>
                <a:cubicBezTo>
                  <a:pt x="2032000" y="193524"/>
                  <a:pt x="4165599" y="-241905"/>
                  <a:pt x="6095999" y="193524"/>
                </a:cubicBezTo>
                <a:cubicBezTo>
                  <a:pt x="6328228" y="2566610"/>
                  <a:pt x="5747656" y="4910667"/>
                  <a:pt x="6095999" y="7051524"/>
                </a:cubicBezTo>
                <a:cubicBezTo>
                  <a:pt x="4049484" y="7443410"/>
                  <a:pt x="2032000" y="7051524"/>
                  <a:pt x="0" y="7051524"/>
                </a:cubicBezTo>
                <a:lnTo>
                  <a:pt x="0" y="193524"/>
                </a:lnTo>
                <a:close/>
              </a:path>
            </a:pathLst>
          </a:custGeom>
          <a:solidFill>
            <a:srgbClr val="E6E6E6"/>
          </a:solidFill>
          <a:ln w="12700" cap="flat" cmpd="sng" algn="ctr">
            <a:solidFill>
              <a:srgbClr val="E6E6E6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285750" marR="0" lvl="0" indent="-28575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ru-RU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3174" y="3113533"/>
            <a:ext cx="452551" cy="63094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1750">
                <a:solidFill>
                  <a:srgbClr val="FFFFFF"/>
                </a:solidFill>
              </a:defRPr>
            </a:lvl1pPr>
          </a:lstStyle>
          <a:p>
            <a:pPr marL="0" marR="0" lvl="0" indent="0" algn="ct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sz="1750" b="0" i="0" u="none" strike="noStrike" cap="none" spc="0">
                <a:ln>
                  <a:noFill/>
                </a:ln>
                <a:solidFill>
                  <a:srgbClr val="FFFFFF"/>
                </a:solidFill>
                <a:latin typeface="Open Sans Light"/>
                <a:cs typeface="Calibri"/>
              </a:rPr>
              <a:t>18</a:t>
            </a:fld>
            <a:endParaRPr sz="175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1030625" y="363878"/>
            <a:ext cx="10117667" cy="446276"/>
          </a:xfrm>
          <a:prstGeom prst="rect">
            <a:avLst/>
          </a:prstGeom>
          <a:ln w="12700">
            <a:miter lim="400000"/>
          </a:ln>
        </p:spPr>
        <p:txBody>
          <a:bodyPr wrap="square" lIns="22860" rIns="2286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300" b="0" i="0" u="none" strike="noStrike" cap="none" spc="0" dirty="0">
                <a:ln>
                  <a:noFill/>
                </a:ln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</a:rPr>
              <a:t>ФУНКЦИОНИРОВАНИЕ СУОТ И ОПР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1030639" y="808730"/>
            <a:ext cx="5196154" cy="36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22860" rIns="22860" anchor="ctr"/>
          <a:lstStyle/>
          <a:p>
            <a:pPr marL="0" marR="0" lvl="0" indent="0" algn="l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175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5" name="Подзаголовок 2"/>
          <p:cNvSpPr txBox="1"/>
          <p:nvPr/>
        </p:nvSpPr>
        <p:spPr bwMode="auto">
          <a:xfrm>
            <a:off x="695400" y="935744"/>
            <a:ext cx="3456384" cy="286312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Autofit/>
          </a:bodyPr>
          <a:lstStyle>
            <a:lvl1pPr marL="0" marR="0" indent="0" algn="r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2286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4572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6858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9144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11430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13716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16002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18288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100" b="0" i="0" u="none" strike="noStrike" cap="none" spc="0" dirty="0">
                <a:ln>
                  <a:noFill/>
                </a:ln>
                <a:solidFill>
                  <a:srgbClr val="535353"/>
                </a:solidFill>
                <a:latin typeface="PFDinDisplayPro-Medium"/>
                <a:ea typeface="Open Sans"/>
                <a:cs typeface="Open Sans"/>
              </a:rPr>
              <a:t>Организация системы управления охраной труда</a:t>
            </a:r>
            <a:endParaRPr sz="2800" b="0" i="0" u="none" strike="noStrike" cap="none" spc="0" dirty="0">
              <a:ln>
                <a:noFill/>
              </a:ln>
              <a:solidFill>
                <a:srgbClr val="535353"/>
              </a:solidFill>
              <a:latin typeface="Open Sans"/>
              <a:ea typeface="Open Sans"/>
              <a:cs typeface="Open Sans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/>
        </p:blipFill>
        <p:spPr bwMode="auto">
          <a:xfrm>
            <a:off x="6793690" y="1953858"/>
            <a:ext cx="4211811" cy="3647483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 bwMode="auto">
          <a:xfrm>
            <a:off x="826616" y="1405076"/>
            <a:ext cx="1113406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ru-RU" sz="1600" b="1" dirty="0">
                <a:solidFill>
                  <a:srgbClr val="535353"/>
                </a:solidFill>
              </a:rPr>
              <a:t>Порядок действий для обеспечения функционирования СУОТ:</a:t>
            </a:r>
            <a:endParaRPr lang="ru-RU" sz="1600" b="0" i="0" u="none" strike="noStrike" cap="none" spc="0" dirty="0">
              <a:ln>
                <a:noFill/>
              </a:ln>
              <a:solidFill>
                <a:srgbClr val="535353"/>
              </a:solidFill>
            </a:endParaRPr>
          </a:p>
        </p:txBody>
      </p:sp>
      <p:sp>
        <p:nvSpPr>
          <p:cNvPr id="9" name="Shape 15">
            <a:extLst>
              <a:ext uri="{FF2B5EF4-FFF2-40B4-BE49-F238E27FC236}">
                <a16:creationId xmlns:a16="http://schemas.microsoft.com/office/drawing/2014/main" id="{10951210-86F8-419E-B82B-EE5D0BBD7FAB}"/>
              </a:ext>
            </a:extLst>
          </p:cNvPr>
          <p:cNvSpPr/>
          <p:nvPr/>
        </p:nvSpPr>
        <p:spPr bwMode="auto">
          <a:xfrm>
            <a:off x="1033321" y="2499041"/>
            <a:ext cx="2396716" cy="610997"/>
          </a:xfrm>
          <a:prstGeom prst="roundRect">
            <a:avLst>
              <a:gd name="adj" fmla="val 50000"/>
            </a:avLst>
          </a:prstGeom>
          <a:solidFill>
            <a:srgbClr val="FEFEFE">
              <a:alpha val="77000"/>
            </a:srgbClr>
          </a:solidFill>
          <a:ln w="4763">
            <a:solidFill>
              <a:srgbClr val="C7C7D0"/>
            </a:solidFill>
            <a:prstDash val="solid"/>
          </a:ln>
        </p:spPr>
        <p:txBody>
          <a:bodyPr/>
          <a:lstStyle/>
          <a:p>
            <a:pPr algn="ctr"/>
            <a:r>
              <a:rPr lang="ru-RU" sz="1600" dirty="0">
                <a:solidFill>
                  <a:schemeClr val="bg2"/>
                </a:solidFill>
              </a:rPr>
              <a:t>Планирование</a:t>
            </a:r>
          </a:p>
        </p:txBody>
      </p:sp>
      <p:sp>
        <p:nvSpPr>
          <p:cNvPr id="11" name="Shape 15">
            <a:extLst>
              <a:ext uri="{FF2B5EF4-FFF2-40B4-BE49-F238E27FC236}">
                <a16:creationId xmlns:a16="http://schemas.microsoft.com/office/drawing/2014/main" id="{B43438B3-8642-408D-873A-DEA687E364E0}"/>
              </a:ext>
            </a:extLst>
          </p:cNvPr>
          <p:cNvSpPr/>
          <p:nvPr/>
        </p:nvSpPr>
        <p:spPr bwMode="auto">
          <a:xfrm>
            <a:off x="1030625" y="3587764"/>
            <a:ext cx="2396716" cy="610997"/>
          </a:xfrm>
          <a:prstGeom prst="roundRect">
            <a:avLst>
              <a:gd name="adj" fmla="val 50000"/>
            </a:avLst>
          </a:prstGeom>
          <a:solidFill>
            <a:srgbClr val="FEFEFE">
              <a:alpha val="77000"/>
            </a:srgbClr>
          </a:solidFill>
          <a:ln w="4763">
            <a:solidFill>
              <a:srgbClr val="C7C7D0"/>
            </a:solidFill>
            <a:prstDash val="solid"/>
          </a:ln>
        </p:spPr>
        <p:txBody>
          <a:bodyPr/>
          <a:lstStyle/>
          <a:p>
            <a:pPr algn="ctr"/>
            <a:r>
              <a:rPr lang="ru-RU" sz="1600" dirty="0">
                <a:solidFill>
                  <a:schemeClr val="bg2"/>
                </a:solidFill>
              </a:rPr>
              <a:t>Выполнение</a:t>
            </a:r>
          </a:p>
        </p:txBody>
      </p:sp>
      <p:sp>
        <p:nvSpPr>
          <p:cNvPr id="12" name="Shape 15">
            <a:extLst>
              <a:ext uri="{FF2B5EF4-FFF2-40B4-BE49-F238E27FC236}">
                <a16:creationId xmlns:a16="http://schemas.microsoft.com/office/drawing/2014/main" id="{BC6EA4BB-E049-4832-B5F0-A3D97A16BC0C}"/>
              </a:ext>
            </a:extLst>
          </p:cNvPr>
          <p:cNvSpPr/>
          <p:nvPr/>
        </p:nvSpPr>
        <p:spPr bwMode="auto">
          <a:xfrm>
            <a:off x="1030625" y="4676487"/>
            <a:ext cx="2396716" cy="610997"/>
          </a:xfrm>
          <a:prstGeom prst="roundRect">
            <a:avLst>
              <a:gd name="adj" fmla="val 50000"/>
            </a:avLst>
          </a:prstGeom>
          <a:solidFill>
            <a:srgbClr val="FEFEFE">
              <a:alpha val="77000"/>
            </a:srgbClr>
          </a:solidFill>
          <a:ln w="4763">
            <a:solidFill>
              <a:srgbClr val="C7C7D0"/>
            </a:solidFill>
            <a:prstDash val="solid"/>
          </a:ln>
        </p:spPr>
        <p:txBody>
          <a:bodyPr/>
          <a:lstStyle/>
          <a:p>
            <a:pPr algn="ctr"/>
            <a:r>
              <a:rPr lang="ru-RU" sz="1600" dirty="0">
                <a:solidFill>
                  <a:schemeClr val="bg2"/>
                </a:solidFill>
              </a:rPr>
              <a:t>Контроль и анализ</a:t>
            </a:r>
          </a:p>
        </p:txBody>
      </p:sp>
      <p:sp>
        <p:nvSpPr>
          <p:cNvPr id="13" name="Shape 15">
            <a:extLst>
              <a:ext uri="{FF2B5EF4-FFF2-40B4-BE49-F238E27FC236}">
                <a16:creationId xmlns:a16="http://schemas.microsoft.com/office/drawing/2014/main" id="{586D71BD-51F6-4FDB-9254-A5B2B46FA5C3}"/>
              </a:ext>
            </a:extLst>
          </p:cNvPr>
          <p:cNvSpPr/>
          <p:nvPr/>
        </p:nvSpPr>
        <p:spPr bwMode="auto">
          <a:xfrm>
            <a:off x="1030625" y="5765210"/>
            <a:ext cx="2396716" cy="760985"/>
          </a:xfrm>
          <a:prstGeom prst="roundRect">
            <a:avLst>
              <a:gd name="adj" fmla="val 50000"/>
            </a:avLst>
          </a:prstGeom>
          <a:solidFill>
            <a:srgbClr val="FEFEFE">
              <a:alpha val="77000"/>
            </a:srgbClr>
          </a:solidFill>
          <a:ln w="4763">
            <a:solidFill>
              <a:srgbClr val="C7C7D0"/>
            </a:solidFill>
            <a:prstDash val="solid"/>
          </a:ln>
        </p:spPr>
        <p:txBody>
          <a:bodyPr/>
          <a:lstStyle/>
          <a:p>
            <a:pPr algn="ctr"/>
            <a:r>
              <a:rPr lang="ru-RU" sz="1600" dirty="0">
                <a:solidFill>
                  <a:schemeClr val="bg2"/>
                </a:solidFill>
              </a:rPr>
              <a:t>Корректирующие действия 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0E44D8FA-C467-4A65-843A-22D62C4A44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 rot="5768507">
            <a:off x="1889455" y="2878125"/>
            <a:ext cx="943636" cy="947456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8C56A44F-290A-4637-BC49-73C7B42769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 rot="15831493" flipH="1">
            <a:off x="1723685" y="3977762"/>
            <a:ext cx="943636" cy="947456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8AB7347F-D7FA-4417-9D16-DC42A3FEA3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 rot="5768507">
            <a:off x="1865861" y="5066337"/>
            <a:ext cx="943636" cy="947456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85EA94B-38E9-4D70-99EB-99C6180F1FAE}"/>
              </a:ext>
            </a:extLst>
          </p:cNvPr>
          <p:cNvSpPr/>
          <p:nvPr/>
        </p:nvSpPr>
        <p:spPr>
          <a:xfrm>
            <a:off x="1098727" y="2084873"/>
            <a:ext cx="214193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600" dirty="0">
                <a:solidFill>
                  <a:schemeClr val="bg2"/>
                </a:solidFill>
              </a:rPr>
              <a:t>Управленческий цикл: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D20BB09-4B91-477D-9606-1C6EC6028996}"/>
              </a:ext>
            </a:extLst>
          </p:cNvPr>
          <p:cNvSpPr/>
          <p:nvPr/>
        </p:nvSpPr>
        <p:spPr>
          <a:xfrm>
            <a:off x="3707463" y="2096565"/>
            <a:ext cx="26861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bg2"/>
                </a:solidFill>
              </a:rPr>
              <a:t>Обеспечивающие процессы:</a:t>
            </a:r>
          </a:p>
        </p:txBody>
      </p:sp>
      <p:sp>
        <p:nvSpPr>
          <p:cNvPr id="20" name="Shape 15">
            <a:extLst>
              <a:ext uri="{FF2B5EF4-FFF2-40B4-BE49-F238E27FC236}">
                <a16:creationId xmlns:a16="http://schemas.microsoft.com/office/drawing/2014/main" id="{ED5CDD2B-E1FA-4EC4-B45A-747C2B4F3F9A}"/>
              </a:ext>
            </a:extLst>
          </p:cNvPr>
          <p:cNvSpPr/>
          <p:nvPr/>
        </p:nvSpPr>
        <p:spPr bwMode="auto">
          <a:xfrm>
            <a:off x="3830077" y="2538882"/>
            <a:ext cx="2396716" cy="1250168"/>
          </a:xfrm>
          <a:prstGeom prst="roundRect">
            <a:avLst>
              <a:gd name="adj" fmla="val 50000"/>
            </a:avLst>
          </a:prstGeom>
          <a:solidFill>
            <a:srgbClr val="FEFEFE">
              <a:alpha val="77000"/>
            </a:srgbClr>
          </a:solidFill>
          <a:ln w="4763">
            <a:solidFill>
              <a:srgbClr val="C7C7D0"/>
            </a:solidFill>
            <a:prstDash val="solid"/>
          </a:ln>
        </p:spPr>
        <p:txBody>
          <a:bodyPr/>
          <a:lstStyle/>
          <a:p>
            <a:pPr algn="ctr"/>
            <a:r>
              <a:rPr lang="ru-RU" sz="1600" dirty="0">
                <a:solidFill>
                  <a:schemeClr val="bg2"/>
                </a:solidFill>
              </a:rPr>
              <a:t>📄 </a:t>
            </a:r>
          </a:p>
          <a:p>
            <a:pPr algn="ctr"/>
            <a:r>
              <a:rPr lang="ru-RU" sz="1600" dirty="0">
                <a:solidFill>
                  <a:schemeClr val="bg2"/>
                </a:solidFill>
              </a:rPr>
              <a:t>Управление документами</a:t>
            </a:r>
          </a:p>
        </p:txBody>
      </p:sp>
      <p:sp>
        <p:nvSpPr>
          <p:cNvPr id="21" name="Shape 15">
            <a:extLst>
              <a:ext uri="{FF2B5EF4-FFF2-40B4-BE49-F238E27FC236}">
                <a16:creationId xmlns:a16="http://schemas.microsoft.com/office/drawing/2014/main" id="{573D6613-0E84-4AEE-8FEC-DEC026C1A530}"/>
              </a:ext>
            </a:extLst>
          </p:cNvPr>
          <p:cNvSpPr/>
          <p:nvPr/>
        </p:nvSpPr>
        <p:spPr bwMode="auto">
          <a:xfrm>
            <a:off x="3830077" y="3905630"/>
            <a:ext cx="2396716" cy="1250169"/>
          </a:xfrm>
          <a:prstGeom prst="roundRect">
            <a:avLst>
              <a:gd name="adj" fmla="val 50000"/>
            </a:avLst>
          </a:prstGeom>
          <a:solidFill>
            <a:srgbClr val="FEFEFE">
              <a:alpha val="77000"/>
            </a:srgbClr>
          </a:solidFill>
          <a:ln w="4763">
            <a:solidFill>
              <a:srgbClr val="C7C7D0"/>
            </a:solidFill>
            <a:prstDash val="solid"/>
          </a:ln>
        </p:spPr>
        <p:txBody>
          <a:bodyPr/>
          <a:lstStyle/>
          <a:p>
            <a:pPr algn="ctr"/>
            <a:r>
              <a:rPr lang="ru-RU" sz="1600" dirty="0">
                <a:solidFill>
                  <a:schemeClr val="bg2"/>
                </a:solidFill>
              </a:rPr>
              <a:t>📢 </a:t>
            </a:r>
          </a:p>
          <a:p>
            <a:pPr algn="ctr"/>
            <a:r>
              <a:rPr lang="ru-RU" sz="1600" dirty="0">
                <a:solidFill>
                  <a:schemeClr val="bg2"/>
                </a:solidFill>
              </a:rPr>
              <a:t>Информирование работников</a:t>
            </a:r>
          </a:p>
        </p:txBody>
      </p:sp>
      <p:sp>
        <p:nvSpPr>
          <p:cNvPr id="23" name="Shape 15">
            <a:extLst>
              <a:ext uri="{FF2B5EF4-FFF2-40B4-BE49-F238E27FC236}">
                <a16:creationId xmlns:a16="http://schemas.microsoft.com/office/drawing/2014/main" id="{B823FC53-C940-44F2-8784-D085C626AEDF}"/>
              </a:ext>
            </a:extLst>
          </p:cNvPr>
          <p:cNvSpPr/>
          <p:nvPr/>
        </p:nvSpPr>
        <p:spPr bwMode="auto">
          <a:xfrm>
            <a:off x="3852198" y="5272379"/>
            <a:ext cx="2396716" cy="1250170"/>
          </a:xfrm>
          <a:prstGeom prst="roundRect">
            <a:avLst>
              <a:gd name="adj" fmla="val 50000"/>
            </a:avLst>
          </a:prstGeom>
          <a:solidFill>
            <a:srgbClr val="FEFEFE">
              <a:alpha val="77000"/>
            </a:srgbClr>
          </a:solidFill>
          <a:ln w="4763">
            <a:solidFill>
              <a:srgbClr val="C7C7D0"/>
            </a:solidFill>
            <a:prstDash val="solid"/>
          </a:ln>
        </p:spPr>
        <p:txBody>
          <a:bodyPr/>
          <a:lstStyle/>
          <a:p>
            <a:pPr algn="ctr"/>
            <a:r>
              <a:rPr lang="ru-RU" sz="1600" dirty="0">
                <a:solidFill>
                  <a:schemeClr val="bg2"/>
                </a:solidFill>
              </a:rPr>
              <a:t>👤 </a:t>
            </a:r>
          </a:p>
          <a:p>
            <a:pPr algn="ctr"/>
            <a:r>
              <a:rPr lang="ru-RU" sz="1600" dirty="0">
                <a:solidFill>
                  <a:schemeClr val="bg2"/>
                </a:solidFill>
              </a:rPr>
              <a:t>Распределение обязанностей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3174" y="3113533"/>
            <a:ext cx="452551" cy="63094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1750">
                <a:solidFill>
                  <a:srgbClr val="FFFFFF"/>
                </a:solidFill>
              </a:defRPr>
            </a:lvl1pPr>
          </a:lstStyle>
          <a:p>
            <a:pPr marL="0" marR="0" lvl="0" indent="0" algn="ct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sz="1750" b="0" i="0" u="none" strike="noStrike" cap="none" spc="0">
                <a:ln>
                  <a:noFill/>
                </a:ln>
                <a:solidFill>
                  <a:srgbClr val="FFFFFF"/>
                </a:solidFill>
                <a:latin typeface="Open Sans Light"/>
                <a:cs typeface="Calibri"/>
              </a:rPr>
              <a:t>19</a:t>
            </a:fld>
            <a:endParaRPr sz="175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1030625" y="888595"/>
            <a:ext cx="10117667" cy="446276"/>
          </a:xfrm>
          <a:prstGeom prst="rect">
            <a:avLst/>
          </a:prstGeom>
          <a:ln w="12700">
            <a:miter lim="400000"/>
          </a:ln>
        </p:spPr>
        <p:txBody>
          <a:bodyPr wrap="square" lIns="22860" rIns="2286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457200">
              <a:defRPr/>
            </a:pPr>
            <a:r>
              <a:rPr lang="ru-RU" sz="230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</a:rPr>
              <a:t>РЕАГИРОВАНИЕ НА НЕСЧАСТНЫЕ СЛУЧАИ 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1030632" y="1302335"/>
            <a:ext cx="6350856" cy="36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22860" rIns="22860" anchor="ctr"/>
          <a:lstStyle/>
          <a:p>
            <a:pPr marL="0" marR="0" lvl="0" indent="0" algn="l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175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5" name="Подзаголовок 2"/>
          <p:cNvSpPr txBox="1"/>
          <p:nvPr/>
        </p:nvSpPr>
        <p:spPr bwMode="auto">
          <a:xfrm>
            <a:off x="911424" y="1338335"/>
            <a:ext cx="3456384" cy="286312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Autofit/>
          </a:bodyPr>
          <a:lstStyle>
            <a:lvl1pPr marL="0" marR="0" indent="0" algn="r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2286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4572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6858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9144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11430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13716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16002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18288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100" b="0" i="0" u="none" strike="noStrike" cap="none" spc="0">
                <a:ln>
                  <a:noFill/>
                </a:ln>
                <a:solidFill>
                  <a:srgbClr val="535353"/>
                </a:solidFill>
                <a:latin typeface="PFDinDisplayPro-Medium"/>
                <a:ea typeface="Open Sans"/>
                <a:cs typeface="Open Sans"/>
              </a:rPr>
              <a:t>Организация системы управления охраной труда</a:t>
            </a:r>
            <a:endParaRPr sz="2800" b="0" i="0" u="none" strike="noStrike" cap="none" spc="0">
              <a:ln>
                <a:noFill/>
              </a:ln>
              <a:solidFill>
                <a:srgbClr val="535353"/>
              </a:solidFill>
              <a:latin typeface="Open Sans"/>
              <a:ea typeface="Open Sans"/>
              <a:cs typeface="Open Sans"/>
            </a:endParaRPr>
          </a:p>
        </p:txBody>
      </p:sp>
      <p:grpSp>
        <p:nvGrpSpPr>
          <p:cNvPr id="14" name="Группа 13"/>
          <p:cNvGrpSpPr/>
          <p:nvPr/>
        </p:nvGrpSpPr>
        <p:grpSpPr bwMode="auto">
          <a:xfrm>
            <a:off x="1775520" y="1916832"/>
            <a:ext cx="1905551" cy="1933842"/>
            <a:chOff x="2086025" y="3604413"/>
            <a:chExt cx="2604654" cy="2626424"/>
          </a:xfrm>
        </p:grpSpPr>
        <p:sp>
          <p:nvSpPr>
            <p:cNvPr id="15" name="Овал 14"/>
            <p:cNvSpPr/>
            <p:nvPr/>
          </p:nvSpPr>
          <p:spPr bwMode="auto">
            <a:xfrm>
              <a:off x="2086025" y="3604413"/>
              <a:ext cx="2604654" cy="2626424"/>
            </a:xfrm>
            <a:prstGeom prst="ellipse">
              <a:avLst/>
            </a:prstGeom>
            <a:solidFill>
              <a:srgbClr val="FFFFFF"/>
            </a:solidFill>
            <a:ln w="25400" cap="flat" cmpd="sng" algn="ctr">
              <a:solidFill>
                <a:srgbClr val="535353"/>
              </a:solidFill>
              <a:prstDash val="solid"/>
            </a:ln>
            <a:effectLst/>
          </p:spPr>
          <p:txBody>
            <a:bodyPr rot="0" spcFirstLastPara="1" vertOverflow="overflow" horzOverflow="overflow" vert="horz" wrap="square" lIns="91439" tIns="91439" rIns="91439" bIns="91439" numCol="1" spcCol="38100" rtlCol="0" anchor="ctr">
              <a:spAutoFit/>
            </a:bodyPr>
            <a:lstStyle/>
            <a:p>
              <a:pPr marL="0" marR="0" lvl="0" indent="0" defTabSz="182880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2400" b="0" i="0" u="none" strike="noStrike" cap="none" spc="0">
                <a:ln>
                  <a:noFill/>
                </a:ln>
                <a:solidFill>
                  <a:srgbClr val="535353"/>
                </a:solidFill>
                <a:latin typeface="Open Sans"/>
                <a:ea typeface="Open Sans"/>
                <a:cs typeface="Open Sans"/>
              </a:endParaRPr>
            </a:p>
          </p:txBody>
        </p:sp>
        <p:pic>
          <p:nvPicPr>
            <p:cNvPr id="16" name="Picture 7" descr="https://cdn.onlinewebfonts.com/svg/img_18857.png"/>
            <p:cNvPicPr>
              <a:picLocks noChangeAspect="1" noChangeArrowheads="1"/>
            </p:cNvPicPr>
            <p:nvPr/>
          </p:nvPicPr>
          <p:blipFill>
            <a:blip r:embed="rId2">
              <a:duotone>
                <a:srgbClr val="A5A5A5">
                  <a:shade val="45000"/>
                  <a:satMod val="135000"/>
                </a:srgbClr>
                <a:prstClr val="white"/>
              </a:duotone>
            </a:blip>
            <a:stretch/>
          </p:blipFill>
          <p:spPr bwMode="auto">
            <a:xfrm>
              <a:off x="2426404" y="3926931"/>
              <a:ext cx="1893649" cy="1870461"/>
            </a:xfrm>
            <a:prstGeom prst="rect">
              <a:avLst/>
            </a:prstGeom>
            <a:noFill/>
          </p:spPr>
        </p:pic>
      </p:grp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975582C-8621-4A48-9DBD-42EA0482D6C1}"/>
              </a:ext>
            </a:extLst>
          </p:cNvPr>
          <p:cNvSpPr/>
          <p:nvPr/>
        </p:nvSpPr>
        <p:spPr>
          <a:xfrm>
            <a:off x="4511824" y="1844824"/>
            <a:ext cx="645604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chemeClr val="bg2"/>
                </a:solidFill>
              </a:rPr>
              <a:t>🎯 Цель реагирования</a:t>
            </a:r>
            <a:r>
              <a:rPr lang="ru-RU" sz="1600" dirty="0">
                <a:solidFill>
                  <a:schemeClr val="bg2"/>
                </a:solidFill>
              </a:rPr>
              <a:t>:</a:t>
            </a:r>
          </a:p>
          <a:p>
            <a:r>
              <a:rPr lang="ru-RU" sz="1600" dirty="0">
                <a:solidFill>
                  <a:schemeClr val="bg2"/>
                </a:solidFill>
              </a:rPr>
              <a:t>Проведение профилактических мероприятий</a:t>
            </a:r>
          </a:p>
          <a:p>
            <a:r>
              <a:rPr lang="ru-RU" sz="1600" dirty="0">
                <a:solidFill>
                  <a:schemeClr val="bg2"/>
                </a:solidFill>
              </a:rPr>
              <a:t>Отработка действий работников при авариях</a:t>
            </a:r>
          </a:p>
          <a:p>
            <a:r>
              <a:rPr lang="ru-RU" sz="1600" dirty="0">
                <a:solidFill>
                  <a:schemeClr val="bg2"/>
                </a:solidFill>
              </a:rPr>
              <a:t>Расследование причин и их устранение</a:t>
            </a:r>
          </a:p>
          <a:p>
            <a:endParaRPr lang="ru-RU" sz="1600" dirty="0">
              <a:solidFill>
                <a:schemeClr val="bg2"/>
              </a:solidFill>
            </a:endParaRPr>
          </a:p>
          <a:p>
            <a:r>
              <a:rPr lang="ru-RU" sz="1600" b="1" dirty="0">
                <a:solidFill>
                  <a:schemeClr val="bg2"/>
                </a:solidFill>
              </a:rPr>
              <a:t>📋 Подпроцессы:</a:t>
            </a:r>
          </a:p>
          <a:p>
            <a:r>
              <a:rPr lang="ru-RU" sz="1600" dirty="0">
                <a:solidFill>
                  <a:schemeClr val="bg2"/>
                </a:solidFill>
              </a:rPr>
              <a:t>Реагирование на несчастные случаи</a:t>
            </a:r>
          </a:p>
          <a:p>
            <a:r>
              <a:rPr lang="ru-RU" sz="1600" dirty="0">
                <a:solidFill>
                  <a:schemeClr val="bg2"/>
                </a:solidFill>
              </a:rPr>
              <a:t>Расследование несчастных случаев</a:t>
            </a:r>
          </a:p>
          <a:p>
            <a:endParaRPr lang="ru-RU" sz="1600" dirty="0">
              <a:solidFill>
                <a:schemeClr val="bg2"/>
              </a:solidFill>
            </a:endParaRPr>
          </a:p>
          <a:p>
            <a:r>
              <a:rPr lang="ru-RU" sz="1600" b="1" dirty="0">
                <a:solidFill>
                  <a:schemeClr val="bg2"/>
                </a:solidFill>
              </a:rPr>
              <a:t>⚙️ Порядок </a:t>
            </a:r>
            <a:r>
              <a:rPr lang="ru-RU" sz="1600" dirty="0">
                <a:solidFill>
                  <a:schemeClr val="bg2"/>
                </a:solidFill>
              </a:rPr>
              <a:t>устанавливается с учетом специфики деятельности</a:t>
            </a:r>
          </a:p>
          <a:p>
            <a:endParaRPr lang="ru-RU" sz="1600" dirty="0">
              <a:solidFill>
                <a:schemeClr val="bg2"/>
              </a:solidFill>
            </a:endParaRPr>
          </a:p>
          <a:p>
            <a:r>
              <a:rPr lang="ru-RU" sz="1600" b="1" dirty="0">
                <a:solidFill>
                  <a:schemeClr val="bg2"/>
                </a:solidFill>
              </a:rPr>
              <a:t>📄 Задачи расследования:</a:t>
            </a:r>
          </a:p>
          <a:p>
            <a:r>
              <a:rPr lang="ru-RU" sz="1600" dirty="0">
                <a:solidFill>
                  <a:schemeClr val="bg2"/>
                </a:solidFill>
              </a:rPr>
              <a:t>Своевременное определение причин НС и профзаболеваний (включая микротравмы)</a:t>
            </a:r>
          </a:p>
          <a:p>
            <a:r>
              <a:rPr lang="ru-RU" sz="1600" dirty="0">
                <a:solidFill>
                  <a:schemeClr val="bg2"/>
                </a:solidFill>
              </a:rPr>
              <a:t>Оформление отчетных документов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" name="Picture 6" descr="http://xn--212-5cd3cgu2f.xn--p1ai/images/document/dnevnik.ru/introduction_bg.png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5853537" y="2203433"/>
            <a:ext cx="5828362" cy="3239205"/>
          </a:xfrm>
          <a:prstGeom prst="rect">
            <a:avLst/>
          </a:prstGeom>
          <a:noFill/>
        </p:spPr>
      </p:pic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3174" y="3113533"/>
            <a:ext cx="452551" cy="63094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1750">
                <a:solidFill>
                  <a:srgbClr val="FFFFFF"/>
                </a:solidFill>
              </a:defRPr>
            </a:lvl1pPr>
          </a:lstStyle>
          <a:p>
            <a:pPr marL="0" marR="0" lvl="0" indent="0" algn="ct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sz="1750" b="0" i="0" u="none" strike="noStrike" cap="none" spc="0">
                <a:ln>
                  <a:noFill/>
                </a:ln>
                <a:solidFill>
                  <a:srgbClr val="FFFFFF"/>
                </a:solidFill>
                <a:latin typeface="Open Sans Light"/>
                <a:cs typeface="Calibri"/>
              </a:rPr>
              <a:t>20</a:t>
            </a:fld>
            <a:endParaRPr sz="175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1030625" y="888595"/>
            <a:ext cx="10117667" cy="446276"/>
          </a:xfrm>
          <a:prstGeom prst="rect">
            <a:avLst/>
          </a:prstGeom>
          <a:ln w="12700">
            <a:miter lim="400000"/>
          </a:ln>
        </p:spPr>
        <p:txBody>
          <a:bodyPr wrap="square" lIns="22860" rIns="2286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457200">
              <a:defRPr/>
            </a:pPr>
            <a:r>
              <a:rPr lang="ru-RU" sz="230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</a:rPr>
              <a:t>ОЦЕНКА РЕЗУЛЬТАТОВ ДЕЯТЕЛЬНОСТИ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1030633" y="1302335"/>
            <a:ext cx="6012396" cy="36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22860" rIns="22860" anchor="ctr"/>
          <a:lstStyle/>
          <a:p>
            <a:pPr marL="0" marR="0" lvl="0" indent="0" algn="l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175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5" name="Подзаголовок 2"/>
          <p:cNvSpPr txBox="1"/>
          <p:nvPr/>
        </p:nvSpPr>
        <p:spPr bwMode="auto">
          <a:xfrm>
            <a:off x="911424" y="1338335"/>
            <a:ext cx="3456384" cy="286312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Autofit/>
          </a:bodyPr>
          <a:lstStyle>
            <a:lvl1pPr marL="0" marR="0" indent="0" algn="r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2286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4572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6858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9144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11430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13716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16002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18288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100" b="0" i="0" u="none" strike="noStrike" cap="none" spc="0">
                <a:ln>
                  <a:noFill/>
                </a:ln>
                <a:solidFill>
                  <a:srgbClr val="535353"/>
                </a:solidFill>
                <a:latin typeface="PFDinDisplayPro-Medium"/>
                <a:ea typeface="Open Sans"/>
                <a:cs typeface="Open Sans"/>
              </a:rPr>
              <a:t>Организация системы управления охраной труда</a:t>
            </a:r>
            <a:endParaRPr sz="2800" b="0" i="0" u="none" strike="noStrike" cap="none" spc="0">
              <a:ln>
                <a:noFill/>
              </a:ln>
              <a:solidFill>
                <a:srgbClr val="535353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7" name="Прямоугольник 16"/>
          <p:cNvSpPr/>
          <p:nvPr/>
        </p:nvSpPr>
        <p:spPr bwMode="auto">
          <a:xfrm>
            <a:off x="1096721" y="1887969"/>
            <a:ext cx="489315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600" b="1" i="0" u="none" strike="noStrike" cap="none" spc="0" dirty="0">
                <a:ln>
                  <a:noFill/>
                </a:ln>
                <a:solidFill>
                  <a:srgbClr val="535353"/>
                </a:solidFill>
              </a:rPr>
              <a:t>Работодателю рекомендуется определить:</a:t>
            </a:r>
            <a:endParaRPr lang="ru-RU" sz="1600" b="0" i="0" u="none" strike="noStrike" cap="none" spc="0" dirty="0">
              <a:ln>
                <a:noFill/>
              </a:ln>
              <a:solidFill>
                <a:srgbClr val="535353"/>
              </a:solidFill>
            </a:endParaRPr>
          </a:p>
        </p:txBody>
      </p:sp>
      <p:sp>
        <p:nvSpPr>
          <p:cNvPr id="9" name="Rounded Rectangle 4">
            <a:extLst>
              <a:ext uri="{FF2B5EF4-FFF2-40B4-BE49-F238E27FC236}">
                <a16:creationId xmlns:a16="http://schemas.microsoft.com/office/drawing/2014/main" id="{C7E6EFEE-005E-4B01-A50E-D4EF4FDC948C}"/>
              </a:ext>
            </a:extLst>
          </p:cNvPr>
          <p:cNvSpPr/>
          <p:nvPr/>
        </p:nvSpPr>
        <p:spPr bwMode="auto">
          <a:xfrm>
            <a:off x="1096721" y="2411652"/>
            <a:ext cx="2297785" cy="584992"/>
          </a:xfrm>
          <a:prstGeom prst="roundRect">
            <a:avLst/>
          </a:prstGeom>
          <a:solidFill>
            <a:sysClr val="window" lastClr="FFFFFF"/>
          </a:solidFill>
          <a:ln w="9525" cap="flat" cmpd="sng" algn="ctr">
            <a:solidFill>
              <a:srgbClr val="D2D2D2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lvl="0" defTabSz="457200" rtl="0"/>
            <a:r>
              <a:rPr lang="ru-RU" sz="1600" b="1" kern="1200" dirty="0">
                <a:solidFill>
                  <a:schemeClr val="bg2"/>
                </a:solidFill>
                <a:cs typeface="Arial"/>
              </a:rPr>
              <a:t>Объект контроля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986A911-2AA6-468F-B3C2-272472482B14}"/>
              </a:ext>
            </a:extLst>
          </p:cNvPr>
          <p:cNvSpPr/>
          <p:nvPr/>
        </p:nvSpPr>
        <p:spPr>
          <a:xfrm>
            <a:off x="3419055" y="5042679"/>
            <a:ext cx="204643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bg2"/>
                </a:solidFill>
              </a:rPr>
              <a:t>- Формы контроля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73101DB-952C-4290-B2F2-0E29467F4BD2}"/>
              </a:ext>
            </a:extLst>
          </p:cNvPr>
          <p:cNvSpPr/>
          <p:nvPr/>
        </p:nvSpPr>
        <p:spPr>
          <a:xfrm>
            <a:off x="3361636" y="2411869"/>
            <a:ext cx="314116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bg2"/>
                </a:solidFill>
              </a:rPr>
              <a:t>- Соблюдение норм, опасные виды работ, достижение целей</a:t>
            </a:r>
          </a:p>
        </p:txBody>
      </p:sp>
      <p:sp>
        <p:nvSpPr>
          <p:cNvPr id="13" name="Rounded Rectangle 4">
            <a:extLst>
              <a:ext uri="{FF2B5EF4-FFF2-40B4-BE49-F238E27FC236}">
                <a16:creationId xmlns:a16="http://schemas.microsoft.com/office/drawing/2014/main" id="{60681F71-B103-4C49-991E-CA28FC819F4A}"/>
              </a:ext>
            </a:extLst>
          </p:cNvPr>
          <p:cNvSpPr/>
          <p:nvPr/>
        </p:nvSpPr>
        <p:spPr bwMode="auto">
          <a:xfrm>
            <a:off x="1078140" y="3229329"/>
            <a:ext cx="2307791" cy="584992"/>
          </a:xfrm>
          <a:prstGeom prst="roundRect">
            <a:avLst/>
          </a:prstGeom>
          <a:solidFill>
            <a:sysClr val="window" lastClr="FFFFFF"/>
          </a:solidFill>
          <a:ln w="9525" cap="flat" cmpd="sng" algn="ctr">
            <a:solidFill>
              <a:srgbClr val="D2D2D2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lvl="0" defTabSz="457200" rtl="0"/>
            <a:r>
              <a:rPr lang="ru-RU" sz="1600" b="1" kern="1200" dirty="0">
                <a:solidFill>
                  <a:schemeClr val="bg2"/>
                </a:solidFill>
                <a:cs typeface="Arial"/>
              </a:rPr>
              <a:t>Методы контроля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396B4B3-86A0-4C4A-BEFA-8BFE6D32A0E1}"/>
              </a:ext>
            </a:extLst>
          </p:cNvPr>
          <p:cNvSpPr/>
          <p:nvPr/>
        </p:nvSpPr>
        <p:spPr>
          <a:xfrm>
            <a:off x="3394506" y="3238261"/>
            <a:ext cx="298235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bg2"/>
                </a:solidFill>
              </a:rPr>
              <a:t>- Способы контроля показателей</a:t>
            </a:r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41737A0D-6135-4636-A0FF-E232B464D47D}"/>
              </a:ext>
            </a:extLst>
          </p:cNvPr>
          <p:cNvSpPr/>
          <p:nvPr/>
        </p:nvSpPr>
        <p:spPr bwMode="auto">
          <a:xfrm>
            <a:off x="1078140" y="4093343"/>
            <a:ext cx="2307791" cy="584992"/>
          </a:xfrm>
          <a:prstGeom prst="roundRect">
            <a:avLst/>
          </a:prstGeom>
          <a:solidFill>
            <a:sysClr val="window" lastClr="FFFFFF"/>
          </a:solidFill>
          <a:ln w="9525" cap="flat" cmpd="sng" algn="ctr">
            <a:solidFill>
              <a:srgbClr val="D2D2D2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lvl="0" defTabSz="457200" rtl="0"/>
            <a:r>
              <a:rPr lang="ru-RU" sz="1600" b="1" kern="1200" dirty="0">
                <a:solidFill>
                  <a:schemeClr val="bg2"/>
                </a:solidFill>
                <a:cs typeface="Arial"/>
              </a:rPr>
              <a:t>Критерии оценки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87043C1-2C58-46CD-9BB0-47AC0EDAE342}"/>
              </a:ext>
            </a:extLst>
          </p:cNvPr>
          <p:cNvSpPr/>
          <p:nvPr/>
        </p:nvSpPr>
        <p:spPr>
          <a:xfrm>
            <a:off x="3419055" y="4111792"/>
            <a:ext cx="282096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bg2"/>
                </a:solidFill>
              </a:rPr>
              <a:t>- Показатели в области охраны труда</a:t>
            </a:r>
          </a:p>
        </p:txBody>
      </p:sp>
      <p:sp>
        <p:nvSpPr>
          <p:cNvPr id="16" name="Rounded Rectangle 4">
            <a:extLst>
              <a:ext uri="{FF2B5EF4-FFF2-40B4-BE49-F238E27FC236}">
                <a16:creationId xmlns:a16="http://schemas.microsoft.com/office/drawing/2014/main" id="{28915A92-A0FA-4749-93B5-9D51FCC00044}"/>
              </a:ext>
            </a:extLst>
          </p:cNvPr>
          <p:cNvSpPr/>
          <p:nvPr/>
        </p:nvSpPr>
        <p:spPr bwMode="auto">
          <a:xfrm>
            <a:off x="1066959" y="4919460"/>
            <a:ext cx="2318971" cy="584992"/>
          </a:xfrm>
          <a:prstGeom prst="roundRect">
            <a:avLst/>
          </a:prstGeom>
          <a:solidFill>
            <a:sysClr val="window" lastClr="FFFFFF"/>
          </a:solidFill>
          <a:ln w="9525" cap="flat" cmpd="sng" algn="ctr">
            <a:solidFill>
              <a:srgbClr val="D2D2D2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lvl="0" defTabSz="457200" rtl="0"/>
            <a:r>
              <a:rPr lang="ru-RU" sz="1600" b="1" kern="1200" dirty="0">
                <a:solidFill>
                  <a:schemeClr val="bg2"/>
                </a:solidFill>
                <a:cs typeface="Arial"/>
              </a:rPr>
              <a:t>Виды контроля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8F55A09B-E5C3-4541-B04E-34F462C58B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67"/>
          <a:stretch/>
        </p:blipFill>
        <p:spPr bwMode="auto">
          <a:xfrm>
            <a:off x="6240016" y="1840429"/>
            <a:ext cx="5579618" cy="5017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Прямоугольник 14">
            <a:extLst>
              <a:ext uri="{FF2B5EF4-FFF2-40B4-BE49-F238E27FC236}">
                <a16:creationId xmlns:a16="http://schemas.microsoft.com/office/drawing/2014/main" id="{FB3BA289-CC80-43B0-A9E8-50E3928F6428}"/>
              </a:ext>
            </a:extLst>
          </p:cNvPr>
          <p:cNvSpPr/>
          <p:nvPr/>
        </p:nvSpPr>
        <p:spPr bwMode="auto">
          <a:xfrm>
            <a:off x="-96687" y="1648414"/>
            <a:ext cx="6768752" cy="1205740"/>
          </a:xfrm>
          <a:custGeom>
            <a:avLst/>
            <a:gdLst>
              <a:gd name="connsiteX0" fmla="*/ 0 w 9622971"/>
              <a:gd name="connsiteY0" fmla="*/ 0 h 789319"/>
              <a:gd name="connsiteX1" fmla="*/ 9622971 w 9622971"/>
              <a:gd name="connsiteY1" fmla="*/ 0 h 789319"/>
              <a:gd name="connsiteX2" fmla="*/ 9622971 w 9622971"/>
              <a:gd name="connsiteY2" fmla="*/ 789319 h 789319"/>
              <a:gd name="connsiteX3" fmla="*/ 0 w 9622971"/>
              <a:gd name="connsiteY3" fmla="*/ 789319 h 789319"/>
              <a:gd name="connsiteX4" fmla="*/ 0 w 9622971"/>
              <a:gd name="connsiteY4" fmla="*/ 0 h 789319"/>
              <a:gd name="connsiteX0" fmla="*/ 0 w 9732634"/>
              <a:gd name="connsiteY0" fmla="*/ 0 h 789319"/>
              <a:gd name="connsiteX1" fmla="*/ 9622971 w 9732634"/>
              <a:gd name="connsiteY1" fmla="*/ 0 h 789319"/>
              <a:gd name="connsiteX2" fmla="*/ 9622971 w 9732634"/>
              <a:gd name="connsiteY2" fmla="*/ 789319 h 789319"/>
              <a:gd name="connsiteX3" fmla="*/ 0 w 9732634"/>
              <a:gd name="connsiteY3" fmla="*/ 789319 h 789319"/>
              <a:gd name="connsiteX4" fmla="*/ 0 w 9732634"/>
              <a:gd name="connsiteY4" fmla="*/ 0 h 789319"/>
              <a:gd name="connsiteX0" fmla="*/ 0 w 9732634"/>
              <a:gd name="connsiteY0" fmla="*/ 58057 h 847376"/>
              <a:gd name="connsiteX1" fmla="*/ 9622971 w 9732634"/>
              <a:gd name="connsiteY1" fmla="*/ 58057 h 847376"/>
              <a:gd name="connsiteX2" fmla="*/ 9622971 w 9732634"/>
              <a:gd name="connsiteY2" fmla="*/ 847376 h 847376"/>
              <a:gd name="connsiteX3" fmla="*/ 0 w 9732634"/>
              <a:gd name="connsiteY3" fmla="*/ 847376 h 847376"/>
              <a:gd name="connsiteX4" fmla="*/ 0 w 9732634"/>
              <a:gd name="connsiteY4" fmla="*/ 58057 h 847376"/>
              <a:gd name="connsiteX0" fmla="*/ 0 w 9732634"/>
              <a:gd name="connsiteY0" fmla="*/ 58057 h 911883"/>
              <a:gd name="connsiteX1" fmla="*/ 9622971 w 9732634"/>
              <a:gd name="connsiteY1" fmla="*/ 58057 h 911883"/>
              <a:gd name="connsiteX2" fmla="*/ 9622971 w 9732634"/>
              <a:gd name="connsiteY2" fmla="*/ 847376 h 911883"/>
              <a:gd name="connsiteX3" fmla="*/ 0 w 9732634"/>
              <a:gd name="connsiteY3" fmla="*/ 847376 h 911883"/>
              <a:gd name="connsiteX4" fmla="*/ 0 w 9732634"/>
              <a:gd name="connsiteY4" fmla="*/ 58057 h 911883"/>
              <a:gd name="connsiteX0" fmla="*/ 58057 w 9790691"/>
              <a:gd name="connsiteY0" fmla="*/ 58057 h 911883"/>
              <a:gd name="connsiteX1" fmla="*/ 9681028 w 9790691"/>
              <a:gd name="connsiteY1" fmla="*/ 58057 h 911883"/>
              <a:gd name="connsiteX2" fmla="*/ 9681028 w 9790691"/>
              <a:gd name="connsiteY2" fmla="*/ 847376 h 911883"/>
              <a:gd name="connsiteX3" fmla="*/ 58057 w 9790691"/>
              <a:gd name="connsiteY3" fmla="*/ 847376 h 911883"/>
              <a:gd name="connsiteX4" fmla="*/ 58057 w 9790691"/>
              <a:gd name="connsiteY4" fmla="*/ 58057 h 911883"/>
              <a:gd name="connsiteX0" fmla="*/ 58057 w 9790691"/>
              <a:gd name="connsiteY0" fmla="*/ 58057 h 990726"/>
              <a:gd name="connsiteX1" fmla="*/ 9681028 w 9790691"/>
              <a:gd name="connsiteY1" fmla="*/ 58057 h 990726"/>
              <a:gd name="connsiteX2" fmla="*/ 9681028 w 9790691"/>
              <a:gd name="connsiteY2" fmla="*/ 847376 h 990726"/>
              <a:gd name="connsiteX3" fmla="*/ 58057 w 9790691"/>
              <a:gd name="connsiteY3" fmla="*/ 847376 h 990726"/>
              <a:gd name="connsiteX4" fmla="*/ 58057 w 9790691"/>
              <a:gd name="connsiteY4" fmla="*/ 58057 h 990726"/>
              <a:gd name="connsiteX0" fmla="*/ 58057 w 9825747"/>
              <a:gd name="connsiteY0" fmla="*/ 58057 h 990726"/>
              <a:gd name="connsiteX1" fmla="*/ 9681028 w 9825747"/>
              <a:gd name="connsiteY1" fmla="*/ 58057 h 990726"/>
              <a:gd name="connsiteX2" fmla="*/ 9681028 w 9825747"/>
              <a:gd name="connsiteY2" fmla="*/ 847376 h 990726"/>
              <a:gd name="connsiteX3" fmla="*/ 58057 w 9825747"/>
              <a:gd name="connsiteY3" fmla="*/ 847376 h 990726"/>
              <a:gd name="connsiteX4" fmla="*/ 58057 w 9825747"/>
              <a:gd name="connsiteY4" fmla="*/ 58057 h 990726"/>
              <a:gd name="connsiteX0" fmla="*/ 58057 w 9825747"/>
              <a:gd name="connsiteY0" fmla="*/ 58057 h 944433"/>
              <a:gd name="connsiteX1" fmla="*/ 9681028 w 9825747"/>
              <a:gd name="connsiteY1" fmla="*/ 58057 h 944433"/>
              <a:gd name="connsiteX2" fmla="*/ 9681028 w 9825747"/>
              <a:gd name="connsiteY2" fmla="*/ 847376 h 944433"/>
              <a:gd name="connsiteX3" fmla="*/ 58057 w 9825747"/>
              <a:gd name="connsiteY3" fmla="*/ 847376 h 944433"/>
              <a:gd name="connsiteX4" fmla="*/ 58057 w 9825747"/>
              <a:gd name="connsiteY4" fmla="*/ 58057 h 944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25747" h="944433" extrusionOk="0">
                <a:moveTo>
                  <a:pt x="58057" y="58057"/>
                </a:moveTo>
                <a:cubicBezTo>
                  <a:pt x="3265714" y="58057"/>
                  <a:pt x="6386285" y="-72572"/>
                  <a:pt x="9681028" y="58057"/>
                </a:cubicBezTo>
                <a:cubicBezTo>
                  <a:pt x="9927771" y="190534"/>
                  <a:pt x="9811656" y="656842"/>
                  <a:pt x="9681028" y="847376"/>
                </a:cubicBezTo>
                <a:cubicBezTo>
                  <a:pt x="6531429" y="818346"/>
                  <a:pt x="3280228" y="1079605"/>
                  <a:pt x="58057" y="847376"/>
                </a:cubicBezTo>
                <a:cubicBezTo>
                  <a:pt x="-72572" y="758441"/>
                  <a:pt x="58057" y="321163"/>
                  <a:pt x="58057" y="58057"/>
                </a:cubicBezTo>
                <a:close/>
              </a:path>
            </a:pathLst>
          </a:custGeom>
          <a:solidFill>
            <a:srgbClr val="E6E6E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3174" y="3113533"/>
            <a:ext cx="452551" cy="63094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1750">
                <a:solidFill>
                  <a:srgbClr val="FFFFFF"/>
                </a:solidFill>
              </a:defRPr>
            </a:lvl1pPr>
          </a:lstStyle>
          <a:p>
            <a:pPr marL="0" marR="0" lvl="0" indent="0" algn="ct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sz="1750" b="0" i="0" u="none" strike="noStrike" cap="none" spc="0">
                <a:ln>
                  <a:noFill/>
                </a:ln>
                <a:solidFill>
                  <a:srgbClr val="FFFFFF"/>
                </a:solidFill>
                <a:latin typeface="Open Sans Light"/>
                <a:cs typeface="Calibri"/>
              </a:rPr>
              <a:t>21</a:t>
            </a:fld>
            <a:endParaRPr sz="175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1030625" y="888595"/>
            <a:ext cx="10117667" cy="446276"/>
          </a:xfrm>
          <a:prstGeom prst="rect">
            <a:avLst/>
          </a:prstGeom>
          <a:ln w="12700">
            <a:miter lim="400000"/>
          </a:ln>
        </p:spPr>
        <p:txBody>
          <a:bodyPr wrap="square" lIns="22860" rIns="2286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300" b="0" i="0" u="none" strike="noStrike" cap="none" spc="0">
                <a:ln>
                  <a:noFill/>
                </a:ln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</a:rPr>
              <a:t>ОЦЕНКА РЕЗУЛЬТАТОВ ДЕЯТЕЛЬНОСТИ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1030633" y="1302335"/>
            <a:ext cx="6012396" cy="36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22860" rIns="22860" anchor="ctr"/>
          <a:lstStyle/>
          <a:p>
            <a:pPr marL="0" marR="0" lvl="0" indent="0" algn="l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175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5" name="Подзаголовок 2"/>
          <p:cNvSpPr txBox="1"/>
          <p:nvPr/>
        </p:nvSpPr>
        <p:spPr bwMode="auto">
          <a:xfrm>
            <a:off x="911424" y="1338335"/>
            <a:ext cx="3456384" cy="286312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Autofit/>
          </a:bodyPr>
          <a:lstStyle>
            <a:lvl1pPr marL="0" marR="0" indent="0" algn="r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2286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4572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6858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9144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11430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13716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16002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18288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100" b="0" i="0" u="none" strike="noStrike" cap="none" spc="0">
                <a:ln>
                  <a:noFill/>
                </a:ln>
                <a:solidFill>
                  <a:srgbClr val="535353"/>
                </a:solidFill>
                <a:latin typeface="PFDinDisplayPro-Medium"/>
                <a:ea typeface="Open Sans"/>
                <a:cs typeface="Open Sans"/>
              </a:rPr>
              <a:t>Организация системы управления охраной труда</a:t>
            </a:r>
            <a:endParaRPr sz="2800" b="0" i="0" u="none" strike="noStrike" cap="none" spc="0">
              <a:ln>
                <a:noFill/>
              </a:ln>
              <a:solidFill>
                <a:srgbClr val="535353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9" name="Прямоугольник 8"/>
          <p:cNvSpPr/>
          <p:nvPr/>
        </p:nvSpPr>
        <p:spPr bwMode="auto">
          <a:xfrm>
            <a:off x="623392" y="1728538"/>
            <a:ext cx="6133543" cy="40273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600" b="1" i="0" u="none" strike="noStrike" cap="none" spc="0" dirty="0">
              <a:ln>
                <a:noFill/>
              </a:ln>
              <a:solidFill>
                <a:srgbClr val="535353"/>
              </a:solidFill>
            </a:endParaRPr>
          </a:p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600" b="1" i="0" u="none" strike="noStrike" cap="none" spc="0" dirty="0">
                <a:ln>
                  <a:noFill/>
                </a:ln>
                <a:solidFill>
                  <a:srgbClr val="535353"/>
                </a:solidFill>
              </a:rPr>
              <a:t>При контроле СУОТ, работодателю рекомендуется оценивать следующие показатели:</a:t>
            </a:r>
          </a:p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600" b="0" i="0" u="none" strike="noStrike" cap="none" spc="0" dirty="0">
              <a:ln>
                <a:noFill/>
              </a:ln>
              <a:solidFill>
                <a:srgbClr val="535353"/>
              </a:solidFill>
            </a:endParaRPr>
          </a:p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600" b="0" i="0" u="none" strike="noStrike" cap="none" spc="0" dirty="0">
              <a:ln>
                <a:noFill/>
              </a:ln>
              <a:solidFill>
                <a:srgbClr val="535353"/>
              </a:solidFill>
            </a:endParaRPr>
          </a:p>
          <a:p>
            <a:pPr lvl="0">
              <a:defRPr/>
            </a:pPr>
            <a:r>
              <a:rPr lang="ru-RU" sz="1600" dirty="0">
                <a:solidFill>
                  <a:srgbClr val="535353"/>
                </a:solidFill>
              </a:rPr>
              <a:t>1. Достижение целей в области охраны труда</a:t>
            </a:r>
          </a:p>
          <a:p>
            <a:pPr lvl="0">
              <a:defRPr/>
            </a:pPr>
            <a:r>
              <a:rPr lang="ru-RU" sz="1600" dirty="0">
                <a:solidFill>
                  <a:srgbClr val="535353"/>
                </a:solidFill>
              </a:rPr>
              <a:t>2. Способность СУОТ выполнять обязанности работодателя по Политике и целям</a:t>
            </a:r>
          </a:p>
          <a:p>
            <a:pPr lvl="0">
              <a:defRPr/>
            </a:pPr>
            <a:r>
              <a:rPr lang="ru-RU" sz="1600" dirty="0">
                <a:solidFill>
                  <a:srgbClr val="535353"/>
                </a:solidFill>
              </a:rPr>
              <a:t>3. Эффективность предыдущих корректирующих действий</a:t>
            </a:r>
          </a:p>
          <a:p>
            <a:pPr lvl="0">
              <a:defRPr/>
            </a:pPr>
            <a:r>
              <a:rPr lang="ru-RU" sz="1600" dirty="0">
                <a:solidFill>
                  <a:srgbClr val="535353"/>
                </a:solidFill>
              </a:rPr>
              <a:t>4. Необходимость развития (изменений) СУОТ, корректировки целей и перераспределения ресурсов</a:t>
            </a:r>
          </a:p>
          <a:p>
            <a:pPr lvl="0">
              <a:defRPr/>
            </a:pPr>
            <a:r>
              <a:rPr lang="ru-RU" sz="1600" dirty="0">
                <a:solidFill>
                  <a:srgbClr val="535353"/>
                </a:solidFill>
              </a:rPr>
              <a:t>5. Необходимость подготовки работников при изменениях СУОТ</a:t>
            </a:r>
          </a:p>
          <a:p>
            <a:pPr lvl="0">
              <a:defRPr/>
            </a:pPr>
            <a:r>
              <a:rPr lang="ru-RU" sz="1600" dirty="0">
                <a:solidFill>
                  <a:srgbClr val="535353"/>
                </a:solidFill>
              </a:rPr>
              <a:t>6. Необходимость изменения критериев оценки эффективности СУОТ</a:t>
            </a:r>
          </a:p>
          <a:p>
            <a:pPr lvl="0">
              <a:defRPr/>
            </a:pPr>
            <a:r>
              <a:rPr lang="ru-RU" sz="1600" dirty="0">
                <a:solidFill>
                  <a:srgbClr val="535353"/>
                </a:solidFill>
              </a:rPr>
              <a:t>7. Полноту идентификации опасностей и управления рисками для выработки корректирующих мер</a:t>
            </a:r>
            <a:endParaRPr sz="1800" b="0" i="0" u="none" strike="noStrike" cap="none" spc="0" dirty="0">
              <a:ln>
                <a:noFill/>
              </a:ln>
              <a:solidFill>
                <a:srgbClr val="535353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54" name="Picture 6" descr="Picture background">
            <a:extLst>
              <a:ext uri="{FF2B5EF4-FFF2-40B4-BE49-F238E27FC236}">
                <a16:creationId xmlns:a16="http://schemas.microsoft.com/office/drawing/2014/main" id="{702203B1-2E47-4520-9593-BA2FDD0296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80" y="2290676"/>
            <a:ext cx="5672026" cy="3783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Прямоугольник 11">
            <a:extLst>
              <a:ext uri="{FF2B5EF4-FFF2-40B4-BE49-F238E27FC236}">
                <a16:creationId xmlns:a16="http://schemas.microsoft.com/office/drawing/2014/main" id="{7420B13A-DC46-40D1-A8C2-57B7E4C82F8E}"/>
              </a:ext>
            </a:extLst>
          </p:cNvPr>
          <p:cNvSpPr/>
          <p:nvPr/>
        </p:nvSpPr>
        <p:spPr bwMode="auto">
          <a:xfrm flipH="1">
            <a:off x="5137450" y="-328864"/>
            <a:ext cx="7051375" cy="7357936"/>
          </a:xfrm>
          <a:custGeom>
            <a:avLst/>
            <a:gdLst>
              <a:gd name="connsiteX0" fmla="*/ 0 w 6095999"/>
              <a:gd name="connsiteY0" fmla="*/ 0 h 6858000"/>
              <a:gd name="connsiteX1" fmla="*/ 6095999 w 6095999"/>
              <a:gd name="connsiteY1" fmla="*/ 0 h 6858000"/>
              <a:gd name="connsiteX2" fmla="*/ 6095999 w 6095999"/>
              <a:gd name="connsiteY2" fmla="*/ 6858000 h 6858000"/>
              <a:gd name="connsiteX3" fmla="*/ 0 w 6095999"/>
              <a:gd name="connsiteY3" fmla="*/ 6858000 h 6858000"/>
              <a:gd name="connsiteX4" fmla="*/ 0 w 6095999"/>
              <a:gd name="connsiteY4" fmla="*/ 0 h 6858000"/>
              <a:gd name="connsiteX0" fmla="*/ 0 w 6095999"/>
              <a:gd name="connsiteY0" fmla="*/ 193524 h 7051524"/>
              <a:gd name="connsiteX1" fmla="*/ 6095999 w 6095999"/>
              <a:gd name="connsiteY1" fmla="*/ 193524 h 7051524"/>
              <a:gd name="connsiteX2" fmla="*/ 6095999 w 6095999"/>
              <a:gd name="connsiteY2" fmla="*/ 7051524 h 7051524"/>
              <a:gd name="connsiteX3" fmla="*/ 0 w 6095999"/>
              <a:gd name="connsiteY3" fmla="*/ 7051524 h 7051524"/>
              <a:gd name="connsiteX4" fmla="*/ 0 w 6095999"/>
              <a:gd name="connsiteY4" fmla="*/ 193524 h 7051524"/>
              <a:gd name="connsiteX0" fmla="*/ 0 w 6199211"/>
              <a:gd name="connsiteY0" fmla="*/ 193524 h 7051524"/>
              <a:gd name="connsiteX1" fmla="*/ 6095999 w 6199211"/>
              <a:gd name="connsiteY1" fmla="*/ 193524 h 7051524"/>
              <a:gd name="connsiteX2" fmla="*/ 6095999 w 6199211"/>
              <a:gd name="connsiteY2" fmla="*/ 7051524 h 7051524"/>
              <a:gd name="connsiteX3" fmla="*/ 0 w 6199211"/>
              <a:gd name="connsiteY3" fmla="*/ 7051524 h 7051524"/>
              <a:gd name="connsiteX4" fmla="*/ 0 w 6199211"/>
              <a:gd name="connsiteY4" fmla="*/ 193524 h 7051524"/>
              <a:gd name="connsiteX0" fmla="*/ 0 w 6152579"/>
              <a:gd name="connsiteY0" fmla="*/ 193524 h 7051524"/>
              <a:gd name="connsiteX1" fmla="*/ 6095999 w 6152579"/>
              <a:gd name="connsiteY1" fmla="*/ 193524 h 7051524"/>
              <a:gd name="connsiteX2" fmla="*/ 6095999 w 6152579"/>
              <a:gd name="connsiteY2" fmla="*/ 7051524 h 7051524"/>
              <a:gd name="connsiteX3" fmla="*/ 0 w 6152579"/>
              <a:gd name="connsiteY3" fmla="*/ 7051524 h 7051524"/>
              <a:gd name="connsiteX4" fmla="*/ 0 w 6152579"/>
              <a:gd name="connsiteY4" fmla="*/ 193524 h 7051524"/>
              <a:gd name="connsiteX0" fmla="*/ 0 w 6152579"/>
              <a:gd name="connsiteY0" fmla="*/ 193524 h 7225695"/>
              <a:gd name="connsiteX1" fmla="*/ 6095999 w 6152579"/>
              <a:gd name="connsiteY1" fmla="*/ 193524 h 7225695"/>
              <a:gd name="connsiteX2" fmla="*/ 6095999 w 6152579"/>
              <a:gd name="connsiteY2" fmla="*/ 7051524 h 7225695"/>
              <a:gd name="connsiteX3" fmla="*/ 0 w 6152579"/>
              <a:gd name="connsiteY3" fmla="*/ 7051524 h 7225695"/>
              <a:gd name="connsiteX4" fmla="*/ 0 w 6152579"/>
              <a:gd name="connsiteY4" fmla="*/ 193524 h 7225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52579" h="7225695" extrusionOk="0">
                <a:moveTo>
                  <a:pt x="0" y="193524"/>
                </a:moveTo>
                <a:cubicBezTo>
                  <a:pt x="2032000" y="193524"/>
                  <a:pt x="4165599" y="-241905"/>
                  <a:pt x="6095999" y="193524"/>
                </a:cubicBezTo>
                <a:cubicBezTo>
                  <a:pt x="6328228" y="2566610"/>
                  <a:pt x="5747656" y="4910667"/>
                  <a:pt x="6095999" y="7051524"/>
                </a:cubicBezTo>
                <a:cubicBezTo>
                  <a:pt x="4049484" y="7443410"/>
                  <a:pt x="2032000" y="7051524"/>
                  <a:pt x="0" y="7051524"/>
                </a:cubicBezTo>
                <a:lnTo>
                  <a:pt x="0" y="193524"/>
                </a:lnTo>
                <a:close/>
              </a:path>
            </a:pathLst>
          </a:custGeom>
          <a:solidFill>
            <a:srgbClr val="E6E6E6"/>
          </a:solidFill>
          <a:ln w="12700" cap="flat" cmpd="sng" algn="ctr">
            <a:solidFill>
              <a:srgbClr val="E6E6E6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285750" marR="0" lvl="0" indent="-28575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ru-RU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3174" y="3113533"/>
            <a:ext cx="452551" cy="63094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1750">
                <a:solidFill>
                  <a:srgbClr val="FFFFFF"/>
                </a:solidFill>
              </a:defRPr>
            </a:lvl1pPr>
          </a:lstStyle>
          <a:p>
            <a:pPr marL="0" marR="0" lvl="0" indent="0" algn="ct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sz="1750" b="0" i="0" u="none" strike="noStrike" cap="none" spc="0">
                <a:ln>
                  <a:noFill/>
                </a:ln>
                <a:solidFill>
                  <a:srgbClr val="FFFFFF"/>
                </a:solidFill>
                <a:latin typeface="Open Sans Light"/>
                <a:cs typeface="Calibri"/>
              </a:rPr>
              <a:t>22</a:t>
            </a:fld>
            <a:endParaRPr sz="175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1030625" y="888595"/>
            <a:ext cx="10117667" cy="446276"/>
          </a:xfrm>
          <a:prstGeom prst="rect">
            <a:avLst/>
          </a:prstGeom>
          <a:ln w="12700">
            <a:miter lim="400000"/>
          </a:ln>
        </p:spPr>
        <p:txBody>
          <a:bodyPr wrap="square" lIns="22860" rIns="2286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457200">
              <a:defRPr/>
            </a:pPr>
            <a:r>
              <a:rPr lang="ru-RU" sz="230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</a:rPr>
              <a:t>УЛУЧШЕНИЕ ФУНКЦИОНИРОВАНИЯ СУОТ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1030633" y="1302335"/>
            <a:ext cx="6171777" cy="36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22860" rIns="22860" anchor="ctr"/>
          <a:lstStyle/>
          <a:p>
            <a:pPr marL="0" marR="0" lvl="0" indent="0" algn="l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175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5" name="Подзаголовок 2"/>
          <p:cNvSpPr txBox="1"/>
          <p:nvPr/>
        </p:nvSpPr>
        <p:spPr bwMode="auto">
          <a:xfrm>
            <a:off x="911424" y="1338335"/>
            <a:ext cx="3456384" cy="286312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Autofit/>
          </a:bodyPr>
          <a:lstStyle>
            <a:lvl1pPr marL="0" marR="0" indent="0" algn="r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2286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4572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6858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9144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11430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13716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16002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182880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100" b="0" i="0" u="none" strike="noStrike" cap="none" spc="0">
                <a:ln>
                  <a:noFill/>
                </a:ln>
                <a:solidFill>
                  <a:srgbClr val="535353"/>
                </a:solidFill>
                <a:latin typeface="PFDinDisplayPro-Medium"/>
                <a:ea typeface="Open Sans"/>
                <a:cs typeface="Open Sans"/>
              </a:rPr>
              <a:t>Организация системы управления охраной труда</a:t>
            </a:r>
            <a:endParaRPr sz="2800" b="0" i="0" u="none" strike="noStrike" cap="none" spc="0">
              <a:ln>
                <a:noFill/>
              </a:ln>
              <a:solidFill>
                <a:srgbClr val="535353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7" name="Прямоугольник 6"/>
          <p:cNvSpPr/>
          <p:nvPr/>
        </p:nvSpPr>
        <p:spPr bwMode="auto">
          <a:xfrm>
            <a:off x="6034845" y="1764922"/>
            <a:ext cx="5256584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600" b="1" i="0" u="none" strike="noStrike" cap="none" spc="0" dirty="0">
                <a:ln>
                  <a:noFill/>
                </a:ln>
                <a:solidFill>
                  <a:srgbClr val="535353"/>
                </a:solidFill>
              </a:rPr>
              <a:t>Процесс формирования корректирующих действий по совершенствованию функционирования направлен на повышение эффективности и результативности СУОТ путем:</a:t>
            </a:r>
            <a:endParaRPr lang="ru-RU" sz="1600" b="0" i="0" u="none" strike="noStrike" cap="none" spc="0" dirty="0">
              <a:ln>
                <a:noFill/>
              </a:ln>
              <a:solidFill>
                <a:srgbClr val="535353"/>
              </a:solidFill>
            </a:endParaRPr>
          </a:p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600" b="0" i="0" u="none" strike="noStrike" cap="none" spc="0" dirty="0">
                <a:ln>
                  <a:noFill/>
                </a:ln>
                <a:solidFill>
                  <a:srgbClr val="535353"/>
                </a:solidFill>
              </a:rPr>
              <a:t> </a:t>
            </a:r>
            <a:endParaRPr sz="1800" b="0" i="0" u="none" strike="noStrike" cap="none" spc="0" dirty="0">
              <a:ln>
                <a:noFill/>
              </a:ln>
              <a:solidFill>
                <a:srgbClr val="535353"/>
              </a:solidFill>
            </a:endParaRPr>
          </a:p>
          <a:p>
            <a:pPr lvl="0">
              <a:defRPr/>
            </a:pPr>
            <a:r>
              <a:rPr lang="ru-RU" sz="1600" dirty="0">
                <a:solidFill>
                  <a:srgbClr val="535353"/>
                </a:solidFill>
              </a:rPr>
              <a:t>✅ улучшения </a:t>
            </a:r>
            <a:r>
              <a:rPr lang="ru-RU" sz="1600" b="0" i="0" u="none" strike="noStrike" cap="none" spc="0" dirty="0">
                <a:ln>
                  <a:noFill/>
                </a:ln>
                <a:solidFill>
                  <a:srgbClr val="535353"/>
                </a:solidFill>
              </a:rPr>
              <a:t>показателей деятельности организации в области охраны труда;</a:t>
            </a:r>
            <a:endParaRPr sz="1800" b="0" i="0" u="none" strike="noStrike" cap="none" spc="0" dirty="0">
              <a:ln>
                <a:noFill/>
              </a:ln>
              <a:solidFill>
                <a:srgbClr val="535353"/>
              </a:solidFill>
            </a:endParaRPr>
          </a:p>
          <a:p>
            <a:pPr marL="285750" marR="0" lvl="0" indent="-28575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/>
              <a:buChar char="q"/>
              <a:defRPr/>
            </a:pPr>
            <a:endParaRPr lang="ru-RU" sz="1600" b="0" i="0" u="none" strike="noStrike" cap="none" spc="0" dirty="0">
              <a:ln>
                <a:noFill/>
              </a:ln>
              <a:solidFill>
                <a:srgbClr val="535353"/>
              </a:solidFill>
            </a:endParaRPr>
          </a:p>
          <a:p>
            <a:pPr lvl="0">
              <a:defRPr/>
            </a:pPr>
            <a:r>
              <a:rPr lang="ru-RU" sz="1600" dirty="0">
                <a:solidFill>
                  <a:srgbClr val="535353"/>
                </a:solidFill>
              </a:rPr>
              <a:t>✅ поддержки </a:t>
            </a:r>
            <a:r>
              <a:rPr lang="ru-RU" sz="1600" b="0" i="0" u="none" strike="noStrike" cap="none" spc="0" dirty="0">
                <a:ln>
                  <a:noFill/>
                </a:ln>
                <a:solidFill>
                  <a:srgbClr val="535353"/>
                </a:solidFill>
              </a:rPr>
              <a:t>участия работников в реализации мероприятий по постоянному улучшению СУОТ;</a:t>
            </a:r>
            <a:endParaRPr sz="1800" b="0" i="0" u="none" strike="noStrike" cap="none" spc="0" dirty="0">
              <a:ln>
                <a:noFill/>
              </a:ln>
              <a:solidFill>
                <a:srgbClr val="535353"/>
              </a:solidFill>
            </a:endParaRPr>
          </a:p>
          <a:p>
            <a:pPr marL="285750" marR="0" lvl="0" indent="-28575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/>
              <a:buChar char="q"/>
              <a:defRPr/>
            </a:pPr>
            <a:endParaRPr lang="ru-RU" sz="1600" b="0" i="0" u="none" strike="noStrike" cap="none" spc="0" dirty="0">
              <a:ln>
                <a:noFill/>
              </a:ln>
              <a:solidFill>
                <a:srgbClr val="535353"/>
              </a:solidFill>
            </a:endParaRPr>
          </a:p>
          <a:p>
            <a:pPr lvl="0">
              <a:defRPr/>
            </a:pPr>
            <a:r>
              <a:rPr lang="ru-RU" sz="1600" dirty="0">
                <a:solidFill>
                  <a:srgbClr val="535353"/>
                </a:solidFill>
              </a:rPr>
              <a:t>✅ доведения </a:t>
            </a:r>
            <a:r>
              <a:rPr lang="ru-RU" sz="1600" b="0" i="0" u="none" strike="noStrike" cap="none" spc="0" dirty="0">
                <a:ln>
                  <a:noFill/>
                </a:ln>
                <a:solidFill>
                  <a:srgbClr val="535353"/>
                </a:solidFill>
              </a:rPr>
              <a:t>до сведения работников информации о соответствующих результатах деятельности организации по постоянному улучшению СУОТ.</a:t>
            </a:r>
            <a:endParaRPr sz="1800" b="0" i="0" u="none" strike="noStrike" cap="none" spc="0" dirty="0">
              <a:ln>
                <a:noFill/>
              </a:ln>
              <a:solidFill>
                <a:srgbClr val="535353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Rectangle 13"/>
          <p:cNvSpPr/>
          <p:nvPr/>
        </p:nvSpPr>
        <p:spPr bwMode="auto">
          <a:xfrm>
            <a:off x="3175" y="0"/>
            <a:ext cx="12185650" cy="6858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22860" rIns="22860" anchor="ctr"/>
          <a:lstStyle/>
          <a:p>
            <a:pPr marL="0" marR="0" lvl="0" indent="0" algn="ct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175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937" name="Rectangle 10"/>
          <p:cNvSpPr/>
          <p:nvPr/>
        </p:nvSpPr>
        <p:spPr bwMode="auto">
          <a:xfrm>
            <a:off x="3175" y="0"/>
            <a:ext cx="3717757" cy="6858000"/>
          </a:xfrm>
          <a:prstGeom prst="rect">
            <a:avLst/>
          </a:prstGeom>
          <a:solidFill>
            <a:srgbClr val="6F6F6F">
              <a:alpha val="50195"/>
            </a:srgbClr>
          </a:solidFill>
          <a:ln w="12700">
            <a:miter lim="400000"/>
          </a:ln>
        </p:spPr>
        <p:txBody>
          <a:bodyPr lIns="22860" rIns="22860" anchor="ctr"/>
          <a:lstStyle/>
          <a:p>
            <a:pPr marL="0" marR="0" lvl="0" indent="0" algn="ctr" defTabSz="91421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600">
                <a:solidFill>
                  <a:srgbClr val="FFFFFF"/>
                </a:solidFill>
              </a:defRPr>
            </a:pPr>
            <a:endParaRPr sz="43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10" name="Text Placeholder 1"/>
          <p:cNvSpPr txBox="1"/>
          <p:nvPr/>
        </p:nvSpPr>
        <p:spPr bwMode="auto">
          <a:xfrm>
            <a:off x="4610722" y="2675890"/>
            <a:ext cx="7005544" cy="1506220"/>
          </a:xfrm>
          <a:prstGeom prst="rect">
            <a:avLst/>
          </a:prstGeom>
          <a:ln w="12700">
            <a:miter lim="400000"/>
          </a:ln>
        </p:spPr>
        <p:txBody>
          <a:bodyPr lIns="36000" tIns="36000" rIns="36000" bIns="36000" anchor="ctr">
            <a:normAutofit/>
          </a:bodyPr>
          <a:lstStyle/>
          <a:p>
            <a:pPr marL="0" marR="0" lvl="0" indent="0" algn="l" defTabSz="457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3300" b="1" i="0" u="none" strike="noStrike" cap="none" spc="150">
                <a:ln>
                  <a:noFill/>
                </a:ln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rPr>
              <a:t>БЛАГОДАРИМ ЗА ВНИМАНИЕ</a:t>
            </a:r>
            <a:endParaRPr sz="3600" b="0" i="0" u="none" strike="noStrike" cap="none" spc="150">
              <a:ln>
                <a:noFill/>
              </a:ln>
              <a:solidFill>
                <a:srgbClr val="4D4D4D"/>
              </a:solidFill>
              <a:latin typeface="Montserrat Semi 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3_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14_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828</TotalTime>
  <Words>1479</Words>
  <Application>Microsoft Office PowerPoint</Application>
  <DocSecurity>0</DocSecurity>
  <PresentationFormat>Широкоэкранный</PresentationFormat>
  <Paragraphs>300</Paragraphs>
  <Slides>23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12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23</vt:i4>
      </vt:variant>
    </vt:vector>
  </HeadingPairs>
  <TitlesOfParts>
    <vt:vector size="38" baseType="lpstr">
      <vt:lpstr>Arial</vt:lpstr>
      <vt:lpstr>Calibri</vt:lpstr>
      <vt:lpstr>Calibri Light</vt:lpstr>
      <vt:lpstr>Montserrat Light</vt:lpstr>
      <vt:lpstr>Montserrat Semi Bold</vt:lpstr>
      <vt:lpstr>Montserrat SemiBold</vt:lpstr>
      <vt:lpstr>Open Sans</vt:lpstr>
      <vt:lpstr>Open Sans Light</vt:lpstr>
      <vt:lpstr>Open Sans SemiBold</vt:lpstr>
      <vt:lpstr>PFDinDisplayPro-Medium</vt:lpstr>
      <vt:lpstr>PFDinDisplayPro-Regular</vt:lpstr>
      <vt:lpstr>Wingdings</vt:lpstr>
      <vt:lpstr>13_Office Theme</vt:lpstr>
      <vt:lpstr>14_Office Theme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Пожарно-технический минимум для руководителей и специалистов, ответственных за пожарную безопасность пожароопасных производств</dc:title>
  <dc:subject/>
  <dc:creator>Анастасия Гаврикова</dc:creator>
  <cp:keywords/>
  <dc:description/>
  <cp:lastModifiedBy>Lukina Marina</cp:lastModifiedBy>
  <cp:revision>408</cp:revision>
  <dcterms:created xsi:type="dcterms:W3CDTF">2020-06-09T07:17:24Z</dcterms:created>
  <dcterms:modified xsi:type="dcterms:W3CDTF">2026-08-05T09:10:46Z</dcterms:modified>
  <cp:category/>
  <dc:identifier/>
  <cp:contentStatus/>
  <dc:language/>
  <cp:version/>
</cp:coreProperties>
</file>