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701" r:id="rId2"/>
    <p:sldMasterId id="2147483754" r:id="rId3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24384000" cy="13716000"/>
  <p:notesSz cx="24384000" cy="13716000"/>
  <p:defaultTextStyle>
    <a:def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1pPr>
    <a:lvl2pPr marL="0" marR="0" indent="457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2pPr>
    <a:lvl3pPr marL="0" marR="0" indent="914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3pPr>
    <a:lvl4pPr marL="0" marR="0" indent="1371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4pPr>
    <a:lvl5pPr marL="0" marR="0" indent="18288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5pPr>
    <a:lvl6pPr marL="0" marR="0" indent="22860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6pPr>
    <a:lvl7pPr marL="0" marR="0" indent="2743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7pPr>
    <a:lvl8pPr marL="0" marR="0" indent="3200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8pPr>
    <a:lvl9pPr marL="0" marR="0" indent="3657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48" y="1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647DC6-65B3-4758-A565-E1E1C161EF32}" type="doc">
      <dgm:prSet loTypeId="urn:microsoft.com/office/officeart/2005/8/layout/default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73305C91-F945-4434-B103-263B68697063}">
      <dgm:prSet custT="1"/>
      <dgm:spPr/>
      <dgm:t>
        <a:bodyPr/>
        <a:lstStyle/>
        <a:p>
          <a:r>
            <a:rPr lang="ru-RU" sz="2400" b="1" i="0" dirty="0">
              <a:latin typeface="Open Sans" pitchFamily="2" charset="0"/>
              <a:ea typeface="Open Sans" pitchFamily="2" charset="0"/>
              <a:cs typeface="Open Sans" pitchFamily="2" charset="0"/>
            </a:rPr>
            <a:t>ПО РАЗМЕРУ</a:t>
          </a:r>
          <a:r>
            <a:rPr lang="ru-RU" sz="2400" b="0" i="0" dirty="0">
              <a:latin typeface="Open Sans" pitchFamily="2" charset="0"/>
              <a:ea typeface="Open Sans" pitchFamily="2" charset="0"/>
              <a:cs typeface="Open Sans" pitchFamily="2" charset="0"/>
            </a:rPr>
            <a:t>:</a:t>
          </a:r>
          <a:endParaRPr lang="ru-RU" sz="2400" dirty="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847B1587-9E19-47C5-90BD-A8F75601999B}" type="parTrans" cxnId="{1B08867B-5734-4D87-BB05-928202ACF1D4}">
      <dgm:prSet/>
      <dgm:spPr/>
      <dgm:t>
        <a:bodyPr/>
        <a:lstStyle/>
        <a:p>
          <a:endParaRPr lang="ru-RU" sz="200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60901471-F30E-480F-A719-8EFC73F635FF}" type="sibTrans" cxnId="{1B08867B-5734-4D87-BB05-928202ACF1D4}">
      <dgm:prSet/>
      <dgm:spPr/>
      <dgm:t>
        <a:bodyPr/>
        <a:lstStyle/>
        <a:p>
          <a:endParaRPr lang="ru-RU" sz="200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899A3072-7EA9-4D1B-8F00-59872A0A5533}">
      <dgm:prSet custT="1"/>
      <dgm:spPr/>
      <dgm:t>
        <a:bodyPr/>
        <a:lstStyle/>
        <a:p>
          <a:r>
            <a:rPr lang="ru-RU" sz="2000" b="0" i="0" dirty="0">
              <a:latin typeface="Open Sans" pitchFamily="2" charset="0"/>
              <a:ea typeface="Open Sans" pitchFamily="2" charset="0"/>
              <a:cs typeface="Open Sans" pitchFamily="2" charset="0"/>
            </a:rPr>
            <a:t>взрослый — ребёнок — младенец; </a:t>
          </a:r>
          <a:endParaRPr lang="ru-RU" sz="2000" dirty="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47251D95-E88F-4D7C-BAB2-A2E1862A3FBF}" type="parTrans" cxnId="{3B2FF82A-A8B1-44C2-900A-8A9850FA27A8}">
      <dgm:prSet/>
      <dgm:spPr/>
      <dgm:t>
        <a:bodyPr/>
        <a:lstStyle/>
        <a:p>
          <a:endParaRPr lang="ru-RU" sz="200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FBC96917-BF3E-4CBC-87B3-04092893BDF1}" type="sibTrans" cxnId="{3B2FF82A-A8B1-44C2-900A-8A9850FA27A8}">
      <dgm:prSet/>
      <dgm:spPr/>
      <dgm:t>
        <a:bodyPr/>
        <a:lstStyle/>
        <a:p>
          <a:endParaRPr lang="ru-RU" sz="200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66AD24FF-BA17-4855-8208-DA552F221CE2}">
      <dgm:prSet custT="1"/>
      <dgm:spPr/>
      <dgm:t>
        <a:bodyPr/>
        <a:lstStyle/>
        <a:p>
          <a:r>
            <a:rPr lang="ru-RU" sz="2000" b="0" i="0" dirty="0">
              <a:latin typeface="Open Sans" pitchFamily="2" charset="0"/>
              <a:ea typeface="Open Sans" pitchFamily="2" charset="0"/>
              <a:cs typeface="Open Sans" pitchFamily="2" charset="0"/>
            </a:rPr>
            <a:t>тело с конечностями, торс — голова.</a:t>
          </a:r>
          <a:endParaRPr lang="ru-RU" sz="2000" dirty="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F255E62F-E7D8-4C50-BC77-5ADE77241E21}" type="parTrans" cxnId="{4D0A01C5-4660-4AB6-9B7E-BE8D4DC78B87}">
      <dgm:prSet/>
      <dgm:spPr/>
      <dgm:t>
        <a:bodyPr/>
        <a:lstStyle/>
        <a:p>
          <a:endParaRPr lang="ru-RU" sz="200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1D557039-4CBB-433B-ACF8-A9FAF85FF80E}" type="sibTrans" cxnId="{4D0A01C5-4660-4AB6-9B7E-BE8D4DC78B87}">
      <dgm:prSet/>
      <dgm:spPr/>
      <dgm:t>
        <a:bodyPr/>
        <a:lstStyle/>
        <a:p>
          <a:endParaRPr lang="ru-RU" sz="200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3A32EBAE-4DC3-4F43-A12E-48B08489DCFA}">
      <dgm:prSet custT="1"/>
      <dgm:spPr/>
      <dgm:t>
        <a:bodyPr/>
        <a:lstStyle/>
        <a:p>
          <a:r>
            <a:rPr lang="ru-RU" sz="2400" b="1" i="0" dirty="0">
              <a:latin typeface="Open Sans" pitchFamily="2" charset="0"/>
              <a:ea typeface="Open Sans" pitchFamily="2" charset="0"/>
              <a:cs typeface="Open Sans" pitchFamily="2" charset="0"/>
            </a:rPr>
            <a:t>ПО ФУНКЦИОНАЛЬНОСТИ И НАЛИЧИЮ ДОПОЛНИТЕЛЬНЫХ ПРИСПОСОБЛЕНИЙ</a:t>
          </a:r>
          <a:r>
            <a:rPr lang="ru-RU" sz="2400" b="0" i="0" dirty="0">
              <a:latin typeface="Open Sans" pitchFamily="2" charset="0"/>
              <a:ea typeface="Open Sans" pitchFamily="2" charset="0"/>
              <a:cs typeface="Open Sans" pitchFamily="2" charset="0"/>
            </a:rPr>
            <a:t>:</a:t>
          </a:r>
          <a:endParaRPr lang="ru-RU" sz="2400" dirty="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8F2552C6-822D-4518-AA4E-72B509C6B0D5}" type="parTrans" cxnId="{5E66D512-3BE8-4C46-B925-E2782B7D7F2D}">
      <dgm:prSet/>
      <dgm:spPr/>
      <dgm:t>
        <a:bodyPr/>
        <a:lstStyle/>
        <a:p>
          <a:endParaRPr lang="ru-RU" sz="200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D6AF63FA-2AB3-4F45-A1CF-F6C63C1D1CD5}" type="sibTrans" cxnId="{5E66D512-3BE8-4C46-B925-E2782B7D7F2D}">
      <dgm:prSet/>
      <dgm:spPr/>
      <dgm:t>
        <a:bodyPr/>
        <a:lstStyle/>
        <a:p>
          <a:endParaRPr lang="ru-RU" sz="200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479A0A6D-6C47-4B70-BFDE-E3365FA54399}">
      <dgm:prSet custT="1"/>
      <dgm:spPr/>
      <dgm:t>
        <a:bodyPr/>
        <a:lstStyle/>
        <a:p>
          <a:r>
            <a:rPr lang="ru-RU" sz="2000" b="0" i="0" dirty="0">
              <a:latin typeface="Open Sans" pitchFamily="2" charset="0"/>
              <a:ea typeface="Open Sans" pitchFamily="2" charset="0"/>
              <a:cs typeface="Open Sans" pitchFamily="2" charset="0"/>
            </a:rPr>
            <a:t>простые пружинно-механические;</a:t>
          </a:r>
          <a:endParaRPr lang="ru-RU" sz="2000" dirty="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4A571B28-9037-4DAC-B0B3-929A94E2E7AE}" type="parTrans" cxnId="{D84B6372-BBAA-429B-8E06-8CB7F51F1089}">
      <dgm:prSet/>
      <dgm:spPr/>
      <dgm:t>
        <a:bodyPr/>
        <a:lstStyle/>
        <a:p>
          <a:endParaRPr lang="ru-RU" sz="200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9E425A65-B82A-413D-84E8-B6D1CC80EFB2}" type="sibTrans" cxnId="{D84B6372-BBAA-429B-8E06-8CB7F51F1089}">
      <dgm:prSet/>
      <dgm:spPr/>
      <dgm:t>
        <a:bodyPr/>
        <a:lstStyle/>
        <a:p>
          <a:endParaRPr lang="ru-RU" sz="200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613AE5B9-A823-4A78-B591-451406CC871F}">
      <dgm:prSet custT="1"/>
      <dgm:spPr/>
      <dgm:t>
        <a:bodyPr/>
        <a:lstStyle/>
        <a:p>
          <a:r>
            <a:rPr lang="ru-RU" sz="2000" b="0" i="0" dirty="0">
              <a:latin typeface="Open Sans" pitchFamily="2" charset="0"/>
              <a:ea typeface="Open Sans" pitchFamily="2" charset="0"/>
              <a:cs typeface="Open Sans" pitchFamily="2" charset="0"/>
            </a:rPr>
            <a:t>более сложные, снабжённые электронными компонентами индикации и компьютерным комплексом.</a:t>
          </a:r>
          <a:endParaRPr lang="ru-RU" sz="2000" dirty="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1AC11D7F-B62B-455B-9218-16B9A48D9146}" type="parTrans" cxnId="{26A79977-6389-4A69-9C49-09FAE8FD96B0}">
      <dgm:prSet/>
      <dgm:spPr/>
      <dgm:t>
        <a:bodyPr/>
        <a:lstStyle/>
        <a:p>
          <a:endParaRPr lang="ru-RU" sz="200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23BFBB4D-386F-43AE-A778-9D553F732255}" type="sibTrans" cxnId="{26A79977-6389-4A69-9C49-09FAE8FD96B0}">
      <dgm:prSet/>
      <dgm:spPr/>
      <dgm:t>
        <a:bodyPr/>
        <a:lstStyle/>
        <a:p>
          <a:endParaRPr lang="ru-RU" sz="200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67C37EEE-117D-4F38-AE54-13DA401E1E8F}">
      <dgm:prSet custT="1"/>
      <dgm:spPr/>
      <dgm:t>
        <a:bodyPr/>
        <a:lstStyle/>
        <a:p>
          <a:r>
            <a:rPr lang="ru-RU" sz="2400" b="1" i="0" dirty="0">
              <a:latin typeface="Open Sans" pitchFamily="2" charset="0"/>
              <a:ea typeface="Open Sans" pitchFamily="2" charset="0"/>
              <a:cs typeface="Open Sans" pitchFamily="2" charset="0"/>
            </a:rPr>
            <a:t>ТРЕНАЖЁРЫ ПРЕДНАЗНАЧЕНЫ ДЛЯ ОБУЧЕНИЯ ПРИЁМАМ:</a:t>
          </a:r>
          <a:endParaRPr lang="ru-RU" sz="2400" dirty="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7761A345-5797-499D-898D-5684BFE2D1CF}" type="parTrans" cxnId="{80A0D6C2-0AA9-476A-AEB8-A0A89C617611}">
      <dgm:prSet/>
      <dgm:spPr/>
      <dgm:t>
        <a:bodyPr/>
        <a:lstStyle/>
        <a:p>
          <a:endParaRPr lang="ru-RU" sz="200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1C4A62F6-4C41-4BB2-9A49-9C1D243E4D93}" type="sibTrans" cxnId="{80A0D6C2-0AA9-476A-AEB8-A0A89C617611}">
      <dgm:prSet/>
      <dgm:spPr/>
      <dgm:t>
        <a:bodyPr/>
        <a:lstStyle/>
        <a:p>
          <a:endParaRPr lang="ru-RU" sz="200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426D00D8-9F04-41B0-9CCA-141428B7A355}">
      <dgm:prSet custT="1"/>
      <dgm:spPr/>
      <dgm:t>
        <a:bodyPr/>
        <a:lstStyle/>
        <a:p>
          <a:r>
            <a:rPr lang="ru-RU" sz="2000" b="0" i="0" dirty="0">
              <a:latin typeface="Open Sans" pitchFamily="2" charset="0"/>
              <a:ea typeface="Open Sans" pitchFamily="2" charset="0"/>
              <a:cs typeface="Open Sans" pitchFamily="2" charset="0"/>
            </a:rPr>
            <a:t>сердечно-лёгочной реанимации;</a:t>
          </a:r>
          <a:endParaRPr lang="ru-RU" sz="2000" dirty="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4405D918-E2A5-4137-A496-7E4739E193BC}" type="parTrans" cxnId="{36A1143D-D49A-4DFA-97A4-C9A1F5C6777D}">
      <dgm:prSet/>
      <dgm:spPr/>
      <dgm:t>
        <a:bodyPr/>
        <a:lstStyle/>
        <a:p>
          <a:endParaRPr lang="ru-RU" sz="200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EF5643A7-6B50-4924-A813-F5582A114559}" type="sibTrans" cxnId="{36A1143D-D49A-4DFA-97A4-C9A1F5C6777D}">
      <dgm:prSet/>
      <dgm:spPr/>
      <dgm:t>
        <a:bodyPr/>
        <a:lstStyle/>
        <a:p>
          <a:endParaRPr lang="ru-RU" sz="200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3BBDC4DE-7B3F-4F30-9664-987E36451705}">
      <dgm:prSet custT="1"/>
      <dgm:spPr/>
      <dgm:t>
        <a:bodyPr/>
        <a:lstStyle/>
        <a:p>
          <a:r>
            <a:rPr lang="ru-RU" sz="2000" b="0" i="0" dirty="0">
              <a:latin typeface="Open Sans" pitchFamily="2" charset="0"/>
              <a:ea typeface="Open Sans" pitchFamily="2" charset="0"/>
              <a:cs typeface="Open Sans" pitchFamily="2" charset="0"/>
            </a:rPr>
            <a:t>удаления инородных предметов из верхних дыхательных путей; </a:t>
          </a:r>
          <a:endParaRPr lang="ru-RU" sz="2000" dirty="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53639017-22C1-4DA9-A86C-BDD8914F09EB}" type="parTrans" cxnId="{C6AD88CC-398D-4875-8DBB-35A7F66F152C}">
      <dgm:prSet/>
      <dgm:spPr/>
      <dgm:t>
        <a:bodyPr/>
        <a:lstStyle/>
        <a:p>
          <a:endParaRPr lang="ru-RU" sz="200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2977D42A-087E-4F40-9479-F2F99B037965}" type="sibTrans" cxnId="{C6AD88CC-398D-4875-8DBB-35A7F66F152C}">
      <dgm:prSet/>
      <dgm:spPr/>
      <dgm:t>
        <a:bodyPr/>
        <a:lstStyle/>
        <a:p>
          <a:endParaRPr lang="ru-RU" sz="200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2731EAFE-16F9-4F8A-A74F-49222458C299}">
      <dgm:prSet custT="1"/>
      <dgm:spPr/>
      <dgm:t>
        <a:bodyPr/>
        <a:lstStyle/>
        <a:p>
          <a:r>
            <a:rPr lang="ru-RU" sz="2000" b="0" i="0">
              <a:latin typeface="Open Sans" pitchFamily="2" charset="0"/>
              <a:ea typeface="Open Sans" pitchFamily="2" charset="0"/>
              <a:cs typeface="Open Sans" pitchFamily="2" charset="0"/>
            </a:rPr>
            <a:t>проведению реанимации после утопления; </a:t>
          </a:r>
          <a:endParaRPr lang="ru-RU" sz="200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1EAEA64E-B11C-47D0-BBE5-ADB031E34F6D}" type="parTrans" cxnId="{2E117FC6-1DF7-4334-BDB9-0616D447442B}">
      <dgm:prSet/>
      <dgm:spPr/>
      <dgm:t>
        <a:bodyPr/>
        <a:lstStyle/>
        <a:p>
          <a:endParaRPr lang="ru-RU" sz="200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78C13FD6-4459-4FCA-9CBA-F6441008BE97}" type="sibTrans" cxnId="{2E117FC6-1DF7-4334-BDB9-0616D447442B}">
      <dgm:prSet/>
      <dgm:spPr/>
      <dgm:t>
        <a:bodyPr/>
        <a:lstStyle/>
        <a:p>
          <a:endParaRPr lang="ru-RU" sz="200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D7FEC1EC-0AE8-466C-A9EA-91587692BB22}">
      <dgm:prSet custT="1"/>
      <dgm:spPr/>
      <dgm:t>
        <a:bodyPr/>
        <a:lstStyle/>
        <a:p>
          <a:r>
            <a:rPr lang="ru-RU" sz="2000" b="0" i="0">
              <a:latin typeface="Open Sans" pitchFamily="2" charset="0"/>
              <a:ea typeface="Open Sans" pitchFamily="2" charset="0"/>
              <a:cs typeface="Open Sans" pitchFamily="2" charset="0"/>
            </a:rPr>
            <a:t>оказанию первой помощи при травмах, кровотечениях и прочим манипуляциям. </a:t>
          </a:r>
          <a:endParaRPr lang="ru-RU" sz="200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4AEC89C4-6422-494F-80FB-551B4F0417DF}" type="parTrans" cxnId="{38CDEB75-EDDD-4E2F-B2C9-BF42103EDEB8}">
      <dgm:prSet/>
      <dgm:spPr/>
      <dgm:t>
        <a:bodyPr/>
        <a:lstStyle/>
        <a:p>
          <a:endParaRPr lang="ru-RU" sz="200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C807C566-54E4-482F-94B7-DBFDE36D710F}" type="sibTrans" cxnId="{38CDEB75-EDDD-4E2F-B2C9-BF42103EDEB8}">
      <dgm:prSet/>
      <dgm:spPr/>
      <dgm:t>
        <a:bodyPr/>
        <a:lstStyle/>
        <a:p>
          <a:endParaRPr lang="ru-RU" sz="200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3BED73DB-B672-43DB-963D-32CC89B4DCAB}" type="pres">
      <dgm:prSet presAssocID="{57647DC6-65B3-4758-A565-E1E1C161EF32}" presName="diagram" presStyleCnt="0">
        <dgm:presLayoutVars>
          <dgm:dir/>
          <dgm:resizeHandles val="exact"/>
        </dgm:presLayoutVars>
      </dgm:prSet>
      <dgm:spPr/>
    </dgm:pt>
    <dgm:pt modelId="{CD49E106-EAE8-4A2C-8856-74C890BF0410}" type="pres">
      <dgm:prSet presAssocID="{73305C91-F945-4434-B103-263B68697063}" presName="node" presStyleLbl="node1" presStyleIdx="0" presStyleCnt="3">
        <dgm:presLayoutVars>
          <dgm:bulletEnabled val="1"/>
        </dgm:presLayoutVars>
      </dgm:prSet>
      <dgm:spPr/>
    </dgm:pt>
    <dgm:pt modelId="{972EB464-0F7B-4367-B2EA-DCDD4123A263}" type="pres">
      <dgm:prSet presAssocID="{60901471-F30E-480F-A719-8EFC73F635FF}" presName="sibTrans" presStyleCnt="0"/>
      <dgm:spPr/>
    </dgm:pt>
    <dgm:pt modelId="{B3158BD6-4118-409A-8606-6B4A4501AA71}" type="pres">
      <dgm:prSet presAssocID="{3A32EBAE-4DC3-4F43-A12E-48B08489DCFA}" presName="node" presStyleLbl="node1" presStyleIdx="1" presStyleCnt="3">
        <dgm:presLayoutVars>
          <dgm:bulletEnabled val="1"/>
        </dgm:presLayoutVars>
      </dgm:prSet>
      <dgm:spPr/>
    </dgm:pt>
    <dgm:pt modelId="{43DB0410-F5EE-4F58-B6A7-4CB4E1D6359F}" type="pres">
      <dgm:prSet presAssocID="{D6AF63FA-2AB3-4F45-A1CF-F6C63C1D1CD5}" presName="sibTrans" presStyleCnt="0"/>
      <dgm:spPr/>
    </dgm:pt>
    <dgm:pt modelId="{4E369590-FE36-4F58-ADFD-D44A2E1EA1B2}" type="pres">
      <dgm:prSet presAssocID="{67C37EEE-117D-4F38-AE54-13DA401E1E8F}" presName="node" presStyleLbl="node1" presStyleIdx="2" presStyleCnt="3">
        <dgm:presLayoutVars>
          <dgm:bulletEnabled val="1"/>
        </dgm:presLayoutVars>
      </dgm:prSet>
      <dgm:spPr/>
    </dgm:pt>
  </dgm:ptLst>
  <dgm:cxnLst>
    <dgm:cxn modelId="{5E66D512-3BE8-4C46-B925-E2782B7D7F2D}" srcId="{57647DC6-65B3-4758-A565-E1E1C161EF32}" destId="{3A32EBAE-4DC3-4F43-A12E-48B08489DCFA}" srcOrd="1" destOrd="0" parTransId="{8F2552C6-822D-4518-AA4E-72B509C6B0D5}" sibTransId="{D6AF63FA-2AB3-4F45-A1CF-F6C63C1D1CD5}"/>
    <dgm:cxn modelId="{A0A8BB16-2084-4739-A3D8-4C712558184A}" type="presOf" srcId="{57647DC6-65B3-4758-A565-E1E1C161EF32}" destId="{3BED73DB-B672-43DB-963D-32CC89B4DCAB}" srcOrd="0" destOrd="0" presId="urn:microsoft.com/office/officeart/2005/8/layout/default"/>
    <dgm:cxn modelId="{3B2FF82A-A8B1-44C2-900A-8A9850FA27A8}" srcId="{73305C91-F945-4434-B103-263B68697063}" destId="{899A3072-7EA9-4D1B-8F00-59872A0A5533}" srcOrd="0" destOrd="0" parTransId="{47251D95-E88F-4D7C-BAB2-A2E1862A3FBF}" sibTransId="{FBC96917-BF3E-4CBC-87B3-04092893BDF1}"/>
    <dgm:cxn modelId="{36A1143D-D49A-4DFA-97A4-C9A1F5C6777D}" srcId="{67C37EEE-117D-4F38-AE54-13DA401E1E8F}" destId="{426D00D8-9F04-41B0-9CCA-141428B7A355}" srcOrd="0" destOrd="0" parTransId="{4405D918-E2A5-4137-A496-7E4739E193BC}" sibTransId="{EF5643A7-6B50-4924-A813-F5582A114559}"/>
    <dgm:cxn modelId="{D84B6372-BBAA-429B-8E06-8CB7F51F1089}" srcId="{3A32EBAE-4DC3-4F43-A12E-48B08489DCFA}" destId="{479A0A6D-6C47-4B70-BFDE-E3365FA54399}" srcOrd="0" destOrd="0" parTransId="{4A571B28-9037-4DAC-B0B3-929A94E2E7AE}" sibTransId="{9E425A65-B82A-413D-84E8-B6D1CC80EFB2}"/>
    <dgm:cxn modelId="{38CDEB75-EDDD-4E2F-B2C9-BF42103EDEB8}" srcId="{67C37EEE-117D-4F38-AE54-13DA401E1E8F}" destId="{D7FEC1EC-0AE8-466C-A9EA-91587692BB22}" srcOrd="3" destOrd="0" parTransId="{4AEC89C4-6422-494F-80FB-551B4F0417DF}" sibTransId="{C807C566-54E4-482F-94B7-DBFDE36D710F}"/>
    <dgm:cxn modelId="{26A79977-6389-4A69-9C49-09FAE8FD96B0}" srcId="{3A32EBAE-4DC3-4F43-A12E-48B08489DCFA}" destId="{613AE5B9-A823-4A78-B591-451406CC871F}" srcOrd="1" destOrd="0" parTransId="{1AC11D7F-B62B-455B-9218-16B9A48D9146}" sibTransId="{23BFBB4D-386F-43AE-A778-9D553F732255}"/>
    <dgm:cxn modelId="{1B08867B-5734-4D87-BB05-928202ACF1D4}" srcId="{57647DC6-65B3-4758-A565-E1E1C161EF32}" destId="{73305C91-F945-4434-B103-263B68697063}" srcOrd="0" destOrd="0" parTransId="{847B1587-9E19-47C5-90BD-A8F75601999B}" sibTransId="{60901471-F30E-480F-A719-8EFC73F635FF}"/>
    <dgm:cxn modelId="{D8DAA694-1BC5-402F-B484-93B24B44404F}" type="presOf" srcId="{66AD24FF-BA17-4855-8208-DA552F221CE2}" destId="{CD49E106-EAE8-4A2C-8856-74C890BF0410}" srcOrd="0" destOrd="2" presId="urn:microsoft.com/office/officeart/2005/8/layout/default"/>
    <dgm:cxn modelId="{2050229A-FD79-47A1-A578-E4033B32FB22}" type="presOf" srcId="{3BBDC4DE-7B3F-4F30-9664-987E36451705}" destId="{4E369590-FE36-4F58-ADFD-D44A2E1EA1B2}" srcOrd="0" destOrd="2" presId="urn:microsoft.com/office/officeart/2005/8/layout/default"/>
    <dgm:cxn modelId="{CA73F9A1-7BE9-4F59-A100-118E7968BE2F}" type="presOf" srcId="{899A3072-7EA9-4D1B-8F00-59872A0A5533}" destId="{CD49E106-EAE8-4A2C-8856-74C890BF0410}" srcOrd="0" destOrd="1" presId="urn:microsoft.com/office/officeart/2005/8/layout/default"/>
    <dgm:cxn modelId="{63374DB1-050A-4605-8243-2F6A6B5EA126}" type="presOf" srcId="{479A0A6D-6C47-4B70-BFDE-E3365FA54399}" destId="{B3158BD6-4118-409A-8606-6B4A4501AA71}" srcOrd="0" destOrd="1" presId="urn:microsoft.com/office/officeart/2005/8/layout/default"/>
    <dgm:cxn modelId="{80A0D6C2-0AA9-476A-AEB8-A0A89C617611}" srcId="{57647DC6-65B3-4758-A565-E1E1C161EF32}" destId="{67C37EEE-117D-4F38-AE54-13DA401E1E8F}" srcOrd="2" destOrd="0" parTransId="{7761A345-5797-499D-898D-5684BFE2D1CF}" sibTransId="{1C4A62F6-4C41-4BB2-9A49-9C1D243E4D93}"/>
    <dgm:cxn modelId="{4D0A01C5-4660-4AB6-9B7E-BE8D4DC78B87}" srcId="{73305C91-F945-4434-B103-263B68697063}" destId="{66AD24FF-BA17-4855-8208-DA552F221CE2}" srcOrd="1" destOrd="0" parTransId="{F255E62F-E7D8-4C50-BC77-5ADE77241E21}" sibTransId="{1D557039-4CBB-433B-ACF8-A9FAF85FF80E}"/>
    <dgm:cxn modelId="{2E117FC6-1DF7-4334-BDB9-0616D447442B}" srcId="{67C37EEE-117D-4F38-AE54-13DA401E1E8F}" destId="{2731EAFE-16F9-4F8A-A74F-49222458C299}" srcOrd="2" destOrd="0" parTransId="{1EAEA64E-B11C-47D0-BBE5-ADB031E34F6D}" sibTransId="{78C13FD6-4459-4FCA-9CBA-F6441008BE97}"/>
    <dgm:cxn modelId="{C6AD88CC-398D-4875-8DBB-35A7F66F152C}" srcId="{67C37EEE-117D-4F38-AE54-13DA401E1E8F}" destId="{3BBDC4DE-7B3F-4F30-9664-987E36451705}" srcOrd="1" destOrd="0" parTransId="{53639017-22C1-4DA9-A86C-BDD8914F09EB}" sibTransId="{2977D42A-087E-4F40-9479-F2F99B037965}"/>
    <dgm:cxn modelId="{812717CF-A45C-4E58-82EF-0018D0CFEE92}" type="presOf" srcId="{3A32EBAE-4DC3-4F43-A12E-48B08489DCFA}" destId="{B3158BD6-4118-409A-8606-6B4A4501AA71}" srcOrd="0" destOrd="0" presId="urn:microsoft.com/office/officeart/2005/8/layout/default"/>
    <dgm:cxn modelId="{C7539BCF-997F-4D7E-B989-61D53688A3E4}" type="presOf" srcId="{426D00D8-9F04-41B0-9CCA-141428B7A355}" destId="{4E369590-FE36-4F58-ADFD-D44A2E1EA1B2}" srcOrd="0" destOrd="1" presId="urn:microsoft.com/office/officeart/2005/8/layout/default"/>
    <dgm:cxn modelId="{18A8F2D5-3FF6-4193-BF9C-12678A6D310E}" type="presOf" srcId="{67C37EEE-117D-4F38-AE54-13DA401E1E8F}" destId="{4E369590-FE36-4F58-ADFD-D44A2E1EA1B2}" srcOrd="0" destOrd="0" presId="urn:microsoft.com/office/officeart/2005/8/layout/default"/>
    <dgm:cxn modelId="{F86488E8-065B-4854-B2CE-9F6097BE8103}" type="presOf" srcId="{D7FEC1EC-0AE8-466C-A9EA-91587692BB22}" destId="{4E369590-FE36-4F58-ADFD-D44A2E1EA1B2}" srcOrd="0" destOrd="4" presId="urn:microsoft.com/office/officeart/2005/8/layout/default"/>
    <dgm:cxn modelId="{F1C3E7EB-0CB2-463C-B1E4-AEBB9A97C238}" type="presOf" srcId="{613AE5B9-A823-4A78-B591-451406CC871F}" destId="{B3158BD6-4118-409A-8606-6B4A4501AA71}" srcOrd="0" destOrd="2" presId="urn:microsoft.com/office/officeart/2005/8/layout/default"/>
    <dgm:cxn modelId="{CBBC28F0-6F9E-47D7-B865-0D7B2BB567F9}" type="presOf" srcId="{2731EAFE-16F9-4F8A-A74F-49222458C299}" destId="{4E369590-FE36-4F58-ADFD-D44A2E1EA1B2}" srcOrd="0" destOrd="3" presId="urn:microsoft.com/office/officeart/2005/8/layout/default"/>
    <dgm:cxn modelId="{CE110AFF-51BD-4B9A-84C5-846BF71DA27A}" type="presOf" srcId="{73305C91-F945-4434-B103-263B68697063}" destId="{CD49E106-EAE8-4A2C-8856-74C890BF0410}" srcOrd="0" destOrd="0" presId="urn:microsoft.com/office/officeart/2005/8/layout/default"/>
    <dgm:cxn modelId="{23B4C7B2-0C7C-4C34-9D64-BE40439E4411}" type="presParOf" srcId="{3BED73DB-B672-43DB-963D-32CC89B4DCAB}" destId="{CD49E106-EAE8-4A2C-8856-74C890BF0410}" srcOrd="0" destOrd="0" presId="urn:microsoft.com/office/officeart/2005/8/layout/default"/>
    <dgm:cxn modelId="{BDC3244E-C72A-4ED1-A086-A486CCD02008}" type="presParOf" srcId="{3BED73DB-B672-43DB-963D-32CC89B4DCAB}" destId="{972EB464-0F7B-4367-B2EA-DCDD4123A263}" srcOrd="1" destOrd="0" presId="urn:microsoft.com/office/officeart/2005/8/layout/default"/>
    <dgm:cxn modelId="{80BF07B4-635F-4878-BC7E-DFCC5925EB59}" type="presParOf" srcId="{3BED73DB-B672-43DB-963D-32CC89B4DCAB}" destId="{B3158BD6-4118-409A-8606-6B4A4501AA71}" srcOrd="2" destOrd="0" presId="urn:microsoft.com/office/officeart/2005/8/layout/default"/>
    <dgm:cxn modelId="{273D65D1-1963-4704-94D3-EEBAC45622F9}" type="presParOf" srcId="{3BED73DB-B672-43DB-963D-32CC89B4DCAB}" destId="{43DB0410-F5EE-4F58-B6A7-4CB4E1D6359F}" srcOrd="3" destOrd="0" presId="urn:microsoft.com/office/officeart/2005/8/layout/default"/>
    <dgm:cxn modelId="{72912E80-AABF-4E62-BB6E-593FF6AC5F38}" type="presParOf" srcId="{3BED73DB-B672-43DB-963D-32CC89B4DCAB}" destId="{4E369590-FE36-4F58-ADFD-D44A2E1EA1B2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49E106-EAE8-4A2C-8856-74C890BF0410}">
      <dsp:nvSpPr>
        <dsp:cNvPr id="0" name=""/>
        <dsp:cNvSpPr/>
      </dsp:nvSpPr>
      <dsp:spPr>
        <a:xfrm>
          <a:off x="3420374" y="1384"/>
          <a:ext cx="6247214" cy="374832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i="0" kern="1200" dirty="0">
              <a:latin typeface="Open Sans" pitchFamily="2" charset="0"/>
              <a:ea typeface="Open Sans" pitchFamily="2" charset="0"/>
              <a:cs typeface="Open Sans" pitchFamily="2" charset="0"/>
            </a:rPr>
            <a:t>ПО РАЗМЕРУ</a:t>
          </a:r>
          <a:r>
            <a:rPr lang="ru-RU" sz="2400" b="0" i="0" kern="1200" dirty="0">
              <a:latin typeface="Open Sans" pitchFamily="2" charset="0"/>
              <a:ea typeface="Open Sans" pitchFamily="2" charset="0"/>
              <a:cs typeface="Open Sans" pitchFamily="2" charset="0"/>
            </a:rPr>
            <a:t>:</a:t>
          </a:r>
          <a:endParaRPr lang="ru-RU" sz="2400" kern="1200" dirty="0">
            <a:latin typeface="Open Sans" pitchFamily="2" charset="0"/>
            <a:ea typeface="Open Sans" pitchFamily="2" charset="0"/>
            <a:cs typeface="Open Sans" pitchFamily="2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b="0" i="0" kern="1200" dirty="0">
              <a:latin typeface="Open Sans" pitchFamily="2" charset="0"/>
              <a:ea typeface="Open Sans" pitchFamily="2" charset="0"/>
              <a:cs typeface="Open Sans" pitchFamily="2" charset="0"/>
            </a:rPr>
            <a:t>взрослый — ребёнок — младенец; </a:t>
          </a:r>
          <a:endParaRPr lang="ru-RU" sz="2000" kern="1200" dirty="0">
            <a:latin typeface="Open Sans" pitchFamily="2" charset="0"/>
            <a:ea typeface="Open Sans" pitchFamily="2" charset="0"/>
            <a:cs typeface="Open Sans" pitchFamily="2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b="0" i="0" kern="1200" dirty="0">
              <a:latin typeface="Open Sans" pitchFamily="2" charset="0"/>
              <a:ea typeface="Open Sans" pitchFamily="2" charset="0"/>
              <a:cs typeface="Open Sans" pitchFamily="2" charset="0"/>
            </a:rPr>
            <a:t>тело с конечностями, торс — голова.</a:t>
          </a:r>
          <a:endParaRPr lang="ru-RU" sz="2000" kern="1200" dirty="0">
            <a:latin typeface="Open Sans" pitchFamily="2" charset="0"/>
            <a:ea typeface="Open Sans" pitchFamily="2" charset="0"/>
            <a:cs typeface="Open Sans" pitchFamily="2" charset="0"/>
          </a:endParaRPr>
        </a:p>
      </dsp:txBody>
      <dsp:txXfrm>
        <a:off x="3420374" y="1384"/>
        <a:ext cx="6247214" cy="3748328"/>
      </dsp:txXfrm>
    </dsp:sp>
    <dsp:sp modelId="{B3158BD6-4118-409A-8606-6B4A4501AA71}">
      <dsp:nvSpPr>
        <dsp:cNvPr id="0" name=""/>
        <dsp:cNvSpPr/>
      </dsp:nvSpPr>
      <dsp:spPr>
        <a:xfrm>
          <a:off x="10292309" y="1384"/>
          <a:ext cx="6247214" cy="374832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i="0" kern="1200" dirty="0">
              <a:latin typeface="Open Sans" pitchFamily="2" charset="0"/>
              <a:ea typeface="Open Sans" pitchFamily="2" charset="0"/>
              <a:cs typeface="Open Sans" pitchFamily="2" charset="0"/>
            </a:rPr>
            <a:t>ПО ФУНКЦИОНАЛЬНОСТИ И НАЛИЧИЮ ДОПОЛНИТЕЛЬНЫХ ПРИСПОСОБЛЕНИЙ</a:t>
          </a:r>
          <a:r>
            <a:rPr lang="ru-RU" sz="2400" b="0" i="0" kern="1200" dirty="0">
              <a:latin typeface="Open Sans" pitchFamily="2" charset="0"/>
              <a:ea typeface="Open Sans" pitchFamily="2" charset="0"/>
              <a:cs typeface="Open Sans" pitchFamily="2" charset="0"/>
            </a:rPr>
            <a:t>:</a:t>
          </a:r>
          <a:endParaRPr lang="ru-RU" sz="2400" kern="1200" dirty="0">
            <a:latin typeface="Open Sans" pitchFamily="2" charset="0"/>
            <a:ea typeface="Open Sans" pitchFamily="2" charset="0"/>
            <a:cs typeface="Open Sans" pitchFamily="2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b="0" i="0" kern="1200" dirty="0">
              <a:latin typeface="Open Sans" pitchFamily="2" charset="0"/>
              <a:ea typeface="Open Sans" pitchFamily="2" charset="0"/>
              <a:cs typeface="Open Sans" pitchFamily="2" charset="0"/>
            </a:rPr>
            <a:t>простые пружинно-механические;</a:t>
          </a:r>
          <a:endParaRPr lang="ru-RU" sz="2000" kern="1200" dirty="0">
            <a:latin typeface="Open Sans" pitchFamily="2" charset="0"/>
            <a:ea typeface="Open Sans" pitchFamily="2" charset="0"/>
            <a:cs typeface="Open Sans" pitchFamily="2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b="0" i="0" kern="1200" dirty="0">
              <a:latin typeface="Open Sans" pitchFamily="2" charset="0"/>
              <a:ea typeface="Open Sans" pitchFamily="2" charset="0"/>
              <a:cs typeface="Open Sans" pitchFamily="2" charset="0"/>
            </a:rPr>
            <a:t>более сложные, снабжённые электронными компонентами индикации и компьютерным комплексом.</a:t>
          </a:r>
          <a:endParaRPr lang="ru-RU" sz="2000" kern="1200" dirty="0">
            <a:latin typeface="Open Sans" pitchFamily="2" charset="0"/>
            <a:ea typeface="Open Sans" pitchFamily="2" charset="0"/>
            <a:cs typeface="Open Sans" pitchFamily="2" charset="0"/>
          </a:endParaRPr>
        </a:p>
      </dsp:txBody>
      <dsp:txXfrm>
        <a:off x="10292309" y="1384"/>
        <a:ext cx="6247214" cy="3748328"/>
      </dsp:txXfrm>
    </dsp:sp>
    <dsp:sp modelId="{4E369590-FE36-4F58-ADFD-D44A2E1EA1B2}">
      <dsp:nvSpPr>
        <dsp:cNvPr id="0" name=""/>
        <dsp:cNvSpPr/>
      </dsp:nvSpPr>
      <dsp:spPr>
        <a:xfrm>
          <a:off x="6856341" y="4374434"/>
          <a:ext cx="6247214" cy="374832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i="0" kern="1200" dirty="0">
              <a:latin typeface="Open Sans" pitchFamily="2" charset="0"/>
              <a:ea typeface="Open Sans" pitchFamily="2" charset="0"/>
              <a:cs typeface="Open Sans" pitchFamily="2" charset="0"/>
            </a:rPr>
            <a:t>ТРЕНАЖЁРЫ ПРЕДНАЗНАЧЕНЫ ДЛЯ ОБУЧЕНИЯ ПРИЁМАМ:</a:t>
          </a:r>
          <a:endParaRPr lang="ru-RU" sz="2400" kern="1200" dirty="0">
            <a:latin typeface="Open Sans" pitchFamily="2" charset="0"/>
            <a:ea typeface="Open Sans" pitchFamily="2" charset="0"/>
            <a:cs typeface="Open Sans" pitchFamily="2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b="0" i="0" kern="1200" dirty="0">
              <a:latin typeface="Open Sans" pitchFamily="2" charset="0"/>
              <a:ea typeface="Open Sans" pitchFamily="2" charset="0"/>
              <a:cs typeface="Open Sans" pitchFamily="2" charset="0"/>
            </a:rPr>
            <a:t>сердечно-лёгочной реанимации;</a:t>
          </a:r>
          <a:endParaRPr lang="ru-RU" sz="2000" kern="1200" dirty="0">
            <a:latin typeface="Open Sans" pitchFamily="2" charset="0"/>
            <a:ea typeface="Open Sans" pitchFamily="2" charset="0"/>
            <a:cs typeface="Open Sans" pitchFamily="2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b="0" i="0" kern="1200" dirty="0">
              <a:latin typeface="Open Sans" pitchFamily="2" charset="0"/>
              <a:ea typeface="Open Sans" pitchFamily="2" charset="0"/>
              <a:cs typeface="Open Sans" pitchFamily="2" charset="0"/>
            </a:rPr>
            <a:t>удаления инородных предметов из верхних дыхательных путей; </a:t>
          </a:r>
          <a:endParaRPr lang="ru-RU" sz="2000" kern="1200" dirty="0">
            <a:latin typeface="Open Sans" pitchFamily="2" charset="0"/>
            <a:ea typeface="Open Sans" pitchFamily="2" charset="0"/>
            <a:cs typeface="Open Sans" pitchFamily="2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b="0" i="0" kern="1200">
              <a:latin typeface="Open Sans" pitchFamily="2" charset="0"/>
              <a:ea typeface="Open Sans" pitchFamily="2" charset="0"/>
              <a:cs typeface="Open Sans" pitchFamily="2" charset="0"/>
            </a:rPr>
            <a:t>проведению реанимации после утопления; </a:t>
          </a:r>
          <a:endParaRPr lang="ru-RU" sz="2000" kern="1200">
            <a:latin typeface="Open Sans" pitchFamily="2" charset="0"/>
            <a:ea typeface="Open Sans" pitchFamily="2" charset="0"/>
            <a:cs typeface="Open Sans" pitchFamily="2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b="0" i="0" kern="1200">
              <a:latin typeface="Open Sans" pitchFamily="2" charset="0"/>
              <a:ea typeface="Open Sans" pitchFamily="2" charset="0"/>
              <a:cs typeface="Open Sans" pitchFamily="2" charset="0"/>
            </a:rPr>
            <a:t>оказанию первой помощи при травмах, кровотечениях и прочим манипуляциям. </a:t>
          </a:r>
          <a:endParaRPr lang="ru-RU" sz="2000" kern="1200">
            <a:latin typeface="Open Sans" pitchFamily="2" charset="0"/>
            <a:ea typeface="Open Sans" pitchFamily="2" charset="0"/>
            <a:cs typeface="Open Sans" pitchFamily="2" charset="0"/>
          </a:endParaRPr>
        </a:p>
      </dsp:txBody>
      <dsp:txXfrm>
        <a:off x="6856341" y="4374434"/>
        <a:ext cx="6247214" cy="37483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828800">
      <a:defRPr sz="2400">
        <a:latin typeface="+mn-lt"/>
        <a:ea typeface="+mn-ea"/>
        <a:cs typeface="+mn-cs"/>
      </a:defRPr>
    </a:lvl1pPr>
    <a:lvl2pPr indent="228600" defTabSz="1828800">
      <a:defRPr sz="2400">
        <a:latin typeface="+mn-lt"/>
        <a:ea typeface="+mn-ea"/>
        <a:cs typeface="+mn-cs"/>
      </a:defRPr>
    </a:lvl2pPr>
    <a:lvl3pPr indent="457200" defTabSz="1828800">
      <a:defRPr sz="2400">
        <a:latin typeface="+mn-lt"/>
        <a:ea typeface="+mn-ea"/>
        <a:cs typeface="+mn-cs"/>
      </a:defRPr>
    </a:lvl3pPr>
    <a:lvl4pPr indent="685800" defTabSz="1828800">
      <a:defRPr sz="2400">
        <a:latin typeface="+mn-lt"/>
        <a:ea typeface="+mn-ea"/>
        <a:cs typeface="+mn-cs"/>
      </a:defRPr>
    </a:lvl4pPr>
    <a:lvl5pPr indent="914400" defTabSz="1828800">
      <a:defRPr sz="2400">
        <a:latin typeface="+mn-lt"/>
        <a:ea typeface="+mn-ea"/>
        <a:cs typeface="+mn-cs"/>
      </a:defRPr>
    </a:lvl5pPr>
    <a:lvl6pPr indent="1143000" defTabSz="1828800">
      <a:defRPr sz="2400">
        <a:latin typeface="+mn-lt"/>
        <a:ea typeface="+mn-ea"/>
        <a:cs typeface="+mn-cs"/>
      </a:defRPr>
    </a:lvl6pPr>
    <a:lvl7pPr indent="1371600" defTabSz="1828800">
      <a:defRPr sz="2400">
        <a:latin typeface="+mn-lt"/>
        <a:ea typeface="+mn-ea"/>
        <a:cs typeface="+mn-cs"/>
      </a:defRPr>
    </a:lvl7pPr>
    <a:lvl8pPr indent="1600200" defTabSz="1828800">
      <a:defRPr sz="2400">
        <a:latin typeface="+mn-lt"/>
        <a:ea typeface="+mn-ea"/>
        <a:cs typeface="+mn-cs"/>
      </a:defRPr>
    </a:lvl8pPr>
    <a:lvl9pPr indent="1828800" defTabSz="1828800">
      <a:defRPr sz="2400"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Слайд 6. Благодарность</a:t>
            </a:r>
          </a:p>
          <a:p/>
          <a:p>
            <a:r>
              <a:t>На этом блок об учебном оборудовании завершён.</a:t>
            </a:r>
          </a:p>
          <a:p>
            <a:r>
              <a:t>Главное: современное оснащение усиливает практику — от простых тренажёров до цифровых симуляций — и делает навык первой помощи более устойчивым.</a:t>
            </a:r>
          </a:p>
          <a:p>
            <a:r>
              <a:t>Благодарю за внимание.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Слайд 1. Титул</a:t>
            </a:r>
          </a:p>
          <a:p/>
          <a:p>
            <a:r>
              <a:t>Добрый день.</a:t>
            </a:r>
          </a:p>
          <a:p>
            <a:r>
              <a:t>Сегодня мы разберём использование современного учебного оборудования на занятиях по учебному курсу, предмету или дисциплине по оказанию первой помощи.</a:t>
            </a:r>
          </a:p>
          <a:p>
            <a:r>
              <a:t>Речь пойдёт о симуляционных средствах, тренажёрах и цифровых решениях, которые помогают отрабатывать навыки безопасно и близко к реальной ситуации.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Слайд 2. Симуляционное оборудование</a:t>
            </a:r>
          </a:p>
          <a:p/>
          <a:p>
            <a:r>
              <a:t>Начнём с симуляционного оборудования.</a:t>
            </a:r>
          </a:p>
          <a:p>
            <a:r>
              <a:t>Теоретическая подготовка — это база. Без неё практика быстро превращается в набор движений без понимания.</a:t>
            </a:r>
          </a:p>
          <a:p>
            <a:r>
              <a:t>Но ведущей формой обучения первой помощи всё равно остаются практические занятия: человек должен не только знать алгоритм, но и уметь его выполнить руками.</a:t>
            </a:r>
          </a:p>
          <a:p>
            <a:r>
              <a:t>Именно поэтому внедрение симуляционного оборудования и современного мультимедийного программного обеспечения становится важным элементом цифровизации обучения.</a:t>
            </a:r>
          </a:p>
          <a:p>
            <a:r>
              <a:t>Симуляция даёт безопасную среду, где можно ошибаться, повторять и закреплять навык без риска для пострадавшего.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Слайд 3. Тренажёры: как их разделяют</a:t>
            </a:r>
          </a:p>
          <a:p/>
          <a:p>
            <a:r>
              <a:t>Дальше — тренажёры для отработки навыков первой помощи.</a:t>
            </a:r>
          </a:p>
          <a:p>
            <a:r>
              <a:t>Их удобно разделять по двум линиям.</a:t>
            </a:r>
          </a:p>
          <a:p>
            <a:r>
              <a:t>Первая — по размеру: взрослый, ребёнок, младенец; а также по комплектации — тело с конечностями либо отдельные части, например торс и голова.</a:t>
            </a:r>
          </a:p>
          <a:p>
            <a:r>
              <a:t>Вторая — по функциональности и наличию дополнительных приспособлений.</a:t>
            </a:r>
          </a:p>
          <a:p>
            <a:r>
              <a:t>Есть простые пружинно-механические модели.</a:t>
            </a:r>
          </a:p>
          <a:p>
            <a:r>
              <a:t>И есть более сложные тренажёры с электронной индикацией и компьютерным комплексом обратной связи.</a:t>
            </a:r>
          </a:p>
          <a:p>
            <a:r>
              <a:t>По назначению тренажёры помогают обучать приёмам сердечно-лёгочной реанимации, удалению инородных предметов из верхних дыхательных путей, реанимации после утопления, а также первой помощи при травмах, кровотечениях и других манипуляциях.</a:t>
            </a:r>
          </a:p>
          <a:p>
            <a:r>
              <a:t>Выбор модели зависит от цели занятия: что именно нужно закрепить и какой уровень обратной связи нужен группе.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Слайд 4. Что должен освоить обучаемый на тренажёре</a:t>
            </a:r>
          </a:p>
          <a:p/>
          <a:p>
            <a:r>
              <a:t>Теперь о результате работы на тренажёре.</a:t>
            </a:r>
          </a:p>
          <a:p>
            <a:r>
              <a:t>Обучаемый должен научиться правильно выполнять действия, направленные на восстановление признаков жизни, если они отсутствуют.</a:t>
            </a:r>
          </a:p>
          <a:p>
            <a:r>
              <a:t>Отдельно отрабатывают остановку кровотечения.</a:t>
            </a:r>
          </a:p>
          <a:p>
            <a:r>
              <a:t>Дальше — первую помощь при различных травмах.</a:t>
            </a:r>
          </a:p>
          <a:p>
            <a:r>
              <a:t>И ещё один важный блок — извлечение инородных предметов из верхних дыхательных путей.</a:t>
            </a:r>
          </a:p>
          <a:p>
            <a:r>
              <a:t>То есть тренажёр — это не «декор» занятия, а инструмент, на котором собирается полный практический минимум первой помощи.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Слайд 5. 3D-тренажёры «Первая помощь» РИСКПРОФ</a:t>
            </a:r>
          </a:p>
          <a:p/>
          <a:p>
            <a:r>
              <a:t>Отдельно стоит сказать о 3D-тренажёрах «Первая помощь» системы РИСКПРОФ.</a:t>
            </a:r>
          </a:p>
          <a:p>
            <a:r>
              <a:t>Это уже не только манекен, а цифровая симуляция ситуации: производственная среда, пострадавший, аптечка и необходимость принять решение в условиях, близких к реальным.</a:t>
            </a:r>
          </a:p>
          <a:p>
            <a:r>
              <a:t>На экране вы видите примеры таких сценариев — от травмы на рабочем месте до тяжёлого повреждения с кровотечением.</a:t>
            </a:r>
          </a:p>
          <a:p>
            <a:r>
              <a:t>Ценность таких тренажёров в том, что они тренируют не только технику приёма, но и оценку обстановки, выбор порядка действий и работу с оснащением.</a:t>
            </a:r>
          </a:p>
          <a:p>
            <a:r>
              <a:t>Для преподавателя это удобный способ показать сложные случаи безопасно и повторяемо, а для слушателя — потренироваться до уверенного автоматизма.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79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79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B2B2B2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B2B2B2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3500" b="0" i="0" u="none" strike="noStrike" cap="none" spc="0">
              <a:ln>
                <a:noFill/>
              </a:ln>
              <a:solidFill>
                <a:srgbClr val="000000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79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79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8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79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79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19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7" y="9466730"/>
            <a:ext cx="21036679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79" cy="155690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3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1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5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5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8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8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8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8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8" y="10159106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8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39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3500" b="0" i="0" u="none" strike="noStrike" cap="none" spc="0">
              <a:ln>
                <a:noFill/>
              </a:ln>
              <a:solidFill>
                <a:srgbClr val="000000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3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5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5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7" cy="1828801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7" cy="1828801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79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79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B2B2B2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B2B2B2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3500" b="0" i="0" u="none" strike="noStrike" cap="none" spc="0">
              <a:ln>
                <a:noFill/>
              </a:ln>
              <a:solidFill>
                <a:srgbClr val="000000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79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79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8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79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79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19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7" y="9466730"/>
            <a:ext cx="21036679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79" cy="155690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3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1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5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5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8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8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8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8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8" y="10159106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8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39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3500" b="0" i="0" u="none" strike="noStrike" cap="none" spc="0">
              <a:ln>
                <a:noFill/>
              </a:ln>
              <a:solidFill>
                <a:srgbClr val="000000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3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5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5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7" cy="1828801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7" cy="1828801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79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79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B2B2B2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B2B2B2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3500" b="0" i="0" u="none" strike="noStrike" cap="none" spc="0">
              <a:ln>
                <a:noFill/>
              </a:ln>
              <a:solidFill>
                <a:srgbClr val="000000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79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79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8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79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79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19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7" y="9466730"/>
            <a:ext cx="21036679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79" cy="155690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3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1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5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5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8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8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8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8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8" y="10159106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8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39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3500" b="0" i="0" u="none" strike="noStrike" cap="none" spc="0">
              <a:ln>
                <a:noFill/>
              </a:ln>
              <a:solidFill>
                <a:srgbClr val="000000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3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5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5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7" cy="1828801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7" cy="1828801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slideLayout" Target="../slideLayouts/slideLayout71.xml"/><Relationship Id="rId20" Type="http://schemas.openxmlformats.org/officeDocument/2006/relationships/slideLayout" Target="../slideLayouts/slideLayout72.xml"/><Relationship Id="rId21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75.xml"/><Relationship Id="rId24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77.xml"/><Relationship Id="rId26" Type="http://schemas.openxmlformats.org/officeDocument/2006/relationships/slideLayout" Target="../slideLayouts/slideLayout78.xml"/><Relationship Id="rId27" Type="http://schemas.openxmlformats.org/officeDocument/2006/relationships/slideLayout" Target="../slideLayouts/slideLayout79.xml"/><Relationship Id="rId28" Type="http://schemas.openxmlformats.org/officeDocument/2006/relationships/slideLayout" Target="../slideLayouts/slideLayout80.xml"/><Relationship Id="rId29" Type="http://schemas.openxmlformats.org/officeDocument/2006/relationships/slideLayout" Target="../slideLayouts/slideLayout81.xml"/><Relationship Id="rId30" Type="http://schemas.openxmlformats.org/officeDocument/2006/relationships/slideLayout" Target="../slideLayouts/slideLayout82.xml"/><Relationship Id="rId31" Type="http://schemas.openxmlformats.org/officeDocument/2006/relationships/slideLayout" Target="../slideLayouts/slideLayout83.xml"/><Relationship Id="rId32" Type="http://schemas.openxmlformats.org/officeDocument/2006/relationships/slideLayout" Target="../slideLayouts/slideLayout84.xml"/><Relationship Id="rId33" Type="http://schemas.openxmlformats.org/officeDocument/2006/relationships/slideLayout" Target="../slideLayouts/slideLayout85.xml"/><Relationship Id="rId34" Type="http://schemas.openxmlformats.org/officeDocument/2006/relationships/slideLayout" Target="../slideLayouts/slideLayout86.xml"/><Relationship Id="rId35" Type="http://schemas.openxmlformats.org/officeDocument/2006/relationships/slideLayout" Target="../slideLayouts/slideLayout87.xml"/><Relationship Id="rId36" Type="http://schemas.openxmlformats.org/officeDocument/2006/relationships/slideLayout" Target="../slideLayouts/slideLayout88.xml"/><Relationship Id="rId37" Type="http://schemas.openxmlformats.org/officeDocument/2006/relationships/slideLayout" Target="../slideLayouts/slideLayout89.xml"/><Relationship Id="rId38" Type="http://schemas.openxmlformats.org/officeDocument/2006/relationships/slideLayout" Target="../slideLayouts/slideLayout90.xml"/><Relationship Id="rId39" Type="http://schemas.openxmlformats.org/officeDocument/2006/relationships/slideLayout" Target="../slideLayouts/slideLayout91.xml"/><Relationship Id="rId40" Type="http://schemas.openxmlformats.org/officeDocument/2006/relationships/slideLayout" Target="../slideLayouts/slideLayout92.xml"/><Relationship Id="rId41" Type="http://schemas.openxmlformats.org/officeDocument/2006/relationships/slideLayout" Target="../slideLayouts/slideLayout93.xml"/><Relationship Id="rId42" Type="http://schemas.openxmlformats.org/officeDocument/2006/relationships/slideLayout" Target="../slideLayouts/slideLayout94.xml"/><Relationship Id="rId43" Type="http://schemas.openxmlformats.org/officeDocument/2006/relationships/slideLayout" Target="../slideLayouts/slideLayout95.xml"/><Relationship Id="rId44" Type="http://schemas.openxmlformats.org/officeDocument/2006/relationships/slideLayout" Target="../slideLayouts/slideLayout96.xml"/><Relationship Id="rId45" Type="http://schemas.openxmlformats.org/officeDocument/2006/relationships/slideLayout" Target="../slideLayouts/slideLayout97.xml"/><Relationship Id="rId46" Type="http://schemas.openxmlformats.org/officeDocument/2006/relationships/slideLayout" Target="../slideLayouts/slideLayout98.xml"/><Relationship Id="rId47" Type="http://schemas.openxmlformats.org/officeDocument/2006/relationships/slideLayout" Target="../slideLayouts/slideLayout99.xml"/><Relationship Id="rId48" Type="http://schemas.openxmlformats.org/officeDocument/2006/relationships/slideLayout" Target="../slideLayouts/slideLayout100.xml"/><Relationship Id="rId49" Type="http://schemas.openxmlformats.org/officeDocument/2006/relationships/slideLayout" Target="../slideLayouts/slideLayout101.xml"/><Relationship Id="rId50" Type="http://schemas.openxmlformats.org/officeDocument/2006/relationships/slideLayout" Target="../slideLayouts/slideLayout102.xml"/><Relationship Id="rId51" Type="http://schemas.openxmlformats.org/officeDocument/2006/relationships/slideLayout" Target="../slideLayouts/slideLayout103.xml"/><Relationship Id="rId52" Type="http://schemas.openxmlformats.org/officeDocument/2006/relationships/slideLayout" Target="../slideLayouts/slideLayout104.xml"/><Relationship Id="rId5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5.xml"/><Relationship Id="rId2" Type="http://schemas.openxmlformats.org/officeDocument/2006/relationships/slideLayout" Target="../slideLayouts/slideLayout106.xml"/><Relationship Id="rId3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10.xml"/><Relationship Id="rId7" Type="http://schemas.openxmlformats.org/officeDocument/2006/relationships/slideLayout" Target="../slideLayouts/slideLayout111.xml"/><Relationship Id="rId8" Type="http://schemas.openxmlformats.org/officeDocument/2006/relationships/slideLayout" Target="../slideLayouts/slideLayout112.xml"/><Relationship Id="rId9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16.xml"/><Relationship Id="rId13" Type="http://schemas.openxmlformats.org/officeDocument/2006/relationships/slideLayout" Target="../slideLayouts/slideLayout117.xml"/><Relationship Id="rId14" Type="http://schemas.openxmlformats.org/officeDocument/2006/relationships/slideLayout" Target="../slideLayouts/slideLayout118.xml"/><Relationship Id="rId15" Type="http://schemas.openxmlformats.org/officeDocument/2006/relationships/slideLayout" Target="../slideLayouts/slideLayout119.xml"/><Relationship Id="rId16" Type="http://schemas.openxmlformats.org/officeDocument/2006/relationships/slideLayout" Target="../slideLayouts/slideLayout120.xml"/><Relationship Id="rId17" Type="http://schemas.openxmlformats.org/officeDocument/2006/relationships/slideLayout" Target="../slideLayouts/slideLayout121.xml"/><Relationship Id="rId18" Type="http://schemas.openxmlformats.org/officeDocument/2006/relationships/slideLayout" Target="../slideLayouts/slideLayout122.xml"/><Relationship Id="rId19" Type="http://schemas.openxmlformats.org/officeDocument/2006/relationships/slideLayout" Target="../slideLayouts/slideLayout123.xml"/><Relationship Id="rId20" Type="http://schemas.openxmlformats.org/officeDocument/2006/relationships/slideLayout" Target="../slideLayouts/slideLayout124.xml"/><Relationship Id="rId21" Type="http://schemas.openxmlformats.org/officeDocument/2006/relationships/slideLayout" Target="../slideLayouts/slideLayout125.xml"/><Relationship Id="rId22" Type="http://schemas.openxmlformats.org/officeDocument/2006/relationships/slideLayout" Target="../slideLayouts/slideLayout126.xml"/><Relationship Id="rId23" Type="http://schemas.openxmlformats.org/officeDocument/2006/relationships/slideLayout" Target="../slideLayouts/slideLayout127.xml"/><Relationship Id="rId24" Type="http://schemas.openxmlformats.org/officeDocument/2006/relationships/slideLayout" Target="../slideLayouts/slideLayout128.xml"/><Relationship Id="rId25" Type="http://schemas.openxmlformats.org/officeDocument/2006/relationships/slideLayout" Target="../slideLayouts/slideLayout129.xml"/><Relationship Id="rId26" Type="http://schemas.openxmlformats.org/officeDocument/2006/relationships/slideLayout" Target="../slideLayouts/slideLayout130.xml"/><Relationship Id="rId27" Type="http://schemas.openxmlformats.org/officeDocument/2006/relationships/slideLayout" Target="../slideLayouts/slideLayout131.xml"/><Relationship Id="rId28" Type="http://schemas.openxmlformats.org/officeDocument/2006/relationships/slideLayout" Target="../slideLayouts/slideLayout132.xml"/><Relationship Id="rId29" Type="http://schemas.openxmlformats.org/officeDocument/2006/relationships/slideLayout" Target="../slideLayouts/slideLayout133.xml"/><Relationship Id="rId30" Type="http://schemas.openxmlformats.org/officeDocument/2006/relationships/slideLayout" Target="../slideLayouts/slideLayout134.xml"/><Relationship Id="rId31" Type="http://schemas.openxmlformats.org/officeDocument/2006/relationships/slideLayout" Target="../slideLayouts/slideLayout135.xml"/><Relationship Id="rId32" Type="http://schemas.openxmlformats.org/officeDocument/2006/relationships/slideLayout" Target="../slideLayouts/slideLayout136.xml"/><Relationship Id="rId33" Type="http://schemas.openxmlformats.org/officeDocument/2006/relationships/slideLayout" Target="../slideLayouts/slideLayout137.xml"/><Relationship Id="rId34" Type="http://schemas.openxmlformats.org/officeDocument/2006/relationships/slideLayout" Target="../slideLayouts/slideLayout138.xml"/><Relationship Id="rId35" Type="http://schemas.openxmlformats.org/officeDocument/2006/relationships/slideLayout" Target="../slideLayouts/slideLayout139.xml"/><Relationship Id="rId36" Type="http://schemas.openxmlformats.org/officeDocument/2006/relationships/slideLayout" Target="../slideLayouts/slideLayout140.xml"/><Relationship Id="rId37" Type="http://schemas.openxmlformats.org/officeDocument/2006/relationships/slideLayout" Target="../slideLayouts/slideLayout141.xml"/><Relationship Id="rId38" Type="http://schemas.openxmlformats.org/officeDocument/2006/relationships/slideLayout" Target="../slideLayouts/slideLayout142.xml"/><Relationship Id="rId39" Type="http://schemas.openxmlformats.org/officeDocument/2006/relationships/slideLayout" Target="../slideLayouts/slideLayout143.xml"/><Relationship Id="rId40" Type="http://schemas.openxmlformats.org/officeDocument/2006/relationships/slideLayout" Target="../slideLayouts/slideLayout144.xml"/><Relationship Id="rId41" Type="http://schemas.openxmlformats.org/officeDocument/2006/relationships/slideLayout" Target="../slideLayouts/slideLayout145.xml"/><Relationship Id="rId42" Type="http://schemas.openxmlformats.org/officeDocument/2006/relationships/slideLayout" Target="../slideLayouts/slideLayout146.xml"/><Relationship Id="rId43" Type="http://schemas.openxmlformats.org/officeDocument/2006/relationships/slideLayout" Target="../slideLayouts/slideLayout147.xml"/><Relationship Id="rId44" Type="http://schemas.openxmlformats.org/officeDocument/2006/relationships/slideLayout" Target="../slideLayouts/slideLayout148.xml"/><Relationship Id="rId45" Type="http://schemas.openxmlformats.org/officeDocument/2006/relationships/slideLayout" Target="../slideLayouts/slideLayout149.xml"/><Relationship Id="rId46" Type="http://schemas.openxmlformats.org/officeDocument/2006/relationships/slideLayout" Target="../slideLayouts/slideLayout150.xml"/><Relationship Id="rId47" Type="http://schemas.openxmlformats.org/officeDocument/2006/relationships/slideLayout" Target="../slideLayouts/slideLayout151.xml"/><Relationship Id="rId48" Type="http://schemas.openxmlformats.org/officeDocument/2006/relationships/slideLayout" Target="../slideLayouts/slideLayout152.xml"/><Relationship Id="rId49" Type="http://schemas.openxmlformats.org/officeDocument/2006/relationships/slideLayout" Target="../slideLayouts/slideLayout153.xml"/><Relationship Id="rId50" Type="http://schemas.openxmlformats.org/officeDocument/2006/relationships/slideLayout" Target="../slideLayouts/slideLayout154.xml"/><Relationship Id="rId51" Type="http://schemas.openxmlformats.org/officeDocument/2006/relationships/slideLayout" Target="../slideLayouts/slideLayout155.xml"/><Relationship Id="rId52" Type="http://schemas.openxmlformats.org/officeDocument/2006/relationships/slideLayout" Target="../slideLayouts/slideLayout156.xml"/><Relationship Id="rId5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62114" y="12854688"/>
            <a:ext cx="451404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5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62114" y="12854688"/>
            <a:ext cx="451404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  <p:sldLayoutId id="2147483720" r:id="rId19"/>
    <p:sldLayoutId id="2147483721" r:id="rId20"/>
    <p:sldLayoutId id="2147483722" r:id="rId21"/>
    <p:sldLayoutId id="2147483723" r:id="rId22"/>
    <p:sldLayoutId id="2147483724" r:id="rId23"/>
    <p:sldLayoutId id="2147483725" r:id="rId24"/>
    <p:sldLayoutId id="2147483726" r:id="rId25"/>
    <p:sldLayoutId id="2147483727" r:id="rId26"/>
    <p:sldLayoutId id="2147483728" r:id="rId27"/>
    <p:sldLayoutId id="2147483729" r:id="rId28"/>
    <p:sldLayoutId id="2147483730" r:id="rId29"/>
    <p:sldLayoutId id="2147483731" r:id="rId30"/>
    <p:sldLayoutId id="2147483732" r:id="rId31"/>
    <p:sldLayoutId id="2147483733" r:id="rId32"/>
    <p:sldLayoutId id="2147483734" r:id="rId33"/>
    <p:sldLayoutId id="2147483735" r:id="rId34"/>
    <p:sldLayoutId id="2147483736" r:id="rId35"/>
    <p:sldLayoutId id="2147483737" r:id="rId36"/>
    <p:sldLayoutId id="2147483738" r:id="rId37"/>
    <p:sldLayoutId id="2147483739" r:id="rId38"/>
    <p:sldLayoutId id="2147483740" r:id="rId39"/>
    <p:sldLayoutId id="2147483741" r:id="rId40"/>
    <p:sldLayoutId id="2147483742" r:id="rId41"/>
    <p:sldLayoutId id="2147483743" r:id="rId42"/>
    <p:sldLayoutId id="2147483744" r:id="rId43"/>
    <p:sldLayoutId id="2147483745" r:id="rId44"/>
    <p:sldLayoutId id="2147483746" r:id="rId45"/>
    <p:sldLayoutId id="2147483747" r:id="rId46"/>
    <p:sldLayoutId id="2147483748" r:id="rId47"/>
    <p:sldLayoutId id="2147483749" r:id="rId48"/>
    <p:sldLayoutId id="2147483750" r:id="rId49"/>
    <p:sldLayoutId id="2147483751" r:id="rId50"/>
    <p:sldLayoutId id="2147483752" r:id="rId51"/>
    <p:sldLayoutId id="2147483753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5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62114" y="12854688"/>
            <a:ext cx="451404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  <p:sldLayoutId id="2147483773" r:id="rId19"/>
    <p:sldLayoutId id="2147483774" r:id="rId20"/>
    <p:sldLayoutId id="2147483775" r:id="rId21"/>
    <p:sldLayoutId id="2147483776" r:id="rId22"/>
    <p:sldLayoutId id="2147483777" r:id="rId23"/>
    <p:sldLayoutId id="2147483778" r:id="rId24"/>
    <p:sldLayoutId id="2147483779" r:id="rId25"/>
    <p:sldLayoutId id="2147483780" r:id="rId26"/>
    <p:sldLayoutId id="2147483781" r:id="rId27"/>
    <p:sldLayoutId id="2147483782" r:id="rId28"/>
    <p:sldLayoutId id="2147483783" r:id="rId29"/>
    <p:sldLayoutId id="2147483784" r:id="rId30"/>
    <p:sldLayoutId id="2147483785" r:id="rId31"/>
    <p:sldLayoutId id="2147483786" r:id="rId32"/>
    <p:sldLayoutId id="2147483787" r:id="rId33"/>
    <p:sldLayoutId id="2147483788" r:id="rId34"/>
    <p:sldLayoutId id="2147483789" r:id="rId35"/>
    <p:sldLayoutId id="2147483790" r:id="rId36"/>
    <p:sldLayoutId id="2147483791" r:id="rId37"/>
    <p:sldLayoutId id="2147483792" r:id="rId38"/>
    <p:sldLayoutId id="2147483793" r:id="rId39"/>
    <p:sldLayoutId id="2147483794" r:id="rId40"/>
    <p:sldLayoutId id="2147483795" r:id="rId41"/>
    <p:sldLayoutId id="2147483796" r:id="rId42"/>
    <p:sldLayoutId id="2147483797" r:id="rId43"/>
    <p:sldLayoutId id="2147483798" r:id="rId44"/>
    <p:sldLayoutId id="2147483799" r:id="rId45"/>
    <p:sldLayoutId id="2147483800" r:id="rId46"/>
    <p:sldLayoutId id="2147483801" r:id="rId47"/>
    <p:sldLayoutId id="2147483802" r:id="rId48"/>
    <p:sldLayoutId id="2147483803" r:id="rId49"/>
    <p:sldLayoutId id="2147483804" r:id="rId50"/>
    <p:sldLayoutId id="2147483805" r:id="rId51"/>
    <p:sldLayoutId id="2147483806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5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7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3.jpeg"/><Relationship Id="rId3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5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958752" y="5237820"/>
            <a:ext cx="4621490" cy="3240359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4" y="6112348"/>
            <a:ext cx="19616065" cy="1574432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anchor="ctr">
            <a:noAutofit/>
          </a:bodyPr>
          <a:lstStyle/>
          <a:p>
            <a:pPr defTabSz="91440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4400" b="1" spc="300" dirty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rPr>
              <a:t>ИСПОЛЬЗОВАНИЕ СОВРЕМЕННОГО УЧЕБНОГО ОБОРУДОВАНИЯ НА ЗАНЯТИЯХ ПО УЧЕБНОМУ КУРСУ, ПРЕДМЕТУ, ДИСЦИПЛИНЕ ПО ОКАЗАНИЮ ПЕРВОЙ ПОМОЩИ</a:t>
            </a:r>
          </a:p>
        </p:txBody>
      </p:sp>
      <p:sp>
        <p:nvSpPr>
          <p:cNvPr id="845" name="Rectangle 13"/>
          <p:cNvSpPr/>
          <p:nvPr/>
        </p:nvSpPr>
        <p:spPr bwMode="auto">
          <a:xfrm>
            <a:off x="22427739" y="0"/>
            <a:ext cx="2086394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3" y="7920000"/>
            <a:ext cx="1902289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C9109E03-39C1-4E53-998F-A9C2CD245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2149" y="3058289"/>
            <a:ext cx="11703282" cy="8570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 defTabSz="1828434">
              <a:lnSpc>
                <a:spcPct val="100000"/>
              </a:lnSpc>
              <a:defRPr/>
            </a:pPr>
            <a:fld id="{86CB4B4D-7CA3-9044-876B-883B54F8677D}" type="slidenum">
              <a:rPr>
                <a:latin typeface="Open Sans Light"/>
                <a:cs typeface="Calibri"/>
              </a:rPr>
              <a:t>2</a:t>
            </a:fld>
            <a:endParaRPr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defTabSz="914400">
              <a:lnSpc>
                <a:spcPct val="100000"/>
              </a:lnSpc>
              <a:defRPr/>
            </a:pPr>
            <a: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СИМУЛЯЦИОННОЕ ОБОРУДОВАНИЕ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55" y="2604670"/>
            <a:ext cx="10608919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5" name="Прямоугольник 4"/>
          <p:cNvSpPr/>
          <p:nvPr/>
        </p:nvSpPr>
        <p:spPr bwMode="auto">
          <a:xfrm>
            <a:off x="2757202" y="4042271"/>
            <a:ext cx="9912972" cy="62282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 dirty="0"/>
              <a:t>Теоретическая подготовка </a:t>
            </a:r>
            <a:r>
              <a:rPr lang="ru-RU" sz="2800" dirty="0"/>
              <a:t>является базовым и фундаментальным элементом системы обучения методам оказания первой помощи пострадавшим. </a:t>
            </a:r>
            <a:endParaRPr dirty="0"/>
          </a:p>
          <a:p>
            <a:pPr>
              <a:defRPr/>
            </a:pPr>
            <a:endParaRPr lang="ru-RU" sz="2800" dirty="0"/>
          </a:p>
          <a:p>
            <a:pPr>
              <a:defRPr/>
            </a:pPr>
            <a:r>
              <a:rPr lang="ru-RU" sz="2800" dirty="0"/>
              <a:t>Но ведущей организационной формой обучения оказанию методам первой помощи, являются </a:t>
            </a:r>
            <a:r>
              <a:rPr lang="ru-RU" sz="2800" b="1" dirty="0"/>
              <a:t>практические занятия</a:t>
            </a:r>
            <a:r>
              <a:rPr lang="ru-RU" sz="2800" dirty="0"/>
              <a:t>. </a:t>
            </a:r>
            <a:endParaRPr dirty="0"/>
          </a:p>
          <a:p>
            <a:pPr>
              <a:defRPr/>
            </a:pPr>
            <a:endParaRPr lang="ru-RU" sz="2800" dirty="0"/>
          </a:p>
          <a:p>
            <a:pPr>
              <a:defRPr/>
            </a:pPr>
            <a:r>
              <a:rPr lang="ru-RU" sz="2800" dirty="0"/>
              <a:t>Внедрение в практику </a:t>
            </a:r>
            <a:r>
              <a:rPr lang="ru-RU" sz="2800" b="1" dirty="0" err="1"/>
              <a:t>симуляционного</a:t>
            </a:r>
            <a:r>
              <a:rPr lang="ru-RU" sz="2800" b="1" dirty="0"/>
              <a:t> оборудования</a:t>
            </a:r>
            <a:r>
              <a:rPr lang="ru-RU" sz="2800" dirty="0"/>
              <a:t>, современного </a:t>
            </a:r>
            <a:r>
              <a:rPr lang="ru-RU" sz="2800" b="1" dirty="0"/>
              <a:t>мультимедийного программного обеспечения</a:t>
            </a:r>
            <a:r>
              <a:rPr lang="ru-RU" sz="2800" dirty="0"/>
              <a:t> для обучения методам оказания первой помощи в настоящее время является важным элементом </a:t>
            </a:r>
            <a:r>
              <a:rPr lang="ru-RU" sz="2800" b="1" dirty="0"/>
              <a:t>цифровизации обучения</a:t>
            </a:r>
            <a:r>
              <a:rPr lang="ru-RU" sz="2800" dirty="0"/>
              <a:t>.  </a:t>
            </a:r>
            <a:endParaRPr dirty="0"/>
          </a:p>
        </p:txBody>
      </p:sp>
      <p:sp>
        <p:nvSpPr>
          <p:cNvPr id="10" name="Подзаголовок 2"/>
          <p:cNvSpPr txBox="1"/>
          <p:nvPr/>
        </p:nvSpPr>
        <p:spPr bwMode="auto">
          <a:xfrm>
            <a:off x="-769440" y="2684038"/>
            <a:ext cx="12561589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0" i="0" u="none" strike="noStrike" cap="none" spc="0" dirty="0">
                <a:ln>
                  <a:noFill/>
                </a:ln>
                <a:solidFill>
                  <a:srgbClr val="535353"/>
                </a:solidFill>
                <a:latin typeface="Open Sans"/>
              </a:rPr>
              <a:t>Использование современного учебного оборудования 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C79CFAB-4FF8-47F0-839E-088F6CFD04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08438" y="5886604"/>
            <a:ext cx="1470026" cy="14567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3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>
              <a:lnSpc>
                <a:spcPct val="100000"/>
              </a:lnSpc>
              <a:defRPr/>
            </a:pPr>
            <a:r>
              <a:rPr lang="ru-RU" sz="46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ТРЕНАЖЕРЫ ДЛЯ ОТРАБОТКИ НАВЫКОВ ПЕРВОЙ ПОМОЩИ</a:t>
            </a:r>
            <a:endParaRPr lang="ru-RU" sz="4600" b="0" i="0" u="none" strike="noStrike" cap="none" spc="0">
              <a:ln>
                <a:noFill/>
              </a:ln>
              <a:solidFill>
                <a:srgbClr val="404040"/>
              </a:solidFill>
              <a:latin typeface="PFDinDisplayPro-Regular"/>
              <a:ea typeface="PFDinDisplayPro-Regular"/>
              <a:cs typeface="PFDinDisplayPro-Regular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28" y="2604670"/>
            <a:ext cx="17610806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10" name="Подзаголовок 2"/>
          <p:cNvSpPr txBox="1"/>
          <p:nvPr/>
        </p:nvSpPr>
        <p:spPr bwMode="auto">
          <a:xfrm>
            <a:off x="1862659" y="2828368"/>
            <a:ext cx="9355709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 fontScale="92500"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</a:rPr>
              <a:t>Использование современного учебного оборудования </a:t>
            </a:r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2902968" y="3720424"/>
            <a:ext cx="13172749" cy="1014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 dirty="0"/>
              <a:t>Тренажёры разделяются:</a:t>
            </a:r>
            <a:endParaRPr dirty="0"/>
          </a:p>
          <a:p>
            <a:pPr>
              <a:defRPr/>
            </a:pPr>
            <a:endParaRPr lang="ru-RU" sz="2800" dirty="0"/>
          </a:p>
        </p:txBody>
      </p:sp>
      <p:graphicFrame>
        <p:nvGraphicFramePr>
          <p:cNvPr id="3" name="Схема 2">
            <a:extLst>
              <a:ext uri="{FF2B5EF4-FFF2-40B4-BE49-F238E27FC236}">
                <a16:creationId xmlns:a16="http://schemas.microsoft.com/office/drawing/2014/main" id="{C2F436B5-7100-4BCA-B75E-AD63992E3B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45298499"/>
              </p:ext>
            </p:extLst>
          </p:nvPr>
        </p:nvGraphicFramePr>
        <p:xfrm>
          <a:off x="1678832" y="4734932"/>
          <a:ext cx="19959898" cy="81241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" name="Picture 2" descr="Picture background">
            <a:extLst>
              <a:ext uri="{FF2B5EF4-FFF2-40B4-BE49-F238E27FC236}">
                <a16:creationId xmlns:a16="http://schemas.microsoft.com/office/drawing/2014/main" id="{C8F4D304-6338-46EC-8959-4B57CA7FFC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424" y="3661873"/>
            <a:ext cx="12168315" cy="8909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4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4600" b="0" i="0" u="none" strike="noStrike" cap="none" spc="0">
                <a:ln>
                  <a:noFill/>
                </a:ln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ТРЕНАЖЕРЫ ДЛЯ ОТРАБОТКИ НАВЫКОВ ПЕРВОЙ ПОМОЩИ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28" y="2604670"/>
            <a:ext cx="17610806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10" name="Подзаголовок 2"/>
          <p:cNvSpPr txBox="1"/>
          <p:nvPr/>
        </p:nvSpPr>
        <p:spPr bwMode="auto">
          <a:xfrm>
            <a:off x="1862659" y="2828368"/>
            <a:ext cx="9355709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 fontScale="92500"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</a:rPr>
              <a:t>Использование современного учебного оборудования </a:t>
            </a: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11218369" y="4841776"/>
            <a:ext cx="11198768" cy="62282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 dirty="0"/>
              <a:t>При проведении работы на тренажёре обучаемый должен научиться правильно осуществлять действия, направленные на:</a:t>
            </a:r>
            <a:endParaRPr dirty="0"/>
          </a:p>
          <a:p>
            <a:pPr>
              <a:defRPr/>
            </a:pPr>
            <a:endParaRPr lang="ru-RU" sz="2800" dirty="0"/>
          </a:p>
          <a:p>
            <a:pPr marL="342900" indent="-342900">
              <a:buFont typeface="Wingdings"/>
              <a:buChar char="q"/>
              <a:defRPr/>
            </a:pPr>
            <a:r>
              <a:rPr lang="ru-RU" sz="2800" dirty="0"/>
              <a:t>восстановление признаков жизни у пострадавшего при их отсутствии;</a:t>
            </a:r>
            <a:endParaRPr dirty="0"/>
          </a:p>
          <a:p>
            <a:pPr marL="342900" indent="-342900">
              <a:buFont typeface="Wingdings"/>
              <a:buChar char="q"/>
              <a:defRPr/>
            </a:pPr>
            <a:endParaRPr lang="ru-RU" sz="2800" dirty="0"/>
          </a:p>
          <a:p>
            <a:pPr marL="342900" indent="-342900">
              <a:buFont typeface="Wingdings"/>
              <a:buChar char="q"/>
              <a:defRPr/>
            </a:pPr>
            <a:r>
              <a:rPr lang="ru-RU" sz="2800" dirty="0"/>
              <a:t>остановку кровотечения;</a:t>
            </a:r>
            <a:endParaRPr dirty="0"/>
          </a:p>
          <a:p>
            <a:pPr marL="342900" indent="-342900">
              <a:buFont typeface="Wingdings"/>
              <a:buChar char="q"/>
              <a:defRPr/>
            </a:pPr>
            <a:endParaRPr lang="ru-RU" sz="2800" dirty="0"/>
          </a:p>
          <a:p>
            <a:pPr marL="342900" indent="-342900">
              <a:buFont typeface="Wingdings"/>
              <a:buChar char="q"/>
              <a:defRPr/>
            </a:pPr>
            <a:r>
              <a:rPr lang="ru-RU" sz="2800" dirty="0"/>
              <a:t>оказание первой помощи при различных травмах;</a:t>
            </a:r>
            <a:endParaRPr dirty="0"/>
          </a:p>
          <a:p>
            <a:pPr marL="342900" indent="-342900">
              <a:buFont typeface="Wingdings"/>
              <a:buChar char="q"/>
              <a:defRPr/>
            </a:pPr>
            <a:endParaRPr lang="ru-RU" sz="2800" dirty="0"/>
          </a:p>
          <a:p>
            <a:pPr marL="342900" indent="-342900">
              <a:buFont typeface="Wingdings"/>
              <a:buChar char="q"/>
              <a:defRPr/>
            </a:pPr>
            <a:r>
              <a:rPr lang="ru-RU" sz="2800" dirty="0"/>
              <a:t>извлечение инородных предметов из верхних дыхательных путей.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5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30997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defTabSz="914400">
              <a:lnSpc>
                <a:spcPct val="100000"/>
              </a:lnSpc>
              <a:defRPr/>
            </a:pPr>
            <a:r>
              <a:rPr lang="ru-RU" sz="46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3</a:t>
            </a:r>
            <a:r>
              <a:rPr lang="en-US" sz="46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D-</a:t>
            </a:r>
            <a:r>
              <a:rPr lang="ru-RU" sz="46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ТРЕНАЖЕРЫ «ПЕРВАЯ ПОМОЩЬ» РИСКПРОФ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41" y="2604670"/>
            <a:ext cx="14322041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10" name="Подзаголовок 2"/>
          <p:cNvSpPr txBox="1"/>
          <p:nvPr/>
        </p:nvSpPr>
        <p:spPr bwMode="auto">
          <a:xfrm>
            <a:off x="936187" y="2753858"/>
            <a:ext cx="10979554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0" i="0" u="none" strike="noStrike" cap="none" spc="0" dirty="0">
                <a:ln>
                  <a:noFill/>
                </a:ln>
                <a:solidFill>
                  <a:srgbClr val="535353"/>
                </a:solidFill>
                <a:latin typeface="Open Sans"/>
              </a:rPr>
              <a:t>Использование современного учебного оборудования 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2"/>
          <a:srcRect l="11942" r="30400"/>
          <a:stretch/>
        </p:blipFill>
        <p:spPr bwMode="auto">
          <a:xfrm>
            <a:off x="3032548" y="3977679"/>
            <a:ext cx="8347983" cy="7650685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rcRect l="27163" t="-2096" r="15334" b="2096"/>
          <a:stretch/>
        </p:blipFill>
        <p:spPr bwMode="auto">
          <a:xfrm>
            <a:off x="12624049" y="3761656"/>
            <a:ext cx="8424936" cy="78667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Rectangle 13"/>
          <p:cNvSpPr/>
          <p:nvPr/>
        </p:nvSpPr>
        <p:spPr bwMode="auto">
          <a:xfrm>
            <a:off x="6350" y="0"/>
            <a:ext cx="24371300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937" name="Rectangle 10"/>
          <p:cNvSpPr/>
          <p:nvPr/>
        </p:nvSpPr>
        <p:spPr bwMode="auto">
          <a:xfrm>
            <a:off x="6351" y="0"/>
            <a:ext cx="7435515" cy="13716000"/>
          </a:xfrm>
          <a:prstGeom prst="rect">
            <a:avLst/>
          </a:prstGeom>
          <a:solidFill>
            <a:srgbClr val="6F6F6F">
              <a:alpha val="50195"/>
            </a:srgbClr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>
              <a:lnSpc>
                <a:spcPct val="100000"/>
              </a:lnSpc>
              <a:defRPr sz="8600">
                <a:solidFill>
                  <a:srgbClr val="FFFFFF"/>
                </a:solidFill>
              </a:defRPr>
            </a:pPr>
            <a:endParaRPr sz="8600"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10" name="Text Placeholder 1"/>
          <p:cNvSpPr txBox="1"/>
          <p:nvPr/>
        </p:nvSpPr>
        <p:spPr bwMode="auto">
          <a:xfrm>
            <a:off x="9221445" y="5351780"/>
            <a:ext cx="14011088" cy="3012440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6600" b="1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rPr>
              <a:t>БЛАГОДАРИМ ЗА ВНИМАНИЕ</a:t>
            </a:r>
            <a:endParaRPr sz="7200" spc="300">
              <a:solidFill>
                <a:srgbClr val="4D4D4D"/>
              </a:solidFill>
              <a:latin typeface="Montserrat Semi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1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3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14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254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237</Words>
  <Application>Microsoft Office PowerPoint</Application>
  <DocSecurity>0</DocSecurity>
  <PresentationFormat>Произвольный</PresentationFormat>
  <Paragraphs>43</Paragraphs>
  <Slides>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6</vt:i4>
      </vt:variant>
    </vt:vector>
  </HeadingPairs>
  <TitlesOfParts>
    <vt:vector size="16" baseType="lpstr">
      <vt:lpstr>Arial</vt:lpstr>
      <vt:lpstr>Calibri</vt:lpstr>
      <vt:lpstr>Montserrat Semi Bold</vt:lpstr>
      <vt:lpstr>Open Sans</vt:lpstr>
      <vt:lpstr>Open Sans Light</vt:lpstr>
      <vt:lpstr>PFDinDisplayPro-Regular</vt:lpstr>
      <vt:lpstr>Wingdings</vt:lpstr>
      <vt:lpstr>11_Office Theme</vt:lpstr>
      <vt:lpstr>13_Office Theme</vt:lpstr>
      <vt:lpstr>14_Office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ИНТЕЛЛЕКТУАЛЬНОЕ ОБУЧЕНИЕ ЗАГОЛОВОК</dc:title>
  <dc:subject/>
  <dc:creator>ASUS</dc:creator>
  <cp:keywords/>
  <dc:description/>
  <cp:lastModifiedBy>Lukina Marina</cp:lastModifiedBy>
  <cp:revision>216</cp:revision>
  <dcterms:modified xsi:type="dcterms:W3CDTF">2026-08-20T09:37:01Z</dcterms:modified>
  <cp:category/>
  <dc:identifier/>
  <cp:contentStatus/>
  <dc:language/>
  <cp:version/>
</cp:coreProperties>
</file>