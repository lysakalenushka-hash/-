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20"/>
  </p:sldIdLst>
  <p:sldSz cx="24371300" cy="13716000"/>
  <p:notesSz cx="243713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1pPr>
    <a:lvl2pPr marL="0" marR="0" indent="91421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2pPr>
    <a:lvl3pPr marL="0" marR="0" indent="182843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3pPr>
    <a:lvl4pPr marL="0" marR="0" indent="2742651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4pPr>
    <a:lvl5pPr marL="0" marR="0" indent="365686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5pPr>
    <a:lvl6pPr marL="0" marR="0" indent="4571086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6pPr>
    <a:lvl7pPr marL="0" marR="0" indent="5485303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7pPr>
    <a:lvl8pPr marL="0" marR="0" indent="6399519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8pPr>
    <a:lvl9pPr marL="0" marR="0" indent="7313737" algn="l" defTabSz="1828433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3500" b="0" i="0" u="none" strike="noStrike" cap="none" spc="0">
        <a:ln>
          <a:noFill/>
        </a:ln>
        <a:solidFill>
          <a:srgbClr val="000000"/>
        </a:solidFill>
        <a:latin typeface="Open Sans Light"/>
        <a:ea typeface="Open Sans Light"/>
        <a:cs typeface="Open Sans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29" d="100"/>
          <a:sy n="29" d="100"/>
        </p:scale>
        <p:origin x="300" y="78"/>
      </p:cViewPr>
      <p:guideLst>
        <p:guide pos="4320" orient="horz"/>
        <p:guide pos="7676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tableStyles" Target="tableStyles.xml"/><Relationship Id="rId2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" name="Shape 841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" name="Shape 84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Добро пожаловать на занятие по подготовке преподавателей первой помощи.</a:t>
            </a:r>
          </a:p>
          <a:p>
            <a:r>
              <a:t>Сегодня мы разберём организационно-правовые аспекты оказания первой помощи — не как текст для заучивания, а как то, на что важно опираться, когда вы сами будете вести эту тему.</a:t>
            </a:r>
          </a:p>
          <a:p>
            <a:r>
              <a:t>Мы посмотрим, какие акценты держать, какие типичные ошибки встречаются у слушателей и при проведении обучения, и как связать закон с реальными действиями на месте происшествия.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Начнём с темы организационно-правовых аспектов оказания первой помощи.</a:t>
            </a:r>
          </a:p>
          <a:p>
            <a:r>
              <a:t>Цель занятия — помочь слушателям уверенно ориентироваться в основных понятиях, в нормативной базе, понять важность первой помощи, а также увидеть общую последовательность действий и оснащение.</a:t>
            </a:r>
          </a:p>
          <a:p>
            <a:r>
              <a:t>Формат здесь лучше держать живым: интерактивная лекция примерно на два часа, с диалогом, а не с монотонным чтением статей.</a:t>
            </a:r>
          </a:p>
          <a:p>
            <a:r>
              <a:t>Главный акцент — актуальное российское законодательство.</a:t>
            </a:r>
          </a:p>
          <a:p>
            <a:r>
              <a:t>Именно на этом этапе нужно спокойно развеять миф о том, что за оказание первой помощи человека «обязательно накажут».</a:t>
            </a:r>
          </a:p>
          <a:p>
            <a:r>
              <a:t>К концу темы слушатели должны понимать и ценность первой помощи, и её законодательно установленный объём.</a:t>
            </a:r>
          </a:p>
          <a:p>
            <a:r>
              <a:t>Ошибка в обучении — свести всё к чтению закона без разбора страхов очевидцев.</a:t>
            </a:r>
          </a:p>
          <a:p>
            <a:r>
              <a:t>Вторая ошибка — не связать правовые нормы с тем, что реально делать на месте происшествия.</a:t>
            </a:r>
          </a:p>
          <a:p>
            <a:r>
              <a:t>Третья — закончить тему, так и не проверив, поняли ли слушатели рамки первой помощи.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Сразу стоит объяснить, почему эта тема вообще важна.</a:t>
            </a:r>
          </a:p>
          <a:p>
            <a:r>
              <a:t>Первая помощь — отдельный вид помощи, и она оказывается до медицинской помощи.</a:t>
            </a:r>
          </a:p>
          <a:p>
            <a:r>
              <a:t>По оценкам, около четверти погибших в дорожных авариях могли бы выжить, если бы им вовремя помогли.</a:t>
            </a:r>
          </a:p>
          <a:p>
            <a:r>
              <a:t>Критическое окно короткое: при остановке сердца речь идёт примерно о десяти минутах, а при сильном кровотечении — иногда о полутора–двух минутах.</a:t>
            </a:r>
          </a:p>
          <a:p>
            <a:r>
              <a:t>Поэтому главные барьеры очевидцев — страх «сделать хуже» и страх юридической ответственности — нужно разбирать прямо и спокойно.</a:t>
            </a:r>
          </a:p>
          <a:p>
            <a:r>
              <a:t>Первая помощь нужна пострадавшему, и при правильных действиях она также защищает того, кто помогает.</a:t>
            </a:r>
          </a:p>
          <a:p>
            <a:r>
              <a:t>Типичные ошибки слушателей здесь такие: надеяться, что скорая точно успеет; отказаться помогать из страха ответственности; и путать первую помощь со скорой медицинской помощью.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Дальше покажите, как устроена система первой помощи в России.</a:t>
            </a:r>
          </a:p>
          <a:p>
            <a:r>
              <a:t>Она держится на пяти компонентах: нормативном обеспечении, обучении, оснащении, мотивации и учёте эффективности.</a:t>
            </a:r>
          </a:p>
          <a:p>
            <a:r>
              <a:t>Участников удобно разделить на три категории: тех, кто обязан помогать; тех, кто может оказать само- или взаимопомощь; и тех, кто помогает добровольно.</a:t>
            </a:r>
          </a:p>
          <a:p>
            <a:r>
              <a:t>Особо подчеркните роль очевидцев: именно они часто начинают помощь до прибытия специалистов и до передачи пострадавшего бригаде скорой помощи.</a:t>
            </a:r>
          </a:p>
          <a:p>
            <a:r>
              <a:t>Даже без аптечки простые действия уже могут спасти жизнь.</a:t>
            </a:r>
          </a:p>
          <a:p>
            <a:r>
              <a:t>Ошибки слушателей обычно связаны с путаницей права и обязанности, с убеждением, что без аптечки «ничего нельзя делать», и с забыванием про передачу пострадавшего прибывшей бригаде.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Теперь перейдём к нормативной базе.</a:t>
            </a:r>
          </a:p>
          <a:p>
            <a:r>
              <a:t>Ключевой ориентир — статья 31 Федерального закона № 323-ФЗ и Порядок оказания первой помощи по приказу Минздрава № 220н.</a:t>
            </a:r>
          </a:p>
          <a:p>
            <a:r>
              <a:t>Важно прямо сказать: первая помощь оказывается по порядкам Минздрава, а не по правилам охраны труда, памяткам, старым программам или «личному опыту».</a:t>
            </a:r>
          </a:p>
          <a:p>
            <a:r>
              <a:t>В приказе № 220н закреплены девять состояний, девять мероприятий и их последовательность.</a:t>
            </a:r>
          </a:p>
          <a:p>
            <a:r>
              <a:t>С первого сентября 2024 года действует обновлённая редакция статьи 31.</a:t>
            </a:r>
          </a:p>
          <a:p>
            <a:r>
              <a:t>На занятии лучше показывать сами нормы и короткие цитаты — так материал звучит убедительнее.</a:t>
            </a:r>
          </a:p>
          <a:p>
            <a:r>
              <a:t>Типичные ошибки — опираться на устаревший приказ № 477н, учить объём помощи «по интернету» вне Порядка и подменять Порядок локальными инструкциями.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Отдельно разберите права, обязанности и ответственность.</a:t>
            </a:r>
          </a:p>
          <a:p>
            <a:r>
              <a:t>Для добровольного участника слово «вправе» означает право выбора, а не обязанность.</a:t>
            </a:r>
          </a:p>
          <a:p>
            <a:r>
              <a:t>Обязанность есть у тех, для кого она прямо закреплена нормативными актами: полиция, пожарные, спасатели и ряд других категорий.</a:t>
            </a:r>
          </a:p>
          <a:p>
            <a:r>
              <a:t>Водитель, причастный к ДТП с пострадавшими, тоже обязан принять меры к оказанию первой помощи.</a:t>
            </a:r>
          </a:p>
          <a:p>
            <a:r>
              <a:t>Медицинский работник во внерабочее время, как правило, имеет право оказывать первую помощь, но не всегда обязан именно в этом режиме.</a:t>
            </a:r>
          </a:p>
          <a:p>
            <a:r>
              <a:t>Если человек действует в рамках Порядка, ему помогает конструкция крайней необходимости, а само оказание помощи учитывается как смягчающее обстоятельство.</a:t>
            </a:r>
          </a:p>
          <a:p>
            <a:r>
              <a:t>Риск ответственности появляется прежде всего тогда, когда выходят за рамки разрешённых мероприятий.</a:t>
            </a:r>
          </a:p>
          <a:p>
            <a:r>
              <a:t>Ошибки слушателей здесь очень живучие: «за любую ошибку посадят»; путаница между обязанным лицом и добровольным очевидцем; и представление, будто медработник всегда обязан оказывать именно первую помощь.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Переходим к оснащению.</a:t>
            </a:r>
          </a:p>
          <a:p>
            <a:r>
              <a:t>Самые распространённые аптечки — автомобильная по приказу № 260н, для работников по № 262н и для образовательных организаций по № 261н.</a:t>
            </a:r>
          </a:p>
          <a:p>
            <a:r>
              <a:t>Состав обязательный, и заменять компоненты «на своё усмотрение» нельзя.</a:t>
            </a:r>
          </a:p>
          <a:p>
            <a:r>
              <a:t>С 2024 года в комплектацию по утверждённым требованиям могут входить и лекарственные средства, но только в рамках соответствующих приказов.</a:t>
            </a:r>
          </a:p>
          <a:p>
            <a:r>
              <a:t>При этом подручные средства законом не запрещены.</a:t>
            </a:r>
          </a:p>
          <a:p>
            <a:r>
              <a:t>Аптечку нужно пополнять по мере расхода и по сроку годности, а также держать всегда доступной.</a:t>
            </a:r>
          </a:p>
          <a:p>
            <a:r>
              <a:t>Типичные ошибки слушателей — самовольная замена содержимого, использование медицинской маски вместо устройства для искусственного дыхания и отсутствие контроля готовности аптечки.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Теперь соберите материал в универсальный алгоритм по Порядку № 220н.</a:t>
            </a:r>
          </a:p>
          <a:p>
            <a:r>
              <a:t>Слушатели должны видеть не разрозненные приёмы, а последовательность Приложения № 2.</a:t>
            </a:r>
          </a:p>
          <a:p>
            <a:r>
              <a:t>Логика простая: сначала безопасность, затем угрожающее кровотечение, затем признаки жизни и, при необходимости, реанимация.</a:t>
            </a:r>
          </a:p>
          <a:p>
            <a:r>
              <a:t>Признаки жизни определяют по сознанию и дыханию; пульс в первой помощи не проверяют.</a:t>
            </a:r>
          </a:p>
          <a:p>
            <a:r>
              <a:t>Назначение лекарств в объём первой помощи не входит, но можно помочь пострадавшему принять препараты, которые ему уже назначил врач.</a:t>
            </a:r>
          </a:p>
          <a:p>
            <a:r>
              <a:t>Не забудьте про устное информирование о начале помощи и про выраженный отказ.</a:t>
            </a:r>
          </a:p>
          <a:p>
            <a:r>
              <a:t>Ошибки здесь частые: начинать «лечение» без оценки обстановки; давать чужие лекарства; и возвращать проверку пульса как обязательный шаг.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Перед любыми действиями — безопасность.</a:t>
            </a:r>
          </a:p>
          <a:p>
            <a:r>
              <a:t>По пункту 4 Порядка собственная безопасность оказывающего помощь является условием оказания первой помощи.</a:t>
            </a:r>
          </a:p>
          <a:p>
            <a:r>
              <a:t>Разберите типичные угрозы: электрический ток, интенсивное движение, пожар или взрыв, токсичные вещества, агрессия, риск обрушения.</a:t>
            </a:r>
          </a:p>
          <a:p>
            <a:r>
              <a:t>Сначала снижают опасность, и только потом помогают.</a:t>
            </a:r>
          </a:p>
          <a:p>
            <a:r>
              <a:t>Параллельно нужно обезопасить самого пострадавшего и прекратить действие повреждающих факторов.</a:t>
            </a:r>
          </a:p>
          <a:p>
            <a:r>
              <a:t>Если угроза сохраняется, правильный шаг — вызов спецслужб, а не героизм любой ценой.</a:t>
            </a:r>
          </a:p>
          <a:p>
            <a:r>
              <a:t>Типичные ошибки — забыть про опасный фактор, броситься к пострадавшему и стать вторым пострадавшим, а также не сообщить окружающим, что сейчас будет оказываться первая помощь.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Рядом с безопасностью места всегда идёт профилактика инфекций.</a:t>
            </a:r>
          </a:p>
          <a:p>
            <a:r>
              <a:t>Для снижения риска заражения используют медицинские перчатки и устройство «Рот–Устройство–Рот».</a:t>
            </a:r>
          </a:p>
          <a:p>
            <a:r>
              <a:t>Маска из аптечки нужна для защиты того, кто оказывает помощь, и не предназначена для искусственного дыхания.</a:t>
            </a:r>
          </a:p>
          <a:p>
            <a:r>
              <a:t>Если кровь или другие биологические жидкости попали на кожу, их сразу смывают, руки тщательно моют.</a:t>
            </a:r>
          </a:p>
          <a:p>
            <a:r>
              <a:t>После проведения искусственного дыхания рот рекомендуется прополоскать.</a:t>
            </a:r>
          </a:p>
          <a:p>
            <a:r>
              <a:t>Ошибки слушателей здесь простые, но устойчивые: пренебрежение защитой, путаница между маской и устройством для ИВЛ и равнодушие к контакту с биожидкостями.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Отдельный большой блок — извлечение и перемещение.</a:t>
            </a:r>
          </a:p>
          <a:p>
            <a:r>
              <a:t>Экстренное извлечение нужно только тогда, когда пострадавшему угрожает опасность или помочь на месте невозможно.</a:t>
            </a:r>
          </a:p>
          <a:p>
            <a:r>
              <a:t>Перед извлечением из автомобиля включают стояночный тормоз и выключают зажигание.</a:t>
            </a:r>
          </a:p>
          <a:p>
            <a:r>
              <a:t>Если человек в сознании, часто используют приём Раутека.</a:t>
            </a:r>
          </a:p>
          <a:p>
            <a:r>
              <a:t>Если он без сознания или есть подозрение на травму шейного отдела позвоночника, голову и шею обязательно фиксируют.</a:t>
            </a:r>
          </a:p>
          <a:p>
            <a:r>
              <a:t>Способ дальнейшего перемещения выбирают по состоянию пострадавшего, характеру травм, числу участников и их силам.</a:t>
            </a:r>
          </a:p>
          <a:p>
            <a:r>
              <a:t>А если пострадавших несколько, приоритет отдают наиболее тяжёлым и детям.</a:t>
            </a:r>
          </a:p>
          <a:p>
            <a:r>
              <a:t>Ошибки здесь опасны: извлекать «на всякий случай», не фиксировать голову и шею при подозрении на травму позвоночника и выбирать травмоопасный способ только ради скорости.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Завершая практическую логику темы, разберите вызов скорой помощи.</a:t>
            </a:r>
          </a:p>
          <a:p>
            <a:r>
              <a:t>Единый номер экстренных служб — 112; скорую также вызывают по 103 и региональным номерам.</a:t>
            </a:r>
          </a:p>
          <a:p>
            <a:r>
              <a:t>Диспетчеру нужно коротко и точно сказать: где это произошло и что случилось; сколько пострадавших; какие у них повреждения и насколько тяжело состояние; какая помощь уже оказывается.</a:t>
            </a:r>
          </a:p>
          <a:p>
            <a:r>
              <a:t>Вызов удобнее делать после короткой оценки состояния — так информация получается точнее.</a:t>
            </a:r>
          </a:p>
          <a:p>
            <a:r>
              <a:t>Трубку не кладут первыми: ждут подтверждения, что вызов принят.</a:t>
            </a:r>
          </a:p>
          <a:p>
            <a:r>
              <a:t>И помните: диспетчер может подсказывать, что делать дальше, и этим нужно пользоваться.</a:t>
            </a:r>
          </a:p>
          <a:p>
            <a:r>
              <a:t>Типичные ошибки — забыть вызвать скорую, не сообщить число пострадавших и характер повреждений, положить трубку слишком рано.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В конце соберите методические акценты для вас как для преподавателей.</a:t>
            </a:r>
          </a:p>
          <a:p>
            <a:r>
              <a:t>Держите фокус на актуальных нормативных актах и коротких цитатах.</a:t>
            </a:r>
          </a:p>
          <a:p>
            <a:r>
              <a:t>Страхи слушателей — «сделаю хуже» и «посадят» — разбирайте в диалоге, а не отмахивайтесь от них.</a:t>
            </a:r>
          </a:p>
          <a:p>
            <a:r>
              <a:t>Связывайте право, алгоритм, оснащение и вызов скорой в одну понятную цепочку.</a:t>
            </a:r>
          </a:p>
          <a:p>
            <a:r>
              <a:t>Закрепляйте тему контрольными вопросами из пособия.</a:t>
            </a:r>
          </a:p>
          <a:p>
            <a:r>
              <a:t>И в финале подчеркните простую мысль: первая помощь доступна, законна и спасает жизни.</a:t>
            </a:r>
          </a:p>
          <a:p>
            <a:r>
              <a:t>Ошибки в обучении тоже стоит заранее видеть.</a:t>
            </a:r>
          </a:p>
          <a:p>
            <a:r>
              <a:t>Не уходите в юридический ликбез без практики.</a:t>
            </a:r>
          </a:p>
          <a:p>
            <a:r>
              <a:t>Не пугайте ответственностью вместо того, чтобы снять ложный страх.</a:t>
            </a:r>
          </a:p>
          <a:p>
            <a:r>
              <a:t>Не давайте устаревшие перечни состояний и мероприятий.</a:t>
            </a:r>
          </a:p>
          <a:p>
            <a:r>
              <a:t>И не пропускайте безопасность, профилактику инфекций и вызов скорой как будто это и так всем очевидно.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На этом разбор организационно-правовых аспектов для преподавателей завершён.</a:t>
            </a:r>
          </a:p>
          <a:p>
            <a:r>
              <a:t>Спасибо за внимание, и удачи вам в проведении занятий.</a:t>
            </a: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7206" y="5006973"/>
            <a:ext cx="18283238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7206" y="7204075"/>
            <a:ext cx="18283238" cy="595219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040" y="3708960"/>
            <a:ext cx="21025723" cy="1405967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040" y="5817082"/>
            <a:ext cx="21025723" cy="75516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4" name="Rectangle 8"/>
          <p:cNvSpPr/>
          <p:nvPr/>
        </p:nvSpPr>
        <p:spPr bwMode="auto">
          <a:xfrm>
            <a:off x="11448381" y="5305985"/>
            <a:ext cx="1553039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1825" y="7458075"/>
            <a:ext cx="18030826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59952" y="3938096"/>
            <a:ext cx="6923155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1844" y="3938096"/>
            <a:ext cx="7124369" cy="550330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59952" y="8556336"/>
            <a:ext cx="6977810" cy="146177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1844" y="4700099"/>
            <a:ext cx="7124369" cy="329104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57225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14500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" name="Straight Connector 7"/>
          <p:cNvSpPr/>
          <p:nvPr/>
        </p:nvSpPr>
        <p:spPr bwMode="auto">
          <a:xfrm>
            <a:off x="1675963" y="2400300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37764" cy="10872329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625" y="1864518"/>
            <a:ext cx="22541411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626" y="1864518"/>
            <a:ext cx="22541410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2775885"/>
            <a:ext cx="10512863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2260787"/>
            <a:ext cx="10512863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286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6859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5963" y="23717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6333" y="3918317"/>
            <a:ext cx="2938097" cy="293809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4799733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799731" y="0"/>
            <a:ext cx="957791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02553" y="2931885"/>
            <a:ext cx="6399134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73475" y="4875212"/>
            <a:ext cx="6328212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601" y="-235852"/>
            <a:ext cx="692190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6362" y="-235858"/>
            <a:ext cx="8737907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9998092" y="-235854"/>
            <a:ext cx="9853494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57400" y="-235855"/>
            <a:ext cx="7234551" cy="1410425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272" y="-651331"/>
            <a:ext cx="25783598" cy="14935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759451"/>
            <a:ext cx="21025723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685800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18565"/>
            <a:ext cx="21025723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5825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19234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2643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86052" y="3899646"/>
            <a:ext cx="5077199" cy="575870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7101" y="7772400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2347" y="7772399"/>
            <a:ext cx="2673510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1243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24651" y="7772399"/>
            <a:ext cx="2673509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1249" y="7897810"/>
            <a:ext cx="2311776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48172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7210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05519" y="7897810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5825" y="10004425"/>
            <a:ext cx="5077200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5825" y="10614027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2748" y="10004425"/>
            <a:ext cx="5077199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2748" y="10614027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2643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2643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49566" y="10001050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49566" y="10610653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79052"/>
            <a:ext cx="21025723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3375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2539" y="3978647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3375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2539" y="8104093"/>
            <a:ext cx="4178861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14225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14224" y="6475348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14225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67940" y="529309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67938" y="6475348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67940" y="588422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06851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06850" y="9279536"/>
            <a:ext cx="5077200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06851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0565" y="8097287"/>
            <a:ext cx="5077199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0565" y="9279536"/>
            <a:ext cx="5077199" cy="111351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0565" y="8688412"/>
            <a:ext cx="5077199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9290"/>
            <a:ext cx="21025723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00250"/>
            <a:ext cx="21025723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180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5953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2899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46258" y="3997140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89616" y="3936819"/>
            <a:ext cx="3371851" cy="33718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289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289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289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5042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504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5042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3791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3791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3791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12544" y="8044360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12542" y="9387974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12544" y="8635486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61294" y="8074521"/>
            <a:ext cx="3723341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61292" y="9418135"/>
            <a:ext cx="3723341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61294" y="8665647"/>
            <a:ext cx="3723341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695883"/>
            <a:ext cx="10058839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753159"/>
            <a:ext cx="10058839" cy="45720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4588" y="385454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4588" y="7567613"/>
            <a:ext cx="6454589" cy="37130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7309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6680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4588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3957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4588" y="6974299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3957" y="707389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7309" y="7567613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6680" y="7667212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2422" y="9144000"/>
            <a:ext cx="1224523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1722" y="1989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1092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0548" y="6561342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19919" y="6660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07856" y="11133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7226" y="11232943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26927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0725" y="0"/>
            <a:ext cx="122269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0725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62450" y="1989342"/>
            <a:ext cx="2527278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81819" y="2088943"/>
            <a:ext cx="2311775" cy="36512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1724" y="6575837"/>
            <a:ext cx="2527279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1093" y="6675436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0857" y="12257089"/>
            <a:ext cx="2311775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7863" y="9466729"/>
            <a:ext cx="21025723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5" y="-1"/>
            <a:ext cx="24377655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19204" y="-17373600"/>
            <a:ext cx="243776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526473"/>
            <a:ext cx="21025723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083377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50281" y="7347745"/>
            <a:ext cx="2088356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88825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26927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349299"/>
            <a:ext cx="9120044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75" name="Rectangle 6"/>
          <p:cNvSpPr/>
          <p:nvPr/>
        </p:nvSpPr>
        <p:spPr bwMode="auto">
          <a:xfrm>
            <a:off x="0" y="0"/>
            <a:ext cx="1218882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44897"/>
            <a:ext cx="9120044" cy="3406775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algn="ct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229193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6520" y="7348949"/>
            <a:ext cx="329419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1285" y="7448549"/>
            <a:ext cx="3013294" cy="365127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6125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38899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4315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496698" y="4040935"/>
            <a:ext cx="6454589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6124" y="8762999"/>
            <a:ext cx="6454590" cy="550866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6124" y="944245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496697" y="8716309"/>
            <a:ext cx="6454590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496697" y="9395762"/>
            <a:ext cx="6454590" cy="211492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496698" y="7160690"/>
            <a:ext cx="3301814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2114" y="7260290"/>
            <a:ext cx="3020264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3550" y="4145279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3550" y="4886323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1749" y="4145279"/>
            <a:ext cx="2338023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3550" y="8208864"/>
            <a:ext cx="5286375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3550" y="8949908"/>
            <a:ext cx="5286375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1749" y="8208863"/>
            <a:ext cx="2338023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02553" y="4145279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02553" y="4886323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0753" y="4145279"/>
            <a:ext cx="233802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02553" y="8208864"/>
            <a:ext cx="5286376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02553" y="8949908"/>
            <a:ext cx="5286376" cy="203722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0753" y="8208863"/>
            <a:ext cx="2338022" cy="23380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58950" y="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991870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18700" y="6858000"/>
            <a:ext cx="1445895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6257" y="3390901"/>
            <a:ext cx="15331143" cy="6858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1163" y="3950260"/>
            <a:ext cx="13818037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1163" y="5007534"/>
            <a:ext cx="13818037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52449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5200" y="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0400" y="6858000"/>
            <a:ext cx="8125201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3149" y="6858000"/>
            <a:ext cx="8125202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1624" y="5873750"/>
            <a:ext cx="11506201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4375" y="6329362"/>
            <a:ext cx="10248900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4" y="9144000"/>
            <a:ext cx="1218882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0" y="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0" y="4572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0" y="9144000"/>
            <a:ext cx="12188825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6351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6351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6351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6273" y="10414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6273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6273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6273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6273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6273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11145"/>
            <a:ext cx="12188825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2" y="8040913"/>
            <a:ext cx="12188826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88825" y="1"/>
            <a:ext cx="12188828" cy="1371599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4" y="8036300"/>
            <a:ext cx="12188828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5963" y="9174289"/>
            <a:ext cx="8582462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5964" y="10014856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4" y="8510327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19225" y="9144810"/>
            <a:ext cx="8582461" cy="800141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9225" y="9985378"/>
            <a:ext cx="8582461" cy="1883457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19225" y="8480849"/>
            <a:ext cx="8582461" cy="513537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88825" y="1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0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88825" y="6858000"/>
            <a:ext cx="12188825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4813" y="4572000"/>
            <a:ext cx="955401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88825" y="4572000"/>
            <a:ext cx="9554011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4813" y="6829425"/>
            <a:ext cx="9554012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88825" y="6829425"/>
            <a:ext cx="9554011" cy="2257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13865870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49281" y="0"/>
            <a:ext cx="12728368" cy="80083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0"/>
            <a:ext cx="1164928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2049" y="8978151"/>
            <a:ext cx="11785600" cy="47378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8797" y="7922741"/>
            <a:ext cx="21080055" cy="1231527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9154268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4" y="0"/>
            <a:ext cx="635635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88824" y="4572000"/>
            <a:ext cx="635635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88825" y="9144000"/>
            <a:ext cx="635635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45175" y="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45175" y="4572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45175" y="9144000"/>
            <a:ext cx="583247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05097" y="1041400"/>
            <a:ext cx="4783818" cy="4159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05097" y="1651000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05097" y="5499100"/>
            <a:ext cx="4783818" cy="415925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05097" y="61087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05097" y="10127799"/>
            <a:ext cx="4783818" cy="415926"/>
          </a:xfrm>
          <a:prstGeom prst="rect">
            <a:avLst/>
          </a:prstGeom>
        </p:spPr>
        <p:txBody>
          <a:bodyPr/>
          <a:lstStyle>
            <a:lvl1pPr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05097" y="10737401"/>
            <a:ext cx="4783818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2471" y="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2471" y="4572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2471" y="9144000"/>
            <a:ext cx="635635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2" y="31300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2" y="4603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2" y="9175301"/>
            <a:ext cx="5832475" cy="4572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59921" y="1072700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59921" y="16823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59921" y="5530401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59921" y="6140001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59921" y="10159099"/>
            <a:ext cx="4783817" cy="415926"/>
          </a:xfrm>
          <a:prstGeom prst="rect">
            <a:avLst/>
          </a:prstGeom>
        </p:spPr>
        <p:txBody>
          <a:bodyPr/>
          <a:lstStyle>
            <a:lvl1pPr algn="r" defTabSz="1426107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59921" y="10768702"/>
            <a:ext cx="4783817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3973605"/>
            <a:ext cx="12188825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441" y="7220229"/>
            <a:ext cx="7953376" cy="170488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183" y="7543240"/>
            <a:ext cx="5657851" cy="1087905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59676" y="3973605"/>
            <a:ext cx="7928723" cy="550865"/>
          </a:xfrm>
          <a:prstGeom prst="rect">
            <a:avLst/>
          </a:prstGeom>
        </p:spPr>
        <p:txBody>
          <a:bodyPr/>
          <a:lstStyle>
            <a:lvl1pPr defTabSz="1700359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59676" y="4653057"/>
            <a:ext cx="7928723" cy="428073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5963" y="10220322"/>
            <a:ext cx="10512861" cy="16298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795751" y="3993777"/>
            <a:ext cx="7591425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25" y="3993777"/>
            <a:ext cx="7572375" cy="385603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47003" y="3993777"/>
            <a:ext cx="12083644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400050"/>
            <a:ext cx="10058839" cy="1057275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1457325"/>
            <a:ext cx="10058839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5963" y="2143125"/>
            <a:ext cx="5484973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19" rIns="45719"/>
          <a:lstStyle/>
          <a:p>
            <a:pPr>
              <a:defRPr/>
            </a:pPr>
            <a:endParaRPr/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88825" y="-2"/>
            <a:ext cx="304920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380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87291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36556" y="-2"/>
            <a:ext cx="3049201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88825" y="34415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380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87291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36556" y="34415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88825" y="6832798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380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87291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36556" y="6832798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88825" y="10274399"/>
            <a:ext cx="3049200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380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87291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36556" y="10274399"/>
            <a:ext cx="3049201" cy="3441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4622612"/>
            <a:ext cx="24368125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3665156"/>
            <a:ext cx="24368125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1" y="3665156"/>
            <a:ext cx="24377651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3375" y="5850387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232071"/>
            <a:ext cx="21134388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47606" y="6130925"/>
            <a:ext cx="2533652" cy="42640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1200" y="2514600"/>
            <a:ext cx="10207625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1200" y="5673725"/>
            <a:ext cx="10207625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3600" y="6261101"/>
            <a:ext cx="2527300" cy="42545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09567" y="5902876"/>
            <a:ext cx="5560205" cy="282966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3028" y="7389627"/>
            <a:ext cx="5545289" cy="422030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38942" y="4658203"/>
            <a:ext cx="6231945" cy="45515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6179" y="5610225"/>
            <a:ext cx="6370321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3034"/>
            <a:ext cx="21025723" cy="1381687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3" y="2134720"/>
            <a:ext cx="21025723" cy="457201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76314"/>
            <a:ext cx="21134388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134388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2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5400675"/>
            <a:ext cx="10585450" cy="2028825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7429500"/>
            <a:ext cx="10585450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8825" y="860612"/>
            <a:ext cx="10512861" cy="1623733"/>
          </a:xfrm>
          <a:prstGeom prst="rect">
            <a:avLst/>
          </a:prstGeom>
        </p:spPr>
        <p:txBody>
          <a:bodyPr/>
          <a:lstStyle>
            <a:lvl1pPr algn="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188825" y="2484345"/>
            <a:ext cx="10512861" cy="457201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24377650" cy="1371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4" y="64293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4" y="84582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3375" y="4829175"/>
            <a:ext cx="21098311" cy="2028825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3375" y="6858000"/>
            <a:ext cx="21098311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557246"/>
            <a:ext cx="5988862" cy="680199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5964" y="8237445"/>
            <a:ext cx="5988861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2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04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06000" y="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2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04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06000" y="4572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2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04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06000" y="9144000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3103" y="6994525"/>
            <a:ext cx="6102001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5963" y="3651250"/>
            <a:ext cx="103605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8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8" y="3362326"/>
            <a:ext cx="10312890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1186" y="3362326"/>
            <a:ext cx="10363677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5963" y="730251"/>
            <a:ext cx="21025724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4288" y="5297486"/>
            <a:ext cx="5299076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1275" y="7423150"/>
            <a:ext cx="5272088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3722" y="5303839"/>
            <a:ext cx="5299076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9139" y="914400"/>
            <a:ext cx="7862428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3676" y="1974850"/>
            <a:ext cx="12341186" cy="974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9139" y="4114800"/>
            <a:ext cx="7862428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2026" y="4114800"/>
            <a:ext cx="8229601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36030" y="4297679"/>
            <a:ext cx="9141619" cy="54864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24377650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9461" y="12344400"/>
            <a:ext cx="5686638" cy="7366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4084" y="12828905"/>
            <a:ext cx="437603" cy="497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8565" y="184149"/>
            <a:ext cx="2193417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8565" y="3200400"/>
            <a:ext cx="2193417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txStyles>
    <p:titleStyle>
      <a:lvl1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3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1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3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3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6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39" marR="0" indent="-365668" algn="l" defTabSz="1828343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1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3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19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7" algn="r" defTabSz="1828433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6.jpg"/><Relationship Id="rId6" Type="http://schemas.openxmlformats.org/officeDocument/2006/relationships/image" Target="../media/image2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1.png"/><Relationship Id="rId6" Type="http://schemas.openxmlformats.org/officeDocument/2006/relationships/image" Target="../media/image3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Relationship Id="rId6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35.jpg"/><Relationship Id="rId6" Type="http://schemas.openxmlformats.org/officeDocument/2006/relationships/image" Target="../media/image3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31443" y="5481332"/>
            <a:ext cx="4621489" cy="4445001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5" name="Rectangle 13"/>
          <p:cNvSpPr/>
          <p:nvPr/>
        </p:nvSpPr>
        <p:spPr bwMode="auto">
          <a:xfrm>
            <a:off x="13924280" y="0"/>
            <a:ext cx="1063625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46" name="Rectangle 5"/>
          <p:cNvSpPr/>
          <p:nvPr/>
        </p:nvSpPr>
        <p:spPr bwMode="auto">
          <a:xfrm>
            <a:off x="1664241" y="8700653"/>
            <a:ext cx="11649423" cy="108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664241" y="6712005"/>
            <a:ext cx="12903097" cy="1983653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ОБУЧЕНИЕ ПРЕПОДАВАТЕЛЕЙ </a:t>
            </a:r>
            <a:endParaRPr/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54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ПО ОКАЗАНИЮ ПЕРВОЙ  ПОМОЩИ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1" name="object 8"/>
          <p:cNvSpPr/>
          <p:nvPr/>
        </p:nvSpPr>
        <p:spPr bwMode="auto">
          <a:xfrm>
            <a:off x="14885256" y="3051861"/>
            <a:ext cx="7431143" cy="9776857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2" name="object 7"/>
          <p:cNvSpPr txBox="1"/>
          <p:nvPr/>
        </p:nvSpPr>
        <p:spPr bwMode="auto">
          <a:xfrm>
            <a:off x="2054901" y="3643922"/>
            <a:ext cx="9203800" cy="803873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defRPr/>
            </a:pPr>
            <a:r>
              <a:rPr lang="ru-RU" sz="1700" b="1" spc="-5">
                <a:solidFill>
                  <a:schemeClr val="accent6"/>
                </a:solidFill>
                <a:latin typeface="Open Sans Light"/>
                <a:ea typeface="Open Sans Light"/>
                <a:cs typeface="Open Sans Light"/>
              </a:rPr>
              <a:t>ТЕМА 1. ОРГАНИЗАЦИОННО-ПРАВОВЫЕ АСПЕКТЫ</a:t>
            </a:r>
            <a:endParaRPr/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Цель: понятия, НПА, важность ПП, алгоритм и оснащение;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Формат: интерактивная лекция (2 часа), диалог, а не монолог;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Особый акцент — актуальное российское законодательство;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Развеять миф о наказании за оказание первой помощи;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Итог темы: значимость ПП и её законодательно установленный объём.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Свести занятие к «чтению закона» без разбора страхов очевидцев;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связать правовые нормы с действиями на месте происшествия;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зафиксировать понимание объёма ПП после разбора темы.</a:t>
            </a:r>
          </a:p>
        </p:txBody>
      </p:sp>
      <p:sp>
        <p:nvSpPr>
          <p:cNvPr id="13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5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9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30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object 7"/>
          <p:cNvSpPr txBox="1"/>
          <p:nvPr/>
        </p:nvSpPr>
        <p:spPr bwMode="auto">
          <a:xfrm>
            <a:off x="2054901" y="3761994"/>
            <a:ext cx="11441643" cy="79489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ВАЖНОСТЬ ПЕРВОЙ ПОМОЩИ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ПП — отдельный вид помощи до медицинской помощи;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Около 25% погибших в ДТП могли выжить при своевременной ПП;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Критическое окно: остановка сердца ~10 мин; сильное кровотечение 1,5–2 мин;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Главные барьеры очевидцев: «сделаю хуже» и страх ответственности;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ПП полезна пострадавшему и юридически защищает оказывающего.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Надеяться, что «скорая успеет»;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Отказываться помогать из страха юридической ответственности;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Путать первую помощь со скорой медицинской помощью.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14140964" y="4687614"/>
            <a:ext cx="8175435" cy="622084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684887"/>
            <a:ext cx="9203800" cy="56560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ОРГАНИЗАЦИЯ СИСТЕМЫ ПЕРВОЙ ПОМОЩИ В РФ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Пять компонентов системы: НПА, обучение, оснащение, мотивация, учёт;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Три категории участников: обязанные; само-/взаимопомощь; добровольные;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Роль очевидцев до прибытия специалистов и передачи бригаде СМП;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Даже простые действия без аптечки могут спасти жизнь.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Путать право и обязанность оказывать первую помощь;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Считать, что без аптечки «нельзя ничего делать»;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Забывать про передачу пострадавшего прибывшей бригаде СМП.</a:t>
            </a:r>
          </a:p>
        </p:txBody>
      </p:sp>
      <p:sp>
        <p:nvSpPr>
          <p:cNvPr id="8" name="object 8"/>
          <p:cNvSpPr/>
          <p:nvPr/>
        </p:nvSpPr>
        <p:spPr bwMode="auto">
          <a:xfrm>
            <a:off x="14106640" y="3986529"/>
            <a:ext cx="8209759" cy="642693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7332789" y="4325183"/>
            <a:ext cx="12722112" cy="6892271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НОРМАТИВНО-ПРАВОВАЯ БАЗА (СТ. 31 323-ФЗ, ПРИКАЗ 220н)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ПП оказывается только по порядкам Минздрава России;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по правилам ОТ, памяткам, программам и «личному опыту»;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Приказ № 220н: 9 состояний и 9 мероприятий + последовательность;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 01.09.2024 — новая редакция ст. 31 (ФЗ № 135-ФЗ);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Показывать НПА и короткие цитаты на слайдах.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Опираться на устаревший приказ № 477н;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Учить объём ПП «по интернету» вне Порядка;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Подменять Порядок локальными инструкциями и памятками.</a:t>
            </a:r>
          </a:p>
        </p:txBody>
      </p:sp>
      <p:sp>
        <p:nvSpPr>
          <p:cNvPr id="10" name="object 8"/>
          <p:cNvSpPr/>
          <p:nvPr/>
        </p:nvSpPr>
        <p:spPr bwMode="auto">
          <a:xfrm>
            <a:off x="2054901" y="2906487"/>
            <a:ext cx="3906987" cy="1047605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3702059"/>
            <a:ext cx="11254698" cy="8111067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ПРАВА, ОБЯЗАННОСТИ И ОТВЕТСТВЕННОСТЬ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«Вправе» — право выбора, а не обязанность для добровольцев;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Обязанные: полиция, пожарные, спасатели и др. по НПА;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Водитель — участник ДТП с пострадавшими обязан принять меры;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Медработник во внерабочее время: право, не обязанность по ПП;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Крайняя необходимость; ПП — смягчающее обстоятельство;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Риск ответственности — при выходе за рамки Порядка.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Утверждать, что «за любую ошибку при ПП посадят»;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Путать неоказание помощи обязанным лицом и добровольным очевидцем;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Считать медработников всегда обязанными оказывать именно ПП.</a:t>
            </a:r>
          </a:p>
        </p:txBody>
      </p:sp>
      <p:sp>
        <p:nvSpPr>
          <p:cNvPr id="8" name="object 8"/>
          <p:cNvSpPr>
            <a:spLocks noChangeAspect="1"/>
          </p:cNvSpPr>
          <p:nvPr/>
        </p:nvSpPr>
        <p:spPr bwMode="auto">
          <a:xfrm>
            <a:off x="12586235" y="3202874"/>
            <a:ext cx="6755722" cy="6626252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3" name="object 9"/>
          <p:cNvSpPr>
            <a:spLocks noChangeAspect="1"/>
          </p:cNvSpPr>
          <p:nvPr/>
        </p:nvSpPr>
        <p:spPr bwMode="auto">
          <a:xfrm>
            <a:off x="18559799" y="8986808"/>
            <a:ext cx="4430735" cy="4200898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747309"/>
            <a:ext cx="11585890" cy="3537379"/>
          </a:xfrm>
          <a:prstGeom prst="rect">
            <a:avLst/>
          </a:prstGeom>
        </p:spPr>
        <p:txBody>
          <a:bodyPr vert="horz" wrap="square" lIns="36000" tIns="12700" rIns="36000" bIns="36000" rtlCol="0">
            <a:spAutoFit/>
          </a:bodyPr>
          <a:lstStyle/>
          <a:p>
            <a:pPr marL="12700" marR="5080">
              <a:lnSpc>
                <a:spcPct val="110400"/>
              </a:lnSpc>
              <a:spcBef>
                <a:spcPts val="100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АПТЕЧКИ, УКЛАДКИ И ПОДРУЧНЫЕ СРЕДСТВА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4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Ключевые аптечки: автомобильная (260н), работников (262н), образования (261н);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Состав обязательный — замена компонентов не допускается;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 2024 г. в комплектацию по приказам могут входить лекарственные средства;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Подручные средства допустимы;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Пополнение — по расходу и истечении срока годности.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Заменять компоненты аптечки «на своё усмотрение»;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Использовать медицинскую маску для искусственного дыхания;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контролировать доступность и готовность аптечки.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1042595" y="5643872"/>
            <a:ext cx="6843069" cy="7596707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7885664" y="6822570"/>
            <a:ext cx="4718304" cy="6192712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9931414" y="4773268"/>
            <a:ext cx="10123487" cy="6338274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ПОРЯДОК 220н И УНИВЕРСАЛЬНЫЙ АЛГОРИТМ</a:t>
            </a:r>
            <a:r>
              <a:rPr sz="3600" b="1" spc="4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Соблюдать последовательность мероприятий Приложения № 2;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Приоритет: безопасность → кровотечение → признаки жизни → СЛР;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Признаки жизни: сознание и дыхание (пульс не проверяется);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Нет назначения лекарств; допустимо содействие в приёме своих препаратов;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Устное информирование о начале ПП; учёт выраженного отказа.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Начинать «лечение» без оценки обстановки и безопасности;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Назначать/давать чужие лекарственные препараты;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Делать проверку пульса обязательным шагом алгоритма.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2054900" y="9070848"/>
            <a:ext cx="5764086" cy="408138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2054900" y="3196630"/>
            <a:ext cx="6505614" cy="587421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4803727"/>
            <a:ext cx="9563100" cy="6372129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ОБЕСПЕЧЕНИЕ БЕЗОПАСНЫХ УСЛОВИЙ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7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Собственная безопасность — условие оказания ПП (п. 4 Порядка);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Типичные угрозы: ток, движение, пожар/взрыв, токсины, агрессия, обрушение;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Сначала устранить/снизить опасность, затем помогать;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Обезопасить пострадавшего и прекратить действие повреждающих факторов;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 сохраняющейся угрозе — вызов спецслужб, а не героизм.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Забыть устранить опасный фактор;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Бросаться к пострадавшему и становиться вторым пострадавшим;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Игнорировать информирование окружающих о начале оказания ПП.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2988902" y="3561860"/>
            <a:ext cx="7066000" cy="3556004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3439066" y="7989792"/>
            <a:ext cx="6615835" cy="4848424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2054901" y="3449164"/>
            <a:ext cx="9279467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ПРОФИЛАКТИКА ИНФЕКЦИОННЫХ ЗАБОЛЕВАНИЙ</a:t>
            </a:r>
            <a:r>
              <a:rPr sz="3600" b="1" spc="3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Обязательно: перчатки и устройство «Рот–Устройство–Рот»;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Маска из аптечки — для защиты оказывающего, не для ИВЛ;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 контакте с биожидкостями — сразу промыть кожу/руки;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После ИВЛ рекомендуется прополоскать рот.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Пренебрегать средствами индивидуальной защиты;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Путать назначение маски и устройства для искусственного дыхания;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Игнорировать контакт с кровью и другими биожидкостями.</a:t>
            </a:r>
          </a:p>
        </p:txBody>
      </p:sp>
      <p:sp>
        <p:nvSpPr>
          <p:cNvPr id="13" name="object 8"/>
          <p:cNvSpPr>
            <a:spLocks noChangeAspect="1"/>
          </p:cNvSpPr>
          <p:nvPr/>
        </p:nvSpPr>
        <p:spPr bwMode="auto">
          <a:xfrm>
            <a:off x="5707726" y="8779419"/>
            <a:ext cx="11253284" cy="4076225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5" name="object 9"/>
          <p:cNvSpPr>
            <a:spLocks noChangeAspect="1"/>
          </p:cNvSpPr>
          <p:nvPr/>
        </p:nvSpPr>
        <p:spPr bwMode="auto">
          <a:xfrm>
            <a:off x="11694201" y="3272085"/>
            <a:ext cx="8613099" cy="4953493"/>
          </a:xfrm>
          <a:prstGeom prst="rect">
            <a:avLst/>
          </a:prstGeom>
          <a:blipFill>
            <a:blip r:embed="rId6"/>
            <a:srcRect l="0" t="0" r="0" b="9620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object 7"/>
          <p:cNvSpPr txBox="1"/>
          <p:nvPr/>
        </p:nvSpPr>
        <p:spPr bwMode="auto">
          <a:xfrm>
            <a:off x="2054901" y="5469057"/>
            <a:ext cx="10949899" cy="4599336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ИЗВЛЕЧЕНИЕ И ПЕРЕМЕЩЕНИЕ ПОСТРАДАВШИХ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8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Экстренное извлечение — только при угрозе жизни/невозможности помочь на месте;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Перед извлечением из автомобиля: стояночный тормоз, выключить зажигание;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Приём Раутека; при подозрении на травму ШОП — фиксация головы и шеи;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Способ перемещения выбирать по состоянию, травмам и числу участников;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Приоритет при нескольких пострадавших: тяжёлые и дети.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Извлекать «на всякий случай» без реальной угрозы;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фиксировать голову/шею при подозрении на травму позвоночника;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Выбирать травмоопасный способ переноски «для скорости».</a:t>
            </a:r>
          </a:p>
        </p:txBody>
      </p:sp>
      <p:sp>
        <p:nvSpPr>
          <p:cNvPr id="10" name="object 8"/>
          <p:cNvSpPr>
            <a:spLocks noChangeAspect="1"/>
          </p:cNvSpPr>
          <p:nvPr/>
        </p:nvSpPr>
        <p:spPr bwMode="auto">
          <a:xfrm>
            <a:off x="14530101" y="3288586"/>
            <a:ext cx="5524800" cy="4480139"/>
          </a:xfrm>
          <a:prstGeom prst="rect">
            <a:avLst/>
          </a:prstGeom>
          <a:blipFill>
            <a:blip r:embed="rId6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  <p:sp>
        <p:nvSpPr>
          <p:cNvPr id="14" name="object 9"/>
          <p:cNvSpPr>
            <a:spLocks noChangeAspect="1"/>
          </p:cNvSpPr>
          <p:nvPr/>
        </p:nvSpPr>
        <p:spPr bwMode="auto">
          <a:xfrm>
            <a:off x="14530102" y="8212838"/>
            <a:ext cx="5524799" cy="4826108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object 7"/>
          <p:cNvSpPr txBox="1"/>
          <p:nvPr/>
        </p:nvSpPr>
        <p:spPr bwMode="auto">
          <a:xfrm>
            <a:off x="11054901" y="5406327"/>
            <a:ext cx="8248545" cy="404533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ВЫЗОВ СКОРОЙ МЕДИЦИНСКОЙ ПОМОЩИ</a:t>
            </a:r>
            <a:r>
              <a:rPr sz="3600" b="1" spc="-1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Единый номер 112 (также 103 и региональные номера);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Сообщить: место и что произошло; число пострадавших; повреждения; какая помощь оказывается;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Вызов — после оценки состояния, чтобы точнее передать информацию;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класть трубку первым: дождаться подтверждения принятия вызова;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Диспетчер может давать команды по оказанию ПП.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слушателей: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Забыть вызвать скорую медицинскую помощь;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Не сообщить число пострадавших и характер повреждений;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Положить трубку до подтверждения, что вызов принят.</a:t>
            </a:r>
          </a:p>
        </p:txBody>
      </p:sp>
      <p:sp>
        <p:nvSpPr>
          <p:cNvPr id="13" name="object 8"/>
          <p:cNvSpPr/>
          <p:nvPr/>
        </p:nvSpPr>
        <p:spPr bwMode="auto">
          <a:xfrm>
            <a:off x="3748235" y="3034259"/>
            <a:ext cx="5531232" cy="10076408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0" y="6516000"/>
            <a:ext cx="684000" cy="684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1" name="TextBox 6"/>
          <p:cNvSpPr txBox="1"/>
          <p:nvPr/>
        </p:nvSpPr>
        <p:spPr bwMode="auto">
          <a:xfrm>
            <a:off x="2054901" y="1370612"/>
            <a:ext cx="18720266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 lang="ru-RU">
                <a:solidFill>
                  <a:schemeClr val="accent6"/>
                </a:solidFill>
              </a:rPr>
              <a:t>РЕКОМЕНДАЦИИ ДЛЯ ЭФФЕКТИВНОГО ОБУЧЕНИЯ</a:t>
            </a:r>
            <a:endParaRPr/>
          </a:p>
        </p:txBody>
      </p:sp>
      <p:sp>
        <p:nvSpPr>
          <p:cNvPr id="12" name="Rectangle 29"/>
          <p:cNvSpPr/>
          <p:nvPr/>
        </p:nvSpPr>
        <p:spPr bwMode="auto">
          <a:xfrm>
            <a:off x="2054901" y="2498546"/>
            <a:ext cx="1800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object 7"/>
          <p:cNvSpPr txBox="1"/>
          <p:nvPr/>
        </p:nvSpPr>
        <p:spPr bwMode="auto">
          <a:xfrm>
            <a:off x="2054901" y="4232200"/>
            <a:ext cx="11220832" cy="5694508"/>
          </a:xfrm>
          <a:prstGeom prst="rect">
            <a:avLst/>
          </a:prstGeom>
        </p:spPr>
        <p:txBody>
          <a:bodyPr vert="horz" wrap="square" lIns="36000" tIns="13335" rIns="36000" bIns="36000" rtlCol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17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>ТИПИЧНЫЕ ОШИБКИ ПРИ ОБУЧЕНИИ ТЕМЕ</a:t>
            </a:r>
            <a:r>
              <a:rPr sz="3600" b="1" spc="-5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 spc="90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r>
              <a:rPr sz="3600" b="1">
                <a:solidFill>
                  <a:srgbClr val="525252"/>
                </a:solidFill>
                <a:latin typeface="Open Sans Light"/>
                <a:ea typeface="Open Sans Light"/>
                <a:cs typeface="Open Sans Light"/>
              </a:rPr>
              <a:t/>
            </a:r>
            <a:endParaRPr sz="3600">
              <a:latin typeface="Open Sans Light"/>
              <a:ea typeface="Open Sans Light"/>
              <a:cs typeface="Open Sans Light"/>
            </a:endParaRP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Важно заострить внимание: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Держать фокус на актуальных НПА и коротких цитатах;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Интерактивно разбирать страхи («сделаю хуже», «посадят»);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Связывать право → алгоритм → оснащение → вызов СМП;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Закреплять контрольными вопросами из учебного пособия;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Подчеркнуть итог: ПП проста, законна и спасает жизни.</a:t>
            </a:r>
          </a:p>
          <a:p>
            <a:pPr/>
            <a:r>
              <a:rPr sz="1700" b="0">
                <a:latin typeface="Open Sans Light"/>
                <a:ea typeface="Open Sans Light"/>
                <a:cs typeface="Open Sans Light"/>
              </a:rPr>
              <a:t/>
            </a:r>
          </a:p>
          <a:p>
            <a:pPr/>
            <a:r>
              <a:rPr sz="1700" b="1">
                <a:latin typeface="Open Sans Light"/>
                <a:ea typeface="Open Sans Light"/>
                <a:cs typeface="Open Sans Light"/>
              </a:rPr>
              <a:t>Возможные ошибки при обучении: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Уходить в «юридический ликбез» без связи с практикой;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Пугать ответственностью вместо развенчания мифа;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Давать устаревшие перечни состояний и мероприятий;</a:t>
            </a:r>
          </a:p>
          <a:p>
            <a:pPr>
              <a:spcBef>
                <a:spcPts val="240"/>
              </a:spcBef>
            </a:pPr>
            <a:r>
              <a:rPr sz="1700" b="0">
                <a:latin typeface="Open Sans Light"/>
                <a:ea typeface="Open Sans Light"/>
                <a:cs typeface="Open Sans Light"/>
              </a:rPr>
              <a:t>Пропускать безопасность, инфекцию и вызов СМП как «очевидное».</a:t>
            </a:r>
          </a:p>
        </p:txBody>
      </p:sp>
      <p:sp>
        <p:nvSpPr>
          <p:cNvPr id="9" name="object 8"/>
          <p:cNvSpPr/>
          <p:nvPr/>
        </p:nvSpPr>
        <p:spPr bwMode="auto">
          <a:xfrm>
            <a:off x="14240234" y="3692733"/>
            <a:ext cx="6051733" cy="6330533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36000" tIns="36000" rIns="36000" bIns="36000" rtlCol="0"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7" name="Rectangle 10"/>
          <p:cNvSpPr/>
          <p:nvPr/>
        </p:nvSpPr>
        <p:spPr bwMode="auto">
          <a:xfrm>
            <a:off x="0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86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78695" y="5351780"/>
            <a:ext cx="11649423" cy="3012439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>
                <a:solidFill>
                  <a:schemeClr val="accent6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Произвольный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Лукина Марина</cp:lastModifiedBy>
  <cp:revision>9</cp:revision>
  <dcterms:modified xsi:type="dcterms:W3CDTF">2026-08-19T09:35:45Z</dcterms:modified>
  <cp:category/>
  <cp:contentStatus/>
  <cp:version/>
</cp:coreProperties>
</file>