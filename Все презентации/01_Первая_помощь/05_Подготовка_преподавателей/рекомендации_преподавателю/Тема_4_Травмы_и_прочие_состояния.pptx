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20"/>
  </p:sldIdLst>
  <p:sldSz cx="24371300" cy="13716000"/>
  <p:notesSz cx="243713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1pPr>
    <a:lvl2pPr marL="0" marR="0" indent="91421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2pPr>
    <a:lvl3pPr marL="0" marR="0" indent="182843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3pPr>
    <a:lvl4pPr marL="0" marR="0" indent="2742651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4pPr>
    <a:lvl5pPr marL="0" marR="0" indent="365686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5pPr>
    <a:lvl6pPr marL="0" marR="0" indent="457108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6pPr>
    <a:lvl7pPr marL="0" marR="0" indent="548530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7pPr>
    <a:lvl8pPr marL="0" marR="0" indent="6399519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8pPr>
    <a:lvl9pPr marL="0" marR="0" indent="731373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29" d="100"/>
          <a:sy n="29" d="100"/>
        </p:scale>
        <p:origin x="300" y="78"/>
      </p:cViewPr>
      <p:guideLst>
        <p:guide pos="4320" orient="horz"/>
        <p:guide pos="767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" name="Shape 84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+mn-lt"/>
        <a:ea typeface="+mn-ea"/>
        <a:cs typeface="+mn-cs"/>
      </a:defRPr>
    </a:lvl1pPr>
    <a:lvl2pPr indent="228600">
      <a:defRPr sz="1200">
        <a:latin typeface="+mn-lt"/>
        <a:ea typeface="+mn-ea"/>
        <a:cs typeface="+mn-cs"/>
      </a:defRPr>
    </a:lvl2pPr>
    <a:lvl3pPr indent="457200">
      <a:defRPr sz="1200">
        <a:latin typeface="+mn-lt"/>
        <a:ea typeface="+mn-ea"/>
        <a:cs typeface="+mn-cs"/>
      </a:defRPr>
    </a:lvl3pPr>
    <a:lvl4pPr indent="685800">
      <a:defRPr sz="1200">
        <a:latin typeface="+mn-lt"/>
        <a:ea typeface="+mn-ea"/>
        <a:cs typeface="+mn-cs"/>
      </a:defRPr>
    </a:lvl4pPr>
    <a:lvl5pPr indent="914400">
      <a:defRPr sz="1200">
        <a:latin typeface="+mn-lt"/>
        <a:ea typeface="+mn-ea"/>
        <a:cs typeface="+mn-cs"/>
      </a:defRPr>
    </a:lvl5pPr>
    <a:lvl6pPr indent="1143000">
      <a:defRPr sz="1200">
        <a:latin typeface="+mn-lt"/>
        <a:ea typeface="+mn-ea"/>
        <a:cs typeface="+mn-cs"/>
      </a:defRPr>
    </a:lvl6pPr>
    <a:lvl7pPr indent="1371600">
      <a:defRPr sz="1200">
        <a:latin typeface="+mn-lt"/>
        <a:ea typeface="+mn-ea"/>
        <a:cs typeface="+mn-cs"/>
      </a:defRPr>
    </a:lvl7pPr>
    <a:lvl8pPr indent="1600200">
      <a:defRPr sz="1200">
        <a:latin typeface="+mn-lt"/>
        <a:ea typeface="+mn-ea"/>
        <a:cs typeface="+mn-cs"/>
      </a:defRPr>
    </a:lvl8pPr>
    <a:lvl9pPr indent="1828800">
      <a:defRPr sz="12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Добро пожаловать на занятие по подготовке преподавателей первой помощи.</a:t>
            </a:r>
          </a:p>
          <a:p>
            <a:r>
              <a:t>Сегодня мы разберём тему травм, ранений, поражений и прочих состояний — не как текст для заучивания, а как то, на что важно опираться, когда вы сами будете вести это занятие.</a:t>
            </a:r>
          </a:p>
          <a:p>
            <a:r>
              <a:t>Мы посмотрим, какие акценты держать на практике, какие ошибки чаще всего допускают слушатели и как связать подробный осмотр с помощью, контролем состояния и передачей пострадавшего скорой помощи.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Сегодняшняя тема — оказание первой помощи при травмах, ранениях, поражениях и прочих состояниях.</a:t>
            </a:r>
          </a:p>
          <a:p>
            <a:r>
              <a:t>Цель занятия широкая: научить подробному осмотру и опросу, помочь при повреждениях разных областей тела, при отравлениях, укусах и ужаливаниях, а также отработать положения тела, контроль состояния и психологическую поддержку до передачи пострадавшего скорой помощи.</a:t>
            </a:r>
          </a:p>
          <a:p>
            <a:r>
              <a:t>Обычно на это отводят шесть часов: два часа теории и четыре часа практики.</a:t>
            </a:r>
          </a:p>
          <a:p>
            <a:r>
              <a:t>Уже во введении важно сказать: термические, химические, электрические и токсические воздействия так же значимы, как механическая травма.</a:t>
            </a:r>
          </a:p>
          <a:p>
            <a:r>
              <a:t>Особый акцент держите на контроле состояния и психологической поддержке — это не «дополнение», а часть первой помощи.</a:t>
            </a:r>
          </a:p>
          <a:p>
            <a:r>
              <a:t>Выстраивайте логику занятия цепочкой: осмотр, помощь по находке, положение, контроль и передача бригаде.</a:t>
            </a:r>
          </a:p>
          <a:p>
            <a:r>
              <a:t>Ошибка в обучении — свести всё к бинтованию и забыть прочие состояния.</a:t>
            </a:r>
          </a:p>
          <a:p>
            <a:r>
              <a:t>Вторая — не отрабатывать контроль и поддержку.</a:t>
            </a:r>
          </a:p>
          <a:p>
            <a:r>
              <a:t>Третья — оторвать подробный осмотр от вызова скорой и дальнейших действий.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Подробный осмотр и опрос — фундамент всей темы.</a:t>
            </a:r>
          </a:p>
          <a:p>
            <a:r>
              <a:t>Его цель не «пройтись глазами», а выявить травмы, ранения, поражения и другие состояния, которые требуют первой помощи.</a:t>
            </a:r>
          </a:p>
          <a:p>
            <a:r>
              <a:t>Держите последовательность: голова, шея, грудь, спина, живот и таз, затем конечности.</a:t>
            </a:r>
          </a:p>
          <a:p>
            <a:r>
              <a:t>Если пострадавший в сознании, осмотр сочетают с опросом: что произошло, где болит, какие жалобы, что уже делали.</a:t>
            </a:r>
          </a:p>
          <a:p>
            <a:r>
              <a:t>Сведения с осмотра нужны и для самой помощи, и для точного сообщения диспетчеру скорой.</a:t>
            </a:r>
          </a:p>
          <a:p>
            <a:r>
              <a:t>Отдельно напомните: закрытые признаки — кровоподтёки, ссадины, деформация, болезненность — не менее важны, чем открытая рана.</a:t>
            </a:r>
          </a:p>
          <a:p>
            <a:r>
              <a:t>Ошибки слушателей — осматривать хаотично, искать только кровь и раны и почти не разговаривать с человеком в сознании.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Когда угрожающее кровотечение и отсутствие дыхания сняты с повестки, остаётся большой пласт прочих состояний.</a:t>
            </a:r>
          </a:p>
          <a:p>
            <a:r>
              <a:t>Их действительно много, поэтому слушателям нужен не список для заучивания, а привычка к системному осмотру.</a:t>
            </a:r>
          </a:p>
          <a:p>
            <a:r>
              <a:t>Повреждение может быть не одним: человек с раной руки вполне может иметь травму груди или признаки отравления.</a:t>
            </a:r>
          </a:p>
          <a:p>
            <a:r>
              <a:t>Состояние меняется со временем, значит контроль нельзя «закрыть» после первого осмотра.</a:t>
            </a:r>
          </a:p>
          <a:p>
            <a:r>
              <a:t>Приоритет действий всегда от угрозы жизни к менее срочному, но «мелочи» тоже важны: они ухудшают самочувствие и исход лечения.</a:t>
            </a:r>
          </a:p>
          <a:p>
            <a:r>
              <a:t>Ошибки слушателей — решить, что после остановки крови всё уже сделано; зациклиться на одной травме; и перестать смотреть за динамикой до приезда скорой.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Дальше разберите травмы по областям тела — коротко, но с жёсткими правилами безопасности.</a:t>
            </a:r>
          </a:p>
          <a:p>
            <a:r>
              <a:t>На голове обычно помогают давлением и повязкой, но при подозрении на перелом черепа усиливать давление на кости нельзя; инородный предмет не извлекают, а фиксируют.</a:t>
            </a:r>
          </a:p>
          <a:p>
            <a:r>
              <a:t>На шее давление дополняют повязкой через противоположную подмышку, а не круговой повязкой «как на конечность».</a:t>
            </a:r>
          </a:p>
          <a:p>
            <a:r>
              <a:t>При проникающем ранении груди нужна окклюзионная, герметизирующая повязка, без лишнего сдавления дыхания.</a:t>
            </a:r>
          </a:p>
          <a:p>
            <a:r>
              <a:t>На животе и тазе не давят на выпавшие органы и не вытаскивают инородные предметы — их фиксируют.</a:t>
            </a:r>
          </a:p>
          <a:p>
            <a:r>
              <a:t>Конечности иммобилизируют; при подозрении на травму позвоночника обращаются максимально бережно.</a:t>
            </a:r>
          </a:p>
          <a:p>
            <a:r>
              <a:t>Ошибки слушателей здесь особенно опасны: сильное давление на череп, круговая повязка на шее, попытки вправить органы или резко перемещать человека с возможной травмой позвоночника.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Термические поражения часто недооценивают, и это как раз тот акцент методички.</a:t>
            </a:r>
          </a:p>
          <a:p>
            <a:r>
              <a:t>При ожогах сначала охлаждают проточной водой, затем закрывают чистой или стерильной повязкой и не вскрывают пузыри.</a:t>
            </a:r>
          </a:p>
          <a:p>
            <a:r>
              <a:t>Масла, кремы и «народные средства» на месте происшествия не используют.</a:t>
            </a:r>
          </a:p>
          <a:p>
            <a:r>
              <a:t>Ожог верхних дыхательных путей — отдельный тревожный сигнал: нужен срочный вызов скорой и контроль дыхания.</a:t>
            </a:r>
          </a:p>
          <a:p>
            <a:r>
              <a:t>При перегревании обеспечивают покой, охлаждение и, если человек в сознании, питьё; при тяжёлом состоянии вызывают помощь.</a:t>
            </a:r>
          </a:p>
          <a:p>
            <a:r>
              <a:t>При отморожении и переохлаждении прекращают охлаждение, укутывают, согревают бережно и не растирают снегом.</a:t>
            </a:r>
          </a:p>
          <a:p>
            <a:r>
              <a:t>Ошибки слушателей — вскрывать пузыри и мазать маслом, растирать отмороженные участки и недооценивать ожог дыхательных путей или переохлаждение.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Химия, электричество и излучение всегда начинаются с вашей безопасности.</a:t>
            </a:r>
          </a:p>
          <a:p>
            <a:r>
              <a:t>Ток сначала отключают; химическое вещество не размазывают голыми руками по коже и одежде.</a:t>
            </a:r>
          </a:p>
          <a:p>
            <a:r>
              <a:t>При химическом ожоге кожи долго промывают водой и снимают загрязнённую одежду.</a:t>
            </a:r>
          </a:p>
          <a:p>
            <a:r>
              <a:t>При электротравме после обесточивания проводят осмотр и, если нужно, сердечно-лёгочную реанимацию.</a:t>
            </a:r>
          </a:p>
          <a:p>
            <a:r>
              <a:t>Нельзя пытаться оторвать человека от источника тока, не обеспечив собственную защиту.</a:t>
            </a:r>
          </a:p>
          <a:p>
            <a:r>
              <a:t>При воздействии излучения прекращают контакт с источником, по возможности удаляют загрязнения с одежды и кожи и вызывают скорую.</a:t>
            </a:r>
          </a:p>
          <a:p>
            <a:r>
              <a:t>Ошибки слушателей — хвататься за пострадавшего под напряжением, «нейтрализовать» кислоту щёлочью на глаз и забыть проверить признаки жизни после удара током.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Отравления требуют сначала понять путь поступления яда: через рот, дыхательные пути, кожу или инъекцию.</a:t>
            </a:r>
          </a:p>
          <a:p>
            <a:r>
              <a:t>Дальше — безопасность, доступ воздуха и вызов скорой.</a:t>
            </a:r>
          </a:p>
          <a:p>
            <a:r>
              <a:t>При отравлении через рот по Порядку возможно промывание желудка приёмом воды с вызыванием рвоты, но это не универсальный приём на все случаи.</a:t>
            </a:r>
          </a:p>
          <a:p>
            <a:r>
              <a:t>При едких веществах рвоту не вызывают: это ожог пищевода, и повторное прохождение едкого агента только ухудшит повреждение.</a:t>
            </a:r>
          </a:p>
          <a:p>
            <a:r>
              <a:t>Упаковку или остатки вещества по возможности сохраняют для медиков.</a:t>
            </a:r>
          </a:p>
          <a:p>
            <a:r>
              <a:t>Ошибки слушателей — вызывать рвоту при едких ядах, давать молоко и «универсальные антидоты» без показаний и оставаться в загазованном помещении без защиты.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При укусах и ужаливаниях сначала снова безопасность: животное не ловят, пострадавшего уводят из зоны риска.</a:t>
            </a:r>
          </a:p>
          <a:p>
            <a:r>
              <a:t>Укушенной области обеспечивают покой, по показаниям охлаждают, и внимательно смотрят за общим состоянием.</a:t>
            </a:r>
          </a:p>
          <a:p>
            <a:r>
              <a:t>Не разрезают рану, не высасывают яд и не ставят жгут «от яда» — эти приёмы дают ложное ощущение помощи и часто вредят.</a:t>
            </a:r>
          </a:p>
          <a:p>
            <a:r>
              <a:t>Важно вовремя заметить тяжёлую реакцию или аллергию и не тянуть с вызовом скорой при укусе ядовитого животного или любом ухудшении.</a:t>
            </a:r>
          </a:p>
          <a:p>
            <a:r>
              <a:t>Ошибки слушателей очень живучие: резать и прижигать, пить алкоголь «для пользы» и считать укус мелочью без наблюдения.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Судорожный приступ с потерей сознания пугает очевидцев, и именно поэтому важно заранее снять ложные стереотипы.</a:t>
            </a:r>
          </a:p>
          <a:p>
            <a:r>
              <a:t>Судорожные движения силой не останавливают: убирают опасные предметы вокруг и защищают голову от ударов.</a:t>
            </a:r>
          </a:p>
          <a:p>
            <a:r>
              <a:t>Зубы не разжимают, в рот ничего не вкладывают — ни ложку, ни палец, ни ткань.</a:t>
            </a:r>
          </a:p>
          <a:p>
            <a:r>
              <a:t>После окончания приступа поддерживают проходимость дыхательных путей, в том числе устойчивым боковым положением, и контролируют дыхание с сознанием до приезда скорой.</a:t>
            </a:r>
          </a:p>
          <a:p>
            <a:r>
              <a:t>Полезно запомнить длительность приступа и коротко описать его медикам.</a:t>
            </a:r>
          </a:p>
          <a:p>
            <a:r>
              <a:t>Ошибки слушателей — силой удерживать человека, засовывать предметы в рот и бросать контроль дыхания сразу после того, как судороги прекратились.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Помощь в принятии лекарств — тонкий, но важный пункт Порядка.</a:t>
            </a:r>
          </a:p>
          <a:p>
            <a:r>
              <a:t>Речь только о содействии в приёме препаратов, которые пострадавшему уже назначил лечащий врач.</a:t>
            </a:r>
          </a:p>
          <a:p>
            <a:r>
              <a:t>Решение принимает сам человек; от него не требуют документальных доказательств назначения.</a:t>
            </a:r>
          </a:p>
          <a:p>
            <a:r>
              <a:t>Чужие лекарства не назначают и не дают «на всякий случай».</a:t>
            </a:r>
          </a:p>
          <a:p>
            <a:r>
              <a:t>Этот приём не заменяет вызов скорой и контроль состояния.</a:t>
            </a:r>
          </a:p>
          <a:p>
            <a:r>
              <a:t>Ошибки слушателей — предлагать свои таблетки, уговаривать принять препарат против воли и считать, что после таблетки скорая уже не нужна.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Положение тела, контроль и психологическая поддержка часто воспринимают как фон, а по методичке это отдельные важные мероприятия.</a:t>
            </a:r>
          </a:p>
          <a:p>
            <a:r>
              <a:t>Оптимальное положение выбирают по состоянию: оно будет разным при шоке, травме груди или отсутствии сознания.</a:t>
            </a:r>
          </a:p>
          <a:p>
            <a:r>
              <a:t>Контроль состояния — регулярный: сознание, дыхание, наружное кровотечение, общее самочувствие до передачи скорой.</a:t>
            </a:r>
          </a:p>
          <a:p>
            <a:r>
              <a:t>Психологическая поддержка стабилизирует человека и помогает вовремя заметить ухудшение: говорите спокойно, коротко, объясняйте, что делаете.</a:t>
            </a:r>
          </a:p>
          <a:p>
            <a:r>
              <a:t>Не оставляйте пострадавшего без наблюдения.</a:t>
            </a:r>
          </a:p>
          <a:p>
            <a:r>
              <a:t>Ошибки слушателей — укладывать «как удобнее себе», проверить признаки жизни один раз и больше не возвращаться, а также кричать, спорить или обещать то, чего не знают.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Транспортировка своими силами — не стандартный финал, а исключение: когда скорую невозможно дождаться на месте или оставаться там опасно.</a:t>
            </a:r>
          </a:p>
          <a:p>
            <a:r>
              <a:t>Способ переноса выбирают по травмам, состоянию человека и числу участников, а не по принципу «быстрее любой ценой».</a:t>
            </a:r>
          </a:p>
          <a:p>
            <a:r>
              <a:t>При передаче бригаде скорой говорят коротко и по фактам: что произошло, что обнаружили при осмотре, какая помощь уже оказана.</a:t>
            </a:r>
          </a:p>
          <a:p>
            <a:r>
              <a:t>Важно передать время ключевых событий, сведения о жгуте, лекарствах и особенностях состояния.</a:t>
            </a:r>
          </a:p>
          <a:p>
            <a:r>
              <a:t>Не спорят с бригадой и не уносят с собой информацию, которая нужна медикам.</a:t>
            </a:r>
          </a:p>
          <a:p>
            <a:r>
              <a:t>Ошибки слушателей — тащить человека без учёта травм, начинать рассказ с домыслов и забывать сообщить о жгуте, лекарствах или эпизоде потери сознания.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 завершение — акценты именно для преподавателя.</a:t>
            </a:r>
          </a:p>
          <a:p>
            <a:r>
              <a:t>Держите сквозную логику темы: осмотр, помощь по находке, положение, контроль и передача скорой.</a:t>
            </a:r>
          </a:p>
          <a:p>
            <a:r>
              <a:t>Не сужайте практику до одних повязок: в теме обязаны появиться ожоги, отравления, судороги и психологическая поддержка.</a:t>
            </a:r>
          </a:p>
          <a:p>
            <a:r>
              <a:t>Подробный осмотр лучше отрабатывать на ситуациях, а не как сухое перечисление частей тела.</a:t>
            </a:r>
          </a:p>
          <a:p>
            <a:r>
              <a:t>Отдельно потренируйте короткую формулировку для передачи бригаде.</a:t>
            </a:r>
          </a:p>
          <a:p>
            <a:r>
              <a:t>Обратную связь давайте позитивно, но предметно: и по технике, и по приоритетам.</a:t>
            </a:r>
          </a:p>
          <a:p>
            <a:r>
              <a:t>Ошибки в обучении — превратить занятие в россыпь тем без алгоритма, выкинуть «мягкие» блоки контроля и поддержки, не проверить доклад бригаде и утопить слушателей в деталях без отработки главных запретов.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этом разбор темы травм, ранений, поражений и прочих состояний для преподавателей завершён.</a:t>
            </a:r>
          </a:p>
          <a:p>
            <a:r>
              <a:t>Спасибо за внимание, и удачи вам в проведении практических занятий.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7206" y="5006973"/>
            <a:ext cx="18283238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7206" y="7204075"/>
            <a:ext cx="18283238" cy="595219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040" y="3708960"/>
            <a:ext cx="21025723" cy="140596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040" y="5817082"/>
            <a:ext cx="21025723" cy="75516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4" name="Rectangle 8"/>
          <p:cNvSpPr/>
          <p:nvPr/>
        </p:nvSpPr>
        <p:spPr bwMode="auto">
          <a:xfrm>
            <a:off x="11448381" y="5305985"/>
            <a:ext cx="1553039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1825" y="7458075"/>
            <a:ext cx="18030826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59952" y="3938096"/>
            <a:ext cx="6923155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1844" y="3938096"/>
            <a:ext cx="7124369" cy="550330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59952" y="8556336"/>
            <a:ext cx="6977810" cy="146177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1844" y="4700099"/>
            <a:ext cx="7124369" cy="329104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57225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14500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" name="Straight Connector 7"/>
          <p:cNvSpPr/>
          <p:nvPr/>
        </p:nvSpPr>
        <p:spPr bwMode="auto">
          <a:xfrm>
            <a:off x="1675963" y="2400300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37764" cy="1087232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625" y="1864518"/>
            <a:ext cx="22541411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626" y="1864518"/>
            <a:ext cx="22541410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2775885"/>
            <a:ext cx="10512863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2260787"/>
            <a:ext cx="10512863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286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6859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5963" y="23717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6333" y="3918317"/>
            <a:ext cx="2938097" cy="293809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14799733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799731" y="0"/>
            <a:ext cx="957791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02553" y="2931885"/>
            <a:ext cx="6399134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73475" y="4875212"/>
            <a:ext cx="6328212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601" y="-235852"/>
            <a:ext cx="692190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6362" y="-235858"/>
            <a:ext cx="8737907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9998092" y="-235854"/>
            <a:ext cx="985349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57400" y="-235855"/>
            <a:ext cx="7234551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272" y="-651331"/>
            <a:ext cx="25783598" cy="14935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759451"/>
            <a:ext cx="21025723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685800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18565"/>
            <a:ext cx="21025723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5825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19234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2643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86052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7101" y="7772400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2347" y="7772399"/>
            <a:ext cx="2673510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1243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24651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1249" y="7897810"/>
            <a:ext cx="2311776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48172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7210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0551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5825" y="10004425"/>
            <a:ext cx="5077200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5825" y="10614027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2748" y="10004425"/>
            <a:ext cx="5077199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2748" y="10614027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2643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2643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49566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49566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79052"/>
            <a:ext cx="21025723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3375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2539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3375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2539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14225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14224" y="6475348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14225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67940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67938" y="6475348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67940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06851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06850" y="9279536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06851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0565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0565" y="9279536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0565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9290"/>
            <a:ext cx="21025723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18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5953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289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46258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89616" y="3936819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289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289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289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5042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504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5042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3791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379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3791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12544" y="8044360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12542" y="9387974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12544" y="8635486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61294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61292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61294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95883"/>
            <a:ext cx="10058839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53159"/>
            <a:ext cx="10058839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4588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4588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7309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6680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4588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3957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4588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3957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7309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6680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2422" y="9144000"/>
            <a:ext cx="1224523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1722" y="1989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1092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0548" y="6561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19919" y="6660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07856" y="11133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7226" y="11232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62450" y="1989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81819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1724" y="6575837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1093" y="6675436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0857" y="1225708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7863" y="9466729"/>
            <a:ext cx="21025723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5" y="-1"/>
            <a:ext cx="24377655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19204" y="-17373600"/>
            <a:ext cx="243776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6473"/>
            <a:ext cx="21025723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83377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50281" y="7347745"/>
            <a:ext cx="2088356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88825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26927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349299"/>
            <a:ext cx="9120044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75" name="Rectangle 6"/>
          <p:cNvSpPr/>
          <p:nvPr/>
        </p:nvSpPr>
        <p:spPr bwMode="auto">
          <a:xfrm>
            <a:off x="0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44897"/>
            <a:ext cx="9120044" cy="3406775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22919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6520" y="7348949"/>
            <a:ext cx="329419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1285" y="7448549"/>
            <a:ext cx="3013294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38899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4315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496698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6124" y="8762999"/>
            <a:ext cx="6454590" cy="550866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6124" y="944245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496697" y="8716309"/>
            <a:ext cx="6454590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496697" y="939576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496698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2114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3550" y="4145279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3550" y="4886323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1749" y="4145279"/>
            <a:ext cx="2338023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3550" y="8208864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3550" y="8949908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1749" y="8208863"/>
            <a:ext cx="2338023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02553" y="4145279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02553" y="4886323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0753" y="4145279"/>
            <a:ext cx="233802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02553" y="8208864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02553" y="8949908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0753" y="8208863"/>
            <a:ext cx="2338022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58950" y="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18700" y="685800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6257" y="3390901"/>
            <a:ext cx="15331143" cy="6858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1163" y="3950260"/>
            <a:ext cx="13818037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1163" y="5007534"/>
            <a:ext cx="13818037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52449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520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040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3149" y="6858000"/>
            <a:ext cx="8125202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1624" y="5873750"/>
            <a:ext cx="11506201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4375" y="6329362"/>
            <a:ext cx="10248900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0" y="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6351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6351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6351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6273" y="10414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6273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6273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6273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6273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6273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11145"/>
            <a:ext cx="12188825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2" y="8040913"/>
            <a:ext cx="12188826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88825" y="1"/>
            <a:ext cx="12188828" cy="137159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4" y="8036300"/>
            <a:ext cx="12188828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5963" y="9174289"/>
            <a:ext cx="8582462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5964" y="10014856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4" y="8510327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19225" y="9144810"/>
            <a:ext cx="8582461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9225" y="9985378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19225" y="8480849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88825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5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4813" y="4572000"/>
            <a:ext cx="955401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88825" y="4572000"/>
            <a:ext cx="9554011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4813" y="6829425"/>
            <a:ext cx="9554012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88825" y="6829425"/>
            <a:ext cx="9554011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13865870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49281" y="0"/>
            <a:ext cx="12728368" cy="80083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0"/>
            <a:ext cx="1164928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2049" y="8978151"/>
            <a:ext cx="11785600" cy="47378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8797" y="7922741"/>
            <a:ext cx="21080055" cy="1231527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9154268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635635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635635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5" y="9144000"/>
            <a:ext cx="635635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2471" y="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2471" y="4572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2471" y="9144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2" y="31300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2" y="4603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2" y="9175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59921" y="10727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59921" y="16823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59921" y="5530401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59921" y="61400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59921" y="10159099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59921" y="10768702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3973605"/>
            <a:ext cx="12188825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441" y="7220229"/>
            <a:ext cx="7953376" cy="170488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183" y="7543240"/>
            <a:ext cx="5657851" cy="10879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59676" y="3973605"/>
            <a:ext cx="7928723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59676" y="4653057"/>
            <a:ext cx="7928723" cy="428073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3" y="10220322"/>
            <a:ext cx="10512861" cy="16298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795751" y="3993777"/>
            <a:ext cx="7591425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25" y="3993777"/>
            <a:ext cx="7572375" cy="3856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47003" y="3993777"/>
            <a:ext cx="12083644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000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4573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5963" y="21431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5" y="-2"/>
            <a:ext cx="304920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380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872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36556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88825" y="34415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380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872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36556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88825" y="68327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380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872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36556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88825" y="102743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380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872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36556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4622612"/>
            <a:ext cx="24368125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3665156"/>
            <a:ext cx="24368125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1" y="3665156"/>
            <a:ext cx="24377651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3375" y="5850387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232071"/>
            <a:ext cx="21134388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47606" y="6130925"/>
            <a:ext cx="2533652" cy="42640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1200" y="2514600"/>
            <a:ext cx="10207625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1200" y="5673725"/>
            <a:ext cx="10207625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3600" y="6261101"/>
            <a:ext cx="2527300" cy="42545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09567" y="5902876"/>
            <a:ext cx="5560205" cy="28296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3028" y="7389627"/>
            <a:ext cx="5545289" cy="4220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38942" y="4658203"/>
            <a:ext cx="6231945" cy="45515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6179" y="5610225"/>
            <a:ext cx="6370321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76314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134388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2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00675"/>
            <a:ext cx="10585450" cy="2028825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429500"/>
            <a:ext cx="1058545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8825" y="860612"/>
            <a:ext cx="10512861" cy="1623733"/>
          </a:xfrm>
          <a:prstGeom prst="rect">
            <a:avLst/>
          </a:prstGeom>
        </p:spPr>
        <p:txBody>
          <a:bodyPr/>
          <a:lstStyle>
            <a:lvl1pPr algn="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188825" y="2484345"/>
            <a:ext cx="10512861" cy="457201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4" y="64293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4" y="84582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48291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57246"/>
            <a:ext cx="5988862" cy="680199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4" y="8237445"/>
            <a:ext cx="5988861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2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04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06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2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04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06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2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04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06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3103" y="6994525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5963" y="3651250"/>
            <a:ext cx="103605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8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8" y="3362326"/>
            <a:ext cx="10312890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1186" y="3362326"/>
            <a:ext cx="10363677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4288" y="5297486"/>
            <a:ext cx="5299076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1275" y="7423150"/>
            <a:ext cx="5272088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3722" y="5303839"/>
            <a:ext cx="5299076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2026" y="4114800"/>
            <a:ext cx="8229601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36030" y="4297679"/>
            <a:ext cx="9141619" cy="548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8F8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4084" y="12828905"/>
            <a:ext cx="437603" cy="497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565" y="184149"/>
            <a:ext cx="2193417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8565" y="3200400"/>
            <a:ext cx="2193417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txStyles>
    <p:titleStyle>
      <a:lvl1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1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6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3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1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19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2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3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1.png"/><Relationship Id="rId6" Type="http://schemas.openxmlformats.org/officeDocument/2006/relationships/image" Target="../media/image3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Relationship Id="rId6" Type="http://schemas.openxmlformats.org/officeDocument/2006/relationships/image" Target="../media/image3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5.png"/><Relationship Id="rId6" Type="http://schemas.openxmlformats.org/officeDocument/2006/relationships/image" Target="../media/image3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3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31443" y="5481332"/>
            <a:ext cx="4621489" cy="4445001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5" name="Rectangle 13"/>
          <p:cNvSpPr/>
          <p:nvPr/>
        </p:nvSpPr>
        <p:spPr bwMode="auto">
          <a:xfrm>
            <a:off x="13924280" y="0"/>
            <a:ext cx="1063625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6" name="Rectangle 5"/>
          <p:cNvSpPr/>
          <p:nvPr/>
        </p:nvSpPr>
        <p:spPr bwMode="auto">
          <a:xfrm>
            <a:off x="1664241" y="8700653"/>
            <a:ext cx="11649423" cy="108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664241" y="6712005"/>
            <a:ext cx="12903097" cy="1983653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ОБУЧЕНИЕ ПРЕПОДАВАТЕЛЕЙ </a:t>
            </a:r>
            <a:endParaRPr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ПО ОКАЗАНИЮ ПЕРВОЙ  ПОМОЩИ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1" name="object 8"/>
          <p:cNvSpPr/>
          <p:nvPr/>
        </p:nvSpPr>
        <p:spPr bwMode="auto">
          <a:xfrm>
            <a:off x="14885256" y="3051861"/>
            <a:ext cx="7431143" cy="9776857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2" name="object 7"/>
          <p:cNvSpPr txBox="1"/>
          <p:nvPr/>
        </p:nvSpPr>
        <p:spPr bwMode="auto">
          <a:xfrm>
            <a:off x="2054901" y="3643922"/>
            <a:ext cx="9203800" cy="803873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lang="ru-RU" sz="1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ТЕМА 4. ТРАВМЫ, РАНЕНИЯ, ПОРАЖЕНИЯ И ПРОЧИЕ СОСТОЯНИЯ</a:t>
            </a:r>
            <a:endParaRPr/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Цель: подробный осмотр, помощь при травмах и прочих состояниях, контроль и поддержка до СМП;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Формат: 6 часов (2 теория + 4 практика), демонстрация и ситуационные задачи;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Термические, токсические и иные факторы не менее важны, чем механические травмы;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Особый акцент — контроль состояния и психологическая поддержка;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Связывать осмотр → помощь по находке → положение → контроль → передача СМП.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Свести тему только к «бинтованию ран» и забыть прочие состояния;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отрабатывать контроль состояния и психологическую поддержку;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связать подробный осмотр с вызовом СМП и дальнейшими действиями.</a:t>
            </a:r>
          </a:p>
        </p:txBody>
      </p:sp>
      <p:sp>
        <p:nvSpPr>
          <p:cNvPr id="13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5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9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2054901" y="3761994"/>
            <a:ext cx="11441643" cy="79489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ПОДРОБНЫЙ ОСМОТР И ОПРОС ПОСТРАДАВШЕГО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Цель осмотра — найти травмы и состояния, требующие помощи;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Последовательность: голова → шея → грудь → спина → живот/таз → конечности;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Сочетать осмотр с опросом: что болит, что произошло, что уже сделано;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Данные осмотра нужны и для помощи, и для сообщения диспетчеру СМП;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пропускать закрытые признаки: кровоподтёки, ссадины, деформация, боль.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Осматривать хаотично, без единой последовательности;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Искать только открытые раны и игнорировать тупую травму;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задавать уточняющих вопросов пострадавшему в сознании.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14140964" y="4687614"/>
            <a:ext cx="8175435" cy="622084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684887"/>
            <a:ext cx="9203800" cy="56560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ОСНОВНЫЕ СОСТОЯНИЯ, ТРЕБУЮЩИЕ ПЕРВОЙ ПОМОЩИ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После угрожающих кровотечения и остановки дыхания остаются «прочие» состояния;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Их много, поэтому нужен системный осмотр, а не поиск «одной главной травмы»;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Состояние может меняться — важен повторный контроль;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Приоритет действий всё равно идёт от угрозы жизни к менее срочному;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оставлять «мелочи» без внимания: они ухудшают исход и осложняют лечение.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Считать, что после остановки крови «уже всё сделано»;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Фиксироваться на одном повреждении и не досмотреть остальное;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Игнорировать динамику состояния до приезда СМП.</a:t>
            </a:r>
          </a:p>
        </p:txBody>
      </p:sp>
      <p:sp>
        <p:nvSpPr>
          <p:cNvPr id="8" name="object 8"/>
          <p:cNvSpPr/>
          <p:nvPr/>
        </p:nvSpPr>
        <p:spPr bwMode="auto">
          <a:xfrm>
            <a:off x="14106640" y="3986529"/>
            <a:ext cx="8209759" cy="642693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7332789" y="4325183"/>
            <a:ext cx="12722112" cy="68922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ТРАВМЫ РАЗЛИЧНЫХ ОБЛАСТЕЙ ТЕЛА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Голова: давление/повязка; осторожность при подозрении на перелом черепа; инородное не извлекать;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Шея: давление и повязка через противоположную подмышку;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Грудь: окклюзионная повязка при проникающем ранении; не «глушить» дыхание;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Живот/таз: не давить на выпавшие органы; фиксировать инородное тело;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Конечности и позвоночник: иммобилизация; при подозрении на позвоночник — максимально бережное обращение.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Сильно давить при подозрении на перелом черепа;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Накладывать на шею круговую повязку «как на руку»;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Вправлять органы или вытаскивать инородные предметы;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Трясти и резко перемещать при подозрении на травму позвоночника.</a:t>
            </a:r>
          </a:p>
        </p:txBody>
      </p:sp>
      <p:sp>
        <p:nvSpPr>
          <p:cNvPr id="10" name="object 8"/>
          <p:cNvSpPr/>
          <p:nvPr/>
        </p:nvSpPr>
        <p:spPr bwMode="auto">
          <a:xfrm>
            <a:off x="2054901" y="2906487"/>
            <a:ext cx="3906987" cy="1047605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3702059"/>
            <a:ext cx="11254698" cy="8111067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ПОРАЖЕНИЯ ТЕРМИЧЕСКИМИ ФАКТОРАМИ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Ожоги: охлаждение protoчной водой, стерильная/чистая повязка, не вскрывать пузыри;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мазать маслом, кремами и «народными средствами» на месте;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Ожог дыхательных путей — повод к срочному вызову СМП и контролю дыхания;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Перегревание: охлаждение, покой, питьё при сознании, вызов помощи при тяжёлом состоянии;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Отморожение и переохлаждение: прекратить охлаждение, термоизоляция, бережное согревание без растирания снегом.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Вскрывать пузыри и наносить масло/мази на свежий ожог;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Растирать отмороженные участки снегом или резко согревать;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Недооценивать ожог дыхательных путей и переохлаждение.</a:t>
            </a:r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12586235" y="3202874"/>
            <a:ext cx="6755722" cy="6626252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3" name="object 9"/>
          <p:cNvSpPr>
            <a:spLocks noChangeAspect="1"/>
          </p:cNvSpPr>
          <p:nvPr/>
        </p:nvSpPr>
        <p:spPr bwMode="auto">
          <a:xfrm>
            <a:off x="18559799" y="8986808"/>
            <a:ext cx="4430735" cy="4200898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747309"/>
            <a:ext cx="11585890" cy="3537379"/>
          </a:xfrm>
          <a:prstGeom prst="rect">
            <a:avLst/>
          </a:prstGeom>
        </p:spPr>
        <p:txBody>
          <a:bodyPr vert="horz" wrap="square" lIns="36000" tIns="12700" rIns="36000" bIns="3600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ХИМИЧЕСКИЕ, ЭЛЕКТРИЧЕСКИЕ ФАКТОРЫ И ИЗЛУЧЕНИЕ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Сначала собственная безопасность: ток отключить, химию не размазывать руками;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Химический ожог кожи: длительное промывание водой, снять загрязнённую одежду;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Электротравма: обесточить, затем осмотр и СЛР по показаниям;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«отрывать» пострадавшего от источника тока без защиты;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При излучении — прекратить воздействие, по возможности удалить загрязнения, вызвать СМП.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Хвататься за пострадавшего под напряжением;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Нейтрализовать кислоту щёлочью «на глаз»;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Забыть проверить дыхание и кровообращение после электротравмы.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1042595" y="5643872"/>
            <a:ext cx="6843069" cy="7596707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7885664" y="6822570"/>
            <a:ext cx="4718304" cy="6192712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9931414" y="4773268"/>
            <a:ext cx="10123487" cy="6338274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ОТРАВЛЕНИЯ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Оценить путь поступления яда: через рот, дыхание, кожу, инъекцию;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Вызвать СМП; обеспечить безопасность и доступ воздуха;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При отравлении через рот — промывание желудка водой с вызыванием рвоты только по правилам Порядка;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При едких веществах рвоту не вызывают;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Сохранить упаковку/остатки вещества для передачи медикам.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Вызывать рвоту при отравлении едкими веществами;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Давать молоко, соду и «универсальные антидоты» без показаний;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Оставаться в загазованном помещении без защиты.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2054900" y="9070848"/>
            <a:ext cx="5764086" cy="408138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2054900" y="3196630"/>
            <a:ext cx="6505614" cy="587421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803727"/>
            <a:ext cx="9563100" cy="637212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УКУСЫ И УЖАЛИВАНИЯ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7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Обеспечить безопасность: не ловить животное, увести пострадавшего из зоны риска;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Покой укушенной области, охлаждение по показаниям, контроль состояния;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разрезать рану, не высасывать яд, не накладывать жгут «от яда»;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Следить за признаками тяжёлой реакции и аллергии;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Вызвать СМП при укусе ядовитого животного или ухудшении состояния.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Резать рану, прижигать, высасывать яд;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Пить алкоголь «для дезинфекции» или «чтобы яд не всосался»;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Считать любой укус «несерьёзным» без наблюдения.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2988902" y="3561860"/>
            <a:ext cx="7066000" cy="3556004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3439066" y="7989792"/>
            <a:ext cx="6615835" cy="4848424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2054901" y="3449164"/>
            <a:ext cx="9279467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СУДОРОЖНЫЙ ПРИСТУП С ПОТЕРЕЙ СОЗНАНИЯ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препятствовать судорожным движениям силой; убрать опасные предметы вокруг;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Защитить голову от ударов; не разжимать зубы и не вкладывать предметы в рот;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После приступа — поддержание проходимости дыхательных путей, в т.ч. боковое положение;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Контролировать дыхание и сознание до СМП;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Фиксировать длительность приступа и описать его медикам.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Силой удерживать человека и разжимать челюсти;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Вкладывать ложку, палец или ткань в рот;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Оставлять без контроля дыхания сразу после окончания судорог.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5707726" y="8779419"/>
            <a:ext cx="11253284" cy="4076225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11694201" y="3272085"/>
            <a:ext cx="8613099" cy="4953493"/>
          </a:xfrm>
          <a:prstGeom prst="rect">
            <a:avLst/>
          </a:prstGeom>
          <a:blipFill>
            <a:blip r:embed="rId6"/>
            <a:srcRect l="0" t="0" r="0" b="9620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5469057"/>
            <a:ext cx="10949899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ПОМОЩЬ В ПРИНЯТИИ ЛЕКАРСТВЕННЫХ ПРЕПАРАТОВ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Только содействие в приёме препаратов, назначенных пострадавшему ранее врачом;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Решение о приёме принимает сам пострадавший;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требовать «справки» и документов о назначении;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назначать и не давать чужие лекарства;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Сочетать с вызовом СМП и контролем состояния.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Давать свои таблетки «от сердца» или «от давления»;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Настаивать на приёме препарата против воли человека;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Подменять этим вызов скорой помощи.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4530101" y="3288586"/>
            <a:ext cx="5524800" cy="448013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4530102" y="8212838"/>
            <a:ext cx="5524799" cy="482610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11054901" y="5406327"/>
            <a:ext cx="8248545" cy="404533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ПОЛОЖЕНИЕ, КОНТРОЛЬ И ПСИХОЛОГИЧЕСКАЯ ПОДДЕРЖКА</a:t>
            </a:r>
            <a:r>
              <a:rPr sz="3600" b="1" spc="-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Оптимальное положение зависит от состояния: шок, травма груди, потеря сознания и др.;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Контроль: сознание, дыхание, кровотечение, общее самочувствие — регулярно до СМП;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Психологическая поддержка — часть первой помощи, а не «разговор заодно»;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Говорить спокойно, коротко, по делу; объяснять, что происходит;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оставлять пострадавшего одного без наблюдения.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Выбрать удобное себе положение, а не показанное состоянию;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Проверить признаки жизни один раз и больше не возвращаться;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Кричать, спорить или обещать заведомо ложный исход.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3748235" y="3034259"/>
            <a:ext cx="5531232" cy="1007640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232200"/>
            <a:ext cx="11220832" cy="569450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ТРАНСПОРТИРОВКА И ПЕРЕДАЧА БРИГАДЕ СМП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Транспортировка своими силами — исключение, когда СМП недоступна или опасно ждать на месте;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Выбор способа переноса зависит от травм, состояния и числа участников;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При передаче бригаде кратко сообщить: что произошло, что найдено, что уже сделано;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Передать время ключевых событий, препараты, особенности состояния;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спорить с бригадой и не исчезать с важной информацией.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Тащить пострадавшего «поскорее» без учёта травм;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Начать рассказ бригаде с домыслов вместо фактов;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Забыть сообщить о жгуте, лекарствах или потере сознания.</a:t>
            </a:r>
          </a:p>
        </p:txBody>
      </p:sp>
      <p:sp>
        <p:nvSpPr>
          <p:cNvPr id="9" name="object 8"/>
          <p:cNvSpPr/>
          <p:nvPr/>
        </p:nvSpPr>
        <p:spPr bwMode="auto">
          <a:xfrm>
            <a:off x="14240234" y="3692733"/>
            <a:ext cx="6051733" cy="633053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2054901" y="3707064"/>
            <a:ext cx="7588325" cy="7510389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10377042" y="4930475"/>
            <a:ext cx="9677859" cy="506356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  <a:defRPr/>
            </a:pPr>
            <a:r>
              <a:rPr sz="1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ТИПИЧНЫЕ ОШИБКИ ПРИ ОБУЧЕНИИ ТЕМЕ</a:t>
            </a:r>
            <a:r>
              <a:rPr sz="3600" b="1" spc="5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Держать единую логику: осмотр → помощь → положение → контроль → передача;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сужать практику только до повязок: включить ожоги, отравления, судороги, поддержку;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Отрабатывать подробный осмотр на ситуациях, а не «по списку частей тела»;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Отдельно тренировать формулировку передачи информации бригаде СМП;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Давать позитивную, но конкретную обратную связь по технике и приоритетам.</a:t>
            </a:r>
          </a:p>
          <a:p>
            <a:pPr/>
            <a:r>
              <a:rPr sz="16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6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Превратить занятие в набор разрозненных тем без сквозного алгоритма;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Пропустить психологическую поддержку и контроль как «непрактические» блоки;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Не проверять, умеют ли слушатели кратко доложить бригаде СМП;</a:t>
            </a:r>
          </a:p>
          <a:p>
            <a:pPr>
              <a:spcBef>
                <a:spcPts val="200"/>
              </a:spcBef>
            </a:pPr>
            <a:r>
              <a:rPr sz="1600" b="0">
                <a:latin typeface="Open Sans Light"/>
                <a:ea typeface="Open Sans Light"/>
                <a:cs typeface="Open Sans Light"/>
              </a:rPr>
              <a:t>Заваливать деталями без отработки опасных запретов.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Rectangle 10"/>
          <p:cNvSpPr/>
          <p:nvPr/>
        </p:nvSpPr>
        <p:spPr bwMode="auto">
          <a:xfrm>
            <a:off x="0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78695" y="5351780"/>
            <a:ext cx="11649423" cy="3012439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Произвольный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dc:identifier/>
  <dc:language/>
  <cp:lastModifiedBy>Лукина Марина</cp:lastModifiedBy>
  <cp:revision>9</cp:revision>
  <dcterms:modified xsi:type="dcterms:W3CDTF">2026-08-19T09:35:45Z</dcterms:modified>
  <cp:category/>
  <cp:contentStatus/>
  <cp:version/>
</cp:coreProperties>
</file>