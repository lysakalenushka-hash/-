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1" r:id="rId2"/>
    <p:sldMasterId id="2147483754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66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7FD1BF-E8F5-4312-8C20-68C0E8546D4D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EF331A25-DBDE-4BC6-A273-1D009869C149}">
      <dgm:prSet/>
      <dgm:spPr/>
      <dgm:t>
        <a:bodyPr/>
        <a:lstStyle/>
        <a:p>
          <a:r>
            <a:rPr lang="ru-RU" b="1" i="0">
              <a:latin typeface="Open Sans" pitchFamily="2" charset="0"/>
              <a:ea typeface="Open Sans" pitchFamily="2" charset="0"/>
              <a:cs typeface="Open Sans" pitchFamily="2" charset="0"/>
            </a:rPr>
            <a:t>Подготовка: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A21A023C-4502-4B48-9FD7-9724D5F7AE86}" type="parTrans" cxnId="{2EC4C22E-3248-4D05-A7AB-23083E8D32A8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299ACECC-C3EC-44EA-8FF4-A517247C8123}" type="sibTrans" cxnId="{2EC4C22E-3248-4D05-A7AB-23083E8D32A8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5E58716B-C8A5-411E-AC83-F37A31A3A175}">
      <dgm:prSet/>
      <dgm:spPr/>
      <dgm:t>
        <a:bodyPr/>
        <a:lstStyle/>
        <a:p>
          <a:r>
            <a:rPr lang="ru-RU" b="0" i="0" dirty="0">
              <a:latin typeface="Open Sans" pitchFamily="2" charset="0"/>
              <a:ea typeface="Open Sans" pitchFamily="2" charset="0"/>
              <a:cs typeface="Open Sans" pitchFamily="2" charset="0"/>
            </a:rPr>
            <a:t>Сценарий ситуационной задачи</a:t>
          </a:r>
          <a:endParaRPr lang="ru-RU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0E9D34A0-3FC7-47CE-80F0-B7044160FEEE}" type="parTrans" cxnId="{794CBE4A-AD98-4D20-89BB-DBA66C479405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ED1CC5B8-3F2A-4DE9-8BC9-DD49F28EF29B}" type="sibTrans" cxnId="{794CBE4A-AD98-4D20-89BB-DBA66C479405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D8E5B40-A869-4F5C-9DF0-634973F26B29}">
      <dgm:prSet/>
      <dgm:spPr/>
      <dgm:t>
        <a:bodyPr/>
        <a:lstStyle/>
        <a:p>
          <a:r>
            <a:rPr lang="ru-RU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Определение способов оценки результатов</a:t>
          </a:r>
          <a:endParaRPr lang="ru-RU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5B8BC1C4-6C8C-4EE7-A1D4-F36000AEA85D}" type="parTrans" cxnId="{29EFCB62-5F3C-4738-B086-17F19EA07D3F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845295F-3CE1-44D5-8D23-7F5F9580DA92}" type="sibTrans" cxnId="{29EFCB62-5F3C-4738-B086-17F19EA07D3F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62379BA-1758-4116-86A3-BFDD2602ABE6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Определение способов фиксации результатов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9CEBFAA0-9167-44D4-8BCE-94C086A81D3C}" type="parTrans" cxnId="{D4223C03-A9AF-4A78-9063-58140051A01F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BA25FF3C-0104-4073-848B-4B6D59E30FD2}" type="sibTrans" cxnId="{D4223C03-A9AF-4A78-9063-58140051A01F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58D7D1C-4E32-4AE0-BD45-7771B77A58F1}">
      <dgm:prSet/>
      <dgm:spPr/>
      <dgm:t>
        <a:bodyPr/>
        <a:lstStyle/>
        <a:p>
          <a:r>
            <a:rPr lang="ru-RU" b="1" i="0" dirty="0">
              <a:latin typeface="Open Sans" pitchFamily="2" charset="0"/>
              <a:ea typeface="Open Sans" pitchFamily="2" charset="0"/>
              <a:cs typeface="Open Sans" pitchFamily="2" charset="0"/>
            </a:rPr>
            <a:t>Моделирование ситуации</a:t>
          </a:r>
          <a:r>
            <a:rPr lang="ru-RU" b="0" i="0" dirty="0">
              <a:latin typeface="Open Sans" pitchFamily="2" charset="0"/>
              <a:ea typeface="Open Sans" pitchFamily="2" charset="0"/>
              <a:cs typeface="Open Sans" pitchFamily="2" charset="0"/>
            </a:rPr>
            <a:t>:</a:t>
          </a:r>
          <a:endParaRPr lang="ru-RU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01F41BE8-76E6-41AB-8F3B-6A78AF7DA93E}" type="parTrans" cxnId="{39E62FD3-9108-4B7F-9A2D-6E5D371C6A27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9337E11-A6AA-46CE-8353-F3B7F3AFE958}" type="sibTrans" cxnId="{39E62FD3-9108-4B7F-9A2D-6E5D371C6A27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9979BA2-12DB-4FA7-9C59-5065EAC5C0CB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Сцена происшествия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7945CAC5-ACA5-401F-B93D-26DE04E8DC7F}" type="parTrans" cxnId="{11B881BC-F695-4840-888B-A64842B21EE0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E10FC27-45B6-40FA-930F-12D89DF75A50}" type="sibTrans" cxnId="{11B881BC-F695-4840-888B-A64842B21EE0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4936C43-4668-41C3-AEFC-48826FB16E58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Условные пострадавшие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B54A6DD6-6415-4AC7-9758-A4D13025A6E2}" type="parTrans" cxnId="{E6C2DCCD-ADF0-499A-B72C-52B362D74D1E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9631EF4-792B-4ACC-8615-751076F4EB53}" type="sibTrans" cxnId="{E6C2DCCD-ADF0-499A-B72C-52B362D74D1E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14C5788-15B5-4A4A-A597-FA7C90CC1C93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Имитация повреждений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54E86644-543C-4D87-B7F1-48A0DB287820}" type="parTrans" cxnId="{AFAB71FA-6CCD-471E-8CE0-1A657850791F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EC50F87C-13C9-4C14-A6C6-7849D6434651}" type="sibTrans" cxnId="{AFAB71FA-6CCD-471E-8CE0-1A657850791F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54547435-0609-4C36-ADB7-B3B9E0582DEF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Подготовка оснащения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965371F1-9474-4AD2-9B67-DD2724BC62E4}" type="parTrans" cxnId="{25D4F3F7-B46D-4CE3-8595-5D6D473B784B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B0C67A77-4B97-4BA3-B2E7-3EE37523323E}" type="sibTrans" cxnId="{25D4F3F7-B46D-4CE3-8595-5D6D473B784B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8C69C72-5E9A-4F1D-A026-4388526931BC}">
      <dgm:prSet/>
      <dgm:spPr/>
      <dgm:t>
        <a:bodyPr/>
        <a:lstStyle/>
        <a:p>
          <a:r>
            <a:rPr lang="ru-RU" b="1" i="0" dirty="0">
              <a:latin typeface="Open Sans" pitchFamily="2" charset="0"/>
              <a:ea typeface="Open Sans" pitchFamily="2" charset="0"/>
              <a:cs typeface="Open Sans" pitchFamily="2" charset="0"/>
            </a:rPr>
            <a:t>Условные пострадавшие</a:t>
          </a:r>
          <a:r>
            <a:rPr lang="ru-RU" b="0" i="0" dirty="0">
              <a:latin typeface="Open Sans" pitchFamily="2" charset="0"/>
              <a:ea typeface="Open Sans" pitchFamily="2" charset="0"/>
              <a:cs typeface="Open Sans" pitchFamily="2" charset="0"/>
            </a:rPr>
            <a:t>:</a:t>
          </a:r>
          <a:endParaRPr lang="ru-RU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89894013-3881-4C0A-8B70-211A07F4ECC3}" type="parTrans" cxnId="{B7B60071-504A-4291-B10A-EA2602B1FF72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0D5433D2-9E64-498E-ACEA-03C283208A3B}" type="sibTrans" cxnId="{B7B60071-504A-4291-B10A-EA2602B1FF72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581C81C5-1221-4B19-8B1B-BE3876961CE3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Из числа обучающихся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2AC54730-D9E4-46A3-8EE9-B9E72693E3E7}" type="parTrans" cxnId="{BBD25951-CB4A-466A-BA47-2A2A7B8DC93E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0310B5FE-7CA6-4AE3-AA88-7E133F603587}" type="sibTrans" cxnId="{BBD25951-CB4A-466A-BA47-2A2A7B8DC93E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EEF4F51-F121-4F12-9706-ED72B46FF7F5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Манекены-тренажеры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CE482517-D455-44D6-80E3-8DE609414B5F}" type="parTrans" cxnId="{D90FDC90-EB25-4925-AE01-F0A6235987EE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FC301F07-4CA1-4B43-ADCB-904519108C7E}" type="sibTrans" cxnId="{D90FDC90-EB25-4925-AE01-F0A6235987EE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80FE5D79-4E7C-4DF6-B396-4208636A7C28}">
      <dgm:prSet/>
      <dgm:spPr/>
      <dgm:t>
        <a:bodyPr/>
        <a:lstStyle/>
        <a:p>
          <a:r>
            <a:rPr lang="ru-RU" b="0" i="0">
              <a:latin typeface="Open Sans" pitchFamily="2" charset="0"/>
              <a:ea typeface="Open Sans" pitchFamily="2" charset="0"/>
              <a:cs typeface="Open Sans" pitchFamily="2" charset="0"/>
            </a:rPr>
            <a:t>Другие участники – из числа обучающихся</a:t>
          </a:r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2BC474FC-605D-4614-9843-BD4F12B6571C}" type="parTrans" cxnId="{B094E237-5CFE-4A20-8F69-18FE4C38F3AE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B566BF8A-F750-451A-B1E5-F1CDA1306DBD}" type="sibTrans" cxnId="{B094E237-5CFE-4A20-8F69-18FE4C38F3AE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3DD1676-1EC4-43DA-A505-5DA5E04961F8}" type="pres">
      <dgm:prSet presAssocID="{EC7FD1BF-E8F5-4312-8C20-68C0E8546D4D}" presName="diagram" presStyleCnt="0">
        <dgm:presLayoutVars>
          <dgm:dir/>
          <dgm:resizeHandles val="exact"/>
        </dgm:presLayoutVars>
      </dgm:prSet>
      <dgm:spPr/>
    </dgm:pt>
    <dgm:pt modelId="{5031CB52-44CD-4554-B857-3B40A4EDB35E}" type="pres">
      <dgm:prSet presAssocID="{EF331A25-DBDE-4BC6-A273-1D009869C149}" presName="node" presStyleLbl="node1" presStyleIdx="0" presStyleCnt="3">
        <dgm:presLayoutVars>
          <dgm:bulletEnabled val="1"/>
        </dgm:presLayoutVars>
      </dgm:prSet>
      <dgm:spPr/>
    </dgm:pt>
    <dgm:pt modelId="{CC137826-7C60-461F-A1D7-0F3C2280706E}" type="pres">
      <dgm:prSet presAssocID="{299ACECC-C3EC-44EA-8FF4-A517247C8123}" presName="sibTrans" presStyleCnt="0"/>
      <dgm:spPr/>
    </dgm:pt>
    <dgm:pt modelId="{7D206DDA-017F-4C79-B002-078BE206E9D9}" type="pres">
      <dgm:prSet presAssocID="{C58D7D1C-4E32-4AE0-BD45-7771B77A58F1}" presName="node" presStyleLbl="node1" presStyleIdx="1" presStyleCnt="3">
        <dgm:presLayoutVars>
          <dgm:bulletEnabled val="1"/>
        </dgm:presLayoutVars>
      </dgm:prSet>
      <dgm:spPr/>
    </dgm:pt>
    <dgm:pt modelId="{4BD601E2-425D-4ABA-8F42-F1BA50E99A49}" type="pres">
      <dgm:prSet presAssocID="{F9337E11-A6AA-46CE-8353-F3B7F3AFE958}" presName="sibTrans" presStyleCnt="0"/>
      <dgm:spPr/>
    </dgm:pt>
    <dgm:pt modelId="{B168E32E-EFA6-4CF3-93D8-3DC93548F222}" type="pres">
      <dgm:prSet presAssocID="{18C69C72-5E9A-4F1D-A026-4388526931BC}" presName="node" presStyleLbl="node1" presStyleIdx="2" presStyleCnt="3">
        <dgm:presLayoutVars>
          <dgm:bulletEnabled val="1"/>
        </dgm:presLayoutVars>
      </dgm:prSet>
      <dgm:spPr/>
    </dgm:pt>
  </dgm:ptLst>
  <dgm:cxnLst>
    <dgm:cxn modelId="{D4223C03-A9AF-4A78-9063-58140051A01F}" srcId="{EF331A25-DBDE-4BC6-A273-1D009869C149}" destId="{D62379BA-1758-4116-86A3-BFDD2602ABE6}" srcOrd="2" destOrd="0" parTransId="{9CEBFAA0-9167-44D4-8BCE-94C086A81D3C}" sibTransId="{BA25FF3C-0104-4073-848B-4B6D59E30FD2}"/>
    <dgm:cxn modelId="{E21DDB0D-8D1D-4AD5-A676-85CB02EF0C59}" type="presOf" srcId="{CEEF4F51-F121-4F12-9706-ED72B46FF7F5}" destId="{B168E32E-EFA6-4CF3-93D8-3DC93548F222}" srcOrd="0" destOrd="2" presId="urn:microsoft.com/office/officeart/2005/8/layout/default"/>
    <dgm:cxn modelId="{61522213-8308-4698-96A6-D5DC396173BD}" type="presOf" srcId="{EF331A25-DBDE-4BC6-A273-1D009869C149}" destId="{5031CB52-44CD-4554-B857-3B40A4EDB35E}" srcOrd="0" destOrd="0" presId="urn:microsoft.com/office/officeart/2005/8/layout/default"/>
    <dgm:cxn modelId="{2EC4C22E-3248-4D05-A7AB-23083E8D32A8}" srcId="{EC7FD1BF-E8F5-4312-8C20-68C0E8546D4D}" destId="{EF331A25-DBDE-4BC6-A273-1D009869C149}" srcOrd="0" destOrd="0" parTransId="{A21A023C-4502-4B48-9FD7-9724D5F7AE86}" sibTransId="{299ACECC-C3EC-44EA-8FF4-A517247C8123}"/>
    <dgm:cxn modelId="{20032C36-E484-4D15-B64C-483A911095D6}" type="presOf" srcId="{C4936C43-4668-41C3-AEFC-48826FB16E58}" destId="{7D206DDA-017F-4C79-B002-078BE206E9D9}" srcOrd="0" destOrd="2" presId="urn:microsoft.com/office/officeart/2005/8/layout/default"/>
    <dgm:cxn modelId="{B094E237-5CFE-4A20-8F69-18FE4C38F3AE}" srcId="{18C69C72-5E9A-4F1D-A026-4388526931BC}" destId="{80FE5D79-4E7C-4DF6-B396-4208636A7C28}" srcOrd="2" destOrd="0" parTransId="{2BC474FC-605D-4614-9843-BD4F12B6571C}" sibTransId="{B566BF8A-F750-451A-B1E5-F1CDA1306DBD}"/>
    <dgm:cxn modelId="{8D8E6C5E-F009-4C88-94DB-5EE92CEF1353}" type="presOf" srcId="{581C81C5-1221-4B19-8B1B-BE3876961CE3}" destId="{B168E32E-EFA6-4CF3-93D8-3DC93548F222}" srcOrd="0" destOrd="1" presId="urn:microsoft.com/office/officeart/2005/8/layout/default"/>
    <dgm:cxn modelId="{C82B5341-CB74-4559-9925-B67237F09C54}" type="presOf" srcId="{D9979BA2-12DB-4FA7-9C59-5065EAC5C0CB}" destId="{7D206DDA-017F-4C79-B002-078BE206E9D9}" srcOrd="0" destOrd="1" presId="urn:microsoft.com/office/officeart/2005/8/layout/default"/>
    <dgm:cxn modelId="{29EFCB62-5F3C-4738-B086-17F19EA07D3F}" srcId="{EF331A25-DBDE-4BC6-A273-1D009869C149}" destId="{1D8E5B40-A869-4F5C-9DF0-634973F26B29}" srcOrd="1" destOrd="0" parTransId="{5B8BC1C4-6C8C-4EE7-A1D4-F36000AEA85D}" sibTransId="{D845295F-3CE1-44D5-8D23-7F5F9580DA92}"/>
    <dgm:cxn modelId="{0D862744-1559-4A83-A6C2-B467914551C3}" type="presOf" srcId="{F14C5788-15B5-4A4A-A597-FA7C90CC1C93}" destId="{7D206DDA-017F-4C79-B002-078BE206E9D9}" srcOrd="0" destOrd="3" presId="urn:microsoft.com/office/officeart/2005/8/layout/default"/>
    <dgm:cxn modelId="{794CBE4A-AD98-4D20-89BB-DBA66C479405}" srcId="{EF331A25-DBDE-4BC6-A273-1D009869C149}" destId="{5E58716B-C8A5-411E-AC83-F37A31A3A175}" srcOrd="0" destOrd="0" parTransId="{0E9D34A0-3FC7-47CE-80F0-B7044160FEEE}" sibTransId="{ED1CC5B8-3F2A-4DE9-8BC9-DD49F28EF29B}"/>
    <dgm:cxn modelId="{B7B60071-504A-4291-B10A-EA2602B1FF72}" srcId="{EC7FD1BF-E8F5-4312-8C20-68C0E8546D4D}" destId="{18C69C72-5E9A-4F1D-A026-4388526931BC}" srcOrd="2" destOrd="0" parTransId="{89894013-3881-4C0A-8B70-211A07F4ECC3}" sibTransId="{0D5433D2-9E64-498E-ACEA-03C283208A3B}"/>
    <dgm:cxn modelId="{BBD25951-CB4A-466A-BA47-2A2A7B8DC93E}" srcId="{18C69C72-5E9A-4F1D-A026-4388526931BC}" destId="{581C81C5-1221-4B19-8B1B-BE3876961CE3}" srcOrd="0" destOrd="0" parTransId="{2AC54730-D9E4-46A3-8EE9-B9E72693E3E7}" sibTransId="{0310B5FE-7CA6-4AE3-AA88-7E133F603587}"/>
    <dgm:cxn modelId="{C864F272-CCEF-4B97-A846-52246B4ACFDF}" type="presOf" srcId="{54547435-0609-4C36-ADB7-B3B9E0582DEF}" destId="{7D206DDA-017F-4C79-B002-078BE206E9D9}" srcOrd="0" destOrd="4" presId="urn:microsoft.com/office/officeart/2005/8/layout/default"/>
    <dgm:cxn modelId="{76AFA38B-9D02-4C0F-87A3-196C34CA893F}" type="presOf" srcId="{18C69C72-5E9A-4F1D-A026-4388526931BC}" destId="{B168E32E-EFA6-4CF3-93D8-3DC93548F222}" srcOrd="0" destOrd="0" presId="urn:microsoft.com/office/officeart/2005/8/layout/default"/>
    <dgm:cxn modelId="{DA8DF48B-9029-4FDD-B5D4-24A096235E14}" type="presOf" srcId="{EC7FD1BF-E8F5-4312-8C20-68C0E8546D4D}" destId="{63DD1676-1EC4-43DA-A505-5DA5E04961F8}" srcOrd="0" destOrd="0" presId="urn:microsoft.com/office/officeart/2005/8/layout/default"/>
    <dgm:cxn modelId="{D90FDC90-EB25-4925-AE01-F0A6235987EE}" srcId="{18C69C72-5E9A-4F1D-A026-4388526931BC}" destId="{CEEF4F51-F121-4F12-9706-ED72B46FF7F5}" srcOrd="1" destOrd="0" parTransId="{CE482517-D455-44D6-80E3-8DE609414B5F}" sibTransId="{FC301F07-4CA1-4B43-ADCB-904519108C7E}"/>
    <dgm:cxn modelId="{F767BC9F-ACEF-46C9-A8C9-16ADD01EBA73}" type="presOf" srcId="{5E58716B-C8A5-411E-AC83-F37A31A3A175}" destId="{5031CB52-44CD-4554-B857-3B40A4EDB35E}" srcOrd="0" destOrd="1" presId="urn:microsoft.com/office/officeart/2005/8/layout/default"/>
    <dgm:cxn modelId="{11B881BC-F695-4840-888B-A64842B21EE0}" srcId="{C58D7D1C-4E32-4AE0-BD45-7771B77A58F1}" destId="{D9979BA2-12DB-4FA7-9C59-5065EAC5C0CB}" srcOrd="0" destOrd="0" parTransId="{7945CAC5-ACA5-401F-B93D-26DE04E8DC7F}" sibTransId="{DE10FC27-45B6-40FA-930F-12D89DF75A50}"/>
    <dgm:cxn modelId="{E6C2DCCD-ADF0-499A-B72C-52B362D74D1E}" srcId="{C58D7D1C-4E32-4AE0-BD45-7771B77A58F1}" destId="{C4936C43-4668-41C3-AEFC-48826FB16E58}" srcOrd="1" destOrd="0" parTransId="{B54A6DD6-6415-4AC7-9758-A4D13025A6E2}" sibTransId="{49631EF4-792B-4ACC-8615-751076F4EB53}"/>
    <dgm:cxn modelId="{39E62FD3-9108-4B7F-9A2D-6E5D371C6A27}" srcId="{EC7FD1BF-E8F5-4312-8C20-68C0E8546D4D}" destId="{C58D7D1C-4E32-4AE0-BD45-7771B77A58F1}" srcOrd="1" destOrd="0" parTransId="{01F41BE8-76E6-41AB-8F3B-6A78AF7DA93E}" sibTransId="{F9337E11-A6AA-46CE-8353-F3B7F3AFE958}"/>
    <dgm:cxn modelId="{6C51CCDD-C1AA-46AB-B91E-0F0D559F4CAD}" type="presOf" srcId="{80FE5D79-4E7C-4DF6-B396-4208636A7C28}" destId="{B168E32E-EFA6-4CF3-93D8-3DC93548F222}" srcOrd="0" destOrd="3" presId="urn:microsoft.com/office/officeart/2005/8/layout/default"/>
    <dgm:cxn modelId="{C5A351E3-307F-4815-BD6C-0E0B30F3D5B8}" type="presOf" srcId="{C58D7D1C-4E32-4AE0-BD45-7771B77A58F1}" destId="{7D206DDA-017F-4C79-B002-078BE206E9D9}" srcOrd="0" destOrd="0" presId="urn:microsoft.com/office/officeart/2005/8/layout/default"/>
    <dgm:cxn modelId="{CB2894F7-4FE0-43B3-AE67-327A9AB2CEE8}" type="presOf" srcId="{D62379BA-1758-4116-86A3-BFDD2602ABE6}" destId="{5031CB52-44CD-4554-B857-3B40A4EDB35E}" srcOrd="0" destOrd="3" presId="urn:microsoft.com/office/officeart/2005/8/layout/default"/>
    <dgm:cxn modelId="{25D4F3F7-B46D-4CE3-8595-5D6D473B784B}" srcId="{C58D7D1C-4E32-4AE0-BD45-7771B77A58F1}" destId="{54547435-0609-4C36-ADB7-B3B9E0582DEF}" srcOrd="3" destOrd="0" parTransId="{965371F1-9474-4AD2-9B67-DD2724BC62E4}" sibTransId="{B0C67A77-4B97-4BA3-B2E7-3EE37523323E}"/>
    <dgm:cxn modelId="{AFAB71FA-6CCD-471E-8CE0-1A657850791F}" srcId="{C58D7D1C-4E32-4AE0-BD45-7771B77A58F1}" destId="{F14C5788-15B5-4A4A-A597-FA7C90CC1C93}" srcOrd="2" destOrd="0" parTransId="{54E86644-543C-4D87-B7F1-48A0DB287820}" sibTransId="{EC50F87C-13C9-4C14-A6C6-7849D6434651}"/>
    <dgm:cxn modelId="{71B3D1FC-6F8D-4A5B-A958-63509FF63220}" type="presOf" srcId="{1D8E5B40-A869-4F5C-9DF0-634973F26B29}" destId="{5031CB52-44CD-4554-B857-3B40A4EDB35E}" srcOrd="0" destOrd="2" presId="urn:microsoft.com/office/officeart/2005/8/layout/default"/>
    <dgm:cxn modelId="{02922ABE-E291-4826-B98D-F5DF514BDF1C}" type="presParOf" srcId="{63DD1676-1EC4-43DA-A505-5DA5E04961F8}" destId="{5031CB52-44CD-4554-B857-3B40A4EDB35E}" srcOrd="0" destOrd="0" presId="urn:microsoft.com/office/officeart/2005/8/layout/default"/>
    <dgm:cxn modelId="{4C283D30-A145-44B3-BFB6-3F6AF35A88A1}" type="presParOf" srcId="{63DD1676-1EC4-43DA-A505-5DA5E04961F8}" destId="{CC137826-7C60-461F-A1D7-0F3C2280706E}" srcOrd="1" destOrd="0" presId="urn:microsoft.com/office/officeart/2005/8/layout/default"/>
    <dgm:cxn modelId="{7F7AB3F4-0939-4219-921E-58DDBAA183E1}" type="presParOf" srcId="{63DD1676-1EC4-43DA-A505-5DA5E04961F8}" destId="{7D206DDA-017F-4C79-B002-078BE206E9D9}" srcOrd="2" destOrd="0" presId="urn:microsoft.com/office/officeart/2005/8/layout/default"/>
    <dgm:cxn modelId="{A5AA303F-2453-479B-A175-2C23E389434D}" type="presParOf" srcId="{63DD1676-1EC4-43DA-A505-5DA5E04961F8}" destId="{4BD601E2-425D-4ABA-8F42-F1BA50E99A49}" srcOrd="3" destOrd="0" presId="urn:microsoft.com/office/officeart/2005/8/layout/default"/>
    <dgm:cxn modelId="{3DEA4B57-8631-42C2-8700-43639B4B7189}" type="presParOf" srcId="{63DD1676-1EC4-43DA-A505-5DA5E04961F8}" destId="{B168E32E-EFA6-4CF3-93D8-3DC93548F22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FD8776-C4EE-4066-8466-595525FF9488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B7268479-22C8-485E-8EA1-AFC3D5311F51}">
      <dgm:prSet/>
      <dgm:spPr/>
      <dgm:t>
        <a:bodyPr/>
        <a:lstStyle/>
        <a:p>
          <a:r>
            <a:rPr lang="ru-RU" b="1" i="0"/>
            <a:t>Проведение:</a:t>
          </a:r>
          <a:endParaRPr lang="ru-RU"/>
        </a:p>
      </dgm:t>
    </dgm:pt>
    <dgm:pt modelId="{6C1CFBDB-7506-44E1-8612-FFC8049494EB}" type="parTrans" cxnId="{99DE6341-C29F-4A81-A668-E6C551837003}">
      <dgm:prSet/>
      <dgm:spPr/>
      <dgm:t>
        <a:bodyPr/>
        <a:lstStyle/>
        <a:p>
          <a:endParaRPr lang="ru-RU"/>
        </a:p>
      </dgm:t>
    </dgm:pt>
    <dgm:pt modelId="{F44BD66E-2F2A-4C1F-825E-E8EDBA7CAE88}" type="sibTrans" cxnId="{99DE6341-C29F-4A81-A668-E6C551837003}">
      <dgm:prSet/>
      <dgm:spPr/>
      <dgm:t>
        <a:bodyPr/>
        <a:lstStyle/>
        <a:p>
          <a:endParaRPr lang="ru-RU"/>
        </a:p>
      </dgm:t>
    </dgm:pt>
    <dgm:pt modelId="{BC7C8585-3801-4549-9C92-B2CC1817BED0}">
      <dgm:prSet/>
      <dgm:spPr/>
      <dgm:t>
        <a:bodyPr/>
        <a:lstStyle/>
        <a:p>
          <a:r>
            <a:rPr lang="ru-RU" b="1" i="0"/>
            <a:t>Постановка задачи:</a:t>
          </a:r>
          <a:endParaRPr lang="ru-RU"/>
        </a:p>
      </dgm:t>
    </dgm:pt>
    <dgm:pt modelId="{057CCD7B-0ED8-4E4D-B222-99589301F3ED}" type="parTrans" cxnId="{C07B06BC-0DAF-4574-B2E4-7D67AD6F7795}">
      <dgm:prSet/>
      <dgm:spPr/>
      <dgm:t>
        <a:bodyPr/>
        <a:lstStyle/>
        <a:p>
          <a:endParaRPr lang="ru-RU"/>
        </a:p>
      </dgm:t>
    </dgm:pt>
    <dgm:pt modelId="{8D78842E-0F31-4AFB-BCEC-A1D02B75A604}" type="sibTrans" cxnId="{C07B06BC-0DAF-4574-B2E4-7D67AD6F7795}">
      <dgm:prSet/>
      <dgm:spPr/>
      <dgm:t>
        <a:bodyPr/>
        <a:lstStyle/>
        <a:p>
          <a:endParaRPr lang="ru-RU"/>
        </a:p>
      </dgm:t>
    </dgm:pt>
    <dgm:pt modelId="{896B450C-BB1B-48DC-BC36-3848ED082F02}">
      <dgm:prSet/>
      <dgm:spPr/>
      <dgm:t>
        <a:bodyPr/>
        <a:lstStyle/>
        <a:p>
          <a:r>
            <a:rPr lang="ru-RU" b="0" i="0"/>
            <a:t>Рассказать условия задачи</a:t>
          </a:r>
          <a:endParaRPr lang="ru-RU"/>
        </a:p>
      </dgm:t>
    </dgm:pt>
    <dgm:pt modelId="{BE339A9E-AD92-460A-B71E-FC6CFB93210C}" type="parTrans" cxnId="{37D0EE9C-D0FC-41D5-B53C-0C3D60704D88}">
      <dgm:prSet/>
      <dgm:spPr/>
      <dgm:t>
        <a:bodyPr/>
        <a:lstStyle/>
        <a:p>
          <a:endParaRPr lang="ru-RU"/>
        </a:p>
      </dgm:t>
    </dgm:pt>
    <dgm:pt modelId="{E9F27F9C-C7E6-4549-9134-8493605550C9}" type="sibTrans" cxnId="{37D0EE9C-D0FC-41D5-B53C-0C3D60704D88}">
      <dgm:prSet/>
      <dgm:spPr/>
      <dgm:t>
        <a:bodyPr/>
        <a:lstStyle/>
        <a:p>
          <a:endParaRPr lang="ru-RU"/>
        </a:p>
      </dgm:t>
    </dgm:pt>
    <dgm:pt modelId="{634DC252-DBE2-47B6-9035-9E42208F7CB8}">
      <dgm:prSet/>
      <dgm:spPr/>
      <dgm:t>
        <a:bodyPr/>
        <a:lstStyle/>
        <a:p>
          <a:r>
            <a:rPr lang="ru-RU" b="0" i="0"/>
            <a:t>Попросить повторить</a:t>
          </a:r>
          <a:endParaRPr lang="ru-RU"/>
        </a:p>
      </dgm:t>
    </dgm:pt>
    <dgm:pt modelId="{C7628822-AD70-4DF9-8E57-F889B7C5EB08}" type="parTrans" cxnId="{7BF97B2F-B582-4AF4-88E0-CA01D2E0F3DF}">
      <dgm:prSet/>
      <dgm:spPr/>
      <dgm:t>
        <a:bodyPr/>
        <a:lstStyle/>
        <a:p>
          <a:endParaRPr lang="ru-RU"/>
        </a:p>
      </dgm:t>
    </dgm:pt>
    <dgm:pt modelId="{6DB3569F-9F5C-4BE9-8941-736162EB1403}" type="sibTrans" cxnId="{7BF97B2F-B582-4AF4-88E0-CA01D2E0F3DF}">
      <dgm:prSet/>
      <dgm:spPr/>
      <dgm:t>
        <a:bodyPr/>
        <a:lstStyle/>
        <a:p>
          <a:endParaRPr lang="ru-RU"/>
        </a:p>
      </dgm:t>
    </dgm:pt>
    <dgm:pt modelId="{AA90FB12-D0FE-4DD7-933D-C90EC993212D}">
      <dgm:prSet/>
      <dgm:spPr/>
      <dgm:t>
        <a:bodyPr/>
        <a:lstStyle/>
        <a:p>
          <a:r>
            <a:rPr lang="ru-RU" b="0" i="0"/>
            <a:t>Разъяснить неясные моменты </a:t>
          </a:r>
          <a:endParaRPr lang="ru-RU"/>
        </a:p>
      </dgm:t>
    </dgm:pt>
    <dgm:pt modelId="{E57F014D-A303-449C-B3E9-0897914A4E53}" type="parTrans" cxnId="{800B1362-983B-4E7A-ACAA-392E3415A2C5}">
      <dgm:prSet/>
      <dgm:spPr/>
      <dgm:t>
        <a:bodyPr/>
        <a:lstStyle/>
        <a:p>
          <a:endParaRPr lang="ru-RU"/>
        </a:p>
      </dgm:t>
    </dgm:pt>
    <dgm:pt modelId="{141F59BF-9665-4666-ABB4-6A1FE65C3C30}" type="sibTrans" cxnId="{800B1362-983B-4E7A-ACAA-392E3415A2C5}">
      <dgm:prSet/>
      <dgm:spPr/>
      <dgm:t>
        <a:bodyPr/>
        <a:lstStyle/>
        <a:p>
          <a:endParaRPr lang="ru-RU"/>
        </a:p>
      </dgm:t>
    </dgm:pt>
    <dgm:pt modelId="{CF588E36-B1EF-4331-A09C-97E0FF8B08AB}">
      <dgm:prSet/>
      <dgm:spPr/>
      <dgm:t>
        <a:bodyPr/>
        <a:lstStyle/>
        <a:p>
          <a:r>
            <a:rPr lang="ru-RU" b="0" i="0"/>
            <a:t>Объяснить, что требуется</a:t>
          </a:r>
          <a:endParaRPr lang="ru-RU"/>
        </a:p>
      </dgm:t>
    </dgm:pt>
    <dgm:pt modelId="{74ED5D3F-37A5-4EA0-A8A3-66CB148C27FF}" type="parTrans" cxnId="{667C7AB3-A51A-4B74-BB33-E323D767687C}">
      <dgm:prSet/>
      <dgm:spPr/>
      <dgm:t>
        <a:bodyPr/>
        <a:lstStyle/>
        <a:p>
          <a:endParaRPr lang="ru-RU"/>
        </a:p>
      </dgm:t>
    </dgm:pt>
    <dgm:pt modelId="{146A9F76-F084-4537-870B-D0DA3BA35FAF}" type="sibTrans" cxnId="{667C7AB3-A51A-4B74-BB33-E323D767687C}">
      <dgm:prSet/>
      <dgm:spPr/>
      <dgm:t>
        <a:bodyPr/>
        <a:lstStyle/>
        <a:p>
          <a:endParaRPr lang="ru-RU"/>
        </a:p>
      </dgm:t>
    </dgm:pt>
    <dgm:pt modelId="{9F6462B7-3ADA-4CC8-8FA4-E4C7D7B049DE}">
      <dgm:prSet/>
      <dgm:spPr/>
      <dgm:t>
        <a:bodyPr/>
        <a:lstStyle/>
        <a:p>
          <a:r>
            <a:rPr lang="ru-RU" b="1" i="0" dirty="0"/>
            <a:t>Решение задачи:</a:t>
          </a:r>
          <a:endParaRPr lang="ru-RU" dirty="0"/>
        </a:p>
      </dgm:t>
    </dgm:pt>
    <dgm:pt modelId="{5B4007EE-1282-4C0C-978D-CA08A0C97133}" type="parTrans" cxnId="{E3B47B3E-9768-4662-A3B8-1366EE2E33AA}">
      <dgm:prSet/>
      <dgm:spPr/>
      <dgm:t>
        <a:bodyPr/>
        <a:lstStyle/>
        <a:p>
          <a:endParaRPr lang="ru-RU"/>
        </a:p>
      </dgm:t>
    </dgm:pt>
    <dgm:pt modelId="{DA1B94C1-9A25-424D-81FF-B02BE451665E}" type="sibTrans" cxnId="{E3B47B3E-9768-4662-A3B8-1366EE2E33AA}">
      <dgm:prSet/>
      <dgm:spPr/>
      <dgm:t>
        <a:bodyPr/>
        <a:lstStyle/>
        <a:p>
          <a:endParaRPr lang="ru-RU"/>
        </a:p>
      </dgm:t>
    </dgm:pt>
    <dgm:pt modelId="{22BB7285-DCE3-4A56-9594-7DBD84448D7F}">
      <dgm:prSet/>
      <dgm:spPr/>
      <dgm:t>
        <a:bodyPr/>
        <a:lstStyle/>
        <a:p>
          <a:r>
            <a:rPr lang="ru-RU" b="0" i="0"/>
            <a:t>Выполнение необходимых действий, фиксации результатов, контроль ситуации</a:t>
          </a:r>
          <a:endParaRPr lang="ru-RU"/>
        </a:p>
      </dgm:t>
    </dgm:pt>
    <dgm:pt modelId="{D0B9C634-93B0-4FB7-A391-62C151EE33B3}" type="parTrans" cxnId="{C0635487-BAB3-4D36-B6C7-3F9A321A4543}">
      <dgm:prSet/>
      <dgm:spPr/>
      <dgm:t>
        <a:bodyPr/>
        <a:lstStyle/>
        <a:p>
          <a:endParaRPr lang="ru-RU"/>
        </a:p>
      </dgm:t>
    </dgm:pt>
    <dgm:pt modelId="{73D253B1-DF6A-49AE-9D5D-BFD2D94698EB}" type="sibTrans" cxnId="{C0635487-BAB3-4D36-B6C7-3F9A321A4543}">
      <dgm:prSet/>
      <dgm:spPr/>
      <dgm:t>
        <a:bodyPr/>
        <a:lstStyle/>
        <a:p>
          <a:endParaRPr lang="ru-RU"/>
        </a:p>
      </dgm:t>
    </dgm:pt>
    <dgm:pt modelId="{8DD3F880-DF72-4C0C-8150-2E209431F43A}">
      <dgm:prSet/>
      <dgm:spPr/>
      <dgm:t>
        <a:bodyPr/>
        <a:lstStyle/>
        <a:p>
          <a:r>
            <a:rPr lang="ru-RU" b="0" i="0"/>
            <a:t>Изменение состояния пострадавшего в зависимости от действий обучающего </a:t>
          </a:r>
          <a:endParaRPr lang="ru-RU"/>
        </a:p>
      </dgm:t>
    </dgm:pt>
    <dgm:pt modelId="{7C030A0A-80FE-4C68-A1CB-87B2BD9DF828}" type="parTrans" cxnId="{06491EE8-9EA2-46D0-81B8-E8EA1B49FF37}">
      <dgm:prSet/>
      <dgm:spPr/>
      <dgm:t>
        <a:bodyPr/>
        <a:lstStyle/>
        <a:p>
          <a:endParaRPr lang="ru-RU"/>
        </a:p>
      </dgm:t>
    </dgm:pt>
    <dgm:pt modelId="{C363E9D1-3EAA-4379-AA6A-39DE6D292FCA}" type="sibTrans" cxnId="{06491EE8-9EA2-46D0-81B8-E8EA1B49FF37}">
      <dgm:prSet/>
      <dgm:spPr/>
      <dgm:t>
        <a:bodyPr/>
        <a:lstStyle/>
        <a:p>
          <a:endParaRPr lang="ru-RU"/>
        </a:p>
      </dgm:t>
    </dgm:pt>
    <dgm:pt modelId="{C45034A2-431D-452C-857C-FD214159F70F}">
      <dgm:prSet/>
      <dgm:spPr/>
      <dgm:t>
        <a:bodyPr/>
        <a:lstStyle/>
        <a:p>
          <a:r>
            <a:rPr lang="ru-RU" b="0" i="0"/>
            <a:t>Финал не должен быть трагическим </a:t>
          </a:r>
          <a:endParaRPr lang="ru-RU"/>
        </a:p>
      </dgm:t>
    </dgm:pt>
    <dgm:pt modelId="{47A6B0E3-15B2-43B3-B507-E981780D08B2}" type="parTrans" cxnId="{59A0A870-6899-4DBC-8E14-1A56F612BB5F}">
      <dgm:prSet/>
      <dgm:spPr/>
      <dgm:t>
        <a:bodyPr/>
        <a:lstStyle/>
        <a:p>
          <a:endParaRPr lang="ru-RU"/>
        </a:p>
      </dgm:t>
    </dgm:pt>
    <dgm:pt modelId="{900A8435-A009-49A1-8DA0-0A204AF7836E}" type="sibTrans" cxnId="{59A0A870-6899-4DBC-8E14-1A56F612BB5F}">
      <dgm:prSet/>
      <dgm:spPr/>
      <dgm:t>
        <a:bodyPr/>
        <a:lstStyle/>
        <a:p>
          <a:endParaRPr lang="ru-RU"/>
        </a:p>
      </dgm:t>
    </dgm:pt>
    <dgm:pt modelId="{F88BED5E-9FE6-4AF6-84F2-A331ED69F6B9}">
      <dgm:prSet/>
      <dgm:spPr/>
      <dgm:t>
        <a:bodyPr/>
        <a:lstStyle/>
        <a:p>
          <a:r>
            <a:rPr lang="ru-RU" b="1" i="0" dirty="0"/>
            <a:t>Контроль результатов:</a:t>
          </a:r>
          <a:endParaRPr lang="ru-RU" dirty="0"/>
        </a:p>
      </dgm:t>
    </dgm:pt>
    <dgm:pt modelId="{EC487881-FECC-4507-9988-CB5F89EFC294}" type="parTrans" cxnId="{7F34C63A-9C87-4500-87B5-6702FC46AF18}">
      <dgm:prSet/>
      <dgm:spPr/>
      <dgm:t>
        <a:bodyPr/>
        <a:lstStyle/>
        <a:p>
          <a:endParaRPr lang="ru-RU"/>
        </a:p>
      </dgm:t>
    </dgm:pt>
    <dgm:pt modelId="{F951E6C5-DFFD-48CB-B0E5-FC66743D6161}" type="sibTrans" cxnId="{7F34C63A-9C87-4500-87B5-6702FC46AF18}">
      <dgm:prSet/>
      <dgm:spPr/>
      <dgm:t>
        <a:bodyPr/>
        <a:lstStyle/>
        <a:p>
          <a:endParaRPr lang="ru-RU"/>
        </a:p>
      </dgm:t>
    </dgm:pt>
    <dgm:pt modelId="{7E7907F7-45CF-4E44-9C98-CA4031C9578C}">
      <dgm:prSet/>
      <dgm:spPr/>
      <dgm:t>
        <a:bodyPr/>
        <a:lstStyle/>
        <a:p>
          <a:r>
            <a:rPr lang="ru-RU" b="0" i="0"/>
            <a:t>Оценочный лист</a:t>
          </a:r>
          <a:endParaRPr lang="ru-RU"/>
        </a:p>
      </dgm:t>
    </dgm:pt>
    <dgm:pt modelId="{201AD963-8142-4540-856B-EA7B06CAF682}" type="parTrans" cxnId="{12FE3259-2123-49D3-B790-E485FB154D3E}">
      <dgm:prSet/>
      <dgm:spPr/>
      <dgm:t>
        <a:bodyPr/>
        <a:lstStyle/>
        <a:p>
          <a:endParaRPr lang="ru-RU"/>
        </a:p>
      </dgm:t>
    </dgm:pt>
    <dgm:pt modelId="{AC78FF27-9FF8-44B0-A7EC-37F1526B38CB}" type="sibTrans" cxnId="{12FE3259-2123-49D3-B790-E485FB154D3E}">
      <dgm:prSet/>
      <dgm:spPr/>
      <dgm:t>
        <a:bodyPr/>
        <a:lstStyle/>
        <a:p>
          <a:endParaRPr lang="ru-RU"/>
        </a:p>
      </dgm:t>
    </dgm:pt>
    <dgm:pt modelId="{D29EBAA1-BA17-40C4-BBEE-C6590613D367}">
      <dgm:prSet/>
      <dgm:spPr/>
      <dgm:t>
        <a:bodyPr/>
        <a:lstStyle/>
        <a:p>
          <a:r>
            <a:rPr lang="ru-RU" b="0" i="0"/>
            <a:t>Видеофиксация</a:t>
          </a:r>
          <a:endParaRPr lang="ru-RU"/>
        </a:p>
      </dgm:t>
    </dgm:pt>
    <dgm:pt modelId="{93805566-0647-4D6A-88E3-C74D3AAA21A5}" type="parTrans" cxnId="{001E33B4-5776-448F-8DF6-2959B432694D}">
      <dgm:prSet/>
      <dgm:spPr/>
      <dgm:t>
        <a:bodyPr/>
        <a:lstStyle/>
        <a:p>
          <a:endParaRPr lang="ru-RU"/>
        </a:p>
      </dgm:t>
    </dgm:pt>
    <dgm:pt modelId="{A5C467B5-3E98-4370-80EE-EF42F4F7FB42}" type="sibTrans" cxnId="{001E33B4-5776-448F-8DF6-2959B432694D}">
      <dgm:prSet/>
      <dgm:spPr/>
      <dgm:t>
        <a:bodyPr/>
        <a:lstStyle/>
        <a:p>
          <a:endParaRPr lang="ru-RU"/>
        </a:p>
      </dgm:t>
    </dgm:pt>
    <dgm:pt modelId="{8843F3A7-98F8-46AA-9B07-98EF7367FFC0}">
      <dgm:prSet/>
      <dgm:spPr/>
      <dgm:t>
        <a:bodyPr/>
        <a:lstStyle/>
        <a:p>
          <a:r>
            <a:rPr lang="ru-RU" b="0" i="0"/>
            <a:t>Оценка «экспертами» - участниками, условными пострадавшими, преподавателем</a:t>
          </a:r>
          <a:endParaRPr lang="ru-RU"/>
        </a:p>
      </dgm:t>
    </dgm:pt>
    <dgm:pt modelId="{D64D6108-B39F-44A4-A80C-777251782DE6}" type="parTrans" cxnId="{7B138E31-D2B0-4CEA-AA03-458EC38CFBE0}">
      <dgm:prSet/>
      <dgm:spPr/>
      <dgm:t>
        <a:bodyPr/>
        <a:lstStyle/>
        <a:p>
          <a:endParaRPr lang="ru-RU"/>
        </a:p>
      </dgm:t>
    </dgm:pt>
    <dgm:pt modelId="{910A732A-0A75-43BA-90D3-A7BF8F45BF5F}" type="sibTrans" cxnId="{7B138E31-D2B0-4CEA-AA03-458EC38CFBE0}">
      <dgm:prSet/>
      <dgm:spPr/>
      <dgm:t>
        <a:bodyPr/>
        <a:lstStyle/>
        <a:p>
          <a:endParaRPr lang="ru-RU"/>
        </a:p>
      </dgm:t>
    </dgm:pt>
    <dgm:pt modelId="{F3991E68-5AA6-4785-8DBF-F48AF9536FAA}" type="pres">
      <dgm:prSet presAssocID="{1EFD8776-C4EE-4066-8466-595525FF9488}" presName="diagram" presStyleCnt="0">
        <dgm:presLayoutVars>
          <dgm:dir/>
          <dgm:resizeHandles val="exact"/>
        </dgm:presLayoutVars>
      </dgm:prSet>
      <dgm:spPr/>
    </dgm:pt>
    <dgm:pt modelId="{957D99AF-45C6-4A06-82E2-4245CC0BFB97}" type="pres">
      <dgm:prSet presAssocID="{B7268479-22C8-485E-8EA1-AFC3D5311F51}" presName="node" presStyleLbl="node1" presStyleIdx="0" presStyleCnt="3">
        <dgm:presLayoutVars>
          <dgm:bulletEnabled val="1"/>
        </dgm:presLayoutVars>
      </dgm:prSet>
      <dgm:spPr/>
    </dgm:pt>
    <dgm:pt modelId="{2169493D-C93F-4FC7-80EC-F809B62C9838}" type="pres">
      <dgm:prSet presAssocID="{F44BD66E-2F2A-4C1F-825E-E8EDBA7CAE88}" presName="sibTrans" presStyleCnt="0"/>
      <dgm:spPr/>
    </dgm:pt>
    <dgm:pt modelId="{E945221E-97C7-4CB5-BBAC-6B0D12C150E6}" type="pres">
      <dgm:prSet presAssocID="{9F6462B7-3ADA-4CC8-8FA4-E4C7D7B049DE}" presName="node" presStyleLbl="node1" presStyleIdx="1" presStyleCnt="3">
        <dgm:presLayoutVars>
          <dgm:bulletEnabled val="1"/>
        </dgm:presLayoutVars>
      </dgm:prSet>
      <dgm:spPr/>
    </dgm:pt>
    <dgm:pt modelId="{2904A32B-EB26-4EA5-A2B6-E5EF47841B47}" type="pres">
      <dgm:prSet presAssocID="{DA1B94C1-9A25-424D-81FF-B02BE451665E}" presName="sibTrans" presStyleCnt="0"/>
      <dgm:spPr/>
    </dgm:pt>
    <dgm:pt modelId="{0FC914CF-6502-462A-B02D-5C8B29B6D8C2}" type="pres">
      <dgm:prSet presAssocID="{F88BED5E-9FE6-4AF6-84F2-A331ED69F6B9}" presName="node" presStyleLbl="node1" presStyleIdx="2" presStyleCnt="3">
        <dgm:presLayoutVars>
          <dgm:bulletEnabled val="1"/>
        </dgm:presLayoutVars>
      </dgm:prSet>
      <dgm:spPr/>
    </dgm:pt>
  </dgm:ptLst>
  <dgm:cxnLst>
    <dgm:cxn modelId="{8E921200-738A-41CF-8ABE-9CBC73239E2E}" type="presOf" srcId="{7E7907F7-45CF-4E44-9C98-CA4031C9578C}" destId="{0FC914CF-6502-462A-B02D-5C8B29B6D8C2}" srcOrd="0" destOrd="1" presId="urn:microsoft.com/office/officeart/2005/8/layout/default"/>
    <dgm:cxn modelId="{CDDF9300-19A4-4EF6-8850-7DE262CB96B9}" type="presOf" srcId="{9F6462B7-3ADA-4CC8-8FA4-E4C7D7B049DE}" destId="{E945221E-97C7-4CB5-BBAC-6B0D12C150E6}" srcOrd="0" destOrd="0" presId="urn:microsoft.com/office/officeart/2005/8/layout/default"/>
    <dgm:cxn modelId="{7BF97B2F-B582-4AF4-88E0-CA01D2E0F3DF}" srcId="{B7268479-22C8-485E-8EA1-AFC3D5311F51}" destId="{634DC252-DBE2-47B6-9035-9E42208F7CB8}" srcOrd="2" destOrd="0" parTransId="{C7628822-AD70-4DF9-8E57-F889B7C5EB08}" sibTransId="{6DB3569F-9F5C-4BE9-8941-736162EB1403}"/>
    <dgm:cxn modelId="{8960E530-096F-4A88-A9AF-F00E6D1C6230}" type="presOf" srcId="{AA90FB12-D0FE-4DD7-933D-C90EC993212D}" destId="{957D99AF-45C6-4A06-82E2-4245CC0BFB97}" srcOrd="0" destOrd="4" presId="urn:microsoft.com/office/officeart/2005/8/layout/default"/>
    <dgm:cxn modelId="{7B138E31-D2B0-4CEA-AA03-458EC38CFBE0}" srcId="{F88BED5E-9FE6-4AF6-84F2-A331ED69F6B9}" destId="{8843F3A7-98F8-46AA-9B07-98EF7367FFC0}" srcOrd="2" destOrd="0" parTransId="{D64D6108-B39F-44A4-A80C-777251782DE6}" sibTransId="{910A732A-0A75-43BA-90D3-A7BF8F45BF5F}"/>
    <dgm:cxn modelId="{7F34C63A-9C87-4500-87B5-6702FC46AF18}" srcId="{1EFD8776-C4EE-4066-8466-595525FF9488}" destId="{F88BED5E-9FE6-4AF6-84F2-A331ED69F6B9}" srcOrd="2" destOrd="0" parTransId="{EC487881-FECC-4507-9988-CB5F89EFC294}" sibTransId="{F951E6C5-DFFD-48CB-B0E5-FC66743D6161}"/>
    <dgm:cxn modelId="{E3B47B3E-9768-4662-A3B8-1366EE2E33AA}" srcId="{1EFD8776-C4EE-4066-8466-595525FF9488}" destId="{9F6462B7-3ADA-4CC8-8FA4-E4C7D7B049DE}" srcOrd="1" destOrd="0" parTransId="{5B4007EE-1282-4C0C-978D-CA08A0C97133}" sibTransId="{DA1B94C1-9A25-424D-81FF-B02BE451665E}"/>
    <dgm:cxn modelId="{99DE6341-C29F-4A81-A668-E6C551837003}" srcId="{1EFD8776-C4EE-4066-8466-595525FF9488}" destId="{B7268479-22C8-485E-8EA1-AFC3D5311F51}" srcOrd="0" destOrd="0" parTransId="{6C1CFBDB-7506-44E1-8612-FFC8049494EB}" sibTransId="{F44BD66E-2F2A-4C1F-825E-E8EDBA7CAE88}"/>
    <dgm:cxn modelId="{800B1362-983B-4E7A-ACAA-392E3415A2C5}" srcId="{B7268479-22C8-485E-8EA1-AFC3D5311F51}" destId="{AA90FB12-D0FE-4DD7-933D-C90EC993212D}" srcOrd="3" destOrd="0" parTransId="{E57F014D-A303-449C-B3E9-0897914A4E53}" sibTransId="{141F59BF-9665-4666-ABB4-6A1FE65C3C30}"/>
    <dgm:cxn modelId="{59A0A870-6899-4DBC-8E14-1A56F612BB5F}" srcId="{9F6462B7-3ADA-4CC8-8FA4-E4C7D7B049DE}" destId="{C45034A2-431D-452C-857C-FD214159F70F}" srcOrd="2" destOrd="0" parTransId="{47A6B0E3-15B2-43B3-B507-E981780D08B2}" sibTransId="{900A8435-A009-49A1-8DA0-0A204AF7836E}"/>
    <dgm:cxn modelId="{12FE3259-2123-49D3-B790-E485FB154D3E}" srcId="{F88BED5E-9FE6-4AF6-84F2-A331ED69F6B9}" destId="{7E7907F7-45CF-4E44-9C98-CA4031C9578C}" srcOrd="0" destOrd="0" parTransId="{201AD963-8142-4540-856B-EA7B06CAF682}" sibTransId="{AC78FF27-9FF8-44B0-A7EC-37F1526B38CB}"/>
    <dgm:cxn modelId="{C0635487-BAB3-4D36-B6C7-3F9A321A4543}" srcId="{9F6462B7-3ADA-4CC8-8FA4-E4C7D7B049DE}" destId="{22BB7285-DCE3-4A56-9594-7DBD84448D7F}" srcOrd="0" destOrd="0" parTransId="{D0B9C634-93B0-4FB7-A391-62C151EE33B3}" sibTransId="{73D253B1-DF6A-49AE-9D5D-BFD2D94698EB}"/>
    <dgm:cxn modelId="{6F96CF89-F5C9-419F-A3C3-76B7D7B7F489}" type="presOf" srcId="{C45034A2-431D-452C-857C-FD214159F70F}" destId="{E945221E-97C7-4CB5-BBAC-6B0D12C150E6}" srcOrd="0" destOrd="3" presId="urn:microsoft.com/office/officeart/2005/8/layout/default"/>
    <dgm:cxn modelId="{B8D9728C-9C4F-4E55-86B8-57FE7F28F3CC}" type="presOf" srcId="{896B450C-BB1B-48DC-BC36-3848ED082F02}" destId="{957D99AF-45C6-4A06-82E2-4245CC0BFB97}" srcOrd="0" destOrd="2" presId="urn:microsoft.com/office/officeart/2005/8/layout/default"/>
    <dgm:cxn modelId="{37D0EE9C-D0FC-41D5-B53C-0C3D60704D88}" srcId="{B7268479-22C8-485E-8EA1-AFC3D5311F51}" destId="{896B450C-BB1B-48DC-BC36-3848ED082F02}" srcOrd="1" destOrd="0" parTransId="{BE339A9E-AD92-460A-B71E-FC6CFB93210C}" sibTransId="{E9F27F9C-C7E6-4549-9134-8493605550C9}"/>
    <dgm:cxn modelId="{667C7AB3-A51A-4B74-BB33-E323D767687C}" srcId="{B7268479-22C8-485E-8EA1-AFC3D5311F51}" destId="{CF588E36-B1EF-4331-A09C-97E0FF8B08AB}" srcOrd="4" destOrd="0" parTransId="{74ED5D3F-37A5-4EA0-A8A3-66CB148C27FF}" sibTransId="{146A9F76-F084-4537-870B-D0DA3BA35FAF}"/>
    <dgm:cxn modelId="{001E33B4-5776-448F-8DF6-2959B432694D}" srcId="{F88BED5E-9FE6-4AF6-84F2-A331ED69F6B9}" destId="{D29EBAA1-BA17-40C4-BBEE-C6590613D367}" srcOrd="1" destOrd="0" parTransId="{93805566-0647-4D6A-88E3-C74D3AAA21A5}" sibTransId="{A5C467B5-3E98-4370-80EE-EF42F4F7FB42}"/>
    <dgm:cxn modelId="{90B3F1B6-34E2-4B24-8E72-6A92A3C6D111}" type="presOf" srcId="{CF588E36-B1EF-4331-A09C-97E0FF8B08AB}" destId="{957D99AF-45C6-4A06-82E2-4245CC0BFB97}" srcOrd="0" destOrd="5" presId="urn:microsoft.com/office/officeart/2005/8/layout/default"/>
    <dgm:cxn modelId="{EFA2A2B9-57AA-4C1E-A1E6-4A29D6B1E7B6}" type="presOf" srcId="{8843F3A7-98F8-46AA-9B07-98EF7367FFC0}" destId="{0FC914CF-6502-462A-B02D-5C8B29B6D8C2}" srcOrd="0" destOrd="3" presId="urn:microsoft.com/office/officeart/2005/8/layout/default"/>
    <dgm:cxn modelId="{A1E5EABA-3D7A-4A22-84ED-8D8E905E9A47}" type="presOf" srcId="{D29EBAA1-BA17-40C4-BBEE-C6590613D367}" destId="{0FC914CF-6502-462A-B02D-5C8B29B6D8C2}" srcOrd="0" destOrd="2" presId="urn:microsoft.com/office/officeart/2005/8/layout/default"/>
    <dgm:cxn modelId="{C07B06BC-0DAF-4574-B2E4-7D67AD6F7795}" srcId="{B7268479-22C8-485E-8EA1-AFC3D5311F51}" destId="{BC7C8585-3801-4549-9C92-B2CC1817BED0}" srcOrd="0" destOrd="0" parTransId="{057CCD7B-0ED8-4E4D-B222-99589301F3ED}" sibTransId="{8D78842E-0F31-4AFB-BCEC-A1D02B75A604}"/>
    <dgm:cxn modelId="{68A257C1-83C1-4021-9EF7-5856FF10A3D5}" type="presOf" srcId="{F88BED5E-9FE6-4AF6-84F2-A331ED69F6B9}" destId="{0FC914CF-6502-462A-B02D-5C8B29B6D8C2}" srcOrd="0" destOrd="0" presId="urn:microsoft.com/office/officeart/2005/8/layout/default"/>
    <dgm:cxn modelId="{FCB94FC5-7BD6-4539-B51A-30187290D2DE}" type="presOf" srcId="{1EFD8776-C4EE-4066-8466-595525FF9488}" destId="{F3991E68-5AA6-4785-8DBF-F48AF9536FAA}" srcOrd="0" destOrd="0" presId="urn:microsoft.com/office/officeart/2005/8/layout/default"/>
    <dgm:cxn modelId="{2E15EBC6-155E-41DB-84D6-5973F92A6825}" type="presOf" srcId="{B7268479-22C8-485E-8EA1-AFC3D5311F51}" destId="{957D99AF-45C6-4A06-82E2-4245CC0BFB97}" srcOrd="0" destOrd="0" presId="urn:microsoft.com/office/officeart/2005/8/layout/default"/>
    <dgm:cxn modelId="{06491EE8-9EA2-46D0-81B8-E8EA1B49FF37}" srcId="{9F6462B7-3ADA-4CC8-8FA4-E4C7D7B049DE}" destId="{8DD3F880-DF72-4C0C-8150-2E209431F43A}" srcOrd="1" destOrd="0" parTransId="{7C030A0A-80FE-4C68-A1CB-87B2BD9DF828}" sibTransId="{C363E9D1-3EAA-4379-AA6A-39DE6D292FCA}"/>
    <dgm:cxn modelId="{80DF0DEE-294F-4B23-AF50-233F81198B14}" type="presOf" srcId="{634DC252-DBE2-47B6-9035-9E42208F7CB8}" destId="{957D99AF-45C6-4A06-82E2-4245CC0BFB97}" srcOrd="0" destOrd="3" presId="urn:microsoft.com/office/officeart/2005/8/layout/default"/>
    <dgm:cxn modelId="{8A2D2CF1-3471-46E6-BE0A-6A3338D867D6}" type="presOf" srcId="{8DD3F880-DF72-4C0C-8150-2E209431F43A}" destId="{E945221E-97C7-4CB5-BBAC-6B0D12C150E6}" srcOrd="0" destOrd="2" presId="urn:microsoft.com/office/officeart/2005/8/layout/default"/>
    <dgm:cxn modelId="{1B6E4EF7-FB7A-479D-A138-20EC94395968}" type="presOf" srcId="{22BB7285-DCE3-4A56-9594-7DBD84448D7F}" destId="{E945221E-97C7-4CB5-BBAC-6B0D12C150E6}" srcOrd="0" destOrd="1" presId="urn:microsoft.com/office/officeart/2005/8/layout/default"/>
    <dgm:cxn modelId="{50B089F9-5AE6-422B-844F-ED2D83EC1EA6}" type="presOf" srcId="{BC7C8585-3801-4549-9C92-B2CC1817BED0}" destId="{957D99AF-45C6-4A06-82E2-4245CC0BFB97}" srcOrd="0" destOrd="1" presId="urn:microsoft.com/office/officeart/2005/8/layout/default"/>
    <dgm:cxn modelId="{36C4995C-BBD7-46C5-B195-D2A7D3116CE0}" type="presParOf" srcId="{F3991E68-5AA6-4785-8DBF-F48AF9536FAA}" destId="{957D99AF-45C6-4A06-82E2-4245CC0BFB97}" srcOrd="0" destOrd="0" presId="urn:microsoft.com/office/officeart/2005/8/layout/default"/>
    <dgm:cxn modelId="{FDB056EB-6259-42F7-B888-7670E6BB4E05}" type="presParOf" srcId="{F3991E68-5AA6-4785-8DBF-F48AF9536FAA}" destId="{2169493D-C93F-4FC7-80EC-F809B62C9838}" srcOrd="1" destOrd="0" presId="urn:microsoft.com/office/officeart/2005/8/layout/default"/>
    <dgm:cxn modelId="{EF065469-C9E6-420B-8282-1EAC42E0F7BF}" type="presParOf" srcId="{F3991E68-5AA6-4785-8DBF-F48AF9536FAA}" destId="{E945221E-97C7-4CB5-BBAC-6B0D12C150E6}" srcOrd="2" destOrd="0" presId="urn:microsoft.com/office/officeart/2005/8/layout/default"/>
    <dgm:cxn modelId="{02050D6C-1E31-49B6-BD60-D9E7F5F76A3C}" type="presParOf" srcId="{F3991E68-5AA6-4785-8DBF-F48AF9536FAA}" destId="{2904A32B-EB26-4EA5-A2B6-E5EF47841B47}" srcOrd="3" destOrd="0" presId="urn:microsoft.com/office/officeart/2005/8/layout/default"/>
    <dgm:cxn modelId="{2DD5D989-607C-4FAA-84AF-0CE06D6F826E}" type="presParOf" srcId="{F3991E68-5AA6-4785-8DBF-F48AF9536FAA}" destId="{0FC914CF-6502-462A-B02D-5C8B29B6D8C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31CB52-44CD-4554-B857-3B40A4EDB35E}">
      <dsp:nvSpPr>
        <dsp:cNvPr id="0" name=""/>
        <dsp:cNvSpPr/>
      </dsp:nvSpPr>
      <dsp:spPr>
        <a:xfrm>
          <a:off x="0" y="2123994"/>
          <a:ext cx="6503222" cy="39019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1" i="0" kern="1200">
              <a:latin typeface="Open Sans" pitchFamily="2" charset="0"/>
              <a:ea typeface="Open Sans" pitchFamily="2" charset="0"/>
              <a:cs typeface="Open Sans" pitchFamily="2" charset="0"/>
            </a:rPr>
            <a:t>Подготовка:</a:t>
          </a:r>
          <a:endParaRPr lang="ru-RU" sz="3700" kern="120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Сценарий ситуационной задачи</a:t>
          </a:r>
          <a:endParaRPr lang="ru-RU" sz="29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Определение способов оценки результатов</a:t>
          </a:r>
          <a:endParaRPr lang="ru-RU" sz="29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Определение способов фиксации результатов</a:t>
          </a:r>
          <a:endParaRPr lang="ru-RU" sz="29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0" y="2123994"/>
        <a:ext cx="6503222" cy="3901933"/>
      </dsp:txXfrm>
    </dsp:sp>
    <dsp:sp modelId="{7D206DDA-017F-4C79-B002-078BE206E9D9}">
      <dsp:nvSpPr>
        <dsp:cNvPr id="0" name=""/>
        <dsp:cNvSpPr/>
      </dsp:nvSpPr>
      <dsp:spPr>
        <a:xfrm>
          <a:off x="7153544" y="2123994"/>
          <a:ext cx="6503222" cy="39019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Моделирование ситуации</a:t>
          </a:r>
          <a:r>
            <a:rPr lang="ru-RU" sz="37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:</a:t>
          </a:r>
          <a:endParaRPr lang="ru-RU" sz="37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Сцена происшествия</a:t>
          </a:r>
          <a:endParaRPr lang="ru-RU" sz="2900" kern="120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Условные пострадавшие</a:t>
          </a:r>
          <a:endParaRPr lang="ru-RU" sz="2900" kern="120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Имитация повреждений</a:t>
          </a:r>
          <a:endParaRPr lang="ru-RU" sz="2900" kern="120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Подготовка оснащения</a:t>
          </a:r>
          <a:endParaRPr lang="ru-RU" sz="29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7153544" y="2123994"/>
        <a:ext cx="6503222" cy="3901933"/>
      </dsp:txXfrm>
    </dsp:sp>
    <dsp:sp modelId="{B168E32E-EFA6-4CF3-93D8-3DC93548F222}">
      <dsp:nvSpPr>
        <dsp:cNvPr id="0" name=""/>
        <dsp:cNvSpPr/>
      </dsp:nvSpPr>
      <dsp:spPr>
        <a:xfrm>
          <a:off x="14307089" y="2123994"/>
          <a:ext cx="6503222" cy="39019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Условные пострадавшие</a:t>
          </a:r>
          <a:r>
            <a:rPr lang="ru-RU" sz="37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:</a:t>
          </a:r>
          <a:endParaRPr lang="ru-RU" sz="37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Из числа обучающихся</a:t>
          </a:r>
          <a:endParaRPr lang="ru-RU" sz="2900" kern="120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Манекены-тренажеры</a:t>
          </a:r>
          <a:endParaRPr lang="ru-RU" sz="2900" kern="120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900" b="0" i="0" kern="1200">
              <a:latin typeface="Open Sans" pitchFamily="2" charset="0"/>
              <a:ea typeface="Open Sans" pitchFamily="2" charset="0"/>
              <a:cs typeface="Open Sans" pitchFamily="2" charset="0"/>
            </a:rPr>
            <a:t>Другие участники – из числа обучающихся</a:t>
          </a:r>
          <a:endParaRPr lang="ru-RU" sz="2900" kern="120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14307089" y="2123994"/>
        <a:ext cx="6503222" cy="39019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D99AF-45C6-4A06-82E2-4245CC0BFB97}">
      <dsp:nvSpPr>
        <dsp:cNvPr id="0" name=""/>
        <dsp:cNvSpPr/>
      </dsp:nvSpPr>
      <dsp:spPr>
        <a:xfrm>
          <a:off x="1354" y="1047304"/>
          <a:ext cx="5282957" cy="3169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1" i="0" kern="1200"/>
            <a:t>Проведение:</a:t>
          </a:r>
          <a:endParaRPr lang="ru-RU" sz="30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1" i="0" kern="1200"/>
            <a:t>Постановка задачи: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0" i="0" kern="1200"/>
            <a:t>Рассказать условия задачи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0" i="0" kern="1200"/>
            <a:t>Попросить повторить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0" i="0" kern="1200"/>
            <a:t>Разъяснить неясные моменты 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0" i="0" kern="1200"/>
            <a:t>Объяснить, что требуется</a:t>
          </a:r>
          <a:endParaRPr lang="ru-RU" sz="2300" kern="1200"/>
        </a:p>
      </dsp:txBody>
      <dsp:txXfrm>
        <a:off x="1354" y="1047304"/>
        <a:ext cx="5282957" cy="3169774"/>
      </dsp:txXfrm>
    </dsp:sp>
    <dsp:sp modelId="{E945221E-97C7-4CB5-BBAC-6B0D12C150E6}">
      <dsp:nvSpPr>
        <dsp:cNvPr id="0" name=""/>
        <dsp:cNvSpPr/>
      </dsp:nvSpPr>
      <dsp:spPr>
        <a:xfrm>
          <a:off x="5812607" y="1047304"/>
          <a:ext cx="5282957" cy="3169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1" i="0" kern="1200" dirty="0"/>
            <a:t>Решение задачи:</a:t>
          </a:r>
          <a:endParaRPr lang="ru-RU" sz="30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0" i="0" kern="1200"/>
            <a:t>Выполнение необходимых действий, фиксации результатов, контроль ситуации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0" i="0" kern="1200"/>
            <a:t>Изменение состояния пострадавшего в зависимости от действий обучающего 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0" i="0" kern="1200"/>
            <a:t>Финал не должен быть трагическим </a:t>
          </a:r>
          <a:endParaRPr lang="ru-RU" sz="2300" kern="1200"/>
        </a:p>
      </dsp:txBody>
      <dsp:txXfrm>
        <a:off x="5812607" y="1047304"/>
        <a:ext cx="5282957" cy="3169774"/>
      </dsp:txXfrm>
    </dsp:sp>
    <dsp:sp modelId="{0FC914CF-6502-462A-B02D-5C8B29B6D8C2}">
      <dsp:nvSpPr>
        <dsp:cNvPr id="0" name=""/>
        <dsp:cNvSpPr/>
      </dsp:nvSpPr>
      <dsp:spPr>
        <a:xfrm>
          <a:off x="2906981" y="4745374"/>
          <a:ext cx="5282957" cy="3169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1" i="0" kern="1200" dirty="0"/>
            <a:t>Контроль результатов:</a:t>
          </a:r>
          <a:endParaRPr lang="ru-RU" sz="30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0" i="0" kern="1200"/>
            <a:t>Оценочный лист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0" i="0" kern="1200"/>
            <a:t>Видеофиксация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300" b="0" i="0" kern="1200"/>
            <a:t>Оценка «экспертами» - участниками, условными пострадавшими, преподавателем</a:t>
          </a:r>
          <a:endParaRPr lang="ru-RU" sz="2300" kern="1200"/>
        </a:p>
      </dsp:txBody>
      <dsp:txXfrm>
        <a:off x="2906981" y="4745374"/>
        <a:ext cx="5282957" cy="31697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 этом разбор методов и форм учебной деятельности завершён.</a:t>
            </a:r>
          </a:p>
          <a:p>
            <a:r>
              <a:t>Спасибо за внимание.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Добрый день.</a:t>
            </a:r>
          </a:p>
          <a:p>
            <a:r>
              <a:t>Сегодня мы разберём методы и формы учебной деятельности при изучении курса, предмета или дисциплины по оказанию первой помощи.</a:t>
            </a:r>
          </a:p>
          <a:p>
            <a:r>
              <a:t>Речь пойдёт о том, как сочетать теорию, практику, ситуационные задачи и оценку результатов, чтобы обучение было понятным и рабочим.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Начнём с теоретических занятий.</a:t>
            </a:r>
          </a:p>
          <a:p>
            <a:r>
              <a:t>Базовая форма здесь — лекция: устное, систематическое и последовательное изложение материала по теме.</a:t>
            </a:r>
          </a:p>
          <a:p>
            <a:r>
              <a:t>Но для первой помощи особенно уместна интерактивная лекция.</a:t>
            </a:r>
          </a:p>
          <a:p>
            <a:r>
              <a:t>Она предполагает взаимодействие обучающихся с преподавателем и друг с другом, а также опору на слайдовую презентацию.</a:t>
            </a:r>
          </a:p>
          <a:p>
            <a:r>
              <a:t>У такой лекции три понятных этапа: введение, основная часть и заключение.</a:t>
            </a:r>
          </a:p>
          <a:p>
            <a:r>
              <a:t>Именно эта структура помогает держать внимание взрослых и не превращать занятие в монолог.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Введение задаёт тон всей лекции.</a:t>
            </a:r>
          </a:p>
          <a:p>
            <a:r>
              <a:t>Сначала назовите тему, затем обозначьте цели и сразу заинтересуйте аудиторию.</a:t>
            </a:r>
          </a:p>
          <a:p>
            <a:r>
              <a:t>Интерес может дать короткий случай, вопрос к группе или понятная практическая ценность темы.</a:t>
            </a:r>
          </a:p>
          <a:p>
            <a:r>
              <a:t>Если во введении цель неясна, дальше даже хороший материал воспринимается хуже.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Основная часть — это сердце лекции.</a:t>
            </a:r>
          </a:p>
          <a:p>
            <a:r>
              <a:t>Здесь нужно эффективно изложить материал, ответить на вопросы, уложиться во время и связать тему с другими разделами курса.</a:t>
            </a:r>
          </a:p>
          <a:p>
            <a:r>
              <a:t>Важно не только «пройти слайды», но и показать, как новые знания лягут в общий алгоритм первой помощи.</a:t>
            </a:r>
          </a:p>
          <a:p>
            <a:r>
              <a:t>Тогда слушатель видит систему, а не набор разрозненных фактов.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Заключение собирает сказанное в итог.</a:t>
            </a:r>
          </a:p>
          <a:p>
            <a:r>
              <a:t>Кратко подведите основные выводы, вербально завершите лекцию и обозначьте переход к продолжению занятия — к практике, задачам или следующему блоку.</a:t>
            </a:r>
          </a:p>
          <a:p>
            <a:r>
              <a:t>Хорошее заключение экономит время потом: группа понимает, что уже усвоено и что будет отрабатываться руками.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Теперь о практических занятиях.</a:t>
            </a:r>
          </a:p>
          <a:p>
            <a:r>
              <a:t>Практика — это перевод теории в действие.</a:t>
            </a:r>
          </a:p>
          <a:p>
            <a:r>
              <a:t>На ней обучают и простым навыкам, и комплексным, более сложным умениям.</a:t>
            </a:r>
          </a:p>
          <a:p>
            <a:r>
              <a:t>Структура начинается со введения: проверить оборудование, подготовить оснащение и чётко назвать цели и задачи практики.</a:t>
            </a:r>
          </a:p>
          <a:p>
            <a:r>
              <a:t>Без этого этапа занятие быстро становится хаотичным, особенно если в группе много человек.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Дальше идёт четырёхступенчатый метод.</a:t>
            </a:r>
          </a:p>
          <a:p>
            <a:r>
              <a:t>Первая ступень — демонстрация действия первой помощи без остановок и без пояснений.</a:t>
            </a:r>
          </a:p>
          <a:p>
            <a:r>
              <a:t>Слушатели просто видят целостный правильный образец.</a:t>
            </a:r>
          </a:p>
          <a:p>
            <a:r>
              <a:t>Это важно: сначала появляется «картинка результата», и только потом разбор деталей.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Вторая ступень — повторная демонстрация, уже с пояснениями.</a:t>
            </a:r>
          </a:p>
          <a:p>
            <a:r>
              <a:t>Теперь инструктор показывает то же действие медленнее и объясняет, что и зачем делает.</a:t>
            </a:r>
          </a:p>
          <a:p>
            <a:r>
              <a:t>На этом этапе формируется понимание техники, а не только общее впечатление от приёма.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Третья ступень — снова демонстрация инструктором, но уже с комментариями самих обучающихся.</a:t>
            </a:r>
          </a:p>
          <a:p>
            <a:r>
              <a:t>Группа проговаривает шаги, замечает ключевые моменты и включается в контроль качества.</a:t>
            </a:r>
          </a:p>
          <a:p>
            <a:r>
              <a:t>Так знание начинает закрепляться через речь и внимание, а не только через наблюдение.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Четвёртая ступень — демонстрация действий самими обучающимися.</a:t>
            </a:r>
          </a:p>
          <a:p>
            <a:r>
              <a:t>Теперь навык выполняется руками слушателей под контролем преподавателя.</a:t>
            </a:r>
          </a:p>
          <a:p>
            <a:r>
              <a:t>Именно здесь появляется настоящая готовность действовать, потому что человек уже не зритель, а исполнитель.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Практическое занятие тоже нужно правильно закрыть.</a:t>
            </a:r>
          </a:p>
          <a:p>
            <a:r>
              <a:t>В заключении отвечают на вопросы, вербально завершают работу и обозначают переход дальше — к следующей теме, к ситуационным задачам или к итоговому испытанию.</a:t>
            </a:r>
          </a:p>
          <a:p>
            <a:r>
              <a:t>Если практику оборвать без итога, часть ошибок так и останется незамеченной.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Отдельная сильная форма — решение ситуационных задач.</a:t>
            </a:r>
          </a:p>
          <a:p>
            <a:r>
              <a:t>Её цель — отработать навыки первой помощи в игровой ситуации, максимально приближенной к реальной.</a:t>
            </a:r>
          </a:p>
          <a:p>
            <a:r>
              <a:t>Именно задачи показывают, умеет ли человек не только выполнить приём, но и принять решение в условиях стресса, шума и неполной информации.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Перед проведением задачи идёт подготовка.</a:t>
            </a:r>
          </a:p>
          <a:p>
            <a:r>
              <a:t>Нужны сценарий, способы оценки и фиксации результата, а также моделирование ситуации: сцена происшествия, условные пострадавшие, имитация повреждений и подготовленное оснащение.</a:t>
            </a:r>
          </a:p>
          <a:p>
            <a:r>
              <a:t>Условными пострадавшими могут быть сами обучающиеся или манекены-тренажёры, а остальные роли тоже распределяют внутри группы.</a:t>
            </a:r>
          </a:p>
          <a:p>
            <a:r>
              <a:t>Чем точнее подготовлена сцена, тем полезнее будет разбор.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Само проведение строится просто и жёстко по смыслу.</a:t>
            </a:r>
          </a:p>
          <a:p>
            <a:r>
              <a:t>Сначала ставят задачу: рассказывают условия, просят повторить, разъясняют неясное и объясняют, что требуется сделать.</a:t>
            </a:r>
          </a:p>
          <a:p>
            <a:r>
              <a:t>Затем идёт решение: выполнение действий, фиксация результатов, контроль ситуации.</a:t>
            </a:r>
          </a:p>
          <a:p>
            <a:r>
              <a:t>Состояние «пострадавшего» меняется в зависимости от действий обучающегося, но финал не должен быть трагическим.</a:t>
            </a:r>
          </a:p>
          <a:p>
            <a:r>
              <a:t>Контроль результатов можно вести через оценочный лист, видеофиксацию и оценку «экспертами» — участниками, условными пострадавшими и преподавателем.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После задачи обязательно обсуждение.</a:t>
            </a:r>
          </a:p>
          <a:p>
            <a:r>
              <a:t>Оно может быть оценочным, обучающим или комбинированным.</a:t>
            </a:r>
          </a:p>
          <a:p>
            <a:r>
              <a:t>В любом случае сначала стоит похвалить, затем разобрать сильные стороны и то, что требует улучшения, и только после этого сделать общее заключение.</a:t>
            </a:r>
          </a:p>
          <a:p>
            <a:r>
              <a:t>Такой порядок сохраняет мотивацию и всё равно даёт точную обратную связь.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Оценка результатов подготовки тоже должна быть прозрачной.</a:t>
            </a:r>
          </a:p>
          <a:p>
            <a:r>
              <a:t>Проверяют только заранее объявленные знания и навыки.</a:t>
            </a:r>
          </a:p>
          <a:p>
            <a:r>
              <a:t>Форму экзамена утверждают до его проведения, а критерии делают формализованными, с минимумом субъективизма.</a:t>
            </a:r>
          </a:p>
          <a:p>
            <a:r>
              <a:t>Обучающиеся заранее знакомятся с экзаменационным оборудованием.</a:t>
            </a:r>
          </a:p>
          <a:p>
            <a:r>
              <a:t>И сам экзамен максимально приближают к реальным условиям — через ситуационный тренинг, а не через оторванные от жизни задания.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На практике оценка идёт в двух режимах.</a:t>
            </a:r>
          </a:p>
          <a:p>
            <a:r>
              <a:t>Постоянная оценка сопровождает весь курс и фиксирует рост навыка по ходу обучения.</a:t>
            </a:r>
          </a:p>
          <a:p>
            <a:r>
              <a:t>Итоговый контроль обычно включает письменный тест на знание правил и практический экзамен на владение навыками.</a:t>
            </a:r>
          </a:p>
          <a:p>
            <a:r>
              <a:t>Так вы проверяете и понимание, и умение действовать руками.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8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8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8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8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8" y="10159106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8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8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8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8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8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8" y="10159106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8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8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8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8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8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8" y="10159106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8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  <p:sldLayoutId id="2147483751" r:id="rId50"/>
    <p:sldLayoutId id="2147483752" r:id="rId51"/>
    <p:sldLayoutId id="214748375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>
              <a:lnSpc>
                <a:spcPct val="100000"/>
              </a:lnSpc>
              <a:defRPr/>
            </a:pPr>
            <a:fld id="{86CB4B4D-7CA3-9044-876B-883B54F8677D}" type="slidenum">
              <a:rPr lang="ru-RU">
                <a:latin typeface="Open Sans Light"/>
                <a:cs typeface="Calibri"/>
              </a:rPr>
              <a:t>‹#›</a:t>
            </a:fld>
            <a:endParaRPr lang="ru-RU"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5" r:id="rId31"/>
    <p:sldLayoutId id="2147483786" r:id="rId32"/>
    <p:sldLayoutId id="2147483787" r:id="rId33"/>
    <p:sldLayoutId id="2147483788" r:id="rId34"/>
    <p:sldLayoutId id="2147483789" r:id="rId35"/>
    <p:sldLayoutId id="2147483790" r:id="rId36"/>
    <p:sldLayoutId id="2147483791" r:id="rId37"/>
    <p:sldLayoutId id="2147483792" r:id="rId38"/>
    <p:sldLayoutId id="2147483793" r:id="rId39"/>
    <p:sldLayoutId id="2147483794" r:id="rId40"/>
    <p:sldLayoutId id="2147483795" r:id="rId41"/>
    <p:sldLayoutId id="2147483796" r:id="rId42"/>
    <p:sldLayoutId id="2147483797" r:id="rId43"/>
    <p:sldLayoutId id="2147483798" r:id="rId44"/>
    <p:sldLayoutId id="2147483799" r:id="rId45"/>
    <p:sldLayoutId id="2147483800" r:id="rId46"/>
    <p:sldLayoutId id="2147483801" r:id="rId47"/>
    <p:sldLayoutId id="2147483802" r:id="rId48"/>
    <p:sldLayoutId id="2147483803" r:id="rId49"/>
    <p:sldLayoutId id="2147483804" r:id="rId50"/>
    <p:sldLayoutId id="2147483805" r:id="rId51"/>
    <p:sldLayoutId id="214748380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6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7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8.jpeg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0.jpeg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1.jpeg"/><Relationship Id="rId3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345832"/>
            <a:ext cx="4621490" cy="3240359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4" y="6112348"/>
            <a:ext cx="17683913" cy="1574432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МЕТОДЫ И ФОРМЫ УЧЕБНОЙ ДЕЯТЕЛЬНОСТИ          ПРИ ИЗУЧЕНИИ УЧЕБНОГО КУРСА, ПРЕДМЕТА, ДИСЦИПЛИНЫ ПО ОКАЗАНИЮ ПЕРВОЙ ПОМОЩИ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19176776" y="0"/>
            <a:ext cx="5337357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7" y="7956000"/>
            <a:ext cx="15364642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6B8F20F-CFE1-403C-8D1D-6C9EC204C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1286" y="3374379"/>
            <a:ext cx="13268325" cy="933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</a:rPr>
              <a:t>2</a:t>
            </a:fld>
            <a:endParaRPr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ТЕОРЕТИЧЕСКИЕ ЗАНЯТИЯ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810104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462809" y="3977680"/>
            <a:ext cx="8856984" cy="7176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Лекция</a:t>
            </a:r>
            <a:r>
              <a:rPr lang="ru-RU" sz="2800" dirty="0"/>
              <a:t> – устное систематическое и последовательное изложение материала по какой-либо проблеме, методу, теме вопроса и т. д. 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b="1" dirty="0"/>
              <a:t>Интерактивная лекция </a:t>
            </a:r>
            <a:r>
              <a:rPr lang="ru-RU" sz="2800" dirty="0"/>
              <a:t>предполагает взаимодействие обучающихся с преподавателем и друг с другом, а также использование слайдовых презентаций.</a:t>
            </a:r>
            <a:r>
              <a:rPr lang="ru-RU" sz="2800" i="1" dirty="0"/>
              <a:t> 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b="1" dirty="0"/>
              <a:t>Основные этапы интерактивной лекции: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Введение </a:t>
            </a:r>
            <a:endParaRPr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Основная часть</a:t>
            </a:r>
            <a:endParaRPr dirty="0"/>
          </a:p>
          <a:p>
            <a:pPr marL="514350" indent="-514350">
              <a:buAutoNum type="arabicPeriod"/>
              <a:defRPr/>
            </a:pPr>
            <a:r>
              <a:rPr lang="ru-RU" sz="2800" dirty="0"/>
              <a:t>Заключение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3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ТЕОРЕТИЧЕСКИЕ ЗАНЯТИЯ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810104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rcRect b="21146"/>
          <a:stretch/>
        </p:blipFill>
        <p:spPr bwMode="auto">
          <a:xfrm>
            <a:off x="3118992" y="3435665"/>
            <a:ext cx="17974178" cy="10106641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 bwMode="auto">
          <a:xfrm>
            <a:off x="7004216" y="5197304"/>
            <a:ext cx="6272645" cy="2244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Введение:</a:t>
            </a:r>
            <a:endParaRPr/>
          </a:p>
          <a:p>
            <a:pPr>
              <a:defRPr/>
            </a:pPr>
            <a:endParaRPr lang="ru-RU" sz="2800" b="1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Назовите лекцию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Обозначьте цели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Заинтересуйте обучающихся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ТЕОРЕТИЧЕСКИЕ ЗАНЯТИЯ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810104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rcRect b="21146"/>
          <a:stretch/>
        </p:blipFill>
        <p:spPr bwMode="auto">
          <a:xfrm>
            <a:off x="3479032" y="3435665"/>
            <a:ext cx="17974178" cy="1010664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 bwMode="auto">
          <a:xfrm>
            <a:off x="7364256" y="5256916"/>
            <a:ext cx="6272645" cy="2936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Основная часть:</a:t>
            </a:r>
            <a:endParaRPr/>
          </a:p>
          <a:p>
            <a:pPr>
              <a:defRPr/>
            </a:pPr>
            <a:endParaRPr lang="ru-RU" sz="2800" b="1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Эффективно изложить материал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Ответить на вопросы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Уложиться вовремя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Связать с другими темами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5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ТЕОРЕТИЧЕСКИЕ ЗАНЯТИЯ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810104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rcRect b="21146"/>
          <a:stretch/>
        </p:blipFill>
        <p:spPr bwMode="auto">
          <a:xfrm>
            <a:off x="2470920" y="3459705"/>
            <a:ext cx="17974178" cy="10106641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 bwMode="auto">
          <a:xfrm>
            <a:off x="7724296" y="5353125"/>
            <a:ext cx="627264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Заключение:</a:t>
            </a:r>
            <a:endParaRPr/>
          </a:p>
          <a:p>
            <a:pPr>
              <a:defRPr/>
            </a:pPr>
            <a:endParaRPr lang="ru-RU" sz="2800" b="1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Итог лекции, основные выводы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Вербальное завершение лекции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Переход к продолжению занятия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5D9FD5FB-060D-4CA3-A8D5-DB9F1E88B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504" y="1204658"/>
            <a:ext cx="16656496" cy="1219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6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ПРАКТИЧЕСКИЕ ЗАНЯТИЯ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770905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513418" y="4378632"/>
            <a:ext cx="10995790" cy="5306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Практическое занятие: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Практическая реализации теоретического материала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Обучение конкретным (простым) навыкам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Обучение комплексным (сложным) навыкам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>
              <a:defRPr/>
            </a:pPr>
            <a:r>
              <a:rPr lang="ru-RU" sz="2800" b="1" dirty="0"/>
              <a:t>Структура практического занятия: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dirty="0"/>
              <a:t>1. Введение:</a:t>
            </a:r>
            <a:endParaRPr dirty="0"/>
          </a:p>
          <a:p>
            <a:pPr marL="457200" indent="-457200">
              <a:buFont typeface="Wingdings"/>
              <a:buChar char="Ø"/>
              <a:defRPr/>
            </a:pPr>
            <a:r>
              <a:rPr lang="ru-RU" sz="2800" dirty="0"/>
              <a:t>Подготовка и проверка оборудования</a:t>
            </a:r>
            <a:endParaRPr dirty="0"/>
          </a:p>
          <a:p>
            <a:pPr marL="457200" indent="-457200">
              <a:buFont typeface="Wingdings"/>
              <a:buChar char="Ø"/>
              <a:defRPr/>
            </a:pPr>
            <a:r>
              <a:rPr lang="ru-RU" sz="2800" dirty="0"/>
              <a:t>Определение целей и задач практического занятия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9C8610B4-1563-48CA-B956-6E5DF9E97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3266" y="2676670"/>
            <a:ext cx="14683698" cy="1075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7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ПРАКТИЧЕСКИЕ ЗАНЯТИЯ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770905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2254896" y="4481340"/>
            <a:ext cx="5669749" cy="2097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600" b="1" dirty="0"/>
              <a:t>I СТУПЕНЬ. </a:t>
            </a:r>
          </a:p>
          <a:p>
            <a:pPr>
              <a:defRPr/>
            </a:pPr>
            <a:r>
              <a:rPr lang="ru-RU" sz="2800" dirty="0"/>
              <a:t>Демонстрация определенного действия первой помощи без остановок и объяснений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09870E5-C99E-4C1A-8CA2-FD2F3748B0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4870" y="4613655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7142319A-C31E-4B70-8D6F-413928857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190" y="1801594"/>
            <a:ext cx="16260073" cy="1190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8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ПРАКТИЧЕСКИЕ ЗАНЯТИЯ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770905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398912" y="4634356"/>
            <a:ext cx="5911896" cy="2030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 dirty="0"/>
              <a:t>I</a:t>
            </a:r>
            <a:r>
              <a:rPr lang="en-US" sz="3200" b="1" dirty="0"/>
              <a:t>I</a:t>
            </a:r>
            <a:r>
              <a:rPr lang="ru-RU" sz="3200" b="1" dirty="0"/>
              <a:t> СТУПЕНЬ</a:t>
            </a:r>
            <a:r>
              <a:rPr lang="ru-RU" sz="2800" b="1" i="1" dirty="0"/>
              <a:t>. </a:t>
            </a:r>
          </a:p>
          <a:p>
            <a:pPr>
              <a:defRPr/>
            </a:pPr>
            <a:r>
              <a:rPr lang="ru-RU" sz="2800" dirty="0"/>
              <a:t>Повторная демонстрация действий первой помощи, сопровождаемая пояснениями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B62F87-2521-4A84-A5E7-4F953D7F5D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1243" y="4634356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Picture 2" descr="Picture background">
            <a:extLst>
              <a:ext uri="{FF2B5EF4-FFF2-40B4-BE49-F238E27FC236}">
                <a16:creationId xmlns:a16="http://schemas.microsoft.com/office/drawing/2014/main" id="{805CE63C-97AD-4D56-9B3E-E67195855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608" y="3543629"/>
            <a:ext cx="13920192" cy="1019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9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ПРАКТИЧЕСКИЕ ЗАНЯТИЯ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770905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551040" y="4669331"/>
            <a:ext cx="5688632" cy="2504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 dirty="0"/>
              <a:t>III ступень. </a:t>
            </a:r>
          </a:p>
          <a:p>
            <a:pPr>
              <a:defRPr/>
            </a:pPr>
            <a:r>
              <a:rPr lang="ru-RU" sz="2800" dirty="0"/>
              <a:t>Демонстрация действий по первой помощи инструктором, уже с комментариями самих обучающихся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E1141E2-2CCF-4C4A-ABDA-4B1A8F71A2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1252" y="4669331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E5D49A71-ACD1-47BB-AC19-507DB3AAD9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89"/>
          <a:stretch/>
        </p:blipFill>
        <p:spPr bwMode="auto">
          <a:xfrm>
            <a:off x="6757296" y="2603926"/>
            <a:ext cx="14888416" cy="1029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10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ПРАКТИЧЕСКИЕ ЗАНЯТИЯ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770905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937710" y="4616669"/>
            <a:ext cx="4463232" cy="2030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 dirty="0"/>
              <a:t>IV ступень. </a:t>
            </a:r>
            <a:r>
              <a:rPr lang="ru-RU" sz="2800" dirty="0"/>
              <a:t>Демонстрация действий по первой помощи обучающимися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E3C9C8-C254-482E-AE3B-D42BE21AF8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6239" y="4616669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C43483DC-89D6-454F-8879-4370AB68B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00" y="2830718"/>
            <a:ext cx="16092122" cy="1065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11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ПРАКТИЧЕСКИЕ ЗАНЯТИЯ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770905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7016536" y="4691830"/>
            <a:ext cx="6622453" cy="4332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Заключение: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Вопросы и ответы</a:t>
            </a:r>
            <a:endParaRPr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endParaRPr lang="ru-RU" sz="2800"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Вербальное завершение занятия</a:t>
            </a:r>
            <a:endParaRPr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endParaRPr lang="ru-RU" sz="2800" dirty="0"/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Переход к продолжению занятий или к заключительному испытанию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4540F3-6599-445A-A3A1-E9EE5E8BA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536" y="2465512"/>
            <a:ext cx="13412114" cy="11076187"/>
          </a:xfrm>
          <a:prstGeom prst="rect">
            <a:avLst/>
          </a:prstGeom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РЕШЕНИЕ СИТУАЦИОННЫХ ЗАДАЧ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48" y="2604670"/>
            <a:ext cx="10197811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470920" y="4709408"/>
            <a:ext cx="6789058" cy="2910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ЦЕЛЬ РЕШЕНИЯ СИТУАЦИОННЫХ ЗАДАЧ: </a:t>
            </a:r>
            <a:endParaRPr lang="ru-RU" dirty="0"/>
          </a:p>
          <a:p>
            <a:pPr>
              <a:defRPr/>
            </a:pPr>
            <a:r>
              <a:rPr lang="ru-RU" sz="2800" dirty="0"/>
              <a:t>отработка обучающимися навыков по оказанию первой помощи в игровой ситуации, приближенной к реальной.</a:t>
            </a:r>
            <a:endParaRPr dirty="0"/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271845AE-7093-4B6C-8B51-B4F07AE258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55BC296-2BC2-4C0E-BF4A-6E03191964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0894" y="4707821"/>
            <a:ext cx="1470026" cy="14567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13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РЕШЕНИЕ СИТУАЦИОННЫХ ЗАДАЧ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48" y="2604670"/>
            <a:ext cx="10197811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A92E9B9B-DC16-4B42-B035-7C5EB74BD3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1560076"/>
              </p:ext>
            </p:extLst>
          </p:nvPr>
        </p:nvGraphicFramePr>
        <p:xfrm>
          <a:off x="1390800" y="3404889"/>
          <a:ext cx="20810312" cy="8149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5A8A0076-1A46-4036-B9A8-777E283FC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8280" y="4479702"/>
            <a:ext cx="13443681" cy="8962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РЕШЕНИЕ СИТУАЦИОННЫХ ЗАДАЧ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48" y="2604670"/>
            <a:ext cx="10197811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171E3FC8-4843-4DEB-A95E-4889A72A55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7109851"/>
              </p:ext>
            </p:extLst>
          </p:nvPr>
        </p:nvGraphicFramePr>
        <p:xfrm>
          <a:off x="1162139" y="3390453"/>
          <a:ext cx="11096920" cy="8962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46" name="Picture 6" descr="Picture background">
            <a:extLst>
              <a:ext uri="{FF2B5EF4-FFF2-40B4-BE49-F238E27FC236}">
                <a16:creationId xmlns:a16="http://schemas.microsoft.com/office/drawing/2014/main" id="{8C73215E-A4E0-4AAD-A575-40E3489090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59"/>
          <a:stretch/>
        </p:blipFill>
        <p:spPr bwMode="auto">
          <a:xfrm>
            <a:off x="8593823" y="2707386"/>
            <a:ext cx="15623513" cy="1057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15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РЕШЕНИЕ СИТУАЦИОННЫХ ЗАДАЧ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48" y="2604670"/>
            <a:ext cx="10197811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076647" y="4017886"/>
            <a:ext cx="7171137" cy="588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Обсуждение: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600" b="1" dirty="0"/>
              <a:t>Обсуждение: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sz="2600" dirty="0"/>
              <a:t>Оценочное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sz="2600" dirty="0"/>
              <a:t>Обучающее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r>
              <a:rPr lang="ru-RU" sz="2600" dirty="0"/>
              <a:t>Комбинированное</a:t>
            </a:r>
            <a:endParaRPr dirty="0"/>
          </a:p>
          <a:p>
            <a:pPr marL="457200" indent="-457200">
              <a:buFont typeface="Wingdings"/>
              <a:buChar char="§"/>
              <a:defRPr/>
            </a:pPr>
            <a:endParaRPr lang="ru-RU" sz="26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600" b="1" dirty="0"/>
              <a:t>Похвалить обучающегося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6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600" b="1" dirty="0"/>
              <a:t>Разобрать положительные моменты и то, что требует улучшения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6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600" b="1" dirty="0"/>
              <a:t>Сделать заключение</a:t>
            </a:r>
            <a:endParaRPr lang="ru-RU" sz="2600" dirty="0"/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EACE5235-87AC-49BA-8A8A-4E04887B63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16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ОЦЕНКА РЕЗУЛЬТАТОВ ПОДГОТОВКИ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42" y="2604670"/>
            <a:ext cx="1113958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12768064" y="7197868"/>
            <a:ext cx="11476902" cy="6518132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4C22AC-9D87-461E-91D2-88C6009245C1}"/>
              </a:ext>
            </a:extLst>
          </p:cNvPr>
          <p:cNvSpPr/>
          <p:nvPr/>
        </p:nvSpPr>
        <p:spPr>
          <a:xfrm>
            <a:off x="2974976" y="4553744"/>
            <a:ext cx="8824886" cy="7110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/>
              <a:t>Критерии объективного оценивания навыков первой помощи:</a:t>
            </a:r>
          </a:p>
          <a:p>
            <a:endParaRPr lang="ru-RU" sz="2600" dirty="0"/>
          </a:p>
          <a:p>
            <a:pPr marL="457200" indent="-457200">
              <a:buFont typeface="+mj-lt"/>
              <a:buAutoNum type="arabicPeriod"/>
            </a:pPr>
            <a:r>
              <a:rPr lang="ru-RU" sz="2600" dirty="0"/>
              <a:t>Проверяются только заранее объявленные знания и навыки.</a:t>
            </a:r>
          </a:p>
          <a:p>
            <a:pPr marL="457200" indent="-457200">
              <a:buFont typeface="+mj-lt"/>
              <a:buAutoNum type="arabicPeriod"/>
            </a:pPr>
            <a:endParaRPr lang="ru-RU" sz="2600" dirty="0"/>
          </a:p>
          <a:p>
            <a:pPr marL="457200" indent="-457200">
              <a:buFont typeface="+mj-lt"/>
              <a:buAutoNum type="arabicPeriod"/>
            </a:pPr>
            <a:r>
              <a:rPr lang="ru-RU" sz="2600" dirty="0"/>
              <a:t>Форма экзамена утверждается до его проведения.</a:t>
            </a:r>
          </a:p>
          <a:p>
            <a:pPr marL="457200" indent="-457200">
              <a:buFont typeface="+mj-lt"/>
              <a:buAutoNum type="arabicPeriod"/>
            </a:pPr>
            <a:endParaRPr lang="ru-RU" sz="2600" dirty="0"/>
          </a:p>
          <a:p>
            <a:pPr marL="457200" indent="-457200">
              <a:buFont typeface="+mj-lt"/>
              <a:buAutoNum type="arabicPeriod"/>
            </a:pPr>
            <a:r>
              <a:rPr lang="ru-RU" sz="2600" dirty="0"/>
              <a:t>Оценка формализована (минимум субъективизма).</a:t>
            </a:r>
          </a:p>
          <a:p>
            <a:pPr marL="457200" indent="-457200">
              <a:buFont typeface="+mj-lt"/>
              <a:buAutoNum type="arabicPeriod"/>
            </a:pPr>
            <a:endParaRPr lang="ru-RU" sz="2600" dirty="0"/>
          </a:p>
          <a:p>
            <a:pPr marL="457200" indent="-457200">
              <a:buFont typeface="+mj-lt"/>
              <a:buAutoNum type="arabicPeriod"/>
            </a:pPr>
            <a:r>
              <a:rPr lang="ru-RU" sz="2600" dirty="0"/>
              <a:t>Обучающиеся заранее знакомы с экзаменационным оборудованием.</a:t>
            </a:r>
          </a:p>
          <a:p>
            <a:pPr marL="457200" indent="-457200">
              <a:buFont typeface="+mj-lt"/>
              <a:buAutoNum type="arabicPeriod"/>
            </a:pPr>
            <a:endParaRPr lang="ru-RU" sz="2600" dirty="0"/>
          </a:p>
          <a:p>
            <a:pPr marL="457200" indent="-457200">
              <a:buFont typeface="+mj-lt"/>
              <a:buAutoNum type="arabicPeriod"/>
            </a:pPr>
            <a:r>
              <a:rPr lang="ru-RU" sz="2600" dirty="0"/>
              <a:t>Экзамен максимально приближен к реальным условиям (ситуационный тренинг).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17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ОЦЕНКА РЕЗУЛЬТАТОВ ПОДГОТОВКИ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42" y="2604670"/>
            <a:ext cx="1113958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6664" y="2753858"/>
            <a:ext cx="1371600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</a:rPr>
              <a:t>Методы и формы учебной деятельности при изучении первой помощи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983088" y="4539438"/>
            <a:ext cx="8012848" cy="5754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Постоянная оценка: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Оценивание навыков обучающегося на протяжении курса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b="1" dirty="0"/>
              <a:t>Итоговый контроль: 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Итоговый письменный тест на знание правил оказания первой помощи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Итоговый практический экзамен на владение навыками оказания первой помощи</a:t>
            </a:r>
            <a:endParaRPr dirty="0"/>
          </a:p>
        </p:txBody>
      </p:sp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21CB0961-1771-488B-B3EA-57CA377BC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4074" y="4463705"/>
            <a:ext cx="12423576" cy="9252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5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spc="300"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620</Words>
  <Application>Microsoft Office PowerPoint</Application>
  <DocSecurity>0</DocSecurity>
  <PresentationFormat>Произвольный</PresentationFormat>
  <Paragraphs>163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18</vt:i4>
      </vt:variant>
    </vt:vector>
  </HeadingPairs>
  <TitlesOfParts>
    <vt:vector size="28" baseType="lpstr">
      <vt:lpstr>Arial</vt:lpstr>
      <vt:lpstr>Calibri</vt:lpstr>
      <vt:lpstr>Montserrat Semi Bold</vt:lpstr>
      <vt:lpstr>Open Sans</vt:lpstr>
      <vt:lpstr>Open Sans Light</vt:lpstr>
      <vt:lpstr>PFDinDisplayPro-Regular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Lukina Marina</cp:lastModifiedBy>
  <cp:revision>205</cp:revision>
  <dcterms:modified xsi:type="dcterms:W3CDTF">2026-08-20T09:13:16Z</dcterms:modified>
  <cp:category/>
  <dc:identifier/>
  <cp:contentStatus/>
  <dc:language/>
  <cp:version/>
</cp:coreProperties>
</file>