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71" r:id="rId4"/>
    <p:sldId id="263" r:id="rId5"/>
    <p:sldId id="272" r:id="rId6"/>
    <p:sldId id="264" r:id="rId7"/>
    <p:sldId id="265" r:id="rId8"/>
    <p:sldId id="270" r:id="rId9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pos="7680">
          <p15:clr>
            <a:srgbClr val="A4A3A4"/>
          </p15:clr>
        </p15:guide>
        <p15:guide id="2" orient="horz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7" d="100"/>
          <a:sy n="47" d="100"/>
        </p:scale>
        <p:origin x="384" y="-114"/>
      </p:cViewPr>
      <p:guideLst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Благодарим за внимание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799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799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89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1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1" y="3938101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1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1" y="4700105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3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49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3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3" y="4875219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7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399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7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1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3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1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39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1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7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1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1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7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7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3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3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5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5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5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3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1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3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5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799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799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799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3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5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1" y="804436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19" y="9387979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1" y="8635491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3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1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3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7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3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3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3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22919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5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59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1" y="876300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1" y="944245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7" y="871631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7" y="939576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5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29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5" y="4145285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69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5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5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5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29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5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69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5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89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3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7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69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69" y="5007541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1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1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69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69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69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19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3" y="9174295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3" y="10014863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3" y="8510333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89" y="914481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89" y="998538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89" y="848085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3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3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5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3" y="4572005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3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6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7" y="8978157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5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5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5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7" y="10727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7" y="16823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7" y="55304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7" y="61400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7" y="101591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7" y="107687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7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1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09" y="3993783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1" y="3993783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1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1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1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1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7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7" y="5850393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49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3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5476319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5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5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4829181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4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4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4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5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3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5" y="5297493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1" y="5303845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3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defTabSz="91440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ОШИБКИ И ОСЛОЖНЕНИЯ СЛР (ДОП. МАТЕРИАЛ)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775518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ea typeface="Open Sans"/>
                <a:cs typeface="Calibri"/>
              </a:rPr>
              <a:t>2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062504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b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</a:br>
            <a:r>
              <a:rPr sz="4600">
                <a:solidFill>
                  <a:srgbClr val="404040"/>
                </a:solidFill>
                <a:latin typeface="PFDinDisplayPro-Regular"/>
              </a:rPr>
              <a:t>ОШИБКИ И ОСЛОЖНЕНИЯ ПРИ СЛР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9" y="2604670"/>
            <a:ext cx="1529671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8" y="2744792"/>
            <a:ext cx="14960622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Доп. материал · исключено из Прил. № 2 с 01.09.2026 (ПП РФ № 805)</a:t>
            </a:r>
            <a:endParaRPr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3272655" y="3724681"/>
            <a:ext cx="9633663" cy="963366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 bwMode="auto">
          <a:xfrm>
            <a:off x="1551710" y="3600782"/>
            <a:ext cx="11720945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sz="2800" b="1">
                <a:solidFill>
                  <a:srgbClr val="535353"/>
                </a:solidFill>
                <a:latin typeface="Open Sans"/>
              </a:rPr>
              <a:t>С 01.09.2026 отдельный пункт исключён (№ 805). По пособию Минздрава:</a:t>
            </a:r>
            <a:endParaRPr sz="24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• нарушение последовательности СЛР;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• неверная техника давления на грудину (точка, глубина, частота, расправление);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• неверная техника искусственного дыхания; соотношение не 30:2;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• частота &lt; 100 или &gt; 120 в минуту; паузы между циклами &gt; 10 с.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Осложнение: перелом рёбер — неверная точка, избыточная сила, хрупкость костей.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ПРЕКРАЩЕНИЕ СЛР (ПО ПОСОБИЮ)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775518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1252941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ea typeface="Open Sans"/>
                <a:cs typeface="Calibri"/>
              </a:rPr>
              <a:t>4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9" y="1717359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sz="4600">
                <a:solidFill>
                  <a:srgbClr val="404040"/>
                </a:solidFill>
                <a:latin typeface="PFDinDisplayPro-Regular"/>
              </a:rPr>
              <a:t>КОГДА ПРЕКРАТИТЬ / НЕ НАЧИНАТЬ СЛР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69" y="2604670"/>
            <a:ext cx="10440617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37123" y="2763762"/>
            <a:ext cx="14960622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Доп. материал · исключено из Прил. № 2 с 01.09.2026 (ПП РФ № 805)</a:t>
            </a:r>
            <a:endParaRPr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1343827" y="3691753"/>
            <a:ext cx="21571969" cy="1040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535353"/>
                </a:solidFill>
                <a:latin typeface="Open Sans"/>
              </a:rPr>
              <a:t>До прибытия СМП/спецслужб и их распоряжения;</a:t>
            </a:r>
            <a:endParaRPr sz="24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до появления признаков жизни; можно прекратить при угрозе себе.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90349" y="4500051"/>
            <a:ext cx="10523779" cy="7892834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 bwMode="auto">
          <a:xfrm>
            <a:off x="11845131" y="5658347"/>
            <a:ext cx="11541280" cy="3884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535353"/>
                </a:solidFill>
                <a:latin typeface="Open Sans"/>
              </a:rPr>
              <a:t>При усталости — привлечь помощника (смена ~ каждые 2 минуты).</a:t>
            </a:r>
            <a:endParaRPr sz="24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Можно не начинать при явных признаках нежизнеспособности или терминальной стадии неизлечимого заболевания.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ЕСЛИ ПОЯВИЛИСЬ ПРИЗНАКИ ЖИЗНИ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775518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5337737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6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147132"/>
            <a:ext cx="12181221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lnSpc>
                <a:spcPct val="100000"/>
              </a:lnSpc>
              <a:defRPr/>
            </a:pPr>
            <a:r>
              <a:rPr sz="4600">
                <a:solidFill>
                  <a:srgbClr val="404040"/>
                </a:solidFill>
                <a:latin typeface="PFDinDisplayPro-Regular"/>
              </a:rPr>
              <a:t>ПОДДЕРЖАНИЕ ПРОХОДИМОСТИ ПОСЛЕ СЛР (п. 3.2)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19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738949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Доп. материал · исключено из Прил. № 2 с 01.09.2026 (ПП РФ № 805)</a:t>
            </a:r>
            <a:endParaRPr/>
          </a:p>
        </p:txBody>
      </p:sp>
      <p:pic>
        <p:nvPicPr>
          <p:cNvPr id="8" name="Рисунок 10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122685" y="5959929"/>
            <a:ext cx="9276614" cy="6601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9"/>
          <p:cNvPicPr>
            <a:picLocks noChangeAspect="1" noChangeArrowheads="1"/>
          </p:cNvPicPr>
          <p:nvPr/>
        </p:nvPicPr>
        <p:blipFill>
          <a:blip r:embed="rId3"/>
          <a:srcRect l="9973" r="8713"/>
          <a:stretch/>
        </p:blipFill>
        <p:spPr bwMode="auto">
          <a:xfrm>
            <a:off x="690349" y="5635317"/>
            <a:ext cx="7761768" cy="6826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Прямоугольник 9"/>
          <p:cNvSpPr/>
          <p:nvPr/>
        </p:nvSpPr>
        <p:spPr bwMode="auto">
          <a:xfrm>
            <a:off x="2464015" y="4465759"/>
            <a:ext cx="3134966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sz="3200" b="1"/>
              <a:t>Шаг 1. Ближняя рука под 90°</a:t>
            </a:r>
          </a:p>
        </p:txBody>
      </p:sp>
      <p:pic>
        <p:nvPicPr>
          <p:cNvPr id="11" name="Рисунок 13"/>
          <p:cNvPicPr>
            <a:picLocks noChangeAspect="1" noChangeArrowheads="1"/>
          </p:cNvPicPr>
          <p:nvPr/>
        </p:nvPicPr>
        <p:blipFill>
          <a:blip r:embed="rId4"/>
          <a:srcRect l="9806" r="14313"/>
          <a:stretch/>
        </p:blipFill>
        <p:spPr bwMode="auto">
          <a:xfrm>
            <a:off x="16859938" y="5959929"/>
            <a:ext cx="6472302" cy="705078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Прямоугольник 12"/>
          <p:cNvSpPr/>
          <p:nvPr/>
        </p:nvSpPr>
        <p:spPr bwMode="auto">
          <a:xfrm>
            <a:off x="9521060" y="4465758"/>
            <a:ext cx="3134966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sz="3200" b="1"/>
              <a:t>Шаг 2. Дальняя рука к щеке</a:t>
            </a:r>
          </a:p>
        </p:txBody>
      </p:sp>
      <p:sp>
        <p:nvSpPr>
          <p:cNvPr id="15" name="Прямоугольник 14"/>
          <p:cNvSpPr/>
          <p:nvPr/>
        </p:nvSpPr>
        <p:spPr bwMode="auto">
          <a:xfrm>
            <a:off x="17735913" y="4465758"/>
            <a:ext cx="3134966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sz="3200" b="1"/>
              <a:t>Шаг 3. Поворот набок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7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147132"/>
            <a:ext cx="12181221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600" b="0">
                <a:solidFill>
                  <a:srgbClr val="404040"/>
                </a:solidFill>
                <a:latin typeface="PFDinDisplayPro-Regular"/>
              </a:rPr>
              <a:t>ПОДДЕРЖАНИЕ ПРОХОДИМОСТИ ПОСЛЕ СЛР (п. 3.2)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19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5043749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Доп. материал · исключено из Прил. № 2 с 01.09.2026 (ПП РФ № 805)</a:t>
            </a:r>
            <a:endParaRPr/>
          </a:p>
        </p:txBody>
      </p:sp>
      <p:pic>
        <p:nvPicPr>
          <p:cNvPr id="12" name="Рисунок 1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1463698" y="5662507"/>
            <a:ext cx="11972517" cy="671730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Прямоугольник 13"/>
          <p:cNvSpPr/>
          <p:nvPr/>
        </p:nvSpPr>
        <p:spPr bwMode="auto">
          <a:xfrm>
            <a:off x="1861442" y="4548887"/>
            <a:ext cx="3134966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sz="3200" b="1"/>
              <a:t>Шаг 4. Нога к животу, проверить дыхание</a:t>
            </a:r>
          </a:p>
        </p:txBody>
      </p:sp>
      <p:sp>
        <p:nvSpPr>
          <p:cNvPr id="16" name="Прямоугольник 15"/>
          <p:cNvSpPr/>
          <p:nvPr/>
        </p:nvSpPr>
        <p:spPr bwMode="auto">
          <a:xfrm>
            <a:off x="11756893" y="4548886"/>
            <a:ext cx="7232820" cy="604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sz="3200" b="1"/>
              <a:t>Шаг 5. Наблюдение; каждые 30 мин — другой бок</a:t>
            </a:r>
          </a:p>
        </p:txBody>
      </p:sp>
      <p:pic>
        <p:nvPicPr>
          <p:cNvPr id="17" name="Рисунок 1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033049" y="5447557"/>
            <a:ext cx="10278999" cy="6932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1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00">
                <a:solidFill>
                  <a:srgbClr val="FFFFFF"/>
                </a:solidFill>
              </a:defRPr>
            </a:pPr>
            <a:endParaRPr sz="86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10085046" y="5351782"/>
            <a:ext cx="11649424" cy="301244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i="0" u="none" strike="noStrike" cap="none" spc="300">
                <a:ln>
                  <a:noFill/>
                </a:ln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 sz="7200" b="0" i="0" u="none" strike="noStrike" cap="none" spc="300">
              <a:ln>
                <a:noFill/>
              </a:ln>
              <a:solidFill>
                <a:srgbClr val="4D4D4D"/>
              </a:solidFill>
              <a:latin typeface="Montserrat Sem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6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242</Words>
  <Application>Microsoft Office PowerPoint</Application>
  <DocSecurity>0</DocSecurity>
  <PresentationFormat>Произвольный</PresentationFormat>
  <Paragraphs>38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Calibri</vt:lpstr>
      <vt:lpstr>Montserrat Semi Bold</vt:lpstr>
      <vt:lpstr>Open Sans</vt:lpstr>
      <vt:lpstr>Open Sans Light</vt:lpstr>
      <vt:lpstr>PFDinDisplayPro-Regular</vt:lpstr>
      <vt:lpstr>Wingdings</vt:lpstr>
      <vt:lpstr>6_Office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Роман Прудников</cp:lastModifiedBy>
  <cp:revision>123</cp:revision>
  <dcterms:modified xsi:type="dcterms:W3CDTF">2026-08-03T13:29:01Z</dcterms:modified>
  <cp:category/>
  <dc:identifier/>
  <cp:contentStatus/>
  <dc:language/>
  <cp:version/>
</cp:coreProperties>
</file>