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800000"/>
            <a:ext cx="10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35353"/>
                </a:solidFill>
                <a:latin typeface="Open Sans"/>
              </a:rPr>
              <a:t>Тема 3 · п. 3.5  Нарушение проходимости инородным телом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300000"/>
            <a:ext cx="104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404040"/>
                </a:solidFill>
                <a:latin typeface="PFDinDisplayPro-Regular"/>
              </a:rPr>
              <a:t>ИНОРОДНОЕ ТЕЛО В ДЫХАТЕЛЬНЫХ ПУТЯХ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900000" y="4300000"/>
            <a:ext cx="4000000" cy="36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4500000"/>
            <a:ext cx="10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04040"/>
                </a:solidFill>
                <a:latin typeface="Open Sans"/>
              </a:rPr>
              <a:t>Частичная и полная закупорка. Взрослые, тучные, беременные, дети.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6200000"/>
            <a:ext cx="10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35353"/>
                </a:solidFill>
                <a:latin typeface="Open Sans"/>
              </a:rPr>
              <a:t>По учебному пособию Минздрава России по первой помощи (2025) · Прил. № 2 к ПП РФ № 2464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480000"/>
            <a:ext cx="10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04040"/>
                </a:solidFill>
                <a:latin typeface="PFDinDisplayPro-Regular"/>
              </a:rPr>
              <a:t>ПРИЗНАКИ И СТЕПЕНЬ НАРУШЕНИЯ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1350000"/>
            <a:ext cx="7800000" cy="36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420000"/>
            <a:ext cx="90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35353"/>
                </a:solidFill>
                <a:latin typeface="Open Sans"/>
              </a:rPr>
              <a:t>Тема 3 · п. 3.5  Нарушение проходимости инородным телом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0" y="3000000"/>
            <a:ext cx="5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E30613"/>
                </a:solidFill>
                <a:latin typeface="PFDinDisplayPro-Regular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0000" y="1900000"/>
            <a:ext cx="6200000" cy="430000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2060000"/>
            <a:ext cx="5800000" cy="3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Типичная поза: рука у горла + попытки кашлять.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Спросите: «Вы подавились?»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Частичное нарушение: отвечает, может кашлять → предложить покашлять.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Полное нарушение: не говорит, не дышит (или крайне затруднённо, шумно),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хватает горло, может кивать → удаление инородного тела.</a:t>
            </a:r>
          </a:p>
        </p:txBody>
      </p:sp>
      <p:pic>
        <p:nvPicPr>
          <p:cNvPr id="9" name="Picture 8" descr="img_0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0" y="1900000"/>
            <a:ext cx="4300000" cy="35493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00000" y="6000000"/>
            <a:ext cx="43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535353"/>
                </a:solidFill>
                <a:latin typeface="Open Sans"/>
              </a:rPr>
              <a:t>Рис. 47. Частичная закупорка — кашель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480000"/>
            <a:ext cx="10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04040"/>
                </a:solidFill>
                <a:latin typeface="PFDinDisplayPro-Regular"/>
              </a:rPr>
              <a:t>ПОЛНАЯ ЗАКУПОРКА У ВЗРОСЛОГО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1350000"/>
            <a:ext cx="7800000" cy="36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420000"/>
            <a:ext cx="90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35353"/>
                </a:solidFill>
                <a:latin typeface="Open Sans"/>
              </a:rPr>
              <a:t>Тема 3 · п. 3.5  Нарушение проходимости инородным телом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0" y="3000000"/>
            <a:ext cx="5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E30613"/>
                </a:solidFill>
                <a:latin typeface="PFDinDisplayPro-Regular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0000" y="1900000"/>
            <a:ext cx="6200000" cy="430000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2060000"/>
            <a:ext cx="5800000" cy="3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1. Встать сбоку и немного сзади.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2. Придерживая одной рукой, наклонить вперёд.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3. 5 резких ударов основанием ладони между лопатками; после каждого — проверка.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4. Если не помогло: сзади обхватить на уровне верхней части живота;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   кулак над пупком большим пальцем к себе; другой рукой обхватить кулак;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   надавливания внутрь и кверху до 5 раз.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5. Чередовать 5 ударов по спине и 5 надавливаний на живот.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При потере сознания — начать СЛР; следить за появлением инородного тела во рту.</a:t>
            </a:r>
          </a:p>
        </p:txBody>
      </p:sp>
      <p:pic>
        <p:nvPicPr>
          <p:cNvPr id="9" name="Picture 8" descr="img_0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0" y="1900000"/>
            <a:ext cx="4300000" cy="384032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00000" y="6000000"/>
            <a:ext cx="43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535353"/>
                </a:solidFill>
                <a:latin typeface="Open Sans"/>
              </a:rPr>
              <a:t>Рис. 48–50. Удары и надавливания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480000"/>
            <a:ext cx="10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04040"/>
                </a:solidFill>
                <a:latin typeface="PFDinDisplayPro-Regular"/>
              </a:rPr>
              <a:t>ОСОБЫЕ СЛУЧАИ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1350000"/>
            <a:ext cx="7800000" cy="36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420000"/>
            <a:ext cx="90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35353"/>
                </a:solidFill>
                <a:latin typeface="Open Sans"/>
              </a:rPr>
              <a:t>Тема 3 · п. 3.5  Нарушение проходимости инородным телом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0" y="3000000"/>
            <a:ext cx="5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E30613"/>
                </a:solidFill>
                <a:latin typeface="PFDinDisplayPro-Regular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000" y="1950000"/>
            <a:ext cx="3333333" cy="4200000"/>
          </a:xfrm>
          <a:prstGeom prst="roundRect">
            <a:avLst>
              <a:gd name="adj" fmla="val 4000"/>
            </a:avLst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g_0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00" y="2070000"/>
            <a:ext cx="3093333" cy="26430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20000" y="5350000"/>
            <a:ext cx="3093333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04040"/>
                </a:solidFill>
                <a:latin typeface="Open Sans"/>
              </a:rPr>
              <a:t>Тучные / беременные: давление на нижнюю часть груди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3333" y="1950000"/>
            <a:ext cx="3333333" cy="4200000"/>
          </a:xfrm>
          <a:prstGeom prst="roundRect">
            <a:avLst>
              <a:gd name="adj" fmla="val 4000"/>
            </a:avLst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g_11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333" y="2070000"/>
            <a:ext cx="3093333" cy="31596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53333" y="5350000"/>
            <a:ext cx="3093333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04040"/>
                </a:solidFill>
                <a:latin typeface="Open Sans"/>
              </a:rPr>
              <a:t>Самопомощь: упор животом в спинку стула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66666" y="1950000"/>
            <a:ext cx="3333333" cy="4200000"/>
          </a:xfrm>
          <a:prstGeom prst="roundRect">
            <a:avLst>
              <a:gd name="adj" fmla="val 4000"/>
            </a:avLst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g_01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6666" y="2070000"/>
            <a:ext cx="3093333" cy="22990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86666" y="5350000"/>
            <a:ext cx="3093333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04040"/>
                </a:solidFill>
                <a:latin typeface="Open Sans"/>
              </a:rPr>
              <a:t>Ребёнок до 1 года: удары по спине на предплечье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480000"/>
            <a:ext cx="10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04040"/>
                </a:solidFill>
                <a:latin typeface="PFDinDisplayPro-Regular"/>
              </a:rPr>
              <a:t>ДЕТИ И ВАЖНЫЕ ЗАПРЕТЫ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1350000"/>
            <a:ext cx="7800000" cy="36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420000"/>
            <a:ext cx="90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35353"/>
                </a:solidFill>
                <a:latin typeface="Open Sans"/>
              </a:rPr>
              <a:t>Тема 3 · п. 3.5  Нарушение проходимости инородным телом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0" y="3000000"/>
            <a:ext cx="5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E30613"/>
                </a:solidFill>
                <a:latin typeface="PFDinDisplayPro-Regular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0000" y="1900000"/>
            <a:ext cx="6200000" cy="430000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2060000"/>
            <a:ext cx="5800000" cy="3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До 1 года: беззвучный плач, возбуждение, синюшность. Удалить видимое тело изо рта.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Далее: на предплечье головой вниз — 5 ударов по спине; затем на спине — 5 надавливаний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двумя пальцами в центр груди; чередовать; осматривать полость рта.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Старше 1 года: удары по спине и надавливания над пупком с дозированием усилия.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При потере сознания — СЛР.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Важно! Не переворачивать ребёнка вниз головой, держа за ноги, и не трясти.</a:t>
            </a:r>
          </a:p>
        </p:txBody>
      </p:sp>
      <p:pic>
        <p:nvPicPr>
          <p:cNvPr id="9" name="Picture 8" descr="img_0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0" y="1900000"/>
            <a:ext cx="4300000" cy="40942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00000" y="6000000"/>
            <a:ext cx="43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535353"/>
                </a:solidFill>
                <a:latin typeface="Open Sans"/>
              </a:rPr>
              <a:t>Рис. 55. Надавливания у младенца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