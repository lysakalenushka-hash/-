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66" r:id="rId3"/>
    <p:sldId id="270" r:id="rId4"/>
  </p:sldIdLst>
  <p:sldSz cx="24384000" cy="13716000"/>
  <p:notesSz cx="24384000" cy="13716000"/>
  <p:defaultTextStyle>
    <a:defPPr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1pPr>
    <a:lvl2pPr marL="0" marR="0" indent="457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2pPr>
    <a:lvl3pPr marL="0" marR="0" indent="914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3pPr>
    <a:lvl4pPr marL="0" marR="0" indent="1371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4pPr>
    <a:lvl5pPr marL="0" marR="0" indent="18288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5pPr>
    <a:lvl6pPr marL="0" marR="0" indent="22860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6pPr>
    <a:lvl7pPr marL="0" marR="0" indent="2743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7pPr>
    <a:lvl8pPr marL="0" marR="0" indent="3200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8pPr>
    <a:lvl9pPr marL="0" marR="0" indent="3657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9pPr>
  </p:defaultTextStyle>
  <p:extLst>
    <p:ext uri="{EFAFB233-063F-42B5-8137-9DF3F51BA10A}">
      <p15:sldGuideLst xmlns:p15="http://schemas.microsoft.com/office/powerpoint/2012/main">
        <p15:guide id="1" pos="7680">
          <p15:clr>
            <a:srgbClr val="A4A3A4"/>
          </p15:clr>
        </p15:guide>
        <p15:guide id="2" orient="horz" pos="43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47" d="100"/>
          <a:sy n="47" d="100"/>
        </p:scale>
        <p:origin x="384" y="-114"/>
      </p:cViewPr>
      <p:guideLst>
        <p:guide pos="7680"/>
        <p:guide orient="horz" pos="43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" name="Shape 74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1828800">
      <a:defRPr sz="2400">
        <a:latin typeface="+mn-lt"/>
        <a:ea typeface="+mn-ea"/>
        <a:cs typeface="+mn-cs"/>
      </a:defRPr>
    </a:lvl1pPr>
    <a:lvl2pPr indent="228600" defTabSz="1828800">
      <a:defRPr sz="2400">
        <a:latin typeface="+mn-lt"/>
        <a:ea typeface="+mn-ea"/>
        <a:cs typeface="+mn-cs"/>
      </a:defRPr>
    </a:lvl2pPr>
    <a:lvl3pPr indent="457200" defTabSz="1828800">
      <a:defRPr sz="2400">
        <a:latin typeface="+mn-lt"/>
        <a:ea typeface="+mn-ea"/>
        <a:cs typeface="+mn-cs"/>
      </a:defRPr>
    </a:lvl3pPr>
    <a:lvl4pPr indent="685800" defTabSz="1828800">
      <a:defRPr sz="2400">
        <a:latin typeface="+mn-lt"/>
        <a:ea typeface="+mn-ea"/>
        <a:cs typeface="+mn-cs"/>
      </a:defRPr>
    </a:lvl4pPr>
    <a:lvl5pPr indent="914400" defTabSz="1828800">
      <a:defRPr sz="2400">
        <a:latin typeface="+mn-lt"/>
        <a:ea typeface="+mn-ea"/>
        <a:cs typeface="+mn-cs"/>
      </a:defRPr>
    </a:lvl5pPr>
    <a:lvl6pPr indent="1143000" defTabSz="1828800">
      <a:defRPr sz="2400">
        <a:latin typeface="+mn-lt"/>
        <a:ea typeface="+mn-ea"/>
        <a:cs typeface="+mn-cs"/>
      </a:defRPr>
    </a:lvl6pPr>
    <a:lvl7pPr indent="1371600" defTabSz="1828800">
      <a:defRPr sz="2400">
        <a:latin typeface="+mn-lt"/>
        <a:ea typeface="+mn-ea"/>
        <a:cs typeface="+mn-cs"/>
      </a:defRPr>
    </a:lvl7pPr>
    <a:lvl8pPr indent="1600200" defTabSz="1828800">
      <a:defRPr sz="2400">
        <a:latin typeface="+mn-lt"/>
        <a:ea typeface="+mn-ea"/>
        <a:cs typeface="+mn-cs"/>
      </a:defRPr>
    </a:lvl8pPr>
    <a:lvl9pPr indent="1828800" defTabSz="1828800">
      <a:defRPr sz="2400"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>
                <a:solidFill>
                  <a:schemeClr val="accent1"/>
                </a:solidFill>
              </a:rPr>
              <a:t>«-»</a:t>
            </a:r>
            <a:endParaRPr/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>
                <a:solidFill>
                  <a:schemeClr val="accent1"/>
                </a:solidFill>
              </a:rPr>
              <a:t>Благодарим за внимание</a:t>
            </a:r>
            <a:endParaRPr/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>
                <a:solidFill>
                  <a:schemeClr val="accent1"/>
                </a:solidFill>
              </a:rPr>
              <a:t>«-»</a:t>
            </a:r>
            <a:endParaRPr/>
          </a:p>
          <a:p>
            <a:pPr>
              <a:defRPr/>
            </a:pPr>
            <a:endParaRPr lang="ru-RU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5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799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799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79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89"/>
            <a:ext cx="21036679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1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B2B2B2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B2B2B2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1" y="3938101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1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1" y="4700105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2775886"/>
            <a:ext cx="10518342" cy="144649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3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3500" b="0" i="0" u="none" strike="noStrike" cap="none" spc="0">
              <a:ln>
                <a:noFill/>
              </a:ln>
              <a:solidFill>
                <a:srgbClr val="000000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3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49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3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3" y="4875219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7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399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7"/>
            <a:ext cx="21036679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1"/>
            <a:ext cx="21036679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3" y="3899653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1" y="3899653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3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39" y="3899653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8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1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7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1" y="10004431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1" y="10614033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7" y="10004431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7" y="10614033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5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3" y="1000105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3" y="1061065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79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5" y="529310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5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5" y="588422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3" y="529310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1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3" y="588422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3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3" y="9279543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3" y="868841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5"/>
            <a:ext cx="21036679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19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799" y="807452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799" y="941814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799" y="866565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5" y="807452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3" y="941814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5" y="866565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5" y="807452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5" y="941814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5" y="866565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1" y="804436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19" y="9387979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1" y="8635491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3" y="807452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1" y="941814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3" y="866565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3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3854549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7" y="3854549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5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1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1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3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3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3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7" y="9466730"/>
            <a:ext cx="21036679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79" cy="155690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3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3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1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1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1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5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5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5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1" y="1041407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1" y="16510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1" y="54991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1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1" y="10127805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1" y="107374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3" y="4229199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5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3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3" y="404094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59" y="404094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1" y="8763005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1" y="9442459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7" y="8716315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7" y="9395769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1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5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29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5" y="4145285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69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5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5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5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29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5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69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5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89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5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3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7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69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69" y="5007541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1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1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1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1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1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5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5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5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1" y="1041407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1" y="16510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1" y="54991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1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1" y="10127805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1" y="107374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69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69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69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5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5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19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3" y="9174295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3" y="10014863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3" y="8510333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89" y="914481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89" y="998538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89" y="848085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3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5" y="6858007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3" y="6858007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5" y="4572005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3" y="4572005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5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3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6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7" y="8978157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5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5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5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5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1" y="1041407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1" y="16510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1" y="54991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1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1" y="10127805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1" y="107374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5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5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5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7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7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7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7" y="1072705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7" y="1682307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7" y="55304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7" y="6140007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7" y="10159105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7" y="10768707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5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7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1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39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09" y="3993783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1" y="3993783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3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3500" b="0" i="0" u="none" strike="noStrike" cap="none" spc="0">
              <a:ln>
                <a:noFill/>
              </a:ln>
              <a:solidFill>
                <a:srgbClr val="000000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7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7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1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7" y="34416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7" y="34416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1" y="34416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7" y="68328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7" y="68328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1" y="68328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7" y="102744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7" y="102744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1" y="102744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7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7" y="5850393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5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49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3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3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5476319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5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5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4829181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3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4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4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4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5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1" y="730257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7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5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3" y="3362333"/>
            <a:ext cx="10369078" cy="1647825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1" y="730257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5" y="5297493"/>
            <a:ext cx="5301837" cy="1828801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1" y="5303845"/>
            <a:ext cx="5301837" cy="1828801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9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3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19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9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3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9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3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5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5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62114" y="12854688"/>
            <a:ext cx="451404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5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" name="Rectangle 32"/>
          <p:cNvSpPr/>
          <p:nvPr/>
        </p:nvSpPr>
        <p:spPr bwMode="auto">
          <a:xfrm>
            <a:off x="1004260" y="5412463"/>
            <a:ext cx="4621490" cy="3308320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3" y="3077239"/>
            <a:ext cx="19028633" cy="7978768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 anchor="ctr">
            <a:noAutofit/>
          </a:bodyPr>
          <a:lstStyle/>
          <a:p>
            <a:pPr defTabSz="914400">
              <a:lnSpc>
                <a:spcPct val="100000"/>
              </a:lnSpc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sz="4400" b="1">
                <a:solidFill>
                  <a:srgbClr val="4D4D4D"/>
                </a:solidFill>
                <a:latin typeface="Montserrat Semi Bold"/>
              </a:rPr>
              <a:t>ОСОБЕННОСТИ СЛР У ДЕТЕЙ (ДОП. МАТЕРИАЛ)</a:t>
            </a:r>
          </a:p>
        </p:txBody>
      </p:sp>
      <p:sp>
        <p:nvSpPr>
          <p:cNvPr id="845" name="Rectangle 13"/>
          <p:cNvSpPr/>
          <p:nvPr/>
        </p:nvSpPr>
        <p:spPr bwMode="auto">
          <a:xfrm>
            <a:off x="21945600" y="0"/>
            <a:ext cx="2568534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3" y="7755189"/>
            <a:ext cx="18252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5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ea typeface="Open Sans"/>
                <a:cs typeface="Calibri"/>
              </a:rPr>
              <a:t>2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783539"/>
            <a:ext cx="12181221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>
              <a:lnSpc>
                <a:spcPct val="100000"/>
              </a:lnSpc>
              <a:defRPr/>
            </a:pPr>
            <a:r>
              <a:rPr sz="4600">
                <a:solidFill>
                  <a:srgbClr val="404040"/>
                </a:solidFill>
                <a:latin typeface="PFDinDisplayPro-Regular"/>
              </a:rPr>
              <a:t>ОСОБЕННОСТИ СЛР У ДЕТЕЙ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60" y="2604670"/>
            <a:ext cx="8790709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7" name="Подзаголовок 2"/>
          <p:cNvSpPr txBox="1"/>
          <p:nvPr/>
        </p:nvSpPr>
        <p:spPr bwMode="auto">
          <a:xfrm>
            <a:off x="1803377" y="2744792"/>
            <a:ext cx="14794367" cy="681807"/>
          </a:xfrm>
          <a:prstGeom prst="rect">
            <a:avLst/>
          </a:prstGeom>
        </p:spPr>
        <p:txBody>
          <a:bodyPr anchor="ctr">
            <a:normAutofit fontScale="92500"/>
          </a:bodyPr>
          <a:lstStyle>
            <a:lvl1pPr marL="0" marR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1pPr>
            <a:lvl2pPr marL="0" marR="0" indent="914172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2pPr>
            <a:lvl3pPr marL="0" marR="0" indent="182834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3pPr>
            <a:lvl4pPr marL="0" marR="0" indent="274251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4pPr>
            <a:lvl5pPr marL="0" marR="0" indent="365668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5pPr>
            <a:lvl6pPr marL="4936525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6pPr>
            <a:lvl7pPr marL="5850696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7pPr>
            <a:lvl8pPr marL="676487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8pPr>
            <a:lvl9pPr marL="767904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 marL="0" marR="0" lvl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800" b="0">
                <a:solidFill>
                  <a:srgbClr val="000000"/>
                </a:solidFill>
                <a:latin typeface="Open Sans Light"/>
              </a:rPr>
              <a:t>Доп. материал · исключено из Прил. № 2 с 01.09.2026 (ПП РФ № 805)</a:t>
            </a:r>
            <a:endParaRPr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377139" y="5200000"/>
            <a:ext cx="9482366" cy="5990897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2471455" y="5606521"/>
            <a:ext cx="9093890" cy="7058713"/>
          </a:xfrm>
          <a:prstGeom prst="rect">
            <a:avLst/>
          </a:prstGeom>
        </p:spPr>
      </p:pic>
      <p:sp>
        <p:nvSpPr>
          <p:cNvPr id="867" name="Rounded Rectangle 866"/>
          <p:cNvSpPr/>
          <p:nvPr/>
        </p:nvSpPr>
        <p:spPr>
          <a:xfrm>
            <a:off x="1800000" y="3450000"/>
            <a:ext cx="20800000" cy="1600000"/>
          </a:xfrm>
          <a:prstGeom prst="roundRect">
            <a:avLst>
              <a:gd name="adj" fmla="val 4000"/>
            </a:avLst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8" name="TextBox 867"/>
          <p:cNvSpPr txBox="1"/>
          <p:nvPr/>
        </p:nvSpPr>
        <p:spPr>
          <a:xfrm>
            <a:off x="2000000" y="3520000"/>
            <a:ext cx="20400000" cy="1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404040"/>
                </a:solidFill>
                <a:latin typeface="Open Sans"/>
              </a:rPr>
              <a:t>С 01.09.2026 отдельный пункт «Особенности реанимации у детей» исключён из Прил. № 2 (№ 805). Текст — по пособию Минздрава.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404040"/>
                </a:solidFill>
                <a:latin typeface="Open Sans"/>
              </a:rPr>
              <a:t>• Та же последовательность и соотношение 30 надавливаний : 2 вдоха, что у взрослых.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404040"/>
                </a:solidFill>
                <a:latin typeface="Open Sans"/>
              </a:rPr>
              <a:t>• Глубина ≈ ⅓ переднезаднего размера груди (~4 см до 1 года; ~5 см старше).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404040"/>
                </a:solidFill>
                <a:latin typeface="Open Sans"/>
              </a:rPr>
              <a:t>• До 1 года — давление двумя пальцами; старше — одной или двумя руками.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404040"/>
                </a:solidFill>
                <a:latin typeface="Open Sans"/>
              </a:rPr>
              <a:t>• После отсутствия признаков жизни у ребёнка эффективнее сначала 5 вдохов, затем 30:2.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404040"/>
                </a:solidFill>
                <a:latin typeface="Open Sans"/>
              </a:rPr>
              <a:t>• При утоплении после извлечения из воды — также 5 вдохов, затем 30:2.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Rectangle 13"/>
          <p:cNvSpPr/>
          <p:nvPr/>
        </p:nvSpPr>
        <p:spPr bwMode="auto">
          <a:xfrm>
            <a:off x="6350" y="0"/>
            <a:ext cx="24371300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937" name="Rectangle 10"/>
          <p:cNvSpPr/>
          <p:nvPr/>
        </p:nvSpPr>
        <p:spPr bwMode="auto">
          <a:xfrm>
            <a:off x="6351" y="0"/>
            <a:ext cx="7435515" cy="13716000"/>
          </a:xfrm>
          <a:prstGeom prst="rect">
            <a:avLst/>
          </a:prstGeom>
          <a:solidFill>
            <a:srgbClr val="6F6F6F">
              <a:alpha val="50195"/>
            </a:srgbClr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600">
                <a:solidFill>
                  <a:srgbClr val="FFFFFF"/>
                </a:solidFill>
              </a:defRPr>
            </a:pPr>
            <a:endParaRPr sz="86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10" name="Text Placeholder 1"/>
          <p:cNvSpPr txBox="1"/>
          <p:nvPr/>
        </p:nvSpPr>
        <p:spPr bwMode="auto">
          <a:xfrm>
            <a:off x="10085046" y="5351782"/>
            <a:ext cx="11649424" cy="3012440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 anchor="ctr">
            <a:normAutofit/>
          </a:bodyPr>
          <a:lstStyle/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6600" b="1" i="0" u="none" strike="noStrike" cap="none" spc="300">
                <a:ln>
                  <a:noFill/>
                </a:ln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rPr>
              <a:t>БЛАГОДАРИМ ЗА ВНИМАНИЕ</a:t>
            </a:r>
            <a:endParaRPr sz="7200" b="0" i="0" u="none" strike="noStrike" cap="none" spc="300">
              <a:ln>
                <a:noFill/>
              </a:ln>
              <a:solidFill>
                <a:srgbClr val="4D4D4D"/>
              </a:solidFill>
              <a:latin typeface="Montserrat Semi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6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254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28</Words>
  <Application>Microsoft Office PowerPoint</Application>
  <DocSecurity>0</DocSecurity>
  <PresentationFormat>Произвольный</PresentationFormat>
  <Paragraphs>8</Paragraphs>
  <Slides>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9" baseType="lpstr">
      <vt:lpstr>Calibri</vt:lpstr>
      <vt:lpstr>Montserrat Semi Bold</vt:lpstr>
      <vt:lpstr>Open Sans</vt:lpstr>
      <vt:lpstr>Open Sans Light</vt:lpstr>
      <vt:lpstr>PFDinDisplayPro-Regular</vt:lpstr>
      <vt:lpstr>6_Office Theme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ИНТЕЛЛЕКТУАЛЬНОЕ ОБУЧЕНИЕ ЗАГОЛОВОК</dc:title>
  <dc:subject/>
  <dc:creator>ASUS</dc:creator>
  <cp:keywords/>
  <dc:description/>
  <cp:lastModifiedBy>Роман Прудников</cp:lastModifiedBy>
  <cp:revision>123</cp:revision>
  <dcterms:modified xsi:type="dcterms:W3CDTF">2026-08-03T13:32:41Z</dcterms:modified>
  <cp:category/>
  <dc:identifier/>
  <cp:contentStatus/>
  <dc:language/>
  <cp:version/>
</cp:coreProperties>
</file>