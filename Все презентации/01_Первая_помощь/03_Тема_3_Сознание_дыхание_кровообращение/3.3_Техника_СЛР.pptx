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3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70" r:id="rId7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pos="7680">
          <p15:clr>
            <a:srgbClr val="A4A3A4"/>
          </p15:clr>
        </p15:guide>
        <p15:guide id="2" orient="horz" pos="43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45" d="100"/>
          <a:sy n="45" d="100"/>
        </p:scale>
        <p:origin x="576" y="78"/>
      </p:cViewPr>
      <p:guideLst>
        <p:guide pos="7680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«-»</a:t>
            </a:r>
            <a:endParaRPr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Благодарим за внимание</a:t>
            </a:r>
            <a:endParaRPr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«-»</a:t>
            </a:r>
            <a:endParaRPr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799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799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79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89"/>
            <a:ext cx="21036679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1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B2B2B2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B2B2B2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1" y="3938101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1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1" y="4700105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2775886"/>
            <a:ext cx="10518342" cy="14464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3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49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3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3" y="4875219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7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399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7"/>
            <a:ext cx="21036679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1"/>
            <a:ext cx="21036679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3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1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39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8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1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7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1" y="10004431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1" y="1061403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7" y="10004431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7" y="1061403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5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3" y="1000105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3" y="1061065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79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5" y="529310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5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5" y="588422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3" y="529310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1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3" y="588422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3" y="927954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3" y="868841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5"/>
            <a:ext cx="21036679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19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799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799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799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5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3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5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5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5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5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1" y="804436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19" y="9387979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1" y="8635491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3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1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3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3854549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7" y="3854549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5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1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1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3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3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3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7" y="9466730"/>
            <a:ext cx="21036679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79" cy="155690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3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3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1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1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1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5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5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5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7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5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3" y="4229199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5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3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3" y="404094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59" y="404094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1" y="8763005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1" y="9442459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7" y="8716315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7" y="9395769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1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5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29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5" y="4145285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69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5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5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5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29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5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69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5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89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5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3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7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69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69" y="5007541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1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1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1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1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1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5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5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5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7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5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69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69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69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5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5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19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3" y="9174295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3" y="10014863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3" y="8510333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89" y="914481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89" y="998538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89" y="848085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3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5" y="6858007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3" y="6858007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5" y="4572005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3" y="4572005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5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3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6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7" y="8978157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5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5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5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5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7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5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5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5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5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7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7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7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7" y="1072705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7" y="1682307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7" y="55304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7" y="6140007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7" y="10159105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7" y="10768707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5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7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1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39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09" y="3993783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1" y="3993783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7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7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1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7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7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1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7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7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1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7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7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1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7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7" y="5850393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49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3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3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5476319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5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5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4829181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4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4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4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5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1" y="730257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7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5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3" y="3362333"/>
            <a:ext cx="10369078" cy="1647825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1" y="730257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5" y="5297493"/>
            <a:ext cx="5301837" cy="1828801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1" y="5303845"/>
            <a:ext cx="5301837" cy="18288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9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3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19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9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3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9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3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62114" y="12854688"/>
            <a:ext cx="451404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5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1004260" y="5412463"/>
            <a:ext cx="4621490" cy="3308320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3" y="3077239"/>
            <a:ext cx="19028633" cy="7978768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Autofit/>
          </a:bodyPr>
          <a:lstStyle/>
          <a:p>
            <a:pPr defTabSz="91440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sz="4400" b="1">
                <a:solidFill>
                  <a:srgbClr val="4D4D4D"/>
                </a:solidFill>
                <a:latin typeface="Montserrat Semi Bold"/>
              </a:rPr>
              <a:t>ТЕХНИКА ПРОВЕДЕНИЯ СЕРДЕЧНО-ЛЕГОЧНОЙ РЕАНИМАЦИИ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21945600" y="0"/>
            <a:ext cx="2568534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3" y="8393139"/>
            <a:ext cx="18252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856" name="TextBox 855"/>
          <p:cNvSpPr txBox="1"/>
          <p:nvPr/>
        </p:nvSpPr>
        <p:spPr>
          <a:xfrm>
            <a:off x="1780000" y="9500000"/>
            <a:ext cx="180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535353"/>
                </a:solidFill>
                <a:latin typeface="Open Sans"/>
              </a:rPr>
              <a:t>П. 3.3 по № 805. АНД — отдельный п. 3.4 (при наличии). Порядок: компрессии → искусственное дыхание.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2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09673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4600" b="0">
                <a:solidFill>
                  <a:srgbClr val="404040"/>
                </a:solidFill>
                <a:latin typeface="PFDinDisplayPro-Regular"/>
              </a:rPr>
              <a:t>ТЕХНИКА ПРОВЕДЕНИЯ СЛР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1872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7" y="2744792"/>
            <a:ext cx="14800793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Тема 3 · п. 3.3  Техника проведения СЛР  ·  ред. № 805 с 01.09.2026</a:t>
            </a:r>
            <a:endParaRPr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690349" y="6399134"/>
            <a:ext cx="7207971" cy="568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/>
          <p:cNvSpPr txBox="1"/>
          <p:nvPr/>
        </p:nvSpPr>
        <p:spPr bwMode="auto">
          <a:xfrm>
            <a:off x="1732785" y="4564183"/>
            <a:ext cx="5283781" cy="1268037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3200" b="1">
                <a:solidFill>
                  <a:srgbClr val="535353"/>
                </a:solidFill>
                <a:latin typeface="Open Sans"/>
              </a:rPr>
              <a:t>Шаг 1. Сознание</a:t>
            </a:r>
            <a:endParaRPr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7455063" y="5791722"/>
            <a:ext cx="8864792" cy="6902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 bwMode="auto">
          <a:xfrm>
            <a:off x="8940756" y="4595560"/>
            <a:ext cx="5893406" cy="1268037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3200" b="1">
                <a:solidFill>
                  <a:srgbClr val="535353"/>
                </a:solidFill>
                <a:latin typeface="Open Sans"/>
              </a:rPr>
              <a:t>Шаг 2. Открытие дыхательных путей</a:t>
            </a:r>
            <a:endParaRPr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15595832" y="6035246"/>
            <a:ext cx="8489090" cy="69621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 bwMode="auto">
          <a:xfrm>
            <a:off x="16604171" y="4564183"/>
            <a:ext cx="5893406" cy="726351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3200" b="1">
                <a:solidFill>
                  <a:srgbClr val="535353"/>
                </a:solidFill>
                <a:latin typeface="Open Sans"/>
              </a:rPr>
              <a:t>Шаг 3. Проверка дыхания (≤ 10 с)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3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09673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4600" b="0">
                <a:solidFill>
                  <a:srgbClr val="404040"/>
                </a:solidFill>
                <a:latin typeface="PFDinDisplayPro-Regular"/>
              </a:rPr>
              <a:t>ТЕХНИКА ПРОВЕДЕНИЯ СЛР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1872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8" y="2744792"/>
            <a:ext cx="14905204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Тема 3 · п. 3.3  Техника проведения СЛР  ·  ред. № 805 с 01.09.2026</a:t>
            </a:r>
            <a:endParaRPr/>
          </a:p>
        </p:txBody>
      </p:sp>
      <p:pic>
        <p:nvPicPr>
          <p:cNvPr id="16" name="Рисунок 20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2437379" y="6542535"/>
            <a:ext cx="9018323" cy="6782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12097881" y="4832269"/>
            <a:ext cx="9772145" cy="8358000"/>
          </a:xfrm>
          <a:prstGeom prst="rect">
            <a:avLst/>
          </a:prstGeom>
        </p:spPr>
      </p:pic>
      <p:sp>
        <p:nvSpPr>
          <p:cNvPr id="18" name="Прямоугольник 17"/>
          <p:cNvSpPr/>
          <p:nvPr/>
        </p:nvSpPr>
        <p:spPr bwMode="auto">
          <a:xfrm>
            <a:off x="3250610" y="3821280"/>
            <a:ext cx="8991564" cy="5915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sz="3200" b="1"/>
              <a:t>Шаг 4. Вызов СМП (112 / 103)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4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09673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4600" b="0">
                <a:solidFill>
                  <a:srgbClr val="404040"/>
                </a:solidFill>
                <a:latin typeface="PFDinDisplayPro-Regular"/>
              </a:rPr>
              <a:t>ТЕХНИКА ПРОВЕДЕНИЯ СЛР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1872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8" y="2744792"/>
            <a:ext cx="14688284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Тема 3 · п. 3.3  Техника проведения СЛР  ·  ред. № 805 с 01.09.2026</a:t>
            </a:r>
            <a:endParaRPr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15861668" y="4801135"/>
            <a:ext cx="8207172" cy="7435321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1001217" y="4269629"/>
            <a:ext cx="7925808" cy="7783378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 bwMode="auto">
          <a:xfrm>
            <a:off x="9014735" y="5833521"/>
            <a:ext cx="7476927" cy="6920019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 bwMode="auto">
          <a:xfrm>
            <a:off x="2083364" y="3594922"/>
            <a:ext cx="5761514" cy="5915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sz="3200" b="1"/>
              <a:t>Шаг 5. Давление на грудину (30; 100–120/мин; ~5–6 см)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5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09673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4600" b="0">
                <a:solidFill>
                  <a:srgbClr val="404040"/>
                </a:solidFill>
                <a:latin typeface="PFDinDisplayPro-Regular"/>
              </a:rPr>
              <a:t>ТЕХНИКА ПРОВЕДЕНИЯ СЛР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1872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8" y="2744792"/>
            <a:ext cx="14960622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Тема 3 · п. 3.3  Техника проведения СЛР  ·  ред. № 805 с 01.09.2026</a:t>
            </a:r>
            <a:endParaRPr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4414393" y="3705043"/>
            <a:ext cx="6781023" cy="6045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sz="3200" b="1"/>
              <a:t>Шаг 6. Искусственное дыхание (2 вдоха; цикл 30:2)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8763946" y="4296553"/>
            <a:ext cx="10700838" cy="94194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1" y="0"/>
            <a:ext cx="7435515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600">
                <a:solidFill>
                  <a:srgbClr val="FFFFFF"/>
                </a:solidFill>
              </a:defRPr>
            </a:pPr>
            <a:endParaRPr sz="86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10085046" y="5351782"/>
            <a:ext cx="11649424" cy="3012440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/>
          </a:bodyPr>
          <a:lstStyle/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i="0" u="none" strike="noStrike" cap="none" spc="300">
                <a:ln>
                  <a:noFill/>
                </a:ln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rPr>
              <a:t>БЛАГОДАРИМ ЗА ВНИМАНИЕ</a:t>
            </a:r>
            <a:endParaRPr sz="7200" b="0" i="0" u="none" strike="noStrike" cap="none" spc="300">
              <a:ln>
                <a:noFill/>
              </a:ln>
              <a:solidFill>
                <a:srgbClr val="4D4D4D"/>
              </a:solidFill>
              <a:latin typeface="Montserrat Semi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6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121</Words>
  <Application>Microsoft Office PowerPoint</Application>
  <DocSecurity>0</DocSecurity>
  <PresentationFormat>Произвольный</PresentationFormat>
  <Paragraphs>23</Paragraphs>
  <Slides>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Calibri</vt:lpstr>
      <vt:lpstr>Montserrat Semi Bold</vt:lpstr>
      <vt:lpstr>Open Sans</vt:lpstr>
      <vt:lpstr>Open Sans Light</vt:lpstr>
      <vt:lpstr>PFDinDisplayPro-Regular</vt:lpstr>
      <vt:lpstr>6_Office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Роман Прудников</cp:lastModifiedBy>
  <cp:revision>123</cp:revision>
  <dcterms:modified xsi:type="dcterms:W3CDTF">2026-08-03T13:23:29Z</dcterms:modified>
  <cp:category/>
  <dc:identifier/>
  <cp:contentStatus/>
  <dc:language/>
  <cp:version/>
</cp:coreProperties>
</file>