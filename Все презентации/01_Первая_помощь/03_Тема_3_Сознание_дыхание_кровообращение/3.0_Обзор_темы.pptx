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media/media10.svg" ContentType="image/svg+xml"/>
  <Override PartName="/ppt/media/media11.svg" ContentType="image/svg+xml"/>
  <Override PartName="/ppt/media/media2.svg" ContentType="image/svg+xml"/>
  <Override PartName="/ppt/media/media3.svg" ContentType="image/svg+xml"/>
  <Override PartName="/ppt/media/media4.svg" ContentType="image/svg+xml"/>
  <Override PartName="/ppt/media/media5.svg" ContentType="image/svg+xml"/>
  <Override PartName="/ppt/media/media6.svg" ContentType="image/svg+xml"/>
  <Override PartName="/ppt/media/media7.svg" ContentType="image/svg+xml"/>
  <Override PartName="/ppt/media/media8.svg" ContentType="image/svg+xml"/>
  <Override PartName="/ppt/media/media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35" d="100"/>
          <a:sy n="35" d="100"/>
        </p:scale>
        <p:origin x="1212" y="66"/>
      </p:cViewPr>
      <p:guideLst>
        <p:guide pos="7680"/>
        <p:guide pos="432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tableStyles" Target="tableStyles.xml"/><Relationship Id="rId2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ChangeAspect="1" noGrp="1" noRo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Благодарим за внимание</a:t>
            </a:r>
            <a:endParaRPr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>
                <a:solidFill>
                  <a:schemeClr val="accent1"/>
                </a:solidFill>
              </a:rPr>
              <a:t>«-»</a:t>
            </a:r>
            <a:endParaRPr/>
          </a:p>
          <a:p>
            <a:pPr>
              <a:defRPr/>
            </a:pPr>
            <a:endParaRPr lang="ru-RU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799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799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79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89"/>
            <a:ext cx="21036679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1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B2B2B2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B2B2B2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1" y="3938101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1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1" y="4700105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2775886"/>
            <a:ext cx="10518342" cy="14464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3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49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3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3" y="4875219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7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399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7"/>
            <a:ext cx="21036679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1"/>
            <a:ext cx="21036679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3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1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39" y="3899653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8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1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7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1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1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7" y="10004431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7" y="1061403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3" y="1000105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3" y="1061065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79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5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5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5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3" y="529310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1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3" y="588422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3" y="9279543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3" y="868841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5"/>
            <a:ext cx="21036679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79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19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799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799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799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3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5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5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5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1" y="804436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19" y="9387979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1" y="8635491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3" y="807452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1" y="941814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3" y="866565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7" y="385454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1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3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3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7" y="9466730"/>
            <a:ext cx="21036679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79" cy="155690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3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3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229199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5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3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3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59" y="404094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1" y="876300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1" y="944245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7" y="8716315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7" y="9395769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1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5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29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5" y="4145285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69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5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5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5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29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5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69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5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89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3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7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69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69" y="5007541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1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1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1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1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1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69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69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69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19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3" y="9174295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3" y="10014863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3" y="8510333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89" y="914481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89" y="998538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89" y="848085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3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5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3" y="6858007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5" y="4572005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3" y="4572005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5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3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6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7" y="8978157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5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5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5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5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1" y="1041407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Text</a:t>
            </a:r>
            <a:endParaRPr/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1" y="16510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1" y="54991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1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1" y="10127805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1" y="107374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5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5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5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7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7" y="10727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7" y="16823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7" y="55304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7" y="61400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7" y="10159105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7" y="10768707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5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7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1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39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rPr/>
              <a:t>Text</a:t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09" y="3993783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1" y="3993783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3500" b="0" i="0" u="none" strike="noStrike" cap="none" spc="0">
              <a:ln>
                <a:noFill/>
              </a:ln>
              <a:solidFill>
                <a:srgbClr val="000000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7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1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7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1" y="34416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7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1" y="68328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7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1" y="10274405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7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7" y="5850393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49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3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3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79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7"/>
            <a:ext cx="21036679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5476319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5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5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4829181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3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4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4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4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5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5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3" y="3362333"/>
            <a:ext cx="10369078" cy="1647825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1" y="730257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5" y="5297493"/>
            <a:ext cx="5301837" cy="1828801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1" y="5303845"/>
            <a:ext cx="5301837" cy="1828801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9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3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9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3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5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23798" y="12489562"/>
            <a:ext cx="451404" cy="446276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8F8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62114" y="12854688"/>
            <a:ext cx="451404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marL="0" marR="0" lvl="0" indent="0" algn="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lang="ru-RU" sz="2300" b="0" i="0" u="none" strike="noStrike" cap="none" spc="0">
                <a:ln>
                  <a:noFill/>
                </a:ln>
                <a:solidFill>
                  <a:srgbClr val="888888"/>
                </a:solidFill>
                <a:latin typeface="Open Sans Light"/>
                <a:cs typeface="Calibri"/>
              </a:rPr>
              <a:t/>
            </a:fld>
            <a:endParaRPr lang="ru-RU" sz="2300" b="0" i="0" u="none" strike="noStrike" cap="none" spc="0">
              <a:ln>
                <a:noFill/>
              </a:ln>
              <a:solidFill>
                <a:srgbClr val="888888"/>
              </a:solidFill>
              <a:latin typeface="Open Sans Light"/>
              <a:cs typeface="Calibri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rPr/>
              <a:t>Текст заголовка</a:t>
            </a:r>
            <a:endParaRPr/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rPr/>
              <a:t>Уровень текста 1</a:t>
            </a:r>
            <a:endParaRPr/>
          </a:p>
          <a:p>
            <a:pPr lvl="1">
              <a:defRPr/>
            </a:pPr>
            <a:r>
              <a:rPr/>
              <a:t>Уровень текста 2</a:t>
            </a:r>
            <a:endParaRPr/>
          </a:p>
          <a:p>
            <a:pPr lvl="2">
              <a:defRPr/>
            </a:pPr>
            <a:r>
              <a:rPr/>
              <a:t>Уровень текста 3</a:t>
            </a:r>
            <a:endParaRPr/>
          </a:p>
          <a:p>
            <a:pPr lvl="3">
              <a:defRPr/>
            </a:pPr>
            <a:r>
              <a:rPr/>
              <a:t>Уровень текста 4</a:t>
            </a:r>
            <a:endParaRPr/>
          </a:p>
          <a:p>
            <a:pPr lvl="4">
              <a:defRPr/>
            </a:pPr>
            <a:r>
              <a:rPr/>
              <a:t>Уровень текста 5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5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.png"/><Relationship Id="rId3" Type="http://schemas.openxmlformats.org/officeDocument/2006/relationships/image" Target="../media/image3.emf"/><Relationship Id="rId4" Type="http://schemas.openxmlformats.org/officeDocument/2006/relationships/image" Target="../media/media1.svg"/><Relationship Id="rId5" Type="http://schemas.openxmlformats.org/officeDocument/2006/relationships/image" Target="../media/image4.emf"/><Relationship Id="rId6" Type="http://schemas.openxmlformats.org/officeDocument/2006/relationships/image" Target="../media/media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5.jpg"/><Relationship Id="rId3" Type="http://schemas.openxmlformats.org/officeDocument/2006/relationships/image" Target="../media/image6.emf"/><Relationship Id="rId4" Type="http://schemas.openxmlformats.org/officeDocument/2006/relationships/image" Target="../media/media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7.emf"/><Relationship Id="rId3" Type="http://schemas.openxmlformats.org/officeDocument/2006/relationships/image" Target="../media/media4.svg"/><Relationship Id="rId4" Type="http://schemas.openxmlformats.org/officeDocument/2006/relationships/image" Target="../media/image8.emf"/><Relationship Id="rId5" Type="http://schemas.openxmlformats.org/officeDocument/2006/relationships/image" Target="../media/media5.svg"/><Relationship Id="rId6" Type="http://schemas.openxmlformats.org/officeDocument/2006/relationships/image" Target="../media/image9.emf"/><Relationship Id="rId7" Type="http://schemas.openxmlformats.org/officeDocument/2006/relationships/image" Target="../media/media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0.emf"/><Relationship Id="rId3" Type="http://schemas.openxmlformats.org/officeDocument/2006/relationships/image" Target="../media/media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0.emf"/><Relationship Id="rId3" Type="http://schemas.openxmlformats.org/officeDocument/2006/relationships/image" Target="../media/media8.svg"/><Relationship Id="rId4" Type="http://schemas.openxmlformats.org/officeDocument/2006/relationships/image" Target="../media/image21.emf"/><Relationship Id="rId5" Type="http://schemas.openxmlformats.org/officeDocument/2006/relationships/image" Target="../media/media9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25.emf"/><Relationship Id="rId3" Type="http://schemas.openxmlformats.org/officeDocument/2006/relationships/image" Target="../media/media10.svg"/><Relationship Id="rId4" Type="http://schemas.openxmlformats.org/officeDocument/2006/relationships/image" Target="../media/image26.emf"/><Relationship Id="rId5" Type="http://schemas.openxmlformats.org/officeDocument/2006/relationships/image" Target="../media/media11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1004260" y="5412463"/>
            <a:ext cx="4621490" cy="3308320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3" y="3077239"/>
            <a:ext cx="19028633" cy="7978768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Autofit/>
          </a:bodyPr>
          <a:lstStyle/>
          <a:p>
            <a:pPr defTabSz="91440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ОКАЗАНИЕ ПЕРВОЙ ПОМОЩИ ПРИ ОТСУТСТВИИ СОЗНАНИЯ, ОСТАНОВКЕ ДЫХАНИЯ И КРОВООБРАЩЕНИЯ </a:t>
            </a:r>
            <a:endParaRPr lang="ru-RU" sz="4400" b="1" spc="30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21945600" y="0"/>
            <a:ext cx="2568534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3" y="7755189"/>
            <a:ext cx="182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856" name="TextBox 855"/>
          <p:cNvSpPr txBox="1"/>
          <p:nvPr/>
        </p:nvSpPr>
        <p:spPr>
          <a:xfrm>
            <a:off x="1780000" y="9000000"/>
            <a:ext cx="18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35353"/>
                </a:solidFill>
                <a:latin typeface="Open Sans"/>
              </a:rPr>
              <a:t>Структура теории с 01.09.2026 (№ 805): 3.1 признаки жизни · 3.2 проходимость ДП · 3.3 техника СЛР · 3.4 АНД · 3.5 инородное тело · 3.6 иные нарушения дыхания. Ошибки СЛР и особенности у детей — исключены как отдельные пункты.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ОПРЕДЕЛЕНИЕ ПРИЗНАКОВ ЖИЗНИ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1632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171035" y="3530721"/>
            <a:ext cx="8106833" cy="9541119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 bwMode="auto">
          <a:xfrm>
            <a:off x="2975050" y="4516532"/>
            <a:ext cx="1060470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sz="2800" b="1">
                <a:solidFill>
                  <a:srgbClr val="535353"/>
                </a:solidFill>
                <a:latin typeface="Open Sans"/>
              </a:rPr>
              <a:t>П. 3.1 (№ 805): «Определение признаков жизни».</a:t>
            </a:r>
            <a:endParaRPr/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Для решения о СЛР ориентируйтесь на отсутствие сознания и нормального дыхания.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Проверка пульса для решения о СЛР не рекомендуется.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Внезапная смерть — заболевания или внешнее воздействие; алгоритм СЛР единый.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ТЕХНИКА ПРОВЕДЕНИЯ СЛР (п. 3.3)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00793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690349" y="6399134"/>
            <a:ext cx="7207971" cy="568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 bwMode="auto">
          <a:xfrm>
            <a:off x="1732785" y="4564183"/>
            <a:ext cx="5283781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Шаг 1 Наличие сознания у пострадавшего</a:t>
            </a:r>
            <a:endParaRPr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455063" y="5791722"/>
            <a:ext cx="8864792" cy="6902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8940756" y="4595560"/>
            <a:ext cx="5893406" cy="1268037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Шаг 2 Открытие дыхательных путей</a:t>
            </a:r>
            <a:endParaRPr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15595832" y="6035246"/>
            <a:ext cx="8489090" cy="6962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16604171" y="4564183"/>
            <a:ext cx="5893406" cy="726351"/>
          </a:xfrm>
          <a:prstGeom prst="rect">
            <a:avLst/>
          </a:prstGeom>
          <a:noFill/>
          <a:ln w="254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91439" tIns="91439" rIns="91439" bIns="91439" numCol="1" spcCol="38100" rtlCol="0" anchor="t">
            <a:spAutoFit/>
          </a:bodyPr>
          <a:lstStyle/>
          <a:p>
            <a:pPr marL="0" marR="0" indent="0" algn="ct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32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Шаг 3 Проверка дыхания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ТЕХНИКА ПРОВЕДЕНИЯ СЛР (п. 3.3)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905204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16" name="Рисунок 2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437379" y="6542535"/>
            <a:ext cx="9018323" cy="6782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12097881" y="4832269"/>
            <a:ext cx="9772145" cy="8358000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 bwMode="auto">
          <a:xfrm>
            <a:off x="3250610" y="3821280"/>
            <a:ext cx="8991564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Шаг 4 Вызов скорой медицинской помощи</a:t>
            </a:r>
            <a:endParaRPr lang="ru-RU" sz="3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ТЕХНИКА ПРОВЕДЕНИЯ СЛР (п. 3.3)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688284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15861668" y="4801135"/>
            <a:ext cx="8207172" cy="7435321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001217" y="4269629"/>
            <a:ext cx="7925808" cy="7783378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 bwMode="auto">
          <a:xfrm>
            <a:off x="9014735" y="5833521"/>
            <a:ext cx="7476927" cy="6920019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 bwMode="auto">
          <a:xfrm>
            <a:off x="2083364" y="3594922"/>
            <a:ext cx="5761514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Шаг 5 Давление на грудину</a:t>
            </a:r>
            <a:endParaRPr lang="ru-RU" sz="3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09673"/>
            <a:ext cx="24280504" cy="83099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ТЕХНИКА ПРОВЕДЕНИЯ СЛР (п. 3.3)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960622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4414393" y="3705043"/>
            <a:ext cx="6325771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Шаг 5 Искусственное дыхание</a:t>
            </a:r>
            <a:endParaRPr lang="ru-RU" sz="3200" b="1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8763946" y="4296553"/>
            <a:ext cx="10700838" cy="9419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062504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b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</a:br>
            <a:r>
              <a:rPr sz="4600">
                <a:solidFill>
                  <a:srgbClr val="404040"/>
                </a:solidFill>
                <a:latin typeface="PFDinDisplayPro-Regular"/>
              </a:rPr>
              <a:t>ОШИБКИ И ОСЛОЖНЕНИЯ СЛР (ДОП. · ИСКЛЮЧЕНО ИЗ ПРИЛ. № 2)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9" y="2604670"/>
            <a:ext cx="152967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960622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272655" y="3724681"/>
            <a:ext cx="9633663" cy="9633663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 bwMode="auto">
          <a:xfrm>
            <a:off x="1551710" y="3600782"/>
            <a:ext cx="11720945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sz="2800" b="1">
                <a:solidFill>
                  <a:srgbClr val="535353"/>
                </a:solidFill>
                <a:latin typeface="Open Sans"/>
              </a:rPr>
              <a:t>Исключено как отдельный пункт с 01.09.2026 (№ 805). По пособию: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нарушение последовательности; неверная техника давления/вдохов;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• соотношение не 30:2; частота &lt;100 или &gt;120; паузы &gt;10 с.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535353"/>
                </a:solidFill>
                <a:latin typeface="Open Sans"/>
              </a:rPr>
              <a:t>Осложнение: перелом рёбер (точка давления, избыточная сила, хрупкость костей).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9" y="1717359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ПРЕКРАЩЕНИЕ СЛР (ДОП. · ПО ПОСОБИЮ)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69" y="2604670"/>
            <a:ext cx="10440617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637123" y="2763762"/>
            <a:ext cx="14960622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1343827" y="3691753"/>
            <a:ext cx="21571969" cy="1040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Реанимационные мероприятия продолжаются до прибытия </a:t>
            </a:r>
            <a:r>
              <a:rPr lang="ru-RU" sz="28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скорой</a:t>
            </a: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ru-RU" sz="28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медицинской помощи </a:t>
            </a: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или других </a:t>
            </a:r>
            <a:r>
              <a:rPr lang="ru-RU" sz="28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специальных служб</a:t>
            </a: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, либо до появления </a:t>
            </a:r>
            <a:r>
              <a:rPr lang="ru-RU" sz="28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явных признаков жизни </a:t>
            </a: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у пострадавшего.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90349" y="4500051"/>
            <a:ext cx="10523779" cy="7892834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 bwMode="auto">
          <a:xfrm>
            <a:off x="11845131" y="5658347"/>
            <a:ext cx="11541280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В случае длительного проведения реанимационных мероприятий и возникновения физической усталости у участника оказания первой помощи необходимо </a:t>
            </a:r>
            <a:r>
              <a:rPr lang="ru-RU" sz="28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привлечь помощника</a:t>
            </a: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.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8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Реанимационные мероприятия могут не осуществляться пострадавшим с </a:t>
            </a:r>
            <a:r>
              <a:rPr lang="ru-RU" sz="2800" b="1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явными признаками нежизнеспособности</a:t>
            </a:r>
            <a:r>
              <a:rPr lang="ru-RU" sz="2800" b="0" i="0" u="none" strike="noStrike" cap="none" spc="0">
                <a:ln>
                  <a:noFill/>
                </a:ln>
                <a:solidFill>
                  <a:srgbClr val="535353"/>
                </a:solidFill>
                <a:latin typeface="Open Sans"/>
                <a:ea typeface="Open Sans"/>
                <a:cs typeface="Open Sans"/>
              </a:rPr>
              <a:t>, либо в случаях, когда отсутствие признаков жизни вызвано исходом длительно существующего неизлечимого заболевания.</a:t>
            </a:r>
            <a:endParaRPr sz="2400" b="0" i="0" u="none" strike="noStrike" cap="none" spc="0">
              <a:ln>
                <a:noFill/>
              </a:ln>
              <a:solidFill>
                <a:srgbClr val="535353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2181221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ЕСЛИ ПОЯВИЛИСЬ ПРИЗНАКИ ЖИЗНИ → п. 3.2 (боковое положение)</a:t>
            </a:r>
            <a:endParaRPr lang="ru-RU" sz="460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19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738949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8" name="Рисунок 10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122685" y="5959929"/>
            <a:ext cx="9276614" cy="6601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9"/>
          <p:cNvPicPr>
            <a:picLocks noChangeAspect="1" noChangeArrowheads="1"/>
          </p:cNvPicPr>
          <p:nvPr/>
        </p:nvPicPr>
        <p:blipFill>
          <a:blip r:embed="rId3"/>
          <a:srcRect l="9973" t="0" r="8713" b="0"/>
          <a:stretch/>
        </p:blipFill>
        <p:spPr bwMode="auto">
          <a:xfrm>
            <a:off x="690349" y="5635317"/>
            <a:ext cx="7761768" cy="682680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Прямоугольник 9"/>
          <p:cNvSpPr/>
          <p:nvPr/>
        </p:nvSpPr>
        <p:spPr bwMode="auto">
          <a:xfrm>
            <a:off x="2464015" y="4465759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Шаг 1</a:t>
            </a:r>
            <a:endParaRPr lang="ru-RU" sz="3200" b="1"/>
          </a:p>
        </p:txBody>
      </p:sp>
      <p:pic>
        <p:nvPicPr>
          <p:cNvPr id="11" name="Рисунок 13"/>
          <p:cNvPicPr>
            <a:picLocks noChangeAspect="1" noChangeArrowheads="1"/>
          </p:cNvPicPr>
          <p:nvPr/>
        </p:nvPicPr>
        <p:blipFill>
          <a:blip r:embed="rId4"/>
          <a:srcRect l="9806" t="0" r="14313" b="0"/>
          <a:stretch/>
        </p:blipFill>
        <p:spPr bwMode="auto">
          <a:xfrm>
            <a:off x="16859938" y="5959929"/>
            <a:ext cx="6472302" cy="705078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Прямоугольник 12"/>
          <p:cNvSpPr/>
          <p:nvPr/>
        </p:nvSpPr>
        <p:spPr bwMode="auto">
          <a:xfrm>
            <a:off x="9521060" y="4465758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Шаг 2</a:t>
            </a:r>
            <a:endParaRPr lang="ru-RU" sz="3200" b="1"/>
          </a:p>
        </p:txBody>
      </p:sp>
      <p:sp>
        <p:nvSpPr>
          <p:cNvPr id="15" name="Прямоугольник 14"/>
          <p:cNvSpPr/>
          <p:nvPr/>
        </p:nvSpPr>
        <p:spPr bwMode="auto">
          <a:xfrm>
            <a:off x="17735913" y="4465758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Шаг 3</a:t>
            </a:r>
            <a:endParaRPr lang="ru-RU" sz="3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2181221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ЕСЛИ ПОЯВИЛИСЬ ПРИЗНАКИ ЖИЗНИ → п. 3.2 (боковое положение)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1952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5043749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12" name="Рисунок 14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1463698" y="5662507"/>
            <a:ext cx="11972517" cy="671730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Прямоугольник 13"/>
          <p:cNvSpPr/>
          <p:nvPr/>
        </p:nvSpPr>
        <p:spPr bwMode="auto">
          <a:xfrm>
            <a:off x="1861442" y="4548887"/>
            <a:ext cx="3134966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Шаг 4</a:t>
            </a:r>
            <a:endParaRPr lang="ru-RU" sz="3200" b="1"/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11756893" y="4548886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Устойчивое боковое положение</a:t>
            </a:r>
            <a:endParaRPr lang="ru-RU" sz="3200" b="1"/>
          </a:p>
        </p:txBody>
      </p:sp>
      <p:pic>
        <p:nvPicPr>
          <p:cNvPr id="17" name="Рисунок 1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33049" y="5447557"/>
            <a:ext cx="10278999" cy="6932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ea typeface="Open Sans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783539"/>
            <a:ext cx="12181221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ОСОБЕННОСТИ СЛР У ДЕТЕЙ (ДОП. · ИСКЛЮЧЕНО ИЗ ПРИЛ. № 2)</a:t>
            </a:r>
            <a:endParaRPr lang="ru-RU" sz="460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60" y="2604670"/>
            <a:ext cx="8790709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ea typeface="Open Sans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794367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377139" y="4004435"/>
            <a:ext cx="9482366" cy="599089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2471455" y="5606521"/>
            <a:ext cx="9093890" cy="7058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542318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lnSpc>
                <a:spcPct val="100000"/>
              </a:lnSpc>
              <a:defRPr/>
            </a:pPr>
            <a:r>
              <a:rPr sz="4600">
                <a:solidFill>
                  <a:srgbClr val="404040"/>
                </a:solidFill>
                <a:latin typeface="PFDinDisplayPro-Regular"/>
              </a:rPr>
              <a:t>П. 3.5  ИНОРОДНОЕ ТЕЛО В ДЫХАТЕЛЬНЫХ ПУТЯХ</a:t>
            </a:r>
            <a:endParaRPr lang="ru-RU" sz="460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084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5043749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3277028" y="3922940"/>
            <a:ext cx="8454834" cy="9541141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11345646" y="4112775"/>
            <a:ext cx="10758853" cy="8957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147132"/>
            <a:ext cx="1542318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4600" b="0">
                <a:solidFill>
                  <a:srgbClr val="404040"/>
                </a:solidFill>
                <a:latin typeface="PFDinDisplayPro-Regular"/>
              </a:rPr>
              <a:t>П. 3.5  ИНОРОДНОЕ ТЕЛО В ДЫХАТЕЛЬНЫХ ПУТЯХ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5084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7" y="2744792"/>
            <a:ext cx="14818687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8" name="Рисунок 18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9328863" y="5391028"/>
            <a:ext cx="8375585" cy="7609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17"/>
          <p:cNvPicPr>
            <a:picLocks noChangeAspect="1" noChangeArrowheads="1"/>
          </p:cNvPicPr>
          <p:nvPr/>
        </p:nvPicPr>
        <p:blipFill>
          <a:blip r:embed="rId3"/>
          <a:srcRect l="12326" t="0" r="16185" b="0"/>
          <a:stretch/>
        </p:blipFill>
        <p:spPr bwMode="auto">
          <a:xfrm>
            <a:off x="16622065" y="4704284"/>
            <a:ext cx="6110632" cy="7614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207959" y="4887767"/>
            <a:ext cx="8616197" cy="768624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Прямоугольник 12"/>
          <p:cNvSpPr/>
          <p:nvPr/>
        </p:nvSpPr>
        <p:spPr bwMode="auto">
          <a:xfrm>
            <a:off x="2037706" y="4112776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Удары между лопатками</a:t>
            </a:r>
            <a:endParaRPr lang="ru-RU" sz="3200" b="1"/>
          </a:p>
        </p:txBody>
      </p:sp>
      <p:sp>
        <p:nvSpPr>
          <p:cNvPr id="14" name="Прямоугольник 13"/>
          <p:cNvSpPr/>
          <p:nvPr/>
        </p:nvSpPr>
        <p:spPr bwMode="auto">
          <a:xfrm>
            <a:off x="11818654" y="4112775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Надавливания на живот</a:t>
            </a:r>
            <a:endParaRPr lang="ru-RU" sz="3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5"/>
            <a:ext cx="684000" cy="630941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6CB4B4D-7CA3-9044-876B-883B54F8677D}" type="slidenum">
              <a:rPr sz="35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Open Sans Light"/>
                <a:cs typeface="Calibri"/>
              </a:rPr>
              <a:t/>
            </a:fld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2" y="2604670"/>
            <a:ext cx="1872000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7" name="Подзаголовок 2"/>
          <p:cNvSpPr txBox="1"/>
          <p:nvPr/>
        </p:nvSpPr>
        <p:spPr bwMode="auto">
          <a:xfrm>
            <a:off x="1803378" y="2744792"/>
            <a:ext cx="14849786" cy="681807"/>
          </a:xfrm>
          <a:prstGeom prst="rect">
            <a:avLst/>
          </a:prstGeom>
        </p:spPr>
        <p:txBody>
          <a:bodyPr anchor="ctr">
            <a:normAutofit fontScale="92500"/>
          </a:bodyPr>
          <a:lstStyle>
            <a:lvl1pPr marL="0" marR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1pPr>
            <a:lvl2pPr marL="0" marR="0" indent="914172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2pPr>
            <a:lvl3pPr marL="0" marR="0" indent="182834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3pPr>
            <a:lvl4pPr marL="0" marR="0" indent="274251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4pPr>
            <a:lvl5pPr marL="0" marR="0" indent="3656684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5pPr>
            <a:lvl6pPr marL="4936525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6pPr>
            <a:lvl7pPr marL="5850696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7pPr>
            <a:lvl8pPr marL="676487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8pPr>
            <a:lvl9pPr marL="7679040" marR="0" indent="-365668" algn="l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solidFill>
                  <a:srgbClr val="000000"/>
                </a:solidFill>
                <a:latin typeface="Open Sans Light"/>
                <a:ea typeface="Open Sans Light"/>
                <a:cs typeface="Open Sans Light"/>
              </a:defRPr>
            </a:lvl9pPr>
          </a:lstStyle>
          <a:p>
            <a:pPr marL="0" marR="0" lvl="0" indent="0" algn="r" defTabSz="1828344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0">
                <a:solidFill>
                  <a:srgbClr val="000000"/>
                </a:solidFill>
                <a:latin typeface="Open Sans Light"/>
              </a:rPr>
              <a:t>Тема 3 · Прил. № 2 к № 2464 (ред. № 805 с 01.09.2026)</a:t>
            </a:r>
            <a:endParaRPr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0" r="0" b="6129"/>
          <a:stretch/>
        </p:blipFill>
        <p:spPr bwMode="auto">
          <a:xfrm>
            <a:off x="12044786" y="4846711"/>
            <a:ext cx="9949306" cy="8176562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2215771" y="4437767"/>
            <a:ext cx="10466479" cy="8340458"/>
          </a:xfrm>
          <a:prstGeom prst="rect">
            <a:avLst/>
          </a:prstGeom>
        </p:spPr>
      </p:pic>
      <p:sp>
        <p:nvSpPr>
          <p:cNvPr id="21" name="Прямоугольник 20"/>
          <p:cNvSpPr/>
          <p:nvPr/>
        </p:nvSpPr>
        <p:spPr bwMode="auto">
          <a:xfrm>
            <a:off x="3312324" y="3464276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Удары по спине</a:t>
            </a:r>
            <a:endParaRPr lang="ru-RU" sz="3200" b="1"/>
          </a:p>
        </p:txBody>
      </p:sp>
      <p:sp>
        <p:nvSpPr>
          <p:cNvPr id="23" name="Прямоугольник 22"/>
          <p:cNvSpPr/>
          <p:nvPr/>
        </p:nvSpPr>
        <p:spPr bwMode="auto">
          <a:xfrm>
            <a:off x="13093272" y="3464275"/>
            <a:ext cx="7232820" cy="591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3200" b="1"/>
              <a:t>Надавливания на грудную клетку</a:t>
            </a:r>
            <a:endParaRPr lang="ru-RU" sz="3200" b="1"/>
          </a:p>
        </p:txBody>
      </p:sp>
      <p:sp>
        <p:nvSpPr>
          <p:cNvPr id="1308737482" name="TextBox 6"/>
          <p:cNvSpPr txBox="1"/>
          <p:nvPr/>
        </p:nvSpPr>
        <p:spPr bwMode="auto">
          <a:xfrm>
            <a:off x="2061252" y="1147131"/>
            <a:ext cx="15423543" cy="149387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4600" b="0" i="0" u="none" strike="noStrike" cap="none" spc="0">
                <a:ln>
                  <a:noFill/>
                </a:ln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</a:rPr>
              <a:t>ПЕРВАЯ ПОМОЩЬ ПРИ НАРУШЕНИИ ПРОХОДИМОСТИ ВЕРХНИХ  ДЫХАТЕЛЬНЫХ ПУТЕЙ</a:t>
            </a:r>
            <a:endParaRPr lang="ru-RU" sz="4600" b="0" i="0" u="none" strike="noStrike" cap="none" spc="0">
              <a:ln>
                <a:noFill/>
              </a:ln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solidFill>
                  <a:srgbClr val="FFFFFF"/>
                </a:solidFill>
              </a:defRPr>
            </a:pPr>
            <a:endParaRPr sz="35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1" y="0"/>
            <a:ext cx="7435515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600">
                <a:solidFill>
                  <a:srgbClr val="FFFFFF"/>
                </a:solidFill>
              </a:defRPr>
            </a:pPr>
            <a:endParaRPr sz="8600" b="0" i="0" u="none" strike="noStrike" cap="none" spc="0">
              <a:ln>
                <a:noFill/>
              </a:ln>
              <a:solidFill>
                <a:srgbClr val="FFFFFF"/>
              </a:solidFill>
              <a:latin typeface="Open Sans Light"/>
              <a:cs typeface="Calibri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10085046" y="5351782"/>
            <a:ext cx="11649424" cy="3012440"/>
          </a:xfrm>
          <a:prstGeom prst="rect">
            <a:avLst/>
          </a:prstGeom>
          <a:ln w="12700">
            <a:miter lim="400000"/>
          </a:ln>
        </p:spPr>
        <p:txBody>
          <a:bodyPr lIns="36000" tIns="36000" rIns="36000" bIns="36000" anchor="ctr">
            <a:normAutofit/>
          </a:bodyPr>
          <a:lstStyle/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i="0" u="none" strike="noStrike" cap="none" spc="300">
                <a:ln>
                  <a:noFill/>
                </a:ln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rPr>
              <a:t>БЛАГОДАРИМ ЗА ВНИМАНИЕ</a:t>
            </a:r>
            <a:endParaRPr sz="7200" b="0" i="0" u="none" strike="noStrike" cap="none" spc="300">
              <a:ln>
                <a:noFill/>
              </a:ln>
              <a:solidFill>
                <a:srgbClr val="4D4D4D"/>
              </a:solidFill>
              <a:latin typeface="Montserrat Sem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6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r7-office/2025.1.1.749</Application>
  <DocSecurity>0</DocSecurity>
  <PresentationFormat>Произвольный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dc:identifier/>
  <dc:language/>
  <cp:lastModifiedBy>Плоцкая Валерия Владиславовна</cp:lastModifiedBy>
  <cp:revision>122</cp:revision>
  <dcterms:modified xsi:type="dcterms:W3CDTF">2025-10-16T14:36:35Z</dcterms:modified>
  <cp:category/>
  <cp:contentStatus/>
  <cp:version/>
</cp:coreProperties>
</file>