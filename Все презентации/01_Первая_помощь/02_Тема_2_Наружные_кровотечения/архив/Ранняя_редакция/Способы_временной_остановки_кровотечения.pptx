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00000"/>
            <a:ext cx="4500000" cy="2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5000000"/>
            <a:ext cx="165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
КРОВОТЕЧЕНИЯХ И ТРАВМАХ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6800000"/>
            <a:ext cx="14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0000" y="19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0" y="19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0000" y="19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и давящая повязка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33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33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33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0000" y="33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Пальцевое прижатие и максимальное сгибание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47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47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47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0000" y="47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и подручные средства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6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6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6100000"/>
            <a:ext cx="20500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0000" y="6100000"/>
            <a:ext cx="19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Алгоритм, записка, ошибки и ограничения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на рану</a:t>
            </a:r>
          </a:p>
        </p:txBody>
      </p:sp>
      <p:pic>
        <p:nvPicPr>
          <p:cNvPr id="7" name="Picture 6" descr="dire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3455000"/>
            <a:ext cx="10400000" cy="819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00000" y="19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Наложение давящей повязки</a:t>
            </a:r>
          </a:p>
        </p:txBody>
      </p:sp>
      <p:pic>
        <p:nvPicPr>
          <p:cNvPr id="9" name="Picture 8" descr="pressure_band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000" y="3695882"/>
            <a:ext cx="10400000" cy="7708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00000"/>
            <a:ext cx="23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Пальцевое прижатие артерии</a:t>
            </a:r>
          </a:p>
        </p:txBody>
      </p:sp>
      <p:pic>
        <p:nvPicPr>
          <p:cNvPr id="7" name="Picture 6" descr="carotid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54" y="2300000"/>
            <a:ext cx="6216091" cy="5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Общая сонная артерия прижимается на передней поверхности шеи снаружи от гортани на стороне повреждения.</a:t>
            </a:r>
          </a:p>
        </p:txBody>
      </p:sp>
      <p:pic>
        <p:nvPicPr>
          <p:cNvPr id="9" name="Picture 8" descr="carotid_4fing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184" y="2300000"/>
            <a:ext cx="6335632" cy="52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в указанную точку может осуществляться четырьмя пальцами одновременно по направлению к позвоночнику, при этом сонная артерия придавливается к нему.</a:t>
            </a:r>
          </a:p>
        </p:txBody>
      </p:sp>
      <p:pic>
        <p:nvPicPr>
          <p:cNvPr id="11" name="Picture 10" descr="carotid_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3103" y="2300000"/>
            <a:ext cx="6813793" cy="52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0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Другим вариантом пальцевого прижатия сонной артерии является давление в ту же точку большим пальцем по направлению к позвоночнику.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00000"/>
            <a:ext cx="23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Пальцевое прижатие артерии</a:t>
            </a:r>
          </a:p>
        </p:txBody>
      </p:sp>
      <p:pic>
        <p:nvPicPr>
          <p:cNvPr id="7" name="Picture 6" descr="subclavi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54" y="2300000"/>
            <a:ext cx="6216091" cy="5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Подключичная артерия прижимается в ямке над ключицей к первому ребру</a:t>
            </a:r>
          </a:p>
        </p:txBody>
      </p:sp>
      <p:pic>
        <p:nvPicPr>
          <p:cNvPr id="9" name="Picture 8" descr="subclavia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184" y="2300000"/>
            <a:ext cx="6335632" cy="52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Осуществлять давление в точку прижатия подключичной артерии можно с помощью четырех выпрямленных пальцев</a:t>
            </a:r>
          </a:p>
        </p:txBody>
      </p:sp>
      <p:pic>
        <p:nvPicPr>
          <p:cNvPr id="11" name="Picture 10" descr="subclavia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3103" y="2300000"/>
            <a:ext cx="6813793" cy="52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00000" y="7800000"/>
            <a:ext cx="73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Другим способом пальцевого прижатия подключичной артерии является давление согнутыми пальцами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00000"/>
            <a:ext cx="23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Пальцевое прижатие артерии</a:t>
            </a:r>
          </a:p>
        </p:txBody>
      </p:sp>
      <p:pic>
        <p:nvPicPr>
          <p:cNvPr id="7" name="Picture 6" descr="brachi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500" y="2300000"/>
            <a:ext cx="8008000" cy="5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000" y="7800000"/>
            <a:ext cx="11175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Плечевая артерия прижимается к плечевой кости с внутренней стороны между бицепсом и трицепсом в средней трети плеча</a:t>
            </a:r>
          </a:p>
        </p:txBody>
      </p:sp>
      <p:pic>
        <p:nvPicPr>
          <p:cNvPr id="9" name="Picture 8" descr="brachi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500" y="2300000"/>
            <a:ext cx="8112000" cy="52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25000" y="7800000"/>
            <a:ext cx="11175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на точку прижатия осуществляется с помощью четырех пальцев кисти, обхватывающей плечо пострадавшего сверху или снизу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00000"/>
            <a:ext cx="23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Пальцевое прижатие артерии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300000"/>
            <a:ext cx="230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Подмышечная артерия прижимается к плечевой кости в подмышечной впадине при кровотечении из раны плеча ниже плечевого сустава. Давление в точку прижатия подмышечной артерии производится прямыми, жестко зафиксированными пальцами с достаточной силой в направлении плечевого сустава. При этом область плечевого сустава пострадавшего следует придерживать другой рукой.</a:t>
            </a:r>
          </a:p>
        </p:txBody>
      </p:sp>
      <p:pic>
        <p:nvPicPr>
          <p:cNvPr id="8" name="Picture 7" descr="axillar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5698333"/>
            <a:ext cx="11300000" cy="6403333"/>
          </a:xfrm>
          <a:prstGeom prst="rect">
            <a:avLst/>
          </a:prstGeom>
        </p:spPr>
      </p:pic>
      <p:pic>
        <p:nvPicPr>
          <p:cNvPr id="9" name="Picture 8" descr="axillar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000" y="5801613"/>
            <a:ext cx="11300000" cy="6196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00000"/>
            <a:ext cx="23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Пальцевое прижатие артерии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300000"/>
            <a:ext cx="23000000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Бедренная артерия прижимается ниже паховой складки при кровотечении из ран в области бедра. Давление выполняется кулаком, зафиксированным второй рукой, весом тела участника оказания первой помощи.</a:t>
            </a:r>
          </a:p>
        </p:txBody>
      </p:sp>
      <p:pic>
        <p:nvPicPr>
          <p:cNvPr id="8" name="Picture 7" descr="femor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7" y="5400000"/>
            <a:ext cx="10466666" cy="7000000"/>
          </a:xfrm>
          <a:prstGeom prst="rect">
            <a:avLst/>
          </a:prstGeom>
        </p:spPr>
      </p:pic>
      <p:pic>
        <p:nvPicPr>
          <p:cNvPr id="9" name="Picture 8" descr="femor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0000" y="5400000"/>
            <a:ext cx="10800000" cy="70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50000"/>
            <a:ext cx="23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Максимальное сгибание конечности</a:t>
            </a:r>
          </a:p>
        </p:txBody>
      </p:sp>
      <p:pic>
        <p:nvPicPr>
          <p:cNvPr id="7" name="Picture 6" descr="flexion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158" y="2400000"/>
            <a:ext cx="5473684" cy="50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000" y="7600000"/>
            <a:ext cx="72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Для остановки кровотечения из предплечья в локтевой сгиб вкладывают валик, конечность максимально сгибают в локтевом суставе и предплечье фиксируют к плечу в таком положении, например, ремнем</a:t>
            </a:r>
          </a:p>
        </p:txBody>
      </p:sp>
      <p:pic>
        <p:nvPicPr>
          <p:cNvPr id="9" name="Picture 8" descr="flexion_l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526" y="2400000"/>
            <a:ext cx="5578947" cy="50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00000" y="7600000"/>
            <a:ext cx="72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повреждении сосудов стопы, голени и подколенной ямки в последнюю вкладывают несколько бинтов или валик из ткани, после чего конечность сгибают в коленном суставе и фиксируют в этом положении бинтом</a:t>
            </a:r>
          </a:p>
        </p:txBody>
      </p:sp>
      <p:pic>
        <p:nvPicPr>
          <p:cNvPr id="11" name="Picture 10" descr="flexion_t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0000" y="2400000"/>
            <a:ext cx="6000000" cy="50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350000" y="7600000"/>
            <a:ext cx="7200000" cy="4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Для остановки кровотечения при травме бедра сверток из ткани или несколько бинтов вкладывают в область паховой складки, притягивают колено к груди и фиксируют руками или бинтом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50000"/>
            <a:ext cx="23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Наложение кровоостанавливающего жгута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350000"/>
            <a:ext cx="23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t max ⩽ 60 мин. в теплое время года · 30 мин. в холодное</a:t>
            </a:r>
          </a:p>
        </p:txBody>
      </p:sp>
      <p:pic>
        <p:nvPicPr>
          <p:cNvPr id="8" name="Picture 7" descr="tourniqu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0" y="3601442"/>
            <a:ext cx="7100000" cy="8397115"/>
          </a:xfrm>
          <a:prstGeom prst="rect">
            <a:avLst/>
          </a:prstGeom>
        </p:spPr>
      </p:pic>
      <p:pic>
        <p:nvPicPr>
          <p:cNvPr id="9" name="Picture 8" descr="tournique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000" y="3680660"/>
            <a:ext cx="7100000" cy="8238679"/>
          </a:xfrm>
          <a:prstGeom prst="rect">
            <a:avLst/>
          </a:prstGeom>
        </p:spPr>
      </p:pic>
      <p:pic>
        <p:nvPicPr>
          <p:cNvPr id="10" name="Picture 9" descr="tournique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0000" y="3969737"/>
            <a:ext cx="7100000" cy="76605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22000000" cy="8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150000"/>
            <a:ext cx="16000000" cy="3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22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 и травмах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00000"/>
            <a:ext cx="11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 качестве импровизированного жгута можно использовать подручные средства: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3200000"/>
            <a:ext cx="11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тесьму,</a:t>
            </a:r>
          </a:p>
          <a:p>
            <a:pPr algn="l">
              <a:spcAft>
                <a:spcPts val="10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платок,</a:t>
            </a:r>
          </a:p>
          <a:p>
            <a:pPr algn="l">
              <a:spcAft>
                <a:spcPts val="10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галстук</a:t>
            </a:r>
          </a:p>
          <a:p>
            <a:pPr algn="l">
              <a:spcAft>
                <a:spcPts val="10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и другие подобные вещи.</a:t>
            </a:r>
          </a:p>
        </p:txBody>
      </p:sp>
      <p:pic>
        <p:nvPicPr>
          <p:cNvPr id="8" name="Picture 7" descr="improvised_t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0" y="2693642"/>
            <a:ext cx="10000000" cy="86127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Пошаговый алгоритм наложения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000" y="190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0000" y="2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000" y="210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Показания: давление и повязка неэффективны / отрыв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333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0000" y="353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353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353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Место: выше раны, на плечо или бедро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76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0000" y="496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00" y="496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0000" y="496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 одежду / подкладку; первый тур — максимальное натяжение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619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0000" y="639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639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0000" y="639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Кровь остановилась; пульс дистальнее не определяется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000" y="7620000"/>
            <a:ext cx="23000000" cy="125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0000" y="782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00" y="782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0000" y="782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Записка со временем; жгут должен быть виден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000" y="9050000"/>
            <a:ext cx="23000000" cy="125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0000" y="9250000"/>
            <a:ext cx="800000" cy="8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000" y="92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55AA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0000" y="9250000"/>
            <a:ext cx="205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Лимит: 60 мин (тепло) / 30 мин (холод)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Записка под жгут — что указать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Точное время наложения: ЧЧ:ММ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Фамилия / кто наложил — по возможности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Кратко — место происшествия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Вложить под жгут или прикрепить на видном месте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Сообщить время бригаде СМП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1000000"/>
            <a:ext cx="23000000" cy="16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1000000"/>
            <a:ext cx="120000" cy="16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11200000"/>
            <a:ext cx="220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Без записки легко превысить допустимое время жгута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Ошибки при наложении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Слабое натяжение — усиление кровотечения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Слишком далеко от раны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 голую кожу без подкладки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Скрытие жгута одеждой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Нет записки со временем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 без показаний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НЕЛЬЗЯ накладывать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Кровотечение останавливается давлением или повязкой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Капиллярное и умеренное венозное кровотечение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Раны шеи, груди, живота, головы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Нет конечности проксимальнее раны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1000000"/>
            <a:ext cx="23000000" cy="16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1000000"/>
            <a:ext cx="120000" cy="16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11200000"/>
            <a:ext cx="2200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На шею, грудь, живот и голову жгут не накладывают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Гемостатические средства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1900000"/>
            <a:ext cx="23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Гемостатические салфетки / бинты из аптечки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Плотно вложить в рану / на рану и сильно придавить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Затем — давящая повязка</a:t>
            </a:r>
          </a:p>
          <a:p>
            <a:pPr algn="l">
              <a:spcAft>
                <a:spcPts val="10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Там, где жгут невозможен, или как усиление давления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300000"/>
            <a:ext cx="230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500000"/>
            <a:ext cx="23000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22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Приоритет: давление → повязка → жгут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37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37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41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Пальцевое прижатие и сгибание — временные приёмы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560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560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595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Жгут: на одежду, с запиской; ≤60 / ≤30 мин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7450000"/>
            <a:ext cx="23000000" cy="1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7450000"/>
            <a:ext cx="120000" cy="1600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7800000"/>
            <a:ext cx="22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Гемостатики усиливают давление там, где уместно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11500000"/>
            <a:ext cx="23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t max ≤ 60 мин (тепло) · ≤ 30 мин (холод)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500000" y="0"/>
            <a:ext cx="6884000" cy="1371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500000"/>
            <a:ext cx="160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6900000"/>
            <a:ext cx="10000000" cy="35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