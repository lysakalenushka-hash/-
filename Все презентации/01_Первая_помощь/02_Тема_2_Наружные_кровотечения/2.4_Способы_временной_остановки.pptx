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СПОСОБЫ ВРЕМЕННОЙ ОСТАНОВКИ
НАРУЖНОГО КРОВОТЕЧЕНИЯ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2 · Оказание первой помощи при наружных кровотечениях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Три основных способа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 и давящая повязка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Инородное тело в ране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Жгут: показания, правила, время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Импровизированный жгут и порядок выбора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ТРИ ОСНОВНЫХ СПОСОБА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Для временной остановки наружного кровотечения используют прямое давление на рану, давящую повязку и кровоостанавливающий жгут — по отдельности или в комбинации.</a:t>
            </a:r>
          </a:p>
        </p:txBody>
      </p:sp>
      <p:sp>
        <p:nvSpPr>
          <p:cNvPr id="9" name="Rectangle 8"/>
          <p:cNvSpPr/>
          <p:nvPr/>
        </p:nvSpPr>
        <p:spPr>
          <a:xfrm>
            <a:off x="700000" y="2700000"/>
            <a:ext cx="3600000" cy="3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100000" y="2950000"/>
            <a:ext cx="800000" cy="8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0000" y="295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000" y="400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000" y="4700000"/>
            <a:ext cx="33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Самый простой и приоритетный приём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0000" y="2700000"/>
            <a:ext cx="3600000" cy="3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00000" y="2950000"/>
            <a:ext cx="800000" cy="8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0000" y="295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0000" y="400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Давящая повязка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0000" y="4700000"/>
            <a:ext cx="33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Фиксирует давление, освобождает руки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00000" y="2700000"/>
            <a:ext cx="3600000" cy="32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00000" y="2950000"/>
            <a:ext cx="800000" cy="8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00000" y="2950000"/>
            <a:ext cx="8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0000" y="400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0000" y="4700000"/>
            <a:ext cx="33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Когда давление и повязка невозможны или неэффективны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ПРЯМОЕ ДАВЛЕНИЕ НА РАНУ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pic>
        <p:nvPicPr>
          <p:cNvPr id="8" name="Picture 7" descr="direct_pres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834375"/>
            <a:ext cx="5500000" cy="4331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000" y="1600000"/>
            <a:ext cx="58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Рана закрывается салфетками, бинтом или тканью.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Давление рукой — с силой, достаточной для остановки крови.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отсутствии средств допустимо давление рукой (лучше в перчатках / через ткань).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Можно рекомендовать пострадавшему самопомощь — прижать рану самостоятельно.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000" y="5300000"/>
            <a:ext cx="5800000" cy="12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0000" y="5500000"/>
            <a:ext cx="53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Это первый выбор при интенсивном кровотечении.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НАЛОЖЕНИЕ ДАВЯЩЕЙ ПОВЯЗКИ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pic>
        <p:nvPicPr>
          <p:cNvPr id="8" name="Picture 7" descr="pressure_band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961765"/>
            <a:ext cx="5500000" cy="40764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000" y="1550000"/>
            <a:ext cx="58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Задача повязки — остановить кровь, поэтому её накладывают с усилием.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 рану — салфетки / бинт / свёрнутая ткань, затем тугие туры бинта (с периодическими перекрутами).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Закрепить свободный конец бинта.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Слабо промокает — сверху ещё одну давящую повязку.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Быстро промокает / вторая не помогла — нужен жгут.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ИНОРОДНОЕ ТЕЛО В РАНЕ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pic>
        <p:nvPicPr>
          <p:cNvPr id="8" name="Picture 7" descr="image3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425" y="1600000"/>
            <a:ext cx="4991150" cy="45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0000" y="155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ИЗВЛЕКАТЬ инородный предмет (осколок, стекло и т.п.).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интенсивном кровотечении: обложить края раны и предмет бинтами-валиками, затем давящая повязка без давления на предмет.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отсутствии интенсивного кровотечения — оставить предмет в ране, ограничить движения, вызвать СМП.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открытом переломе с отломками — не давить на костные выступы.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0000" y="5600000"/>
            <a:ext cx="11000000" cy="9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000" y="5800000"/>
            <a:ext cx="10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Правило: зафиксировать — не извлекать.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 — КОГДА НУЖЕН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500000"/>
            <a:ext cx="11000000" cy="14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000" y="1700000"/>
            <a:ext cx="10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 (табельный или импровизированный) — когда прямое давление или давящая повязка невозможны / неэффективны, а также при отрыве конечности.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3200000"/>
            <a:ext cx="11000000" cy="3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Только при кровотечении из конечностей.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Выше раны (между раной и сердцем), обычно на 5–7 см от раны.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Если место раны неизвестно — максимально близко к туловищу.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отрыве — на 5–7 см выше зоны отрыва, без прямого давления на рану.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 обнажённую кожу — нельзя (кроме моделей по инструкции, напр. турникет).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ПРАВИЛА НАЛОЖЕНИЯ ЖГУТА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pic>
        <p:nvPicPr>
          <p:cNvPr id="8" name="Picture 7" descr="tourniquet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260" y="1450000"/>
            <a:ext cx="2367479" cy="2800000"/>
          </a:xfrm>
          <a:prstGeom prst="rect">
            <a:avLst/>
          </a:prstGeom>
        </p:spPr>
      </p:pic>
      <p:pic>
        <p:nvPicPr>
          <p:cNvPr id="9" name="Picture 8" descr="tourniquet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496" y="1450000"/>
            <a:ext cx="2413008" cy="2800000"/>
          </a:xfrm>
          <a:prstGeom prst="rect">
            <a:avLst/>
          </a:prstGeom>
        </p:spPr>
      </p:pic>
      <p:pic>
        <p:nvPicPr>
          <p:cNvPr id="10" name="Picture 9" descr="tourniquet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2439" y="1450000"/>
            <a:ext cx="2595121" cy="280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0000" y="4500000"/>
            <a:ext cx="110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Кровотечение останавливается первым (растянутым) туром; следующие — с перекрытием примерно наполовину.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После жгута — давящая повязка на рану; сам жгут должен быть на виду.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Указать точное время наложения (маркер на коже или записка под жгутом).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Конечность иммобилизировать и укутать.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ВРЕМЯ ЖГУТА И ОСЛАБЛЕНИЕ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0000" y="1550000"/>
            <a:ext cx="11000000" cy="14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1750000"/>
            <a:ext cx="104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Относительно безопасный срок — до 2 часов (независимо от температуры окружающей среды). Снимать жгут вне медорганизации при сроке &gt; 2 ч не рекомендуется.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3200000"/>
            <a:ext cx="110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Если эвакуация задерживается (&gt; 2 ч) — попытка ослабления через 1–1,5 ч: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0000" y="3800000"/>
            <a:ext cx="11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Осуществить прямое давление на рану.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Ослабить жгут на 15 минут.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Повторно наложить жгут и не снимать до передачи медикам.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6000000"/>
            <a:ext cx="11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Внимание! Если кровь возобновилась при давлении на рану — сразу затянуть жгут.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ИМПРОВИЗИРОВАННЫЙ ЖГУТ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50000"/>
            <a:ext cx="55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Подручные средства: тесьма, платок, галстук и подобные вещи.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Делается петля, закручивается прочным предметом (прут, палка) до остановки или значительного ослабления крови.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Прут фиксируют к конечности бинтом.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Правила те же, что у табельного жгута (место, время, видимость).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Эффективность и удобство ниже, чем у табельных жгутов.</a:t>
            </a:r>
          </a:p>
        </p:txBody>
      </p:sp>
      <p:pic>
        <p:nvPicPr>
          <p:cNvPr id="9" name="Picture 8" descr="improvised_t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1502312"/>
            <a:ext cx="5800000" cy="4995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ПОРЯДОК ВЫБОРА СПОСОБА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00000"/>
            <a:ext cx="100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00000"/>
            <a:ext cx="9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Безопасность → обзорный осмотр (интенсивность кровотечения).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35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3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350000"/>
            <a:ext cx="100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350000"/>
            <a:ext cx="9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Интенсивное кровотечение → сначала прямое давление на рану.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00000"/>
            <a:ext cx="100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00000"/>
            <a:ext cx="9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невозможно / опасно / явно неэффективно (инородное тело, открытый перелом) → повязка и/или жгут.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05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05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050000"/>
            <a:ext cx="100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050000"/>
            <a:ext cx="9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Обширное повреждение, разрушение или отрыв конечности → сразу жгут.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00000"/>
            <a:ext cx="10000000" cy="5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00000"/>
            <a:ext cx="9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Давление помогло → давящая повязка; повязка не держит → жгут выше раны.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ТИПИЧНЫЕ ОШИБКИ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50000"/>
            <a:ext cx="11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Слабое давление на рану / слабая повязка — кровь продолжается.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Жгут без показаний или слишком далеко от раны.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Жгут на голую кожу (когда модель этого не предусматривает).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Жгут скрыт одеждой или повязкой — его не видят.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Нет записи времени наложения.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Извлечение инородного предмета из раны.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800000"/>
            <a:ext cx="11000000" cy="9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6000000"/>
            <a:ext cx="10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 должен быть виден; время — указано; предмет в ране — не извлекать.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наружных кровотечениях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55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550000"/>
            <a:ext cx="90000" cy="10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750000"/>
            <a:ext cx="104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Приоритет: прямое давление → давящая повязка → жгут по показаниям.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70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700000"/>
            <a:ext cx="90000" cy="10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900000"/>
            <a:ext cx="104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Инородное тело в ране фиксируют валиками — не извлекают.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85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850000"/>
            <a:ext cx="90000" cy="10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4050000"/>
            <a:ext cx="104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Жгут: на конечность, выше раны, на подкладку, на виду, с временем.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5000000"/>
            <a:ext cx="11000000" cy="10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5000000"/>
            <a:ext cx="90000" cy="100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5200000"/>
            <a:ext cx="104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Срок жгута — до 2 часов; снятие вне медорганизации при просрочке не рекомендуется.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