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000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0000"/>
            <a:ext cx="2800000" cy="1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3000000"/>
            <a:ext cx="7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ПОСЛЕДОВАТЕЛЬНОСТЬ МЕРОПРИЯТИЙ
ПО ОСТАНОВКЕ КРОВОТЕЧЕНИЯ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700000"/>
            <a:ext cx="52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900000"/>
            <a:ext cx="75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Тема 2 · Оказание первой помощи при наружных кровотечениях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Три первых шага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4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4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Прямое давление как старт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Ветвления: нельзя давить / отрыв / не помогло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1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1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Сводный алгоритм и контроль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ТРИ ПЕРВЫХ ШАГА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11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травме человек, оказывающий первую помощь, действует в фиксированном порядке.</a:t>
            </a:r>
          </a:p>
        </p:txBody>
      </p:sp>
      <p:sp>
        <p:nvSpPr>
          <p:cNvPr id="9" name="Rectangle 8"/>
          <p:cNvSpPr/>
          <p:nvPr/>
        </p:nvSpPr>
        <p:spPr>
          <a:xfrm>
            <a:off x="700000" y="2500000"/>
            <a:ext cx="3600000" cy="3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00000" y="2750000"/>
            <a:ext cx="800000" cy="8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0000" y="275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" y="380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Безопасность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4500000"/>
            <a:ext cx="32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Обеспечить безопасные условия для оказания помощи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00000" y="2500000"/>
            <a:ext cx="3600000" cy="3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00000" y="2750000"/>
            <a:ext cx="800000" cy="8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0000" y="275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0000" y="380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Обзорный осмотр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00" y="4500000"/>
            <a:ext cx="32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Определить наличие и интенсивность кровотечения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00000" y="2500000"/>
            <a:ext cx="3600000" cy="3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00000" y="2750000"/>
            <a:ext cx="800000" cy="8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00000" y="275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0000" y="380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Выбор способа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0000" y="4500000"/>
            <a:ext cx="32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Остановить кровь наиболее подходящим приёмом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ПЕРВЫЙ ВЫБОР — ПРЯМОЕ ДАВЛЕНИЕ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pic>
        <p:nvPicPr>
          <p:cNvPr id="8" name="Picture 7" descr="direct_pres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734375"/>
            <a:ext cx="5500000" cy="4331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000" y="1600000"/>
            <a:ext cx="58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интенсивном кровотечении в первую очередь — прямое давление на рану.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Давление — в перчатках или через ткань.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Цель шага: быстро снизить потерю крови, затем решить — повязка или жгут.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000" y="5000000"/>
            <a:ext cx="5800000" cy="13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0000" y="5200000"/>
            <a:ext cx="53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Давление — старт алгоритма, а не единственный способ.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КОГДА ДАВЛЕНИЕ НЕ ПОДХОДИТ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11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Если прямое давление невозможно, опасно или явно неэффективно — сразу давящая повязка и/или жгут.</a:t>
            </a:r>
          </a:p>
        </p:txBody>
      </p:sp>
      <p:sp>
        <p:nvSpPr>
          <p:cNvPr id="9" name="Rectangle 8"/>
          <p:cNvSpPr/>
          <p:nvPr/>
        </p:nvSpPr>
        <p:spPr>
          <a:xfrm>
            <a:off x="700000" y="2500000"/>
            <a:ext cx="11000000" cy="1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000" y="2500000"/>
            <a:ext cx="90000" cy="11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0000" y="2650000"/>
            <a:ext cx="10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Инородное тело в ране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000" y="3050000"/>
            <a:ext cx="10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Давление на предмет опасно; фиксируют повязкой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0000" y="3750000"/>
            <a:ext cx="11000000" cy="1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0000" y="3750000"/>
            <a:ext cx="90000" cy="11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0000" y="3900000"/>
            <a:ext cx="10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Открытый перелом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000" y="4300000"/>
            <a:ext cx="10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Костные отломки в ране — давление неэффективно/опасно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5000000"/>
            <a:ext cx="11000000" cy="1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5000000"/>
            <a:ext cx="90000" cy="11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5150000"/>
            <a:ext cx="10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Нельзя прижать рану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000" y="5550000"/>
            <a:ext cx="10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Анатомия / доступ — переход к повязке или жгуту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ОБШИРНОЕ ПОВРЕЖДЕНИЕ И ОТРЫВ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pic>
        <p:nvPicPr>
          <p:cNvPr id="8" name="Picture 7" descr="tournique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32" y="1500000"/>
            <a:ext cx="4058536" cy="48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000" y="1600000"/>
            <a:ext cx="62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Обширное или множественное повреждение конечности.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Разрушение или отрыв (ампутация).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В этих случаях жгут накладывают немедленно — не тратя время на попытки давления «по учебнику».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0" y="5300000"/>
            <a:ext cx="6200000" cy="12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0000" y="5500000"/>
            <a:ext cx="57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Отрыв крупных частей (кисть, стопа и выше) — показание к жгуту.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ДАВЛЕНИЕ НЕ ОСТАНОВИЛО КРОВЬ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600000"/>
            <a:ext cx="700000" cy="7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600000"/>
            <a:ext cx="7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000" y="1600000"/>
            <a:ext cx="100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00000" y="1680000"/>
            <a:ext cx="96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Продолжается кровотечение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0" y="1980000"/>
            <a:ext cx="9600000" cy="2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Прямое давление оказалось недостаточным</a:t>
            </a:r>
          </a:p>
        </p:txBody>
      </p:sp>
      <p:sp>
        <p:nvSpPr>
          <p:cNvPr id="13" name="Oval 12"/>
          <p:cNvSpPr/>
          <p:nvPr/>
        </p:nvSpPr>
        <p:spPr>
          <a:xfrm>
            <a:off x="700000" y="2700000"/>
            <a:ext cx="700000" cy="70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000" y="2700000"/>
            <a:ext cx="7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000" y="2700000"/>
            <a:ext cx="100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0000" y="2780000"/>
            <a:ext cx="96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Жгут выше раны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0000" y="3080000"/>
            <a:ext cx="9600000" cy="2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Между раной и сердцем — на конечность</a:t>
            </a:r>
          </a:p>
        </p:txBody>
      </p:sp>
      <p:sp>
        <p:nvSpPr>
          <p:cNvPr id="18" name="Oval 17"/>
          <p:cNvSpPr/>
          <p:nvPr/>
        </p:nvSpPr>
        <p:spPr>
          <a:xfrm>
            <a:off x="700000" y="3800000"/>
            <a:ext cx="700000" cy="7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0000" y="3800000"/>
            <a:ext cx="7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000" y="3800000"/>
            <a:ext cx="100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0000" y="3880000"/>
            <a:ext cx="96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Контроль эффекта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00000" y="4180000"/>
            <a:ext cx="9600000" cy="2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Кровотечение должно остановиться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0000" y="5200000"/>
            <a:ext cx="11000000" cy="12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000" y="5400000"/>
            <a:ext cx="10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Жгут — следующий шаг после неудачи давления, а не «запасной» приём в конце.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ДАВЛЕНИЕ ПОМОГЛО — ЧТО ДАЛЬШЕ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pic>
        <p:nvPicPr>
          <p:cNvPr id="8" name="Picture 7" descr="pressure_band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972941"/>
            <a:ext cx="5200000" cy="385411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00000" y="1550000"/>
            <a:ext cx="620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00000" y="1850000"/>
            <a:ext cx="600000" cy="6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0000" y="1850000"/>
            <a:ext cx="6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0" y="1800000"/>
            <a:ext cx="5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Наложить давящую повязку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0000" y="2250000"/>
            <a:ext cx="5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Фиксирует результат давления, освобождает руки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0000" y="3150000"/>
            <a:ext cx="620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00000" y="3450000"/>
            <a:ext cx="600000" cy="6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0000" y="3450000"/>
            <a:ext cx="6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0000" y="3400000"/>
            <a:ext cx="5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Повязка неэффективна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0000" y="3850000"/>
            <a:ext cx="5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Быстро промокает / не держит — наложить жгут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00000" y="4750000"/>
            <a:ext cx="620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00000" y="5050000"/>
            <a:ext cx="600000" cy="6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0000" y="5050000"/>
            <a:ext cx="6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0000" y="5000000"/>
            <a:ext cx="5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Нет повязки и жгута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0000" y="5450000"/>
            <a:ext cx="5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Продолжать прямое давление до медицинской помощи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СВОДНЫЙ АЛГОРИТМ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4200000" cy="65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000" y="1450000"/>
            <a:ext cx="39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Старт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0" y="1450000"/>
            <a:ext cx="7000000" cy="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00000" y="1450000"/>
            <a:ext cx="66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Безопасность → обзорный осмотр → выбор способа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0000" y="2170000"/>
            <a:ext cx="4200000" cy="65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000" y="2170000"/>
            <a:ext cx="39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Интенсивное кровотечение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0" y="2170000"/>
            <a:ext cx="7000000" cy="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0000" y="2170000"/>
            <a:ext cx="66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Прямое давление на рану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0000" y="2890000"/>
            <a:ext cx="4200000" cy="65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000" y="2890000"/>
            <a:ext cx="39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Давление нельзя / опасно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0" y="2890000"/>
            <a:ext cx="7000000" cy="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0000" y="2890000"/>
            <a:ext cx="66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Повязка и/или жгут сразу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3610000"/>
            <a:ext cx="4200000" cy="65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000" y="3610000"/>
            <a:ext cx="39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Отрыв / разрушение конечности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0" y="3610000"/>
            <a:ext cx="7000000" cy="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00000" y="3610000"/>
            <a:ext cx="66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Жгут немедленно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0000" y="4330000"/>
            <a:ext cx="4200000" cy="65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000" y="4330000"/>
            <a:ext cx="39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Давление не помогло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00000" y="4330000"/>
            <a:ext cx="7000000" cy="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00000" y="4330000"/>
            <a:ext cx="66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Жгут выше раны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0000" y="5050000"/>
            <a:ext cx="4200000" cy="65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000" y="5050000"/>
            <a:ext cx="39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Давление помогло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0" y="5050000"/>
            <a:ext cx="7000000" cy="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00000" y="5050000"/>
            <a:ext cx="66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Давящая повязка; если нет — жгут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0000" y="5770000"/>
            <a:ext cx="4200000" cy="65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000" y="5770000"/>
            <a:ext cx="39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Нет средств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0000" y="5770000"/>
            <a:ext cx="7000000" cy="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00000" y="5770000"/>
            <a:ext cx="66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Продолжать давление до медпомощи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КОНТРОЛЬНЫЙ СПИСОК НА МЕСТЕ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5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До остановки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0000" y="1500000"/>
            <a:ext cx="5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После / параллельно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2000000"/>
            <a:ext cx="5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Место безопасно для оказания помощи?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Кровотечение найдено и оценено по интенсивности?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Начато прямое давление (если можно)?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Есть показания сразу к жгуту?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0000" y="2000000"/>
            <a:ext cx="5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Давление остановило кровь → повязка?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Повязка держит / не промокает насквозь?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жгуте — время отмечено, жгут на виду?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Давление продолжается, если нет повязки/жгута?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50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50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650000"/>
            <a:ext cx="104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Порядок: безопасность → обзорный осмотр → способ остановки.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45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245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2600000"/>
            <a:ext cx="104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Старт при интенсивном кровотечении — прямое давление.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40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40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3550000"/>
            <a:ext cx="104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Нельзя давить / отрыв конечности — сразу повязка и/или жгут.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435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435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4500000"/>
            <a:ext cx="104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Давление помогло → повязка; не помогло / повязка не держит → жгут.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530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000" y="530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000" y="5450000"/>
            <a:ext cx="104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Нет средств — не отпускать давление до передачи медикам.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000" y="0"/>
            <a:ext cx="88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0" y="3000000"/>
            <a:ext cx="7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0" y="4100000"/>
            <a:ext cx="4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