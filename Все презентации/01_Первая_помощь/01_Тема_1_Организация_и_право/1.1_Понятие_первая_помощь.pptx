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88" r:id="rId11"/>
    <p:sldId id="289" r:id="rId12"/>
    <p:sldId id="290" r:id="rId13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jpg"/><Relationship Id="rId11" Type="http://schemas.openxmlformats.org/officeDocument/2006/relationships/image" Target="../media/image1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ПОНЯТИЕ «ПЕРВАЯ ПОМОЩЬ»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ПОНЯТИЕ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7" y="2604670"/>
            <a:ext cx="85968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1833400" y="7232301"/>
            <a:ext cx="2727075" cy="580880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3875077" y="3861097"/>
            <a:ext cx="7589738" cy="4258672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FFC000">
              <a:lumMod val="20000"/>
              <a:lumOff val="80000"/>
            </a:srgbClr>
          </a:solidFill>
          <a:ln w="25400" cap="flat" cmpd="sng" algn="ctr">
            <a:solidFill>
              <a:srgbClr val="FFC000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Первая помощь </a:t>
            </a: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2912080" y="5345832"/>
            <a:ext cx="10176530" cy="6774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596810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СОСТОЯНИЙ, ПРИ КОТОРЫХ ОКАЗЫВАЕТСЯ ПЕРВАЯ ПОМОЩЬ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55993" y="1559411"/>
            <a:ext cx="1865012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903341" y="1793793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903341" y="2600100"/>
            <a:ext cx="22037612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dirty="0" smtClean="0"/>
              <a:t>приказом Министерства Здравоохранения Российской Федерации от 03.05.2024 г. № 220н "Об утверждении порядка оказания первой помощи", </a:t>
            </a:r>
            <a:r>
              <a:rPr lang="ru-RU" sz="2800" dirty="0"/>
              <a:t>первая помощь оказывается при следующих состояниях: 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grpSp>
        <p:nvGrpSpPr>
          <p:cNvPr id="13" name="Группа 12"/>
          <p:cNvGrpSpPr/>
          <p:nvPr/>
        </p:nvGrpSpPr>
        <p:grpSpPr bwMode="auto">
          <a:xfrm>
            <a:off x="814736" y="4099717"/>
            <a:ext cx="20984570" cy="6634972"/>
            <a:chOff x="1699716" y="4952937"/>
            <a:chExt cx="20984570" cy="6634972"/>
          </a:xfrm>
        </p:grpSpPr>
        <p:grpSp>
          <p:nvGrpSpPr>
            <p:cNvPr id="14" name="Группа 13"/>
            <p:cNvGrpSpPr/>
            <p:nvPr/>
          </p:nvGrpSpPr>
          <p:grpSpPr bwMode="auto">
            <a:xfrm>
              <a:off x="1699716" y="4952937"/>
              <a:ext cx="20984569" cy="3467667"/>
              <a:chOff x="1699716" y="4952937"/>
              <a:chExt cx="20984569" cy="3467667"/>
            </a:xfrm>
          </p:grpSpPr>
          <p:sp>
            <p:nvSpPr>
              <p:cNvPr id="26" name="Полилиния 25"/>
              <p:cNvSpPr/>
              <p:nvPr/>
            </p:nvSpPr>
            <p:spPr bwMode="auto">
              <a:xfrm>
                <a:off x="169971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Отсутствие сознания</a:t>
                </a:r>
              </a:p>
            </p:txBody>
          </p:sp>
          <p:sp>
            <p:nvSpPr>
              <p:cNvPr id="27" name="Полилиния 26"/>
              <p:cNvSpPr/>
              <p:nvPr/>
            </p:nvSpPr>
            <p:spPr bwMode="auto">
              <a:xfrm>
                <a:off x="7067909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Остановка дыхания и кровообращения</a:t>
                </a:r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2436102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Наружные кровотечения</a:t>
                </a:r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780429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 dirty="0">
                    <a:solidFill>
                      <a:schemeClr val="accent6"/>
                    </a:solidFill>
                    <a:latin typeface="Open Sans"/>
                  </a:rPr>
                  <a:t>Инородные тела верхних дыхательных путей</a:t>
                </a:r>
              </a:p>
            </p:txBody>
          </p:sp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 bwMode="auto">
              <a:xfrm>
                <a:off x="8457903" y="4952937"/>
                <a:ext cx="2100000" cy="1800000"/>
              </a:xfrm>
              <a:prstGeom prst="rect">
                <a:avLst/>
              </a:prstGeom>
            </p:spPr>
          </p:pic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2970249" y="4952937"/>
                <a:ext cx="2338922" cy="1800000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13289765" y="4952937"/>
                <a:ext cx="3172661" cy="1800000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19384588" y="4952937"/>
                <a:ext cx="1719403" cy="1800000"/>
              </a:xfrm>
              <a:prstGeom prst="rect">
                <a:avLst/>
              </a:prstGeom>
            </p:spPr>
          </p:pic>
        </p:grpSp>
        <p:grpSp>
          <p:nvGrpSpPr>
            <p:cNvPr id="15" name="Группа 14"/>
            <p:cNvGrpSpPr/>
            <p:nvPr/>
          </p:nvGrpSpPr>
          <p:grpSpPr bwMode="auto">
            <a:xfrm>
              <a:off x="1803098" y="8053107"/>
              <a:ext cx="20881188" cy="3534802"/>
              <a:chOff x="1803098" y="8053107"/>
              <a:chExt cx="20881188" cy="3534802"/>
            </a:xfrm>
          </p:grpSpPr>
          <p:grpSp>
            <p:nvGrpSpPr>
              <p:cNvPr id="16" name="Группа 15"/>
              <p:cNvGrpSpPr/>
              <p:nvPr/>
            </p:nvGrpSpPr>
            <p:grpSpPr bwMode="auto">
              <a:xfrm>
                <a:off x="1803098" y="9777433"/>
                <a:ext cx="20881188" cy="1810476"/>
                <a:chOff x="1926463" y="12869102"/>
                <a:chExt cx="20881188" cy="1810476"/>
              </a:xfrm>
            </p:grpSpPr>
            <p:sp>
              <p:nvSpPr>
                <p:cNvPr id="21" name="Полилиния 20"/>
                <p:cNvSpPr/>
                <p:nvPr/>
              </p:nvSpPr>
              <p:spPr bwMode="auto">
                <a:xfrm>
                  <a:off x="1926463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Травмы различных областей тела</a:t>
                  </a:r>
                </a:p>
              </p:txBody>
            </p: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7294657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Укусы или </a:t>
                  </a:r>
                  <a:r>
                    <a:rPr lang="ru-RU" dirty="0" err="1">
                      <a:solidFill>
                        <a:schemeClr val="accent6"/>
                      </a:solidFill>
                      <a:latin typeface="Open Sans"/>
                    </a:rPr>
                    <a:t>ужаливания</a:t>
                  </a: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 ядовитых животных</a:t>
                  </a:r>
                  <a:endParaRPr lang="ru-RU" dirty="0">
                    <a:solidFill>
                      <a:schemeClr val="accent6"/>
                    </a:solidFill>
                    <a:latin typeface="Open Sans"/>
                  </a:endParaRPr>
                </a:p>
              </p:txBody>
            </p: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2559468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Отморожение и другие эффекты воздействия низких температур</a:t>
                  </a:r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7927662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Отравления</a:t>
                  </a:r>
                </a:p>
              </p:txBody>
            </p:sp>
          </p:grpSp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3373043" y="8053107"/>
                <a:ext cx="1533333" cy="1800000"/>
              </a:xfrm>
              <a:prstGeom prst="rect">
                <a:avLst/>
              </a:prstGeom>
            </p:spPr>
          </p:pic>
          <p:pic>
            <p:nvPicPr>
              <p:cNvPr id="18" name="Рисунок 17"/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 bwMode="auto">
              <a:xfrm>
                <a:off x="8692977" y="8053107"/>
                <a:ext cx="1629851" cy="1800000"/>
              </a:xfrm>
              <a:prstGeom prst="rect">
                <a:avLst/>
              </a:prstGeom>
            </p:spPr>
          </p:pic>
          <p:pic>
            <p:nvPicPr>
              <p:cNvPr id="19" name="Рисунок 18"/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 bwMode="auto">
              <a:xfrm>
                <a:off x="14109429" y="8053107"/>
                <a:ext cx="1646897" cy="1800000"/>
              </a:xfrm>
              <a:prstGeom prst="rect">
                <a:avLst/>
              </a:prstGeom>
            </p:spPr>
          </p:pic>
          <p:pic>
            <p:nvPicPr>
              <p:cNvPr id="20" name="Рисунок 19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19455842" y="8053107"/>
                <a:ext cx="1582979" cy="1800000"/>
              </a:xfrm>
              <a:prstGeom prst="rect">
                <a:avLst/>
              </a:prstGeom>
            </p:spPr>
          </p:pic>
        </p:grpSp>
      </p:grpSp>
      <p:sp>
        <p:nvSpPr>
          <p:cNvPr id="3" name="Прямоугольник 2"/>
          <p:cNvSpPr/>
          <p:nvPr/>
        </p:nvSpPr>
        <p:spPr>
          <a:xfrm>
            <a:off x="4717814" y="11088414"/>
            <a:ext cx="5710218" cy="873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Судорожный приступ, </a:t>
            </a:r>
            <a:endParaRPr lang="ru-RU" dirty="0" smtClean="0">
              <a:solidFill>
                <a:schemeClr val="accent6"/>
              </a:solidFill>
            </a:endParaRPr>
          </a:p>
          <a:p>
            <a:r>
              <a:rPr lang="ru-RU" dirty="0" smtClean="0">
                <a:solidFill>
                  <a:schemeClr val="accent6"/>
                </a:solidFill>
              </a:rPr>
              <a:t>сопровождающийся </a:t>
            </a:r>
            <a:r>
              <a:rPr lang="ru-RU" dirty="0">
                <a:solidFill>
                  <a:schemeClr val="accent6"/>
                </a:solidFill>
              </a:rPr>
              <a:t>потерей сознания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993" y="10631141"/>
            <a:ext cx="2467440" cy="15490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6956" y="10688390"/>
            <a:ext cx="2701882" cy="211451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5936416" y="11408722"/>
            <a:ext cx="6494085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Острые психологические реакции на стресс</a:t>
            </a:r>
          </a:p>
        </p:txBody>
      </p:sp>
    </p:spTree>
    <p:extLst>
      <p:ext uri="{BB962C8B-B14F-4D97-AF65-F5344CB8AC3E}">
        <p14:creationId xmlns:p14="http://schemas.microsoft.com/office/powerpoint/2010/main" val="169513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МЕРОПРИЯТИЙ ПО ОКАЗАНИЮ ПЕРВОЙ ПОМОЩИ И ПОСЛЕДОВАТЕЛЬНОСТЬ ИХ ВЫПОЛНЕНИЯ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1750840" y="3833664"/>
            <a:ext cx="22037612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b="1" dirty="0"/>
              <a:t>приказом Министерства Здравоохранения Российской Федерации от 03.05.2024 г. № 220н "Об утверждении порядка оказания первой помощи</a:t>
            </a:r>
            <a:r>
              <a:rPr lang="ru-RU" sz="2800" dirty="0"/>
              <a:t>", </a:t>
            </a:r>
            <a:r>
              <a:rPr lang="ru-RU" sz="2800" dirty="0"/>
              <a:t>при указанных состояниях выполняются следующие мероприятия: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оценке обстановки и обеспечению безопасных условий для оказания первой помощи.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Вызов скорой медицинской помощи, других специальных служб.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Определение наличия сознания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восстановлению проходимости дыхательных путей и определению признаков жизни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проведению сердечно-легочной реанимации до появления признаков жизни.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поддержанию проходимости дыхательных путей.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обзорному осмотру пострадавшего и временной остановке наружного кровотечения.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подробному осмотру пострадавшего в целях выявления признаков травм, отравлений и других состояний, угрожающих его жизни и здоровью, и по оказанию первой помощи в случае выявления указанных состояний.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Придание пострадавшему оптимального положения тела.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Контроль состояния пострадавшего (сознание, дыхание, кровообращение) и оказание психологической поддержки.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Передача пострадавшего бригаде скорой медицинской помощи, другим специальным службам.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23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