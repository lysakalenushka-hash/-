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9" r:id="rId2"/>
    <p:sldId id="290" r:id="rId3"/>
    <p:sldId id="291" r:id="rId4"/>
    <p:sldId id="28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76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C7E42-6491-46DE-BC8C-649AC17107A2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19ABD-5583-4FBD-89FA-EC3568AF5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91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524401" y="2503487"/>
            <a:ext cx="9146383" cy="1006476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524401" y="3602037"/>
            <a:ext cx="9146383" cy="29761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1828343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06150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56466" y="1854481"/>
            <a:ext cx="10518340" cy="70298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56466" y="2908546"/>
            <a:ext cx="10518340" cy="377585"/>
          </a:xfrm>
          <a:prstGeom prst="rect">
            <a:avLst/>
          </a:prstGeom>
        </p:spPr>
        <p:txBody>
          <a:bodyPr/>
          <a:lstStyle>
            <a:lvl1pPr algn="ctr">
              <a:defRPr sz="1600"/>
            </a:lvl1pPr>
            <a:lvl2pPr algn="ctr">
              <a:defRPr sz="1600"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5727174" y="2652997"/>
            <a:ext cx="776924" cy="4571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1586741" y="3729038"/>
            <a:ext cx="9020111" cy="12001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2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884083" y="1969048"/>
            <a:ext cx="3463382" cy="21457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033027" y="1969052"/>
            <a:ext cx="3564041" cy="275165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884087" y="4278169"/>
            <a:ext cx="3490723" cy="73089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033027" y="2350054"/>
            <a:ext cx="3564041" cy="164552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117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728661"/>
            <a:ext cx="11374807" cy="5436165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174903" y="932259"/>
            <a:ext cx="11276579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174904" y="932259"/>
            <a:ext cx="11276578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1387943"/>
            <a:ext cx="5259171" cy="72324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1130394"/>
            <a:ext cx="5259171" cy="3622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106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3" y="3143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3" y="8429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838419" y="11858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22860" rIns="22860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2619531" y="1959163"/>
            <a:ext cx="1469814" cy="14690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15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7403723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403726" y="0"/>
            <a:ext cx="4791455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55528" y="1465943"/>
            <a:ext cx="3201235" cy="1105014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191008" y="2437611"/>
            <a:ext cx="3165755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933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114360" y="-117926"/>
            <a:ext cx="3462756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2009228" y="-117929"/>
            <a:ext cx="4371230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5001655" y="-117927"/>
            <a:ext cx="4929315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8633201" y="-117928"/>
            <a:ext cx="3619161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415853" y="-325666"/>
            <a:ext cx="12898517" cy="746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879730"/>
            <a:ext cx="10518340" cy="54927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3429000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7798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09287"/>
            <a:ext cx="10518340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43147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361372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279592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97821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1734458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4638590" y="3886201"/>
            <a:ext cx="1337452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7549554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10467782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826580" y="3948906"/>
            <a:ext cx="1156491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726548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7640034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558259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3147" y="5002217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3147" y="5307018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3120" y="5002217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343120" y="5307018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6279592" y="5000529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279592" y="5305331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179568" y="5000529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179568" y="5305331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66076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39526"/>
            <a:ext cx="10518340" cy="760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02106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107889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02106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107889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110299" y="264655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10299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110299" y="2942115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838578" y="264655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838577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838578" y="2942115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106606" y="404864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106606" y="4639773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106606" y="4344210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34888" y="404864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834888" y="4639773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834888" y="4344210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7879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4649"/>
            <a:ext cx="10518340" cy="7354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60840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293129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525418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757707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9899965" y="1968410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83401" y="4037265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83401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83401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2808989" y="4037265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808988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808989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5134574" y="4037265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34574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134574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7460162" y="402218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7460161" y="469399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460162" y="431774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9785748" y="4037265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785747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785748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374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3" y="347942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3" y="876579"/>
            <a:ext cx="5032041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" y="1927276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8980" y="1927276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228980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964678" y="348715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024395" y="3536950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28976" y="3783811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88692" y="3833607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3228976" y="348715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3288692" y="3536950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964678" y="3783811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24395" y="3833607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25180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3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4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69372" y="4572000"/>
            <a:ext cx="6125806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407115" y="994675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2466831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8504704" y="3280675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564421" y="3330472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2455206" y="5566675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514923" y="5616472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00651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3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535671" y="994675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595387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2407116" y="3287923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66832" y="3337719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2546755" y="6128545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9359" y="4733365"/>
            <a:ext cx="10518340" cy="57126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42433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2" y="-1"/>
            <a:ext cx="12195179" cy="682704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19669847" y="-8686800"/>
            <a:ext cx="12195179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3237"/>
            <a:ext cx="10518340" cy="7784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41693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10030365" y="3673873"/>
            <a:ext cx="1044722" cy="1044178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780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6097593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611665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674651"/>
            <a:ext cx="4562398" cy="1703387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55401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4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722449"/>
            <a:ext cx="4562398" cy="1703388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2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2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5"/>
            <a:ext cx="2393156" cy="2079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5"/>
            <a:ext cx="2393156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5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19206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3" y="2114601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4940" y="3674478"/>
            <a:ext cx="1647956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7370" y="3724274"/>
            <a:ext cx="1507432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89218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3" y="2020472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1127" y="3580345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3883" y="3630145"/>
            <a:ext cx="1510919" cy="198905"/>
          </a:xfrm>
          <a:prstGeom prst="rect">
            <a:avLst/>
          </a:prstGeom>
        </p:spPr>
        <p:txBody>
          <a:bodyPr/>
          <a:lstStyle>
            <a:lvl1pPr defTabSz="694770">
              <a:spcBef>
                <a:spcPts val="750"/>
              </a:spcBef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7252131" y="2020472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43922" y="4381504"/>
            <a:ext cx="3228977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43922" y="4721231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252130" y="4358159"/>
            <a:ext cx="3228977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252130" y="4697886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7252126" y="3580345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344882" y="3630145"/>
            <a:ext cx="1510919" cy="198905"/>
          </a:xfrm>
          <a:prstGeom prst="rect">
            <a:avLst/>
          </a:prstGeom>
        </p:spPr>
        <p:txBody>
          <a:bodyPr/>
          <a:lstStyle>
            <a:lvl1pPr defTabSz="694770">
              <a:spcBef>
                <a:spcPts val="750"/>
              </a:spcBef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37326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773221" y="2072644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2773221" y="2443166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286549" y="2072644"/>
            <a:ext cx="1169621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773221" y="4104436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773221" y="4474959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1286549" y="4104432"/>
            <a:ext cx="1169621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155524" y="2072644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155524" y="2443166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6668850" y="2072644"/>
            <a:ext cx="1169620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155524" y="4104436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155524" y="4474959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6668850" y="4104432"/>
            <a:ext cx="1169620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0798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233246" y="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4" y="342900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4961938" y="342900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2254303" y="1695455"/>
            <a:ext cx="7669566" cy="3429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2591936" y="1975130"/>
            <a:ext cx="6912619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91936" y="2503772"/>
            <a:ext cx="691261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69594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8130460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064718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1026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129435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063691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17492" y="2936875"/>
            <a:ext cx="5756099" cy="98425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534032" y="3164681"/>
            <a:ext cx="5127121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72188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2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2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5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5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5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4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4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3179836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3179836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3179836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3409913" y="520705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3409913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3409913" y="2749555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409913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409913" y="5063904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409913" y="5368705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83330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4" y="5574"/>
            <a:ext cx="6097589" cy="6852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4020461"/>
            <a:ext cx="6097589" cy="283754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6097588" y="1"/>
            <a:ext cx="609759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88" y="4018150"/>
            <a:ext cx="6097590" cy="2839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38423" y="4587149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838423" y="5007433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23" y="4255168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063296" y="4572410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063296" y="4992694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7063296" y="4240429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37798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4" y="1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6097593" y="1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4" y="3429005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93" y="3429005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318093" y="2286004"/>
            <a:ext cx="4779496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97593" y="2286004"/>
            <a:ext cx="4779495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318093" y="3414713"/>
            <a:ext cx="4779496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6097593" y="3414713"/>
            <a:ext cx="4779495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1542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6936548" cy="40041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5827680" y="1"/>
            <a:ext cx="6367501" cy="40041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4488966"/>
            <a:ext cx="5827676" cy="23689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6299310" y="4489080"/>
            <a:ext cx="5895871" cy="23689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24828" y="3961371"/>
            <a:ext cx="10545520" cy="615764"/>
          </a:xfrm>
          <a:prstGeom prst="rect">
            <a:avLst/>
          </a:prstGeom>
        </p:spPr>
        <p:txBody>
          <a:bodyPr/>
          <a:lstStyle>
            <a:lvl1pPr algn="ctr">
              <a:defRPr sz="3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4577139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98163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8" y="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88" y="228600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89" y="4572000"/>
            <a:ext cx="317983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5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5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5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917759" y="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2917759" y="2286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2917759" y="4572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15655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2301655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4587655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230085" y="536354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230085" y="841155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230085" y="2765205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230085" y="3070005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230085" y="5079554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230085" y="5384355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155183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4" y="1986803"/>
            <a:ext cx="6097589" cy="27600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396427" y="3610115"/>
            <a:ext cx="3978761" cy="85244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389795" y="3771625"/>
            <a:ext cx="2830400" cy="543953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783371" y="1986807"/>
            <a:ext cx="3966428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83371" y="2326529"/>
            <a:ext cx="3966428" cy="21403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19" y="5110162"/>
            <a:ext cx="5259170" cy="8149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998138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402256" y="1996893"/>
            <a:ext cx="379769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4766" y="1996889"/>
            <a:ext cx="3788161" cy="1928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3075107" y="1996893"/>
            <a:ext cx="604497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768361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3" y="2000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3" y="7286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838419" y="10715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22860" rIns="22860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9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7623019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9148415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0673842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6097589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7623019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9148415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0673842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097589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7623019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9148415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0673842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097589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623019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9148415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10673842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964350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2311306"/>
            <a:ext cx="12190412" cy="251637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352907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1832578"/>
            <a:ext cx="12190412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4" y="1832578"/>
            <a:ext cx="12195177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802110" y="2925198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616035"/>
            <a:ext cx="10572701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45936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381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478740" y="3065463"/>
            <a:ext cx="1267486" cy="21320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991117" y="1257302"/>
            <a:ext cx="5106472" cy="1579563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991117" y="2836863"/>
            <a:ext cx="5106472" cy="228600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accent4"/>
                </a:solidFill>
              </a:defRPr>
            </a:lvl1pPr>
            <a:lvl2pPr algn="r">
              <a:defRPr sz="1600">
                <a:solidFill>
                  <a:schemeClr val="accent4"/>
                </a:solidFill>
              </a:defRPr>
            </a:lvl2pPr>
            <a:lvl3pPr algn="r">
              <a:defRPr sz="1600">
                <a:solidFill>
                  <a:schemeClr val="accent4"/>
                </a:solidFill>
              </a:defRPr>
            </a:lvl3pPr>
            <a:lvl4pPr algn="r">
              <a:defRPr sz="1600">
                <a:solidFill>
                  <a:schemeClr val="accent4"/>
                </a:solidFill>
              </a:defRPr>
            </a:lvl4pPr>
            <a:lvl5pPr algn="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7626901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514676" y="3130550"/>
            <a:ext cx="1264309" cy="212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749341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758304" y="2951439"/>
            <a:ext cx="2781551" cy="141483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5479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879056" y="3694818"/>
            <a:ext cx="2774090" cy="211015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0846005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521827" y="2329102"/>
            <a:ext cx="3117596" cy="22757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830161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864061" y="2805113"/>
            <a:ext cx="3186821" cy="17811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765901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3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2738161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429000"/>
            <a:ext cx="10572701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072686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3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3214687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42291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5018045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2414592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4290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23995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78623"/>
            <a:ext cx="2995992" cy="340100"/>
          </a:xfrm>
          <a:prstGeom prst="rect">
            <a:avLst/>
          </a:prstGeom>
        </p:spPr>
        <p:txBody>
          <a:bodyPr anchor="b"/>
          <a:lstStyle>
            <a:lvl1pPr>
              <a:defRPr sz="1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3" y="4118723"/>
            <a:ext cx="2995991" cy="7356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1828343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53816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052594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10518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57774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3052594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10518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9157774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3052594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610518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9157774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169768" y="3497263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8145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838420" y="1825625"/>
            <a:ext cx="5182951" cy="4351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072583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07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06" y="1681166"/>
            <a:ext cx="5159132" cy="823913"/>
          </a:xfrm>
          <a:prstGeom prst="rect">
            <a:avLst/>
          </a:prstGeom>
        </p:spPr>
        <p:txBody>
          <a:bodyPr anchor="b"/>
          <a:lstStyle>
            <a:lvl1pPr>
              <a:defRPr sz="2350"/>
            </a:lvl1pPr>
            <a:lvl2pPr>
              <a:defRPr sz="2350"/>
            </a:lvl2pPr>
            <a:lvl3pPr>
              <a:defRPr sz="2350"/>
            </a:lvl3pPr>
            <a:lvl4pPr>
              <a:defRPr sz="2350"/>
            </a:lvl4pPr>
            <a:lvl5pPr indent="1828343">
              <a:defRPr sz="23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6173813" y="1681166"/>
            <a:ext cx="5184539" cy="823913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577418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77814" y="2648748"/>
            <a:ext cx="2650919" cy="914401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Montserrat Semi Bold"/>
                <a:ea typeface="Montserrat Semi Bold"/>
                <a:cs typeface="Montserrat Semi Bold"/>
              </a:defRPr>
            </a:lvl1pPr>
            <a:lvl2pPr>
              <a:defRPr sz="4400">
                <a:latin typeface="Montserrat Semi Bold"/>
                <a:ea typeface="Montserrat Semi Bold"/>
                <a:cs typeface="Montserrat Semi Bold"/>
              </a:defRPr>
            </a:lvl2pPr>
            <a:lvl3pPr>
              <a:defRPr sz="4400">
                <a:latin typeface="Montserrat Semi Bold"/>
                <a:ea typeface="Montserrat Semi Bold"/>
                <a:cs typeface="Montserrat Semi Bold"/>
              </a:defRPr>
            </a:lvl3pPr>
            <a:lvl4pPr>
              <a:defRPr sz="4400">
                <a:latin typeface="Montserrat Semi Bold"/>
                <a:ea typeface="Montserrat Semi Bold"/>
                <a:cs typeface="Montserrat Semi Bold"/>
              </a:defRPr>
            </a:lvl4pPr>
            <a:lvl5pPr>
              <a:defRPr sz="44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1291310" y="3711577"/>
            <a:ext cx="2637418" cy="76596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4399157" y="2651924"/>
            <a:ext cx="2650919" cy="9144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2643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11479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1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5184543" y="987426"/>
            <a:ext cx="6173809" cy="4873626"/>
          </a:xfrm>
          <a:prstGeom prst="rect">
            <a:avLst/>
          </a:prstGeom>
        </p:spPr>
        <p:txBody>
          <a:bodyPr/>
          <a:lstStyle>
            <a:lvl1pPr>
              <a:defRPr sz="3150"/>
            </a:lvl1pPr>
            <a:lvl2pPr>
              <a:defRPr sz="3150"/>
            </a:lvl2pPr>
            <a:lvl3pPr>
              <a:defRPr sz="3150"/>
            </a:lvl3pPr>
            <a:lvl4pPr>
              <a:defRPr sz="3150"/>
            </a:lvl4pPr>
            <a:lvl5pPr>
              <a:defRPr sz="31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840011" y="2057400"/>
            <a:ext cx="3933263" cy="3811588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940191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1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5184543" y="987426"/>
            <a:ext cx="6173809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11" y="2057400"/>
            <a:ext cx="3933263" cy="3811588"/>
          </a:xfrm>
          <a:prstGeom prst="rect">
            <a:avLst/>
          </a:prstGeom>
        </p:spPr>
        <p:txBody>
          <a:bodyPr/>
          <a:lstStyle>
            <a:lvl1pPr>
              <a:defRPr sz="1550"/>
            </a:lvl1pPr>
            <a:lvl2pPr>
              <a:defRPr sz="1550"/>
            </a:lvl2pPr>
            <a:lvl3pPr>
              <a:defRPr sz="1550"/>
            </a:lvl3pPr>
            <a:lvl4pPr>
              <a:defRPr sz="1550"/>
            </a:lvl4pPr>
            <a:lvl5pPr indent="1828343">
              <a:defRPr sz="15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14146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469908" y="2057400"/>
            <a:ext cx="4116945" cy="27432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132883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621985" y="2148840"/>
            <a:ext cx="4573192" cy="2743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844184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38498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4343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7063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092907" y="6404261"/>
            <a:ext cx="263853" cy="26930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150">
                <a:solidFill>
                  <a:srgbClr val="888888"/>
                </a:solidFill>
              </a:defRPr>
            </a:lvl1pPr>
          </a:lstStyle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609600" y="92075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7413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p:txStyles>
    <p:titleStyle>
      <a:lvl1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457086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914172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1371257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1828342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2468263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2925348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3382435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3839520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57108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914217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71326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828434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85543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742652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99760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656869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477693" y="2842953"/>
            <a:ext cx="2310745" cy="1213659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22860" rIns="22860" anchor="ctr"/>
          <a:lstStyle/>
          <a:p>
            <a:pPr algn="ctr"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890448" y="3035392"/>
            <a:ext cx="6609709" cy="7872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457200"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2200" b="1" kern="0" spc="15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ПЕРЕЧЕНЬ СОСТОЯНИЙ, ПРИ КОТОРЫХ ОКАЗЫВАЕТСЯ ПЕРВАЯ ПОМОЩЬ. ПЕРЕЧЕНЬ МЕРОПРИЯТИЙ ПО ЕЕ ОКАЗАНИЮ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7912911" y="0"/>
            <a:ext cx="4344156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algn="ctr"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890448" y="3921610"/>
            <a:ext cx="6401934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1522612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248186"/>
            <a:ext cx="342000" cy="361637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algn="ctr" defTabSz="914217">
              <a:defRPr/>
            </a:pPr>
            <a:fld id="{86CB4B4D-7CA3-9044-876B-883B54F8677D}" type="slidenum">
              <a:rPr kern="0">
                <a:latin typeface="Open Sans Light"/>
                <a:ea typeface="Open Sans"/>
                <a:cs typeface="Calibri"/>
                <a:sym typeface="Open Sans"/>
              </a:rPr>
              <a:pPr algn="ctr" defTabSz="914217">
                <a:defRPr/>
              </a:pPr>
              <a:t>2</a:t>
            </a:fld>
            <a:endParaRPr kern="0"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27997" y="298405"/>
            <a:ext cx="12140252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457200">
              <a:defRPr/>
            </a:pPr>
            <a:r>
              <a:rPr lang="ru-RU" sz="2300" kern="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СОСТОЯНИЙ, ПРИ КОТОРЫХ ОКАЗЫВАЕТСЯ ПЕРВАЯ ПОМОЩЬ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27997" y="779706"/>
            <a:ext cx="9325063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951671" y="896897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45720" bIns="45720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defTabSz="914400">
              <a:defRPr/>
            </a:pPr>
            <a:r>
              <a:rPr lang="ru-RU" sz="1400" kern="0" dirty="0"/>
              <a:t>Аспекты оказания первой помощи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951671" y="1300050"/>
            <a:ext cx="11018806" cy="790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В соответствии с приказом Министерства Здравоохранения Российской Федерации от 03.05.2024 г. № 220н "Об утверждении порядка оказания первой помощи", первая помощь оказывается при следующих состояниях: 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10000"/>
              </a:lnSpc>
              <a:defRPr/>
            </a:pPr>
            <a:endParaRPr lang="ru-RU" sz="14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13" name="Группа 12"/>
          <p:cNvGrpSpPr/>
          <p:nvPr/>
        </p:nvGrpSpPr>
        <p:grpSpPr bwMode="auto">
          <a:xfrm>
            <a:off x="407368" y="2049859"/>
            <a:ext cx="10492285" cy="3317486"/>
            <a:chOff x="1699716" y="4952937"/>
            <a:chExt cx="20984570" cy="6634972"/>
          </a:xfrm>
        </p:grpSpPr>
        <p:grpSp>
          <p:nvGrpSpPr>
            <p:cNvPr id="14" name="Группа 13"/>
            <p:cNvGrpSpPr/>
            <p:nvPr/>
          </p:nvGrpSpPr>
          <p:grpSpPr bwMode="auto">
            <a:xfrm>
              <a:off x="1699716" y="4952937"/>
              <a:ext cx="20984569" cy="3467667"/>
              <a:chOff x="1699716" y="4952937"/>
              <a:chExt cx="20984569" cy="3467667"/>
            </a:xfrm>
          </p:grpSpPr>
          <p:sp>
            <p:nvSpPr>
              <p:cNvPr id="26" name="Полилиния 25"/>
              <p:cNvSpPr/>
              <p:nvPr/>
            </p:nvSpPr>
            <p:spPr bwMode="auto">
              <a:xfrm>
                <a:off x="169971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9568" tIns="99568" rIns="99568" bIns="0" numCol="1" spcCol="1270" anchor="t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defRPr/>
                </a:pPr>
                <a:r>
                  <a:rPr lang="ru-RU" sz="1200" kern="0">
                    <a:solidFill>
                      <a:srgbClr val="4D4D4D"/>
                    </a:solidFill>
                    <a:latin typeface="Open Sans"/>
                    <a:cs typeface="Calibri"/>
                  </a:rPr>
                  <a:t>Отсутствие сознания</a:t>
                </a:r>
              </a:p>
            </p:txBody>
          </p:sp>
          <p:sp>
            <p:nvSpPr>
              <p:cNvPr id="27" name="Полилиния 26"/>
              <p:cNvSpPr/>
              <p:nvPr/>
            </p:nvSpPr>
            <p:spPr bwMode="auto">
              <a:xfrm>
                <a:off x="7067909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9568" tIns="99568" rIns="99568" bIns="0" numCol="1" spcCol="1270" anchor="t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defRPr/>
                </a:pPr>
                <a:r>
                  <a:rPr lang="ru-RU" sz="1200" kern="0">
                    <a:solidFill>
                      <a:srgbClr val="4D4D4D"/>
                    </a:solidFill>
                    <a:latin typeface="Open Sans"/>
                    <a:cs typeface="Calibri"/>
                  </a:rPr>
                  <a:t>Остановка дыхания и кровообращения</a:t>
                </a:r>
              </a:p>
            </p:txBody>
          </p:sp>
          <p:sp>
            <p:nvSpPr>
              <p:cNvPr id="28" name="Полилиния 27"/>
              <p:cNvSpPr/>
              <p:nvPr/>
            </p:nvSpPr>
            <p:spPr bwMode="auto">
              <a:xfrm>
                <a:off x="12436102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9568" tIns="99568" rIns="99568" bIns="0" numCol="1" spcCol="1270" anchor="t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defRPr/>
                </a:pPr>
                <a:r>
                  <a:rPr lang="ru-RU" sz="1200" kern="0">
                    <a:solidFill>
                      <a:srgbClr val="4D4D4D"/>
                    </a:solidFill>
                    <a:latin typeface="Open Sans"/>
                    <a:cs typeface="Calibri"/>
                  </a:rPr>
                  <a:t>Наружные кровотечения</a:t>
                </a:r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780429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9568" tIns="99568" rIns="99568" bIns="0" numCol="1" spcCol="1270" anchor="t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defRPr/>
                </a:pPr>
                <a:r>
                  <a:rPr lang="ru-RU" sz="1200" kern="0" dirty="0">
                    <a:solidFill>
                      <a:srgbClr val="4D4D4D"/>
                    </a:solidFill>
                    <a:latin typeface="Open Sans"/>
                    <a:cs typeface="Calibri"/>
                  </a:rPr>
                  <a:t>Инородные тела верхних дыхательных путей</a:t>
                </a:r>
              </a:p>
            </p:txBody>
          </p:sp>
          <p:pic>
            <p:nvPicPr>
              <p:cNvPr id="31" name="Рисунок 30"/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 bwMode="auto">
              <a:xfrm>
                <a:off x="8457903" y="4952937"/>
                <a:ext cx="2100000" cy="1800000"/>
              </a:xfrm>
              <a:prstGeom prst="rect">
                <a:avLst/>
              </a:prstGeom>
            </p:spPr>
          </p:pic>
          <p:pic>
            <p:nvPicPr>
              <p:cNvPr id="32" name="Рисунок 31"/>
              <p:cNvPicPr>
                <a:picLocks noChangeAspect="1"/>
              </p:cNvPicPr>
              <p:nvPr/>
            </p:nvPicPr>
            <p:blipFill>
              <a:blip r:embed="rId3"/>
              <a:stretch/>
            </p:blipFill>
            <p:spPr bwMode="auto">
              <a:xfrm>
                <a:off x="2970249" y="4952937"/>
                <a:ext cx="2338922" cy="1800000"/>
              </a:xfrm>
              <a:prstGeom prst="rect">
                <a:avLst/>
              </a:prstGeom>
            </p:spPr>
          </p:pic>
          <p:pic>
            <p:nvPicPr>
              <p:cNvPr id="33" name="Рисунок 32"/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 bwMode="auto">
              <a:xfrm>
                <a:off x="13289765" y="4952937"/>
                <a:ext cx="3172661" cy="1800000"/>
              </a:xfrm>
              <a:prstGeom prst="rect">
                <a:avLst/>
              </a:prstGeom>
            </p:spPr>
          </p:pic>
          <p:pic>
            <p:nvPicPr>
              <p:cNvPr id="34" name="Рисунок 33"/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 bwMode="auto">
              <a:xfrm>
                <a:off x="19384588" y="4952937"/>
                <a:ext cx="1719403" cy="1800000"/>
              </a:xfrm>
              <a:prstGeom prst="rect">
                <a:avLst/>
              </a:prstGeom>
            </p:spPr>
          </p:pic>
        </p:grpSp>
        <p:grpSp>
          <p:nvGrpSpPr>
            <p:cNvPr id="15" name="Группа 14"/>
            <p:cNvGrpSpPr/>
            <p:nvPr/>
          </p:nvGrpSpPr>
          <p:grpSpPr bwMode="auto">
            <a:xfrm>
              <a:off x="1803098" y="8053107"/>
              <a:ext cx="20881188" cy="3534802"/>
              <a:chOff x="1803098" y="8053107"/>
              <a:chExt cx="20881188" cy="3534802"/>
            </a:xfrm>
          </p:grpSpPr>
          <p:grpSp>
            <p:nvGrpSpPr>
              <p:cNvPr id="16" name="Группа 15"/>
              <p:cNvGrpSpPr/>
              <p:nvPr/>
            </p:nvGrpSpPr>
            <p:grpSpPr bwMode="auto">
              <a:xfrm>
                <a:off x="1803098" y="9777433"/>
                <a:ext cx="20881188" cy="1810476"/>
                <a:chOff x="1926463" y="12869102"/>
                <a:chExt cx="20881188" cy="1810476"/>
              </a:xfrm>
            </p:grpSpPr>
            <p:sp>
              <p:nvSpPr>
                <p:cNvPr id="21" name="Полилиния 20"/>
                <p:cNvSpPr/>
                <p:nvPr/>
              </p:nvSpPr>
              <p:spPr bwMode="auto">
                <a:xfrm>
                  <a:off x="1926463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9568" tIns="99568" rIns="99568" bIns="0" numCol="1" spcCol="1270" anchor="t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defRPr/>
                  </a:pPr>
                  <a:r>
                    <a:rPr lang="ru-RU" sz="1200" kern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Травмы различных областей тела</a:t>
                  </a:r>
                </a:p>
              </p:txBody>
            </p:sp>
            <p:sp>
              <p:nvSpPr>
                <p:cNvPr id="23" name="Полилиния 22"/>
                <p:cNvSpPr/>
                <p:nvPr/>
              </p:nvSpPr>
              <p:spPr bwMode="auto">
                <a:xfrm>
                  <a:off x="7294657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9568" tIns="99568" rIns="99568" bIns="0" numCol="1" spcCol="1270" anchor="t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defRPr/>
                  </a:pPr>
                  <a:r>
                    <a:rPr lang="ru-RU" sz="1200" kern="0" dirty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Укусы или </a:t>
                  </a:r>
                  <a:r>
                    <a:rPr lang="ru-RU" sz="1200" kern="0" dirty="0" err="1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ужаливания</a:t>
                  </a:r>
                  <a:r>
                    <a:rPr lang="ru-RU" sz="1200" kern="0" dirty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 ядовитых животных</a:t>
                  </a:r>
                </a:p>
              </p:txBody>
            </p: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12559468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9568" tIns="99568" rIns="99568" bIns="0" numCol="1" spcCol="1270" anchor="t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defRPr/>
                  </a:pPr>
                  <a:r>
                    <a:rPr lang="ru-RU" sz="1200" kern="0" dirty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Отморожение и другие эффекты воздействия низких температур</a:t>
                  </a:r>
                </a:p>
              </p:txBody>
            </p:sp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17927662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9568" tIns="99568" rIns="99568" bIns="0" numCol="1" spcCol="1270" anchor="t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defRPr/>
                  </a:pPr>
                  <a:r>
                    <a:rPr lang="ru-RU" sz="1200" kern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Отравления</a:t>
                  </a:r>
                </a:p>
              </p:txBody>
            </p:sp>
          </p:grpSp>
          <p:pic>
            <p:nvPicPr>
              <p:cNvPr id="17" name="Рисунок 16"/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 bwMode="auto">
              <a:xfrm>
                <a:off x="3373043" y="8053107"/>
                <a:ext cx="1533333" cy="1800000"/>
              </a:xfrm>
              <a:prstGeom prst="rect">
                <a:avLst/>
              </a:prstGeom>
            </p:spPr>
          </p:pic>
          <p:pic>
            <p:nvPicPr>
              <p:cNvPr id="18" name="Рисунок 17"/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 bwMode="auto">
              <a:xfrm>
                <a:off x="8692977" y="8053107"/>
                <a:ext cx="1629851" cy="1800000"/>
              </a:xfrm>
              <a:prstGeom prst="rect">
                <a:avLst/>
              </a:prstGeom>
            </p:spPr>
          </p:pic>
          <p:pic>
            <p:nvPicPr>
              <p:cNvPr id="19" name="Рисунок 18"/>
              <p:cNvPicPr>
                <a:picLocks noChangeAspect="1"/>
              </p:cNvPicPr>
              <p:nvPr/>
            </p:nvPicPr>
            <p:blipFill>
              <a:blip r:embed="rId8"/>
              <a:stretch/>
            </p:blipFill>
            <p:spPr bwMode="auto">
              <a:xfrm>
                <a:off x="14109429" y="8053107"/>
                <a:ext cx="1646897" cy="1800000"/>
              </a:xfrm>
              <a:prstGeom prst="rect">
                <a:avLst/>
              </a:prstGeom>
            </p:spPr>
          </p:pic>
          <p:pic>
            <p:nvPicPr>
              <p:cNvPr id="20" name="Рисунок 19"/>
              <p:cNvPicPr>
                <a:picLocks noChangeAspect="1"/>
              </p:cNvPicPr>
              <p:nvPr/>
            </p:nvPicPr>
            <p:blipFill>
              <a:blip r:embed="rId9"/>
              <a:stretch/>
            </p:blipFill>
            <p:spPr bwMode="auto">
              <a:xfrm>
                <a:off x="19455842" y="8053107"/>
                <a:ext cx="1582979" cy="1800000"/>
              </a:xfrm>
              <a:prstGeom prst="rect">
                <a:avLst/>
              </a:prstGeom>
            </p:spPr>
          </p:pic>
        </p:grpSp>
      </p:grpSp>
      <p:sp>
        <p:nvSpPr>
          <p:cNvPr id="3" name="Прямоугольник 2"/>
          <p:cNvSpPr/>
          <p:nvPr/>
        </p:nvSpPr>
        <p:spPr>
          <a:xfrm>
            <a:off x="2358907" y="5544207"/>
            <a:ext cx="3134191" cy="4875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200" kern="0" dirty="0">
                <a:solidFill>
                  <a:srgbClr val="4D4D4D"/>
                </a:solidFill>
                <a:latin typeface="Open Sans"/>
                <a:ea typeface="Open Sans"/>
                <a:cs typeface="Open Sans"/>
              </a:rPr>
              <a:t>Судорожный приступ, </a:t>
            </a:r>
          </a:p>
          <a:p>
            <a:pPr>
              <a:lnSpc>
                <a:spcPct val="110000"/>
              </a:lnSpc>
            </a:pPr>
            <a:r>
              <a:rPr lang="ru-RU" sz="1200" kern="0" dirty="0">
                <a:solidFill>
                  <a:srgbClr val="4D4D4D"/>
                </a:solidFill>
                <a:latin typeface="Open Sans"/>
                <a:ea typeface="Open Sans"/>
                <a:cs typeface="Open Sans"/>
              </a:rPr>
              <a:t>сопровождающийся потерей сознания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97" y="5315571"/>
            <a:ext cx="1233720" cy="7745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478" y="5344195"/>
            <a:ext cx="1350941" cy="105725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968208" y="5704361"/>
            <a:ext cx="3509294" cy="284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200" kern="0" dirty="0">
                <a:solidFill>
                  <a:srgbClr val="4D4D4D"/>
                </a:solidFill>
                <a:latin typeface="Open Sans"/>
                <a:ea typeface="Open Sans"/>
                <a:cs typeface="Open Sans"/>
              </a:rPr>
              <a:t>Острые психологические реакции на стресс</a:t>
            </a:r>
          </a:p>
        </p:txBody>
      </p:sp>
    </p:spTree>
    <p:extLst>
      <p:ext uri="{BB962C8B-B14F-4D97-AF65-F5344CB8AC3E}">
        <p14:creationId xmlns:p14="http://schemas.microsoft.com/office/powerpoint/2010/main" val="1695133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4"/>
            <a:ext cx="342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algn="ctr" defTabSz="914217">
              <a:defRPr/>
            </a:pPr>
            <a:fld id="{86CB4B4D-7CA3-9044-876B-883B54F8677D}" type="slidenum">
              <a:rPr kern="0">
                <a:latin typeface="Open Sans Light"/>
                <a:ea typeface="Open Sans"/>
                <a:cs typeface="Calibri"/>
                <a:sym typeface="Open Sans"/>
              </a:rPr>
              <a:pPr algn="ctr" defTabSz="914217">
                <a:defRPr/>
              </a:pPr>
              <a:t>3</a:t>
            </a:fld>
            <a:endParaRPr kern="0"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27997" y="576710"/>
            <a:ext cx="12140252" cy="800219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457200">
              <a:defRPr/>
            </a:pPr>
            <a:r>
              <a:rPr lang="ru-RU" sz="2300" kern="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МЕРОПРИЯТИЙ ПО ОКАЗАНИЮ ПЕРВОЙ ПОМОЩИ И ПОСЛЕДОВАТЕЛЬНОСТЬ ИХ ВЫПОЛНЕНИЯ 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14" y="1302335"/>
            <a:ext cx="9057112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7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45720" bIns="45720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defTabSz="914400">
              <a:defRPr/>
            </a:pPr>
            <a:r>
              <a:rPr lang="ru-RU" sz="1400" kern="0"/>
              <a:t>Аспекты оказания первой помощи</a:t>
            </a:r>
            <a:endParaRPr lang="ru-RU" sz="1400" kern="0" dirty="0"/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875420" y="1916832"/>
            <a:ext cx="11018806" cy="4108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В соответствии с </a:t>
            </a:r>
            <a:r>
              <a:rPr lang="ru-RU" sz="1400" b="1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приказом Министерства Здравоохранения Российской Федерации от 03.05.2024 г. № 220н "Об утверждении порядка оказания первой помощи</a:t>
            </a: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", при указанных состояниях выполняются следующие мероприятия: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10000"/>
              </a:lnSpc>
              <a:defRPr/>
            </a:pPr>
            <a:endParaRPr lang="ru-RU" sz="14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оценке обстановки и обеспечению безопасных условий для оказания первой помощи.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Вызов скорой медицинской помощи, других специальных служб.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Определение наличия сознания у пострадавшего.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восстановлению проходимости дыхательных путей и определению признаков жизни у пострадавшего.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проведению сердечно-легочной реанимации до появления признаков жизни.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поддержанию проходимости дыхательных путей.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обзорному осмотру пострадавшего и временной остановке наружного кровотечения.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подробному осмотру пострадавшего в целях выявления признаков травм, отравлений и других состояний, угрожающих его жизни и здоровью, и по оказанию первой помощи в случае выявления указанных состояний.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Придание пострадавшему оптимального положения тела.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Контроль состояния пострадавшего (сознание, дыхание, кровообращение) и оказание психологической поддержки.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Передача пострадавшего бригаде скорой медицинской помощи, другим специальным службам.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235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3175" y="0"/>
            <a:ext cx="12185650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algn="ctr"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3176" y="0"/>
            <a:ext cx="3717758" cy="6858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22860" rIns="22860" anchor="ctr"/>
          <a:lstStyle/>
          <a:p>
            <a:pPr algn="ctr" defTabSz="914217">
              <a:defRPr sz="8600">
                <a:solidFill>
                  <a:srgbClr val="FFFFFF"/>
                </a:solidFill>
              </a:defRPr>
            </a:pPr>
            <a:endParaRPr sz="430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4610723" y="2675890"/>
            <a:ext cx="7005544" cy="150622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457200">
              <a:lnSpc>
                <a:spcPct val="90000"/>
              </a:lnSpc>
              <a:spcBef>
                <a:spcPts val="5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3300" b="1" kern="0" spc="15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3600" kern="0" spc="15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284</Words>
  <Application>Microsoft Office PowerPoint</Application>
  <PresentationFormat>Широкоэкранный</PresentationFormat>
  <Paragraphs>37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Calibri</vt:lpstr>
      <vt:lpstr>Montserrat Semi Bold</vt:lpstr>
      <vt:lpstr>Open Sans</vt:lpstr>
      <vt:lpstr>Open Sans Light</vt:lpstr>
      <vt:lpstr>PFDinDisplayPro-Regular</vt:lpstr>
      <vt:lpstr>11_Office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Роман Прудников</dc:creator>
  <cp:lastModifiedBy>smarta3@outlook.com</cp:lastModifiedBy>
  <cp:revision>4</cp:revision>
  <dcterms:created xsi:type="dcterms:W3CDTF">2026-08-03T12:43:54Z</dcterms:created>
  <dcterms:modified xsi:type="dcterms:W3CDTF">2026-08-10T09:57:28Z</dcterms:modified>
</cp:coreProperties>
</file>