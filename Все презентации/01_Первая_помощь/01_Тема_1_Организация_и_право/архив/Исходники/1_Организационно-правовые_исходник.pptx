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</p:sldMasterIdLst>
  <p:notesMasterIdLst>
    <p:notesMasterId r:id="rId11"/>
  </p:notesMasterIdLst>
  <p:sldIdLst>
    <p:sldId id="280" r:id="rId3"/>
    <p:sldId id="288" r:id="rId4"/>
    <p:sldId id="281" r:id="rId5"/>
    <p:sldId id="283" r:id="rId6"/>
    <p:sldId id="284" r:id="rId7"/>
    <p:sldId id="285" r:id="rId8"/>
    <p:sldId id="286" r:id="rId9"/>
    <p:sldId id="287" r:id="rId10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3" autoAdjust="0"/>
    <p:restoredTop sz="92577" autoAdjust="0"/>
  </p:normalViewPr>
  <p:slideViewPr>
    <p:cSldViewPr>
      <p:cViewPr varScale="1">
        <p:scale>
          <a:sx n="76" d="100"/>
          <a:sy n="76" d="100"/>
        </p:scale>
        <p:origin x="285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417840"/>
            <a:ext cx="4621490" cy="2695383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5865755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НОРМАТИВНО-ПРАВОВАЯ БАЗА И ОРГАНИЗАЦИОННО-ПРАВОВЫЕ АСПЕКТЫ ОКАЗАНИЯ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38852"/>
            <a:ext cx="684000" cy="638316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1828434">
                <a:defRPr/>
              </a:pPr>
              <a:t>2</a:t>
            </a:fld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7"/>
            <a:ext cx="24280504" cy="83208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ПОНЯТИЕ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8" y="2604670"/>
            <a:ext cx="859688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4" y="2753858"/>
            <a:ext cx="6408712" cy="681808"/>
          </a:xfrm>
          <a:prstGeom prst="rect">
            <a:avLst/>
          </a:prstGeom>
          <a:ln w="25400">
            <a:miter lim="400000"/>
          </a:ln>
        </p:spPr>
        <p:txBody>
          <a:bodyPr tIns="91440" bIns="9144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ru-RU"/>
              <a:t>Аспекты оказания первой помощи</a:t>
            </a:r>
            <a:endParaRPr lang="ru-RU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3"/>
            <a:ext cx="2727076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9" y="3861098"/>
            <a:ext cx="7589738" cy="4258675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spAutoFit/>
          </a:bodyPr>
          <a:lstStyle/>
          <a:p>
            <a:pPr defTabSz="914400">
              <a:defRPr/>
            </a:pPr>
            <a:r>
              <a:rPr lang="ru-RU" sz="2800" b="1">
                <a:cs typeface="Calibri"/>
              </a:rPr>
              <a:t>Первая помощь </a:t>
            </a:r>
            <a:r>
              <a:rPr lang="ru-RU" sz="2800"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1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3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2912080" y="4265712"/>
            <a:ext cx="1038402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На сегодняшний день система оказания первой помощи в Российской Федерации состоит из трех основных компонентов:</a:t>
            </a:r>
            <a:endParaRPr/>
          </a:p>
          <a:p>
            <a:pPr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Обучение участников оказания первой помощи правилам и навыкам ее оказания.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Оснащение участников оказания первой помощи средствами для ее оказания (аптечками и укладками).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844359" y="4158732"/>
            <a:ext cx="11756204" cy="80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78832" y="9450288"/>
            <a:ext cx="21394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Участники оказания первой помощи </a:t>
            </a:r>
            <a:r>
              <a:rPr lang="ru-RU" sz="2800"/>
              <a:t>могут иметь различную подготовку к ее оказанию и оснащение. Также они могут быть </a:t>
            </a:r>
            <a:r>
              <a:rPr lang="ru-RU" sz="2800" b="1"/>
              <a:t>обязанными оказывать первую помощь</a:t>
            </a:r>
            <a:r>
              <a:rPr lang="ru-RU" sz="2800"/>
              <a:t>, либо </a:t>
            </a:r>
            <a:r>
              <a:rPr lang="ru-RU" sz="2800" b="1"/>
              <a:t>иметь право ее оказывать</a:t>
            </a:r>
            <a:r>
              <a:rPr lang="ru-RU" sz="2800"/>
              <a:t>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большинстве случаев первая помощь должна заканчиваться передачей пострадавших прибывшей </a:t>
            </a:r>
            <a:r>
              <a:rPr lang="ru-RU" sz="2800" b="1"/>
              <a:t>бригаде скорой медицинской помощи</a:t>
            </a:r>
            <a:r>
              <a:rPr lang="ru-RU" sz="2800"/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32955" y="3918224"/>
            <a:ext cx="18486735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455696" y="4283457"/>
            <a:ext cx="13667579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Федеральный закон от 21.11.2011 №323-ФЗ </a:t>
            </a:r>
            <a:r>
              <a:rPr lang="ru-RU" sz="2800" b="1"/>
              <a:t>«Об основах охраны здоровья граждан Российской Федерации»</a:t>
            </a:r>
            <a:r>
              <a:rPr lang="ru-RU" sz="2800"/>
              <a:t>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Статья 31. Первая помощь: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28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220612" y="3986987"/>
            <a:ext cx="5312275" cy="8749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51413" y="3694094"/>
            <a:ext cx="21630492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/>
              <a:t>в силу профессиональных обязанностей первыми оказываются на месте происшествия </a:t>
            </a:r>
            <a:r>
              <a:rPr lang="ru-RU"/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Обязанность </a:t>
            </a:r>
            <a:r>
              <a:rPr lang="ru-RU" b="1"/>
              <a:t>«…принять меры для оказания первой помощи…» </a:t>
            </a:r>
            <a:r>
              <a:rPr lang="ru-RU"/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/>
              <a:t>привлечение к административной ответственности и наказание в виде административного штрафа </a:t>
            </a:r>
            <a:r>
              <a:rPr lang="ru-RU"/>
              <a:t>(ч. 1 ст. 12.27 КоАП). В том случае, если гражданин </a:t>
            </a:r>
            <a:r>
              <a:rPr lang="ru-RU" b="1"/>
              <a:t>заведомо оставил пострадавшего</a:t>
            </a:r>
            <a:r>
              <a:rPr lang="ru-RU"/>
              <a:t>, находящегося в беспомощном состоянии без возможности получения помощи, </a:t>
            </a:r>
            <a:r>
              <a:rPr lang="ru-RU" b="1"/>
              <a:t>он может быть привлечен к уголовной ответственности </a:t>
            </a:r>
            <a:r>
              <a:rPr lang="ru-RU"/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/>
              <a:t>водитель вправе добровольно оказать первую помощь</a:t>
            </a:r>
            <a:r>
              <a:rPr lang="ru-RU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5416" y="7264941"/>
            <a:ext cx="12207176" cy="64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113535" y="4049688"/>
            <a:ext cx="1428220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2800" b="1" dirty="0"/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2800" dirty="0"/>
              <a:t>.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2800" b="1" dirty="0"/>
              <a:t>организовывать обучение первой помощи </a:t>
            </a:r>
            <a:r>
              <a:rPr lang="ru-RU" sz="2800" dirty="0"/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работника ТК РФ предусматривает обязанность </a:t>
            </a:r>
            <a:r>
              <a:rPr lang="ru-RU" sz="2800" b="1" dirty="0"/>
              <a:t>«проходить обучение по оказанию первой помощи пострадавшим на производстве» </a:t>
            </a:r>
            <a:r>
              <a:rPr lang="ru-RU" sz="2800" dirty="0"/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2829" y="4049687"/>
            <a:ext cx="5445571" cy="8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031760" y="2969568"/>
            <a:ext cx="13880883" cy="909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Освобождение от ответственности: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 b="1"/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2800" b="1"/>
              <a:t>обстоятельство, смягчающее наказание </a:t>
            </a:r>
            <a:r>
              <a:rPr lang="ru-RU" sz="2800"/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5668" y="5240698"/>
            <a:ext cx="8325949" cy="62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</TotalTime>
  <Words>703</Words>
  <Application>Microsoft Office PowerPoint</Application>
  <DocSecurity>0</DocSecurity>
  <PresentationFormat>Произвольный</PresentationFormat>
  <Paragraphs>62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13_Office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136</cp:revision>
  <dcterms:modified xsi:type="dcterms:W3CDTF">2026-08-10T09:56:57Z</dcterms:modified>
  <cp:category/>
  <dc:identifier/>
  <cp:contentStatus/>
  <dc:language/>
  <cp:version/>
</cp:coreProperties>
</file>