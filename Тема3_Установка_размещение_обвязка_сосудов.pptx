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2"/>
    <p:sldId id="258" r:id="rId4"/>
    <p:sldId id="264" r:id="rId13"/>
    <p:sldId id="265" r:id="rId14"/>
    <p:sldId id="260" r:id="rId5"/>
    <p:sldId id="266" r:id="rId15"/>
    <p:sldId id="267" r:id="rId16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45720" cy="5029200"/>
          </a:xfrm>
          <a:prstGeom prst="rect">
            <a:avLst/>
          </a:prstGeom>
          <a:solidFill>
            <a:srgbClr val="E3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783010"/>
            <a:ext cx="10820095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4800" b="1" dirty="0">
                <a:solidFill>
                  <a:srgbClr val="1A1A1A"/>
                </a:solidFill>
                <a:latin typeface="Inter"/>
              </a:rPr>
              <a:t>Установка, размещение и обвязка сосудов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4480560"/>
            <a:ext cx="3657601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45720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промышленной безопасности при эксплуатации оборудования, работающего под избыточным давлением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76072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Промышленная безопасность · ФНП · Сосуды под давлением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Inter"/>
              </a:rPr>
              <a:t>Где разрешено устанавливать сосуды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Основные требования к месту установки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094415" cy="2697480"/>
          </a:xfrm>
          <a:prstGeom prst="rect">
            <a:avLst/>
          </a:prstGeom>
          <a:noFill/>
        </p:spPr>
        <p:txBody>
          <a:bodyPr wrap="square" lIns="0" tIns="0" rIns="0" bIns="0">
            <a:normAutofit fontScale="62500" lnSpcReduction="20000"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Общее правило. Сосуды устанавливают на открытых площадках в местах, исключающих скопление людей, или в отдельно стоящих зданиях — совместно с технологически взаимосвязанными машинами, оборудованием и трубопроводами.
Воздухосборники и газосборники устанавливают на фундамент вне здания питающего источника. Место установки должно иметь ограждение.
Расстояния для воздухосборников:
• между воздухосборниками — не менее 1,5 м;
• между воздухосборником и стеной здания — не менее 1 м;
• от воздухосборника до ограждения (со стороны проезда или прохода) — не менее 2 м.
Расстояние между газосборниками определяет проектная организация.
Допускается установка сосудов:
— в помещениях, примыкающих к производственным зданиям, при отделении капитальной стеной (прочность определяется проектной документацией с учётом максимальной нагрузки при аварии);
— в производственных помещениях (включая котельные, ТЭС, ГЭС), если по условиям технологического процесса или эксплуатации установка вне помещений невозможна — при наличии проектного обоснования;
— с заглублением в грунт при обеспечении доступа к арматуре и защиты стенок от коррозии.</a:t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endParaRPr sz="1400" b="0" i="0">
              <a:solidFill>
                <a:srgbClr val="1A1A1A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  <a:p>
            <a:pPr algn="l">
              <a:spcBef>
                <a:spcPts val="489"/>
              </a:spcBef>
            </a:pPr>
            <a:r>
              <a:rPr sz="1400" b="0" i="0">
                <a:solidFill>
                  <a:srgbClr val="1A1A1A"/>
                </a:solidFill>
                <a:latin typeface="Inter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21208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349240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Inter"/>
              </a:rPr>
              <a:t>При размещении сосудов со взрывопожароопасными средами безопасные расстояния от зданий и сооружений устанавливаются проектом с учётом радиуса опасной зоны при аварийной разгерметизации.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FB49CC1-2099-429B-8D75-452892B57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FA5FA60-EE0C-4CCE-BCD9-06AFB63B0495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</a:rPr>
              <a:t>Запреты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установку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сосудов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жилых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общественных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зданиях</a:t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2558605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Где установка запрещена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878645"/>
            <a:ext cx="5318607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015805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Жилые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здания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3244405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сосудов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подлежащих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учёту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территориальных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органах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Ростехнадзора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федеральных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органах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исполнительной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власти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области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промышленной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безопасности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разрешается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3926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Общественные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бытовые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здания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4212526"/>
            <a:ext cx="5318607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распространяется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общественные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бытовые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здания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наравне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с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жилыми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63452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Примыкающие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помещения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4992052"/>
            <a:ext cx="5318607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действует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также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помещения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примыкающие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жилым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общественным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бытовым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зданиям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370010"/>
            <a:ext cx="531860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Требования к арматуре сосудов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24447" y="2690050"/>
            <a:ext cx="5318608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447" y="2827210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Запорная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—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установки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24447" y="3055810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Запорная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запорно-регулирующая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устанавливается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штуцерах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непосредственно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присоединённых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подводящих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рабочую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среду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отводящих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её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3795331"/>
            <a:ext cx="5318607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Запрет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установку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между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сосудом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4446" y="4188941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запорной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между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за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устройством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а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также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дренажных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не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допускается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4763452"/>
            <a:ext cx="531860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 err="1">
                <a:solidFill>
                  <a:schemeClr val="bg1"/>
                </a:solidFill>
                <a:latin typeface="Inter"/>
              </a:rPr>
              <a:t>Количество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тип</a:t>
            </a:r>
            <a:r>
              <a:rPr sz="14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1" i="0" dirty="0" err="1">
                <a:solidFill>
                  <a:schemeClr val="bg1"/>
                </a:solidFill>
                <a:latin typeface="Inter"/>
              </a:rPr>
              <a:t>арматуры</a:t>
            </a:r>
            <a:endParaRPr sz="14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24447" y="4992052"/>
            <a:ext cx="5318607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Количество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тип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применяемой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арматуры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её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установки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должны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соответствовать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проектной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документации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исходя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конкретных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особенностей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технологического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процесса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условий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эксплуатации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сосуда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Не разрешается установка в жилых, общественных и бытовых зданиях, а также в примыкающих к ним помещениях, сосудов, подлежащих учёту в территориальных органах Ростехнадзора или в иных федеральных органах исполнительной власти в области промышленной безопасности.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04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212088A-F96C-48C6-BDA9-79D898A3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7938C72-D5D0-4E03-AB85-794770A8EBF9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</a:rPr>
              <a:t>Пропускная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способность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клапанов</a:t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 dirty="0" err="1">
                <a:solidFill>
                  <a:schemeClr val="bg1"/>
                </a:solidFill>
                <a:latin typeface="Inter"/>
              </a:rPr>
              <a:t>Требования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группам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6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6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endParaRPr sz="1600" b="0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94415" cy="2377440"/>
          </a:xfrm>
          <a:prstGeom prst="rect">
            <a:avLst/>
          </a:prstGeom>
          <a:noFill/>
        </p:spPr>
        <p:txBody>
          <a:bodyPr wrap="square" lIns="0" tIns="0" rIns="0" bIns="0">
            <a:normAutofit fontScale="92500" lnSpcReduction="20000"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группы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двух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более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арматура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перед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ними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допускается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только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наличии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блокировки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обеспечивающей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: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любом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варианте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отключения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клапанов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остающиеся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включёнными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имели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суммарную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пропускную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способность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определяемую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соответствии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с НД — с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учётом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коэффициента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расхода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каждого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сжимаемых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несжимаемых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площади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сечения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указанных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паспорте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клапана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двух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блокировка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исключать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возможность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одновременного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отключения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chemeClr val="bg1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выходящая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из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отводиться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безопасное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Токсичные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взрыво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-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пожароопасные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технологические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среды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направляются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закрытые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системы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утилизации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организованного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сжигания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Запрещается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объединять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сбросы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содержащие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вещества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способные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смешивании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образовывать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взрывоопасные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смеси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нестабильные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соединения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  <a:p>
            <a:pPr algn="l">
              <a:spcBef>
                <a:spcPts val="489"/>
              </a:spcBef>
            </a:pPr>
            <a:endParaRPr sz="1400" b="0" i="0" dirty="0">
              <a:solidFill>
                <a:schemeClr val="bg1"/>
              </a:solidFill>
              <a:latin typeface="Inter"/>
            </a:endParaRPr>
          </a:p>
          <a:p>
            <a:pPr algn="l">
              <a:spcBef>
                <a:spcPts val="489"/>
              </a:spcBef>
            </a:pPr>
            <a:r>
              <a:rPr sz="1400" b="0" i="0" dirty="0" err="1">
                <a:solidFill>
                  <a:schemeClr val="bg1"/>
                </a:solidFill>
                <a:latin typeface="Inter"/>
              </a:rPr>
              <a:t>Мембранные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устанавливаются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патрубках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трубопроводах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непосредственно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присоединённых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к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сосуду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местах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открытых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доступных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для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осмотра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монтажа-демонтажа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5074920"/>
            <a:ext cx="548640" cy="0"/>
          </a:xfrm>
          <a:prstGeom prst="line">
            <a:avLst/>
          </a:prstGeom>
          <a:ln w="6350">
            <a:solidFill>
              <a:srgbClr val="E3061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212080"/>
            <a:ext cx="11094415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Отводящие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трубопроводы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импульсные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линии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клапанов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оснащаются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дренажными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устройствами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местах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возможного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скопления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конденсата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;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конденсат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отводится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безопасное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100" b="0" i="0" dirty="0" err="1">
                <a:solidFill>
                  <a:schemeClr val="bg1"/>
                </a:solidFill>
                <a:latin typeface="Inter"/>
              </a:rPr>
              <a:t>место</a:t>
            </a:r>
            <a:r>
              <a:rPr sz="11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07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rgbClr val="1A1A1A"/>
                </a:solidFill>
                <a:latin typeface="Inter"/>
              </a:rPr>
              <a:t>Правила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размещения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мембран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в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узлах</a:t>
            </a:r>
            <a:r>
              <a:rPr sz="3000" b="1" i="0" dirty="0">
                <a:solidFill>
                  <a:srgbClr val="1A1A1A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rgbClr val="1A1A1A"/>
                </a:solidFill>
                <a:latin typeface="Inter"/>
              </a:rPr>
              <a:t>крепления</a:t>
            </a:r>
            <a:endParaRPr sz="3000" b="1" i="0" dirty="0">
              <a:solidFill>
                <a:srgbClr val="1A1A1A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Inter"/>
              </a:rPr>
              <a:t>Требования к установке, защите и контролю мембранных предохранительных устройств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4046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974086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11124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11246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Мембраны должны быть размещены ТОЛЬКО в предназначенных для них узлах крепления.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13582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13582"/>
            <a:ext cx="106372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Присоединительные трубопроводы должны быть защищены от замерзания в них рабочей среды.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15918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15918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При последовательной установке мембранного устройства с предохранительным клапаном полость между клапаном и мембраной должна сообщаться отводной трубкой с манометром: отсутствие давления на манометре — мембрана исправна; наличие давления — мембрана разрушена или негерметична.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64023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64023"/>
            <a:ext cx="10637215" cy="7200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Inter"/>
              </a:rPr>
              <a:t>Допускается установка переключающего устройства перед мембранными предохранительными устройствами при наличии удвоенного числа мембранных устройств — при этом защита сосуда от превышения давления должна обеспечиваться при любом положении переключающего устройства.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852160"/>
            <a:ext cx="11094415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Inter"/>
              </a:rPr>
              <a:t>Самовольное размещение мембран вне предназначенных узлов крепления недопустимо.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10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8CAF29-546C-47E2-A128-F6C0FF890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5396EBE-EE91-4FEF-BB9F-9CBF7698145A}"/>
              </a:ext>
            </a:extLst>
          </p:cNvPr>
          <p:cNvSpPr/>
          <p:nvPr/>
        </p:nvSpPr>
        <p:spPr>
          <a:xfrm>
            <a:off x="457200" y="923192"/>
            <a:ext cx="11185855" cy="48215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94415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 i="0" dirty="0" err="1">
                <a:solidFill>
                  <a:schemeClr val="bg1"/>
                </a:solidFill>
                <a:latin typeface="Inter"/>
              </a:rPr>
              <a:t>Правила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размещения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мембран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узлах</a:t>
            </a:r>
            <a:r>
              <a:rPr sz="3000" b="1" i="0" dirty="0">
                <a:solidFill>
                  <a:schemeClr val="bg1"/>
                </a:solidFill>
                <a:latin typeface="Inter"/>
              </a:rPr>
              <a:t> </a:t>
            </a:r>
            <a:r>
              <a:rPr sz="3000" b="1" i="0" dirty="0" err="1">
                <a:solidFill>
                  <a:schemeClr val="bg1"/>
                </a:solidFill>
                <a:latin typeface="Inter"/>
              </a:rPr>
              <a:t>крепления</a:t>
            </a:r>
            <a:endParaRPr sz="3000" b="1" i="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3100959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30613"/>
                </a:solidFill>
                <a:latin typeface="Inter"/>
              </a:rPr>
              <a:t>Обязательные требования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420999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558159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58159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Порядок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сроки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исправности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ремонта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срабатывания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должны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быть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указаны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производственной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инструкции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утверждённой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руководством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эксплуатирующей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организации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06265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06265"/>
            <a:ext cx="1063721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Результаты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предохранительных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устройств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оформляются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актами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отражаются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соответствующем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журнале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14341"/>
            <a:ext cx="411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30613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14341"/>
            <a:ext cx="1063721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Inter"/>
              </a:rPr>
              <a:t>Результаты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проверки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исправности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и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сведения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о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настройке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записываются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сменный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(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оперативный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)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журнал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или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эксплуатационные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документы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в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порядке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,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установленном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производственными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 </a:t>
            </a:r>
            <a:r>
              <a:rPr sz="1400" b="0" i="0" dirty="0" err="1">
                <a:solidFill>
                  <a:schemeClr val="bg1"/>
                </a:solidFill>
                <a:latin typeface="Inter"/>
              </a:rPr>
              <a:t>инструкциями</a:t>
            </a:r>
            <a:r>
              <a:rPr sz="1400" b="0" i="0" dirty="0">
                <a:solidFill>
                  <a:schemeClr val="bg1"/>
                </a:solidFill>
                <a:latin typeface="Inter"/>
              </a:rPr>
              <a:t>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271455" y="649224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E30613"/>
                </a:solidFill>
                <a:latin typeface="Inter"/>
                <a:ea typeface="Inter"/>
                <a:cs typeface="Inter"/>
              </a:rPr>
              <a:t>11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Допускаемые случаи установки сосудов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0000"/>
            <a:ext cx="10911535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Помимо открытых площадок и отдельно стоящих зданий допускается: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5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помещениях, примыкающих к производственным зданиям, при условии отделения капитальной стеной, прочность которой определена проектом с учётом максимально возможной нагрузки при разрушении сосуда.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0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производственных помещениях, включая помещения котельных, ТЭС и ГЭС, — в случаях, предусмотренных проектом, с учётом норм проектирования объектов в отношении сосудов, для которых по условиям технологического процесса невозможна или нецелесообразна установка вне производственного помещения.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50000"/>
            <a:ext cx="10496335" cy="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 заглублением в грунт — при обеспечении доступа к арматуре и защиты стенок сосуда от коррозии.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Устойчивость сосуда при установке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50000"/>
            <a:ext cx="10911535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Установка сосудов должна исключать возможность их опрокидывания.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5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Конкретные решения по установке сосуда, способу крепления и устройству фундамента определяются проектной документацией.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0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разработке решений учитываются указания организации-изготовителя сосуда в руководстве (инструкции) по эксплуатации.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50000"/>
            <a:ext cx="10496335" cy="7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 последовательном соединении нескольких сосудов необходимость или отсутствие арматуры между ними определяется проектной документацией.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Обратный клапан на линии подвода рабочей среды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00000"/>
            <a:ext cx="10911535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Inter"/>
                <a:ea typeface="Inter"/>
                <a:cs typeface="Inter"/>
              </a:rPr>
              <a:t>Обязательная установка обратного клапана на линии подвода: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 сосудам со взрывоопасной, пожароопасной рабочей средой, отнесённой к группе 1 в соответствии с ТР ТС 032/2013;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к испарителям с огневым или газовым обогревом.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8978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Обратный клапан должен автоматически закрываться давлением из сосуда и препятствовать выходу среды из сосуда при нарушении давления в подводящей линии.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06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50000"/>
            <a:ext cx="10911535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 среды от предохранительных устройств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Среда, выходящая из предохранительных устройств, должна отводиться в безопасное место.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Токсичные, взрыво- и пожароопасные технологические среды направляются в закрытые системы для утилизации или в системы организованного сжигания.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В обоснованных проектом случаях допускается сброс нетоксичных взрыво- и пожароопасных сред в атмосферу через сбросные трубопроводы, если конструкция и места размещения обеспечивают взрыво- и пожаробезопасное рассеивание.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Запрещается объединять сбросы, содержащие вещества, которые при смешивании образуют взрывоопасные смеси или нестабильные соединения.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5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50000"/>
            <a:ext cx="10496335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Отводящие трубопроводы и импульсные линии оснащаются дренажными устройствами в местах возможного скопления конденсата; конденсат отводится в безопасное место.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08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00000"/>
            <a:ext cx="1091153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Место установки мембранных предохранительных устройств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Мембранные предохранительные устройства устанавливаются на патрубках или трубопроводах, непосредственно присоединённых к сосуду.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Места установки должны быть открытыми и доступными для осмотра, монтажа и демонтажа.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Мембраны размещаются только в предназначенных для них узлах крепления.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000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00000"/>
            <a:ext cx="10496335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Inter"/>
                <a:ea typeface="Inter"/>
                <a:cs typeface="Inter"/>
              </a:rPr>
              <a:t>Присоединительные трубопроводы защищаются от замерзания рабочей среды.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55080"/>
            <a:ext cx="10911535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0015" y="64922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E30613"/>
                </a:solidFill>
                <a:latin typeface="Inter"/>
                <a:ea typeface="Inter"/>
                <a:cs typeface="Inter"/>
              </a:rPr>
              <a:t>09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834</Words>
  <Application>Microsoft Office PowerPoint</Application>
  <PresentationFormat>Широкоэкранный</PresentationFormat>
  <Paragraphs>70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Inter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3</cp:revision>
  <dcterms:created xsi:type="dcterms:W3CDTF">2013-01-27T09:14:16Z</dcterms:created>
  <dcterms:modified xsi:type="dcterms:W3CDTF">2026-08-27T10:31:25Z</dcterms:modified>
  <cp:category/>
</cp:coreProperties>
</file>