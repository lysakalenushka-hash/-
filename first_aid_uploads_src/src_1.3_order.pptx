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14"/>
  </p:notesMasterIdLst>
  <p:sldIdLst>
    <p:sldId id="280" r:id="rId4"/>
    <p:sldId id="293" r:id="rId5"/>
    <p:sldId id="294" r:id="rId6"/>
    <p:sldId id="295" r:id="rId7"/>
    <p:sldId id="296" r:id="rId8"/>
    <p:sldId id="298" r:id="rId9"/>
    <p:sldId id="299" r:id="rId10"/>
    <p:sldId id="300" r:id="rId11"/>
    <p:sldId id="301" r:id="rId12"/>
    <p:sldId id="282" r:id="rId13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 varScale="1">
        <p:scale>
          <a:sx n="36" d="100"/>
          <a:sy n="36" d="100"/>
        </p:scale>
        <p:origin x="84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130.xml"/><Relationship Id="rId39" Type="http://schemas.openxmlformats.org/officeDocument/2006/relationships/slideLayout" Target="../slideLayouts/slideLayout143.xml"/><Relationship Id="rId21" Type="http://schemas.openxmlformats.org/officeDocument/2006/relationships/slideLayout" Target="../slideLayouts/slideLayout125.xml"/><Relationship Id="rId34" Type="http://schemas.openxmlformats.org/officeDocument/2006/relationships/slideLayout" Target="../slideLayouts/slideLayout138.xml"/><Relationship Id="rId42" Type="http://schemas.openxmlformats.org/officeDocument/2006/relationships/slideLayout" Target="../slideLayouts/slideLayout146.xml"/><Relationship Id="rId47" Type="http://schemas.openxmlformats.org/officeDocument/2006/relationships/slideLayout" Target="../slideLayouts/slideLayout151.xml"/><Relationship Id="rId50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9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115.xml"/><Relationship Id="rId24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36.xml"/><Relationship Id="rId37" Type="http://schemas.openxmlformats.org/officeDocument/2006/relationships/slideLayout" Target="../slideLayouts/slideLayout141.xml"/><Relationship Id="rId40" Type="http://schemas.openxmlformats.org/officeDocument/2006/relationships/slideLayout" Target="../slideLayouts/slideLayout144.xml"/><Relationship Id="rId45" Type="http://schemas.openxmlformats.org/officeDocument/2006/relationships/slideLayout" Target="../slideLayouts/slideLayout149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35.xml"/><Relationship Id="rId44" Type="http://schemas.openxmlformats.org/officeDocument/2006/relationships/slideLayout" Target="../slideLayouts/slideLayout148.xml"/><Relationship Id="rId52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126.xml"/><Relationship Id="rId27" Type="http://schemas.openxmlformats.org/officeDocument/2006/relationships/slideLayout" Target="../slideLayouts/slideLayout131.xml"/><Relationship Id="rId30" Type="http://schemas.openxmlformats.org/officeDocument/2006/relationships/slideLayout" Target="../slideLayouts/slideLayout134.xml"/><Relationship Id="rId35" Type="http://schemas.openxmlformats.org/officeDocument/2006/relationships/slideLayout" Target="../slideLayouts/slideLayout139.xml"/><Relationship Id="rId43" Type="http://schemas.openxmlformats.org/officeDocument/2006/relationships/slideLayout" Target="../slideLayouts/slideLayout147.xml"/><Relationship Id="rId48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12.xml"/><Relationship Id="rId51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129.xml"/><Relationship Id="rId33" Type="http://schemas.openxmlformats.org/officeDocument/2006/relationships/slideLayout" Target="../slideLayouts/slideLayout137.xml"/><Relationship Id="rId38" Type="http://schemas.openxmlformats.org/officeDocument/2006/relationships/slideLayout" Target="../slideLayouts/slideLayout142.xml"/><Relationship Id="rId46" Type="http://schemas.openxmlformats.org/officeDocument/2006/relationships/slideLayout" Target="../slideLayouts/slideLayout150.xml"/><Relationship Id="rId20" Type="http://schemas.openxmlformats.org/officeDocument/2006/relationships/slideLayout" Target="../slideLayouts/slideLayout124.xml"/><Relationship Id="rId41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19.xml"/><Relationship Id="rId23" Type="http://schemas.openxmlformats.org/officeDocument/2006/relationships/slideLayout" Target="../slideLayouts/slideLayout127.xml"/><Relationship Id="rId28" Type="http://schemas.openxmlformats.org/officeDocument/2006/relationships/slideLayout" Target="../slideLayouts/slideLayout132.xml"/><Relationship Id="rId36" Type="http://schemas.openxmlformats.org/officeDocument/2006/relationships/slideLayout" Target="../slideLayouts/slideLayout140.xml"/><Relationship Id="rId49" Type="http://schemas.openxmlformats.org/officeDocument/2006/relationships/slideLayout" Target="../slideLayouts/slideLayout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538791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ПОРЯДОК И ПРИОРИТЕТНОСТЬ ОКАЗАНИЯ ПЕРВОЙ ПОМОЩИ</a:t>
            </a:r>
          </a:p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794112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797" y="184731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0916237" y="5096980"/>
            <a:ext cx="12192000" cy="7250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Оценка обстановки и обеспечение безопасных условий для оказания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собственной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жизни и здоровья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устранить угрожающие факторы для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прекратить действие повреждающих факторов на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при необходимости, оценить количество пострадавших;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извлечь пострадавшего из транспортного средства или других труднодоступных мест (при необходимости);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переместить пострадавшего (при необходимости).</a:t>
            </a:r>
          </a:p>
        </p:txBody>
      </p:sp>
      <p:pic>
        <p:nvPicPr>
          <p:cNvPr id="8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4161" y="346989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380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92126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0962721" y="5135324"/>
            <a:ext cx="12192000" cy="59582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Восстановление проходимости дыхательных путей и определение признаков жизни: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запрокинуть голову с подъемом подбородка;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выдвинуть нижнюю челюсть (при необходимости);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нормального дыхания с помощью слуха, зрения и осязания;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кровообращения путем проверки пульса на магистральных артериях (одновременно с определением дыхания и при наличии соответствующей подготовки). </a:t>
            </a:r>
            <a:endParaRPr/>
          </a:p>
        </p:txBody>
      </p:sp>
      <p:pic>
        <p:nvPicPr>
          <p:cNvPr id="10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90645" y="350823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493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4731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1543928" y="3435665"/>
            <a:ext cx="12192000" cy="9534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Проведение сердечно-легочной реанимации путем чередования: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давления руками на грудину пострадавшего;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искусственного дыхания «Рот ко рту», «Рот к носу», с использованием устройств для искусственного дыхания. 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Поддержание проходимости дыхательных путей: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придать устойчивое боковое положение;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запрокинуть голову с подъемом подбородка;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выдвинуть нижнюю челюсть.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Остановка наружного кровотечения: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давящей повязки;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пальцевым прижатием артерии;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прямым давлением на рану;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максимальным сгибанием конечности в суставе;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жгута.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pic>
        <p:nvPicPr>
          <p:cNvPr id="11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852173" y="341157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71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86617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0716136" y="4457055"/>
            <a:ext cx="12192000" cy="858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Провести подробный осмотр пострадавшего и выполнить мероприятия по оказанию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головы;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шеи;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груди;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спины;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живота и таза;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осмотр конечностей;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наложить повязки при травмах различных областей тела;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иммобилизацию;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зафиксировать шейный отдел позвоночника;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прекратить воздействие опасных химических веществ на пострадавшего;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местное охлаждение при травмах, термических ожогах и иных воздействиях высоких температур или теплового излучения;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термоизоляцию при отморожениях и других эффектах воздействия низких температур.</a:t>
            </a:r>
            <a:endParaRPr/>
          </a:p>
        </p:txBody>
      </p:sp>
      <p:pic>
        <p:nvPicPr>
          <p:cNvPr id="13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0713" y="346607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03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562282" y="4890177"/>
            <a:ext cx="7085602" cy="82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 bwMode="auto">
          <a:xfrm>
            <a:off x="1878928" y="3861695"/>
            <a:ext cx="5915402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в сознании)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984951" y="3861696"/>
            <a:ext cx="6195928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без сознания)</a:t>
            </a:r>
            <a:endParaRPr/>
          </a:p>
        </p:txBody>
      </p:sp>
      <p:pic>
        <p:nvPicPr>
          <p:cNvPr id="13" name="Рисунок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592296" y="5677536"/>
            <a:ext cx="7478451" cy="7096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65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944528" y="4625752"/>
            <a:ext cx="5899061" cy="85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Прямоугольник 14"/>
          <p:cNvSpPr/>
          <p:nvPr/>
        </p:nvSpPr>
        <p:spPr bwMode="auto">
          <a:xfrm>
            <a:off x="16350677" y="3756982"/>
            <a:ext cx="649291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с поддержкой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38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66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366357" y="4690191"/>
            <a:ext cx="6062306" cy="862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69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509197" y="4749193"/>
            <a:ext cx="5277914" cy="745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68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591581" y="4769848"/>
            <a:ext cx="5356241" cy="79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Прямоугольник 18"/>
          <p:cNvSpPr/>
          <p:nvPr/>
        </p:nvSpPr>
        <p:spPr bwMode="auto">
          <a:xfrm>
            <a:off x="2020175" y="3556997"/>
            <a:ext cx="640848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волоком </a:t>
            </a:r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9509197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спине 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16336314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на руках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381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2" name="Рисунок 7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8074931" y="4732576"/>
            <a:ext cx="6289969" cy="8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67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04649" y="4523499"/>
            <a:ext cx="5850179" cy="8114764"/>
          </a:xfrm>
          <a:prstGeom prst="rect">
            <a:avLst/>
          </a:prstGeom>
          <a:noFill/>
        </p:spPr>
      </p:pic>
      <p:pic>
        <p:nvPicPr>
          <p:cNvPr id="14" name="Рисунок 71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335351" y="4571040"/>
            <a:ext cx="5137895" cy="848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72"/>
          <p:cNvPicPr>
            <a:picLocks noChangeAspect="1" noChangeArrowheads="1"/>
          </p:cNvPicPr>
          <p:nvPr/>
        </p:nvPicPr>
        <p:blipFill>
          <a:blip r:embed="rId5"/>
          <a:srcRect l="14296" r="12385"/>
          <a:stretch/>
        </p:blipFill>
        <p:spPr bwMode="auto">
          <a:xfrm>
            <a:off x="14794913" y="7894084"/>
            <a:ext cx="4316032" cy="501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Прямоугольник 22"/>
          <p:cNvSpPr/>
          <p:nvPr/>
        </p:nvSpPr>
        <p:spPr bwMode="auto">
          <a:xfrm>
            <a:off x="1373521" y="3599381"/>
            <a:ext cx="561882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плече </a:t>
            </a: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7942121" y="3588251"/>
            <a:ext cx="6766239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четырех рук 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5377860" y="3626514"/>
            <a:ext cx="8856710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трех рук с поддержкой под спину</a:t>
            </a:r>
          </a:p>
        </p:txBody>
      </p:sp>
      <p:pic>
        <p:nvPicPr>
          <p:cNvPr id="26" name="Рисунок 70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975540" y="4821865"/>
            <a:ext cx="3078163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033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lang="ru-RU" sz="4600" dirty="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75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303568" y="4258395"/>
            <a:ext cx="10234224" cy="847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7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08099" y="5058726"/>
            <a:ext cx="7499619" cy="728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Прямоугольник 17"/>
          <p:cNvSpPr/>
          <p:nvPr/>
        </p:nvSpPr>
        <p:spPr bwMode="auto">
          <a:xfrm>
            <a:off x="1852626" y="3433811"/>
            <a:ext cx="562276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за руки и ноги </a:t>
            </a:r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9387659" y="3576588"/>
            <a:ext cx="13851869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Переноска пострадавшего с подозрением на травму позвоночника</a:t>
            </a:r>
          </a:p>
        </p:txBody>
      </p:sp>
      <p:pic>
        <p:nvPicPr>
          <p:cNvPr id="20" name="Рисунок 7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7028172" y="7601336"/>
            <a:ext cx="8065534" cy="6826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9265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1184</TotalTime>
  <Words>472</Words>
  <Application>Microsoft Office PowerPoint</Application>
  <DocSecurity>0</DocSecurity>
  <PresentationFormat>Произвольный</PresentationFormat>
  <Paragraphs>90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130</cp:revision>
  <dcterms:modified xsi:type="dcterms:W3CDTF">2026-08-07T11:55:16Z</dcterms:modified>
  <cp:category/>
  <dc:identifier/>
  <cp:contentStatus/>
  <dc:language/>
  <cp:version/>
</cp:coreProperties>
</file>