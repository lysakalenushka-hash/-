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18"/>
    <p:sldId id="269" r:id="rId19"/>
    <p:sldId id="270" r:id="rId20"/>
    <p:sldId id="274" r:id="rId24"/>
    <p:sldId id="275" r:id="rId25"/>
    <p:sldId id="271" r:id="rId21"/>
    <p:sldId id="272" r:id="rId22"/>
    <p:sldId id="273" r:id="rId23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76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11.xml"/><Relationship Id="rId7" Type="http://schemas.openxmlformats.org/officeDocument/2006/relationships/slide" Target="slides/slide12.xml"/><Relationship Id="rId8" Type="http://schemas.openxmlformats.org/officeDocument/2006/relationships/slide" Target="slides/slide13.xml"/><Relationship Id="rId9" Type="http://schemas.openxmlformats.org/officeDocument/2006/relationships/slide" Target="slides/slide14.xml"/><Relationship Id="rId10" Type="http://schemas.openxmlformats.org/officeDocument/2006/relationships/slide" Target="slides/slide15.xml"/><Relationship Id="rId11" Type="http://schemas.openxmlformats.org/officeDocument/2006/relationships/slide" Target="slides/slide16.xml"/><Relationship Id="rId12" Type="http://schemas.openxmlformats.org/officeDocument/2006/relationships/slide" Target="slides/slide17.xml"/><Relationship Id="rId13" Type="http://schemas.openxmlformats.org/officeDocument/2006/relationships/slide" Target="slides/slide18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Техническое освидетельствование подъёмных сооружений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Цели, порядок и структура проверки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95097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Техническое освидетельствование подъёмных сооружений (ПС) — комплекс проверочных мероприятий, направленных на подтверждение соответствия оборудования требованиям промышленной безопасности. Включает осмотр, проверку документации, статические и динамические испытания. По итогам освидетельствования определяется возможность дальнейшей эксплуатации ПС, устанавливаются допустимые параметры работы и сроки следующей проверки.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64845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785616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Модуль охватывает: виды освидетельствования (первичное, периодическое, внеочередное), ответственных лиц, порядок оформления результатов и критерии допуска ПС к работе.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Правовая основа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Техническое освидетельствование подъёмных сооружений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Определение и нормативная база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66420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Техническое освидетельствование — комплекс проверочных мероприятий, проводимых в отношении подъёмных сооружений (кранов, подъёмников, вышек и иных ПС) с целью подтверждения их соответствия требованиям промышленной безопасности, исправности конструкций и механизмов, а также пригодности к дальнейшей эксплуатации.
Проведение технического освидетельствования регулируется Федеральными нормами и правилами в области промышленной безопасности «Правила безопасности опасных производственных объектов, на которых используются подъёмные сооружения» (утв. приказом Ростехнадзора № 461 от 26.11.2020). Освидетельствование подразделяется на первичное (до пуска в работу), периодическое (в установленные сроки эксплуатации) и внеочередное (после ремонта, реконструкции, аварии или длительного простоя).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361688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498848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Своевременное прохождение освидетельствования — обязательное условие законной эксплуатации подъёмного сооружения на опасном производственном объекте.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Установка ПС и производство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Требования к организации работ с применением ПС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Выполнение работ с применением ПС в стеснённых условиях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29076"/>
            <a:ext cx="4572000" cy="2011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63" b="1">
                <a:solidFill>
                  <a:srgbClr val="E30613"/>
                </a:solidFill>
                <a:latin typeface="Inter"/>
              </a:rPr>
              <a:t>155–163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8611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Inter"/>
              </a:rPr>
              <a:t>пп. ФНП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56655" y="3268975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56655" y="3406135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ППР разрабатывается эксплуатирующей или специализированной организацией по пп. 155–163 ФНП. ППР и ТК утверждаются организацией, эксплуатирующей ПС. Изменения вносятся только разработчиком.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6655" y="3863335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Выполнение работ осуществляется в соответствии с ППР, разработанным эксплуатирующей или специализированной организацией (в т. ч. по заданию Госкорпорации). Время производства работ, выходы персонала и зона перемещения грузов определяются ППР. Эксплуатация ПС с отступлениями от требований ППР не допускается.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Установка ПС и производство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Требования к ППР при работе ПС в стеснённых условиях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Пункты 155–163 ФНП. Эксплуатация ПС с отступлениями от ППР и ТК не допускается.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Когда требуется ППР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Стеснённые условия и проезжая часть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Выполнение строительно-монтажных, погрузочно-разгрузочных работ над действующими коммуникациями, проезжей частью улиц или в стеснённых условиях — при необходимости ограничения зоны перемещения ПС и грузов.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02761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Башенные и иные ПС на ОПО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31361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Работы с применением ПС на ОПО осуществляются в соответствии с ППР, разработанным эксплуатирующей или специализированной организацией (п. 155–163 ФНП).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70882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Монтаж, демонтаж, ремонт оборудования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99482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Для выполнения таких работ с применением ПС должны быть разработаны ППР и (или) ТК с учётом специфики выполняемых работ.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04104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Погрузочно-разгрузочные работы на базах и складах выполняются по ТК (п. 155–163 ФНП), если иное не предусмотрено п. 98 ФНП.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2377440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Обязательное содержание ППР и ТК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24447" y="2697480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24447" y="2834640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Схемы строповки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063240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Схемы строповки деталей, узлов и элементов оборудования, перемещаемых ПС во время монтажа, демонтажа и ремонта.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3614166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Кантовка оборудования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842766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Способы безопасной кантовки с указанием применяемых грузозахватных приспособлений.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393692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Выходы и позиции персонала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4622292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Требования к месту нахождения стропальщиков и сигнальщиков при кантовке и перемещении деталей, узлов, элементов оборудования (обеспечение безопасных выходов из рабочей зоны).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5215509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ППР и ТК утверждает организация, эксплуатирующая ПС. Эксплуатация с отступлениями не допускается.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с отступлениями от требований ППР и ТК не допускается (п. 155–163 ФНП).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Установка ПС и производство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Перемещение грузов и основные запреты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При перемещении груза ПС и в процессе работ необходимо соблюдать требования промышленной безопасности.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9694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Перечень оснований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31698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4541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5414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Горизонтальное перемещение — на 0,5 м выше встречающихся предметов; опускать груз только на предназначенное место.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22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62222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Запрещён подъём груза неизвестной массы, подтаскивание по земле, оттягивание груза при подъёме и перемещении.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6455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6455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Запрещены работа при неисправных ограничителях и тормозах, нахождение людей под стрелой, перемещение людей грузовыми подъемниками.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6689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66894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Запрещено выравнивать груз руками и менять стропы на подвешенном грузе; разворот вручную — только до 1 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Inter"/>
              </a:rPr>
              <a:t>По окончании работ на грузозахватном органе не должно оставаться подвешенного груза.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Установка ПС и производство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Установка ПС: расстояния и опасные зоны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Установка кранов и других ПС должна исключать задевание конструкций и обеспечивать безопасные зазоры.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90195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Внеочередное техническое освидетельствование (ВТО) — это освидетельствование подъёмного сооружения, которое проводится не по плановому графику, а при наступлении специально оговорённых обстоятельств: после аварии или инцидента, ремонта несущих металлоконструкций, замены грузозахватного органа, перестановки на новый объект, длительного простоя или по требованию инспектора Ростехнадзора.
В системе надзора ВТО выполняет функцию оперативного контроля: оно восстанавливает доверие к техническому состоянию машины в ситуациях, когда плановый срок следующего освидетельствования ещё не наступил, но безопасность эксплуатации не может считаться подтверждённой. По объёму проверок ВТО, как правило, эквивалентно полному техническому освидетельствованию и включает осмотр, статические и динамические испытания, если иное не установлено эксплуатационной документацией.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599432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73659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Ключевое отличие от планового освидетельствования — основанием служит событие, а не истечение срока.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Система сигнализации при выполнении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Обмен сигналами между крановщиками и стропальщиками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Знаковая сигнализация и порядок связи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90195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Эксплуатирующая организация устанавливает порядок обмена сигналами между стропальщиками и крановщиками. Знаковая сигнализация и система сигналов при радиосвязи вносятся в производственные инструкции. При смене участка работы крановщики и стропальщики инструктируются под подпись о применяемой сигнализации.
Для подъемника связь с машинистом: до 10 м — голосом; свыше 10 м — знаковая сигнализация; свыше 22 м — радио- или телефонная связь.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599432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73659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При работе подъемника связь между люлькой и машинистом должна поддерживаться непрерывно.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Пуск ПС в работу и постановка на учёт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Основания и документы для пуска ПС в работу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Решение о пуске выдаёт ответственный за производственный контроль; для ряда ПС создаётся комиссия.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90195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Эксплуатирующая организация устанавливает порядок обмена сигналами между стропальщиками и крановщиками. Знаковая сигнализация и система сигналов при радиосвязи вносятся в производственные инструкции. При смене участка работы крановщики и стропальщики инструктируются под подпись о применяемой сигнализации.
Для подъемника связь с машинистом: до 10 м — голосом; свыше 10 м — знаковая сигнализация; свыше 22 м — радио- или телефонная связь.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599432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73659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При работе подъемника связь между люлькой и машинистом должна поддерживаться непрерывно.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10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Виды технического освидетельствования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Периодическое техническое освидетельствование ПС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Периодичность и объём проверок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90195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ПС подвергаются техническому освидетельствованию до пуска и в процессе эксплуатации. Периодическое ТО включает: частичное — не реже 1 раза в 12 месяцев; полное — не реже 1 раза в 3 года (для ПС, используемых только при ремонте оборудования, — 1 раз в 5 лет).
При полном ТО проводятся осмотр, статические и динамические испытания, испытания на устойчивость (если предусмотрено паспортом). При частичном ТО статические и динамические испытания не выполняются.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599432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73659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Результаты фиксируются в паспорте ПС с указанием срока следующего освидетельствования.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11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Действия в аварийных ситуациях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Инструкции для работников ОПО, эксплуатирующих ПС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В организации должны быть разработаны и доведены под подпись инструкции о действиях в аварийных ситуациях.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90195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Эксплуатирующая организация устанавливает порядок обмена сигналами между стропальщиками и крановщиками. Знаковая сигнализация и система сигналов при радиосвязи вносятся в производственные инструкции. При смене участка работы крановщики и стропальщики инструктируются под подпись о применяемой сигнализации.
Для подъемника связь с машинистом: до 10 м — голосом; свыше 10 м — знаковая сигнализация; свыше 22 м — радио- или телефонная связь.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599432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73659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При работе подъемника связь между люлькой и машинистом должна поддерживаться непрерывно.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12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Итог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Установка ПС и производство работ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Ключевые требования при эксплуатации ПС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Проверьте себя: вы освоили модуль, если знаете следующее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51460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65176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Работы в стеснённых условиях выполняются только по утверждённому ППР и (или) ТК.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5983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5983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ПС устанавливаются по руководству по эксплуатации; груз поднимают минимум на 0,5 м над препятствиями.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6791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6791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Работа вблизи ВЛ — только по наряду-допуску и под руководством ответственного ИТР.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759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7598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Подъём начинают с 0,2–0,3 м для проверки строповки и тормоза; под грузом людей быть не должно.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840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84064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Кантовка — только на кантовальных площадках или по ППР; при массе &gt; 75 % грузоподъёмности — под руководством ИТР.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48640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… ещё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Inter"/>
              </a:rPr>
              <a:t>Эксплуатация ПС с отступлениями от ППР, ТК и требований ФНП запрещена.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13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Виды технического освидетельствования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Внеочередное техническое освидетельствование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Проводится вне установленного планового цикла — по факту наступления определённых событий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90195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Внеочередное техническое освидетельствование (ВТО) — это освидетельствование подъёмного сооружения, которое проводится не по плановому графику, а при наступлении специально оговорённых обстоятельств: после аварии или инцидента, ремонта несущих металлоконструкций, замены грузозахватного органа, перестановки на новый объект, длительного простоя или по требованию инспектора Ростехнадзора.
В системе надзора ВТО выполняет функцию оперативного контроля: оно восстанавливает доверие к техническому состоянию машины в ситуациях, когда плановый срок следующего освидетельствования ещё не наступил, но безопасность эксплуатации не может считаться подтверждённой. По объёму проверок ВТО, как правило, эквивалентно полному техническому освидетельствованию и включает осмотр, статические и динамические испытания, если иное не установлено эксплуатационной документацией.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599432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73659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Ключевое отличие от планового освидетельствования — основанием служит событие, а не истечение срока.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14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Внеочередное полное 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Основания для назначения внеочередного полного технического освидетельствования ПС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Внеочередное полное ТО проводится после следующих событий (все пункты — основания для обязательного освидетельствования):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9694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Перечень оснований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31698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4541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5414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Монтаж, вызванный установкой ПС на новом месте (кроме подъёмников, вышек, стреловых и быстромонтируемых башенных кранов)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22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62222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б) Реконструкция (модернизация) ПС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6455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6455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в) Ремонт расчётных элементов металлоконструкций, узлов с заменой или применением сварки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6689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66894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г) Установка сменного стрелового оборудования или замена стрелы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При полном ТО ПС подвергаются осмотру, статическим и динамическим испытаниям, а также испытаниям на устойчивость (если характеристики устойчивости указаны в паспорте). Если проводится частичное ТО — статические и динамические испытания не выполняются. Заключение по итогам освидетельствования подтверждает соответствие ПС требованиям эксплуатационной документации и ФНП, а также его действия в безопасном состоянии.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15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Внеочередное полное 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Основания для назначения внеочередного полного технического освидетельствования ПС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6713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Перечень оснований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746753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883913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83913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д) Капитальный ремонт или замена грузовой или стреловой лебёдки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8625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86250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е) Замена грузозахватного органа — грузонесущего элемента ПС (проводятся только статические испытания; динамические испытания в этом случае не выполняются)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4325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94325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ж) Замена несущих или вантовых канатов кранов кабельного типа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16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Основание для внеочередного полного 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Замена несущих или вантовых канатов кранов кабельного типа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Пункт ж) перечня оснований для внеочередного полного технического освидетельствования ПС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66420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После замены несущих или вантовых канатов кранов кабельного типа проводится внеочередное полное техническое освидетельствование ПС. Полное освидетельствование включает: осмотр грузонесущих и иных конструктивных элементов, статические и динамические испытания. Если по результатам освидетельствования ПС подтверждает соответствие требованиям эксплуатационной документации и ФНП и находится в состоянии, обеспечивающем безопасную работу, — делается соответствующее заключение. Действия по проведению освидетельствования выполняет инженерно-технический работник, ответственный за осуществление производственного контроля при эксплуатации ПС, при участии работника, ответственного за содержание ПС в работоспособном состоянии.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361688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498848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Частичное техническое освидетельствование в данном случае не применяется: статические и динамические испытания обязательны.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17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Техническое освидетельствование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Порядок проведения внеочередного полного 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Назначается при наступлении установленных оснований — проводится в полном объёме планового технического освидетельствования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48877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Основания для назначения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768917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906077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Inter"/>
              </a:rPr>
              <a:t>Монтаж на новом месте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34677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Кроме подъемников, вышек, стреловых и быстромонтируемых башенных кранов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5603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Inter"/>
              </a:rPr>
              <a:t>Замена грузозахватного органа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14203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Проводятся только статические испытания; динамические испытания не выполняются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76534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Капитальный ремонт или реконструкция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05134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Замена или восстановление расчётных элементов металлоконструкции, замена механизмов или приборов безопасности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56060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Перемонтаж на новом месте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84660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Перестановка ПС, для которого монтаж является частью технологического цикла (башенные, козловые, мостовые краны)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377440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Состав и порядок проведения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24447" y="2697480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24447" y="2834640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1. Статическое испытание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3063240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125 % — для большинства ПС; 140 % — краны-трубоукладчики; 200 % — грузопассажирские и фасадные подъемники; 150 % — иные подъемники (вышки). Выдержка не менее 10 минут.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614166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2. Динамическое испытание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3842766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Нагрузка 110 % от номинальной; многократное выполнение рабочих движений; проверка действия тормозов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4393692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3. Осмотр и проверка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4622292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Визуальный и инструментальный контроль металлоконструкции, сварных соединений, крепёжных элементов, канатов и цепей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5026914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4. Испытания на устойчивость — при первичном ТО стреловых кранов, если в паспорте нет ссылок на ранее проведённые испытания.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Внеочередное ТО проводится до возобновления работы ПС. Эксплуатация до завершения освидетельствования — запрещена.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18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Итог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Ключевые основания и последовательность действий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Технического освидетельствования подъёмных сооружений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8716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Последовательность действий при техническом освидетельствовании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07208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94436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4436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Определить вид освидетельствования: первичное (до пуска в работу), периодическое (плановое) или внеочередное (после ремонта, реконструкции, аварии)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5244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52444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Убедиться в наличии оснований для проведения освидетельствования: истечение срока, замена несущих элементов, изменение места установки или вид нагрузки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1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19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Подготовить техническую документацию: паспорт ПС, акты предыдущих освидетельствований, сертификаты на канаты и цепи, журналы осмотров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6859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68596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Провести статическое испытание нагрузкой 125% от номинальной грузоподъёмности для проверки прочности конструкции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7093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70931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Провести динамическое испытание нагрузкой 110% от номинальной грузоподъёмности для проверки работы механизмов и тормозов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подъёмного сооружения без действующего освидетельствования запрещена.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19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Итог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Ключевые основания и последовательность действий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980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Последовательность действий при техническом освидетельствовании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33984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47700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700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Выполнить визуальный и инструментальный осмотр металлоконструкций, сварных швов, крюков, канатов, тормозных устройств и приборов безопасности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8508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85081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Проверить исправность и срабатывание ограничителей грузоподъёмности, концевых выключателей, блокировок и сигнальных устройств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Оформить результаты освидетельствования записью в паспорте ПС с указанием срока следующего освидетельствования и разрешённых параметров работы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123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01234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При выявлении нарушений — запретить эксплуатацию ПС до устранения замечаний и повторного освидетельствования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20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90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30613"/>
                </a:solidFill>
                <a:latin typeface="Inter"/>
              </a:rPr>
              <a:t>Система сигнализации при выполнении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Inter"/>
              </a:rPr>
              <a:t>Знаковая сигнализация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50000"/>
            <a:ext cx="1109441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Inter"/>
              </a:rPr>
              <a:t>Рисунки 1–5. Сигналы, применяемые при работе подъемника (вышки) и крана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0000"/>
            <a:ext cx="2080000" cy="3900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ignal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40" y="2300000"/>
            <a:ext cx="1720000" cy="172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8640" y="5200000"/>
            <a:ext cx="192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Inter"/>
              </a:rPr>
              <a:t>01. Готовность подавать команду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640" y="2100000"/>
            <a:ext cx="2080000" cy="3900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ignal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640" y="2300000"/>
            <a:ext cx="1720000" cy="17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68640" y="5200000"/>
            <a:ext cx="192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Inter"/>
              </a:rPr>
              <a:t>02. Остановка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8640" y="2100000"/>
            <a:ext cx="2080000" cy="3900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ignal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640" y="2300000"/>
            <a:ext cx="1720000" cy="172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08640" y="5200000"/>
            <a:ext cx="192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Inter"/>
              </a:rPr>
              <a:t>03. Замедление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8640" y="2100000"/>
            <a:ext cx="2080000" cy="3900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ignal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8640" y="2300000"/>
            <a:ext cx="1720000" cy="172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48640" y="5200000"/>
            <a:ext cx="192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Inter"/>
              </a:rPr>
              <a:t>04. Подъём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8640" y="2100000"/>
            <a:ext cx="2080000" cy="3900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ignal_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8640" y="2300000"/>
            <a:ext cx="1720000" cy="172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88640" y="5200000"/>
            <a:ext cx="192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Inter"/>
              </a:rPr>
              <a:t>05. Опускание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30613"/>
                </a:solidFill>
                <a:latin typeface="Inter"/>
              </a:rPr>
              <a:t>08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90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30613"/>
                </a:solidFill>
                <a:latin typeface="Inter"/>
              </a:rPr>
              <a:t>Система сигнализации при выполнении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Inter"/>
              </a:rPr>
              <a:t>Знаковая сигнализация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50000"/>
            <a:ext cx="1109441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Inter"/>
              </a:rPr>
              <a:t>Рисунки 6–10. Сигналы управления стрелой и указания направления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0000"/>
            <a:ext cx="2080000" cy="3900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ignal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40" y="2300000"/>
            <a:ext cx="1720000" cy="172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8640" y="5200000"/>
            <a:ext cx="192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Inter"/>
              </a:rPr>
              <a:t>06. Указание направления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640" y="2100000"/>
            <a:ext cx="2080000" cy="3900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ignal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640" y="2300000"/>
            <a:ext cx="1720000" cy="17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68640" y="5200000"/>
            <a:ext cx="192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Inter"/>
              </a:rPr>
              <a:t>07. Поднять колено (стрелу)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8640" y="2100000"/>
            <a:ext cx="2080000" cy="3900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ignal_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640" y="2300000"/>
            <a:ext cx="1720000" cy="172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08640" y="5200000"/>
            <a:ext cx="192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Inter"/>
              </a:rPr>
              <a:t>08. Опустить колено (стрелу)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8640" y="2100000"/>
            <a:ext cx="2080000" cy="3900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ignal_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8640" y="2300000"/>
            <a:ext cx="1720000" cy="172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48640" y="5200000"/>
            <a:ext cx="192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Inter"/>
              </a:rPr>
              <a:t>09. Выдвинуть стрелу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8640" y="2100000"/>
            <a:ext cx="2080000" cy="3900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ignal_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8640" y="2300000"/>
            <a:ext cx="1720000" cy="172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88640" y="5200000"/>
            <a:ext cx="192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Inter"/>
              </a:rPr>
              <a:t>10. Втянуть стрелу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30613"/>
                </a:solidFill>
                <a:latin typeface="Inter"/>
              </a:rPr>
              <a:t>09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1438</Words>
  <Application>Microsoft Office PowerPoint</Application>
  <PresentationFormat>Широкоэкранный</PresentationFormat>
  <Paragraphs>143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2</cp:revision>
  <dcterms:created xsi:type="dcterms:W3CDTF">2013-01-27T09:14:16Z</dcterms:created>
  <dcterms:modified xsi:type="dcterms:W3CDTF">2026-07-29T10:36:27Z</dcterms:modified>
  <cp:category/>
</cp:coreProperties>
</file>