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6"/>
    <p:sldId id="259" r:id="rId5"/>
    <p:sldId id="260" r:id="rId4"/>
    <p:sldId id="261" r:id="rId3"/>
    <p:sldId id="262" r:id="rId2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76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7.xml"/><Relationship Id="rId3" Type="http://schemas.openxmlformats.org/officeDocument/2006/relationships/slide" Target="slides/slide6.xml"/><Relationship Id="rId4" Type="http://schemas.openxmlformats.org/officeDocument/2006/relationships/slide" Target="slides/slide5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A341D-620E-44CB-9851-D82706482BB9}" type="datetimeFigureOut">
              <a:rPr lang="ru-RU" smtClean="0"/>
              <a:t>04.08.2026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EE8A1-FF6F-4A9B-9D88-A8D4BB7BC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992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1. СВАРОЧНЫЕ РАБОТЫ НА ОПО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800" b="1">
                <a:solidFill>
                  <a:srgbClr val="1A1A1A"/>
                </a:solidFill>
                <a:latin typeface="Arial"/>
              </a:rPr>
              <a:t>Общие требования к производству сварочных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8288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A1A1A"/>
                </a:solidFill>
                <a:latin typeface="Arial"/>
              </a:rPr>
              <a:t>Производство сварочных работ — деятельность персонала сварочного производства с применением сварочных и родственных процессов, сварочных материалов и оборудования с соблюдением норм, правил, методик и условий для получения сварных соединений с качеством, соответствующим нормативным требованиям.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754880"/>
            <a:ext cx="6583680" cy="109728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59E0B"/>
                </a:solidFill>
                <a:latin typeface="Arial"/>
              </a:rPr>
              <a:t>На ОПО сварку выполняют по аттестованным технологиям и ПТД.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688615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01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38199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Персонал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Обязанности персонала сварочного производства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Сварщики, операторы, специалисты и контролёры обеспечивают: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техническую и технологическую подготовку и выполнение сварочных работ по ФНП и НД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безопасную эксплуатацию, обслуживание и ремонт сварочного оборудования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соблюдение технологий сварки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контроль качества сварных соединений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02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Аттестация персонала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Квалификация и аттестация сварщиков и специалистов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Допуск к сварочным работам на ОПО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квалификация соответствует видам работ и применяемым технологиям сварки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сварщики и специалисты аттестованы для способов, конструкций, положений и материалов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допуск — по положительным результатам аттестационных испытаний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аттестацию проводят независимые аттестационные центры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Без положительных результатов аттестационных испытаний к работам не допускают.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03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Аттестация технологий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Проверка готовности к применению аттестованных технологий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Организации и индивидуальные предприниматели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работы выполняют организации (ИП), прошедшие проверку готовности технологий на ОПО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проверка подтверждает технические, организационные и квалификационные возможности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контрольные сварные соединения выполняют на месте производства работ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положительные результаты оформляют документом с подтверждёнными характеристиками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04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Организация работ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Кто обеспечивает организацию и выполнение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Ответственность руководства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организацию обеспечивает руководитель организации (ИП) или уполномоченное лицо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аттестационные процедуры — руководитель независимого аттестационного центра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работы выполняют по ПТД, разработанной специалистом сварочного производства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ПТД утверждает руководитель (технический руководитель) или ИП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ПТД разрабатывают на основании проектной документации и НПА/НД РФ.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05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ПТД (1/5)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технологических инструкциях и картах сварки устанавливают: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способы сварки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требования к квалификации, аттестации и допускным испытаниям сварщиков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требования к сборке, прихваткам и приварке временных технологических креплений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конструкция нестандартизированных сварных соединений (в т. ч. разной толщины)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06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ПТД (2/5)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технологических инструкциях и картах сварки устанавливают: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требования к хранению и подготовке сварочных материалов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сочетания марок основных и сварочных материалов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типоразмеры сварочных материалов (электрод, проволока, лента)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используемое сварочное оборудование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07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ПТД (3/5)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технологических инструкциях и картах сварки устанавливают: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род и полярность сварочного тока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типы выполняемых сварных соединений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режимы сварки для конкретных сварных соединений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необходимость, методы и режимы предварительного и сопутствующего подогрева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08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ПТД (4/5)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технологических инструкциях и картах сварки устанавливают: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пространственные положения при сварке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 и последовательность выполнения шва (наплавки)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способы защиты зоны сварки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 и способы маркировки сварных соединений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09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ПТД (5/5)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Производственно-технологическая документация по сварке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технологических инструкциях и картах сварки устанавливают: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методы и объёмы НК и механических испытаний (при наличии требований НД)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требования к исправлению дефектов и контролю после исправления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Конструктивные элементы, режимы и контроль указывают в технологических картах.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10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Сборка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Требования по сборке деталей под сварку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ПТД по сборке должны быть приведены: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способы подготовки поверхностей деталей под сварку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приспособления и оборудование для сборки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порядок и последовательность сборки; способы крепления деталей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способы сварки, материалы и режимы прихваток и временных креплений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11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Сборка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Требования по сборке деталей под сварку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ПТД по сборке должны быть приведены: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размеры, количество и расположение прихваток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методы контроля качества сборки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Стыковые кольцевые швы собирают с соосным позиционированием и фиксацией.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12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Оборудование и материалы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Сварочное оборудование и сварочные материалы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Соответствие аттестованным технологиям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оборудование и материалы соответствуют применяемым аттестованным технологиям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сварочно-технологические характеристики обеспечивают качество соединений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соответствие технологиям и нормам качества подтверждают независимые аттестационные центры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оборудование содержат в исправном состоянии по указаниям производителя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13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Руководство работами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Обязанности руководителя перед началом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Лицо, осуществляющее руководство сварочными работами, обязано: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проверить состав и квалификацию персонала, оборудование, материалы и технологию по ПТД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ознакомить сварщиков с технологическими картами и изменениями — под подпись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организовать проведение операционного контроля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14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Допуск и рабочее место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Допускные испытания и комплектация места сварки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Перед допуском к сварке на объекте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при первом допуске или после перерыва дольше нормы НД — допускные соединения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конструкцию, методы и объём контроля допускных соединений определяет руководитель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место работ комплектуют исправным оборудованием, оснасткой и инструментом по ПТД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место сварки защищают от осадков, влаги, сквозняков и иных воздействий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15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Контроль качества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9144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Место контроля в производственном процессе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83080"/>
            <a:ext cx="10515600" cy="45720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Виды контроля при подготовке и выполнении сварочных работ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31720"/>
            <a:ext cx="3200400" cy="3657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1">
                <a:solidFill>
                  <a:srgbClr val="E30613"/>
                </a:solidFill>
                <a:latin typeface="Arial"/>
              </a:rPr>
              <a:t>Этапы контроля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3200400" cy="306943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E30613"/>
                </a:solidFill>
                <a:latin typeface="Arial"/>
              </a:rPr>
              <a:t>Кто обеспечивает контроль</a:t>
            </a:r>
            <a:endParaRPr sz="1300" dirty="0">
              <a:solidFill>
                <a:srgbClr val="1A1A1A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24528" y="2331720"/>
            <a:ext cx="3200400" cy="3657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Arial"/>
              </a:rPr>
              <a:t>•  Входной — материалы и документация до начала работ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Операционный — подготовка, сборка, прихватка, сварка, обработка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Приёмочный — все выполненные сварные соединения по ПТД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24528" y="2743200"/>
            <a:ext cx="3200400" cy="284937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1A1A1A"/>
                </a:solidFill>
                <a:latin typeface="Arial"/>
              </a:rPr>
              <a:t>•  персонал сварочного производства (сварщики, специалисты, контролёры)</a:t>
            </a:r>
            <a:endParaRPr sz="1300" dirty="0">
              <a:solidFill>
                <a:srgbClr val="1A1A1A"/>
              </a:solidFill>
              <a:latin typeface="Arial"/>
            </a:endParaRP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организация / ИП определяет состав персонала и обеспечивает требования</a:t>
            </a:r>
          </a:p>
          <a:p>
            <a:r>
              <a:rPr sz="1300" b="0">
                <a:solidFill>
                  <a:srgbClr val="1A1A1A"/>
                </a:solidFill>
                <a:latin typeface="Arial"/>
              </a:rPr>
              <a:t>•  руководитель сварочных работ организует операционный контроль</a:t>
            </a:r>
          </a:p>
        </p:txBody>
      </p:sp>
      <p:pic>
        <p:nvPicPr>
          <p:cNvPr id="9" name="Picture 8" descr="_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79" y="5852160"/>
            <a:ext cx="5029200" cy="1371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16 / 26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19" y="2240279"/>
            <a:ext cx="39319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Виды контроля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Входной, операционный и приёмочный контроль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Что подлежит контролю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входной — все партии свариваемых и сварочных материалов до применения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операционный — все операции подготовки кромок, сборки, прихватки, сварки и обработки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приёмочный — все выполненные сварные соединения; методы и объём — по ПТД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При трещинах или недопустимых дефектах работы останавливают до устранения причин.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17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Входной контроль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Входной контроль материалов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Что проверяют до применения партий материалов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документы о качестве продукции (идентификация, материалы, результаты испытаний)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маркировка на каждом упаковочном месте: марка, сортамент, номер партии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отсутствие повреждений упаковки и самих материалов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покрытые электроды — номинальные размеры и состояние покрытия по сертификату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18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Входной контроль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Входной контроль материалов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Что проверяют до применения партий материалов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проволока и лента — размеры, вид и состояние поверхности, маркировка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флюс — цвет, однородность и гранулометрический состав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19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Операционный контроль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Операционный контроль сборки и подготовки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Что проверяют на операциях подготовки и сборки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наличие маркировки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размеры деталей и форму разделки кромок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качество подготовленных под сварку поверхностей (если регламентировано ПТД)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марки и типоразмеры сварочных материалов для прихваток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20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Операционный контроль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Операционный контроль сборки и подготовки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Что проверяют на операциях подготовки и сборки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надёжность фиксации и расположение деталей в сборочных приспособлениях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чистоту и отсутствие повреждений кромок и прилегающих поверхностей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размеры и расположение прихваток и швов приварки временных креплений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зазоры, смещение кромок, перелом осей или плоскостей после прихваток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21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Операционный контроль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Операционный контроль сборки и подготовки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Что проверяют на операциях подготовки и сборки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размеры собранной под сварку конструкции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22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Контроль в процессе сварки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Минимальный контроль во время сварки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процессе сварки проводят, как минимум: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соответствие параметров режима сварки и технологических приёмов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очерёдность выполнения сварных швов и участков наплавки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отсутствие видимых дефектов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иные параметры по технологическим (операционным) картам сварки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Устранение дефектов — по ПТД; после исправления — повторный контроль.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23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Маркировка и ремонт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Маркировка швов и исправление дефектов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После выполнения и при выявлении дефектов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сварные соединения маркируют по требованиям ПТД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маркировка — шифр клейма сварщика для однозначной идентификации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недопустимые дефекты исправляют по ПТД и карте на ремонт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число исправлений одного участка — не выше указанного в ПТД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24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Документация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Что обязан обеспечить руководитель сварочных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При производстве сварочных работ обеспечивают: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идентификацию применяемых сварочных материалов и оборудования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выполнение соединений по технологическим (операционным) картам сварки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регистрацию сведений о сварщиках, выполняющих соединения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идентификацию мест швов в конструкции и мест исправления дефектов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Также регистрируют результаты контроля качества, включая контроль после ремонта.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25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058400" cy="32004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300" b="1">
                <a:solidFill>
                  <a:srgbClr val="E30613"/>
                </a:solidFill>
                <a:latin typeface="Arial"/>
              </a:rPr>
              <a:t>РАЗДЕЛ 1 · Итоги 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6766560" cy="128016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2400" b="1">
                <a:solidFill>
                  <a:srgbClr val="1A1A1A"/>
                </a:solidFill>
                <a:latin typeface="Arial"/>
              </a:rPr>
              <a:t>Исполнительная документация и ключевые требования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68880"/>
            <a:ext cx="6583680" cy="190468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6B7280"/>
                </a:solidFill>
                <a:latin typeface="Arial"/>
              </a:rPr>
              <a:t>В процессе сварочных работ оформляют:</a:t>
            </a:r>
            <a:endParaRPr lang="ru-RU" sz="1000" b="0" dirty="0">
              <a:solidFill>
                <a:srgbClr val="1A1A1A"/>
              </a:solidFill>
              <a:latin typeface="Arial"/>
            </a:endParaRP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журналы сварочных работ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паспорта, акты и заключения по неразрушающему контролю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протоколы испытаний сварных соединений</a:t>
            </a:r>
          </a:p>
          <a:p>
            <a:r>
              <a:rPr sz="1400" b="0">
                <a:solidFill>
                  <a:srgbClr val="1A1A1A"/>
                </a:solidFill>
                <a:latin typeface="Arial"/>
              </a:rPr>
              <a:t>•  иную исполнительную и эксплуатационную документацию по ПТД и НД</a:t>
            </a:r>
          </a:p>
          <a:p>
            <a:r>
              <a:rPr sz="1200" b="1">
                <a:solidFill>
                  <a:srgbClr val="F59E0B"/>
                </a:solidFill>
                <a:latin typeface="Arial"/>
              </a:rPr>
              <a:t>Сварка на ОПО — аттестованным персоналом, по ПТД и с полным циклом контроля.</a:t>
            </a:r>
          </a:p>
        </p:txBody>
      </p:sp>
      <p:pic>
        <p:nvPicPr>
          <p:cNvPr id="6" name="Picture 5" descr="_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5440680"/>
            <a:ext cx="5669280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37215" y="6455664"/>
            <a:ext cx="914400" cy="27432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r"/>
            <a:r>
              <a:rPr sz="1000" b="1">
                <a:solidFill>
                  <a:srgbClr val="E30613"/>
                </a:solidFill>
                <a:latin typeface="Arial"/>
              </a:rPr>
              <a:t>26 / 26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18872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526</Words>
  <Application>Microsoft Office PowerPoint</Application>
  <PresentationFormat>Широкоэкранный</PresentationFormat>
  <Paragraphs>43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smarta3@outlook.com</cp:lastModifiedBy>
  <cp:revision>2</cp:revision>
  <dcterms:created xsi:type="dcterms:W3CDTF">2013-01-27T09:14:16Z</dcterms:created>
  <dcterms:modified xsi:type="dcterms:W3CDTF">2026-08-04T07:38:17Z</dcterms:modified>
  <cp:category/>
</cp:coreProperties>
</file>