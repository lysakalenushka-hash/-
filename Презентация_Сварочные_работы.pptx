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ФНП · Сварочное производство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к производству сварочных работ на ОПО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Персонал · аттестация · ПТД · организация · контроль · документация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Производство сварочных работ — деятельность персонала сварочного производства с применением сварочных и родственных процессов, сварочных материалов и оборудования с соблюдением нормативных требований и проектной (конструкторской) документации.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На ОПО сварку выполняют только по аттестованным технологиям.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01 / 20</a:t>
            </a:r>
          </a:p>
        </p:txBody>
      </p:sp>
      <p:pic>
        <p:nvPicPr>
          <p:cNvPr id="11" name="Picture 10" descr="ar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Общие требования · Персонал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Обязанности персонала сварочного производства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Сварщики, операторы, специалисты и контролёры обеспечивают: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техническую и технологическую подготовку и выполнение сварочных работ с соблюдением требований ФНП и нормативных документов по сварке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безопасную эксплуатацию, обслуживание и ремонт сварочного оборудования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соблюдение технологий сварки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контроль качества сварных соединений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Аттестация · Персонал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Квалификация и аттестация сварщиков и специалистов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Допуск к сварочным работам на ОПО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квалификация должна соответствовать видам выполняемых работ и применяемым технологиям сварки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сварщики и специалисты должны быть аттестованы в установленном порядке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допуск — только на основании положительных результатов аттестационных испытаний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аттестация подтверждает возможность выполнения конкретных способов сварки для определённых видов конструкций, положений и материалов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03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0000"/>
            <a:ext cx="10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Inter"/>
              </a:rPr>
              <a:t>Без положительных результатов аттестационных испытаний к работам не допускают.</a:t>
            </a:r>
          </a:p>
        </p:txBody>
      </p:sp>
      <p:pic>
        <p:nvPicPr>
          <p:cNvPr id="12" name="Picture 11" descr="ppe_w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Аттестация · Технологии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Проверка готовности к применению аттестованных технологий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Организации и индивидуальные предприниматели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сварочные работы выполняют организации (ИП), прошедшие проверку готовности к применению аттестованных технологий сварки на ОПО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проверка подтверждает технические, организационные и квалификационные возможности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выполняют контрольные сварные соединения (в том числе наплавку) для оценки соответствия характеристик заявленным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положительные результаты оформляют документом с указанием подтверждённых характеристик сварочных работ и области допуска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Организация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Кто обеспечивает организацию и выполнение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Ответственность руководства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организацию и выполнение сварочных работ обеспечивает руководитель организации (ИП) или уполномоченное ими должностное лицо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организацию аттестационных процедур обеспечивает руководитель независимого аттестационного центра или уполномоченное им лицо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работы выполняют в соответствии с ПТД, разработанной специалистом сварочного производства с соответствующей квалификацией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ПТД разрабатывают на основании проектной (конструкторской) документации и требований НПА и НД, действующих на территории РФ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ПТД (технологические инструкции и карты сварки) устанавливают: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01.  способы сварки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02.  требования к квалификации, аттестации и допускным испытаниям сварщиков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03.  требования к сборке соединений, включая способы и режимы прихваток, указания по приварке временных технологических креплений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04.  конструкция нестандартизированных сварных соединений (например, стыковых соединений деталей разной толщины)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05.  требования к хранению и подготовке к использованию сварочных материалов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06.  сочетания марок основных и сварочных материалов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ПТД (технологические инструкции и карты сварки) устанавливают: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07.  типоразмеры сварочных материалов (диаметр электрода и/или проволоки, ширина и толщина ленты)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08.  используемое сварочное оборудование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09.  род и полярность сварочного тока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10.  типы выполняемых сварных соединений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11.  режимы сварки применительно к выполнению конкретных сварных соединений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12.  необходимость, методы и режимы предварительного и сопутствующего подогрева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ПТД · Содержание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Производственно-технологическая документация по сварке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ПТД (технологические инструкции и карты сварки) устанавливают: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13.  пространственные положения при сварке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14.  порядок и последовательность выполнения сварного шва (наплавки)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15.  способы защиты зоны сварки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16.  порядок и способы маркировки сварных соединений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17.  методы и объёмы неразрушающего контроля и механических испытаний (при наличии требований НД)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18.  требования к исправлению дефектов (ремонту) сварных соединений и контролю после исправления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08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0000"/>
            <a:ext cx="10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Inter"/>
              </a:rPr>
              <a:t>Конструктивные элементы, режимы и контроль должны обеспечивать качество и безопасность сварных соединений.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Сборка · Требования ПТД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Что должно быть в требованиях по сборке под сварку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Состав требований к сборке деталей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01.  способы подготовки поверхностей деталей под сварку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02.  используемые при сборке приспособления и оборудование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03.  порядок и последовательность сборки; способы крепления деталей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04.  способы сварки, сварочные материалы и режимы при выполнении прихваток и приварке временных технологических креплений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05.  размеры, количество и расположение прихваток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06.  методы контроля качества сборки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09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0000"/>
            <a:ext cx="10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Inter"/>
              </a:rPr>
              <a:t>Стыковые соединения с кольцевыми швами собирают с соосным позиционированием деталей.</a:t>
            </a:r>
          </a:p>
        </p:txBody>
      </p:sp>
      <p:pic>
        <p:nvPicPr>
          <p:cNvPr id="12" name="Picture 11" descr="pipe_w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Оборудование и материалы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Сварочное оборудование и сварочные материалы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Соответствие аттестованным технологиям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оборудование и материалы должны соответствовать применяемым аттестованным технологиям сварки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они должны обладать сварочно-технологическими характеристиками, обеспечивающими качество сварных соединений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соответствие характеристик технологиям и заданным нормам качества подтверждают в установленном порядке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оборудование содержат в исправном состоянии, обслуживают и эксплуатируют по указаниям производителя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10 / 20</a:t>
            </a:r>
          </a:p>
        </p:txBody>
      </p:sp>
      <p:pic>
        <p:nvPicPr>
          <p:cNvPr id="11" name="Picture 10" descr="m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Руководство сварочными работами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Обязанности руководителя перед началом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Лицо, осуществляющее руководство сварочными работами, перед выполнением работ должно: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проверить и обеспечить соответствие численного состава и квалификации персонала, сборочного и сварочного оборудования, основных и сварочных материалов, применяемой технологии требованиям ПТД и НД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ознакомить сварщиков с требованиями технологических карт сварки и с внесёнными изменениями; ознакомление подтверждают подписями в применяемых картах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организовать проведение операционного контроля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Допуск сварщика и рабочее место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Допускные испытания и комплектация места сварки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Перед допуском к сварке на объекте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сварщик, приступающий к сварке на объекте впервые или после перерыва дольше установленного НД, выполняет допускные сварные соединения — независимо от наличия аттестационного удостоверения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место производства работ комплектуют исправным оборудованием, оснасткой и инструментом по требованиям ПТД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место сварки защищают от атмосферных осадков, влаги, сквозняков и других воздействий, влияющих на качество сварки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условия выполнения работ должны соответствовать требованиям ПТД и НД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12 / 20</a:t>
            </a:r>
          </a:p>
        </p:txBody>
      </p:sp>
      <p:pic>
        <p:nvPicPr>
          <p:cNvPr id="11" name="Picture 10" descr="m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Контроль · Виды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Виды контроля при подготовке и выполнении сварочных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Обязательные виды контроля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входной контроль — все партии свариваемых и сварочных материалов до применения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операционный контроль — все технологические операции по подготовке кромок, сборке, прихватке, сварке и послесварочной обработке, указанные в ПТД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приёмочный контроль — все выполненные сварные соединения (объём и методы — по требованиям ПТД)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13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0000"/>
            <a:ext cx="10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Inter"/>
              </a:rPr>
              <a:t>При обнаружении трещин или недопустимых дефектов работы останавливают до устранения причин.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Контроль · Входной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Входной контроль материалов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Что проверяют до применения партий материалов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01.  наличие документов, удостоверяющих качество продукции (идентификация, материалы производства, результаты контроля и испытаний)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02.  наличие на каждом упаковочном месте маркировки с указанием марки, сортамента и номера партии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03.  отсутствие повреждений упаковки и (или) самих материалов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04.  каждая партия покрытых электродов — номинальные размеры и состояние покрытия по сертификату качества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05.  каждая партия сварочной проволоки и ленты — размеры, вид и состояние поверхности, маркировка</a:t>
            </a:r>
          </a:p>
          <a:p>
            <a:pPr>
              <a:spcBef>
                <a:spcPts val="90"/>
              </a:spcBef>
            </a:pPr>
            <a:r>
              <a:rPr sz="1300" b="0">
                <a:solidFill>
                  <a:srgbClr val="1A1A1A"/>
                </a:solidFill>
                <a:latin typeface="Inter"/>
              </a:rPr>
              <a:t>06.  каждая партия флюса — цвет, однородность и гранулометрический состав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14 / 20</a:t>
            </a:r>
          </a:p>
        </p:txBody>
      </p:sp>
      <p:pic>
        <p:nvPicPr>
          <p:cNvPr id="11" name="Picture 10" descr="electr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Контроль · Операционный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Операционный контроль сборки и подготовки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Что проверяют на операциях подготовки и сборки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наличие маркировки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размеры деталей и форму разделки кромок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качество подготовленных под сварку поверхностей (если регламентировано ПТД)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марки и типоразмеры сварочных материалов для прихваток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05.  надёжность фиксации и соответствие расположения деталей в сборочных приспособлениях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Контроль · Операционный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Операционный контроль сборки и подготовки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Что проверяют на операциях подготовки и сборки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06.  чистоту и отсутствие повреждений кромок и прилегающих поверхностей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07.  размеры и расположение прихваток и швов приварки временных креплений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08.  величину зазоров, смещения кромок, перелома осей или плоскостей после прихваток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09.  размеры собранной под сварку конструкции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Контроль · В процессе сварки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Минимальный контроль во время сварки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процессе сварки проводят, как минимум: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контроль соответствия параметров режима сварки и технологических приёмов выполнения сварного соединения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контроль очерёдности выполнения сварных швов и участков наплавки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контроль отсутствия видимых дефектов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контроль иных параметров, предусмотренных технологическими (операционными) картами сварки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17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0000"/>
            <a:ext cx="10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Inter"/>
              </a:rPr>
              <a:t>Технология устранения дефектов — по ПТД; после исправления — повторный контроль.</a:t>
            </a:r>
          </a:p>
        </p:txBody>
      </p:sp>
      <p:pic>
        <p:nvPicPr>
          <p:cNvPr id="12" name="Picture 11" descr="t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Маркировка и ремонт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Маркировка швов и исправление дефектов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После выполнения и при выявлении дефектов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выполненные сварные соединения маркируют по требованиям ПТД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маркировка содержит шифр клейма сварщика, позволяющий однозначно идентифицировать исполнителя соединения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недопустимые дефекты, выявленные при НК, исправляют по ПТД и технологической карте на исправление (ремонт)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количество допустимых исправлений одного и того же участка не должно превышать указанного в ПТД (НД)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Документация · Обязанности руководителя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Что обязан обеспечить руководитель сварочных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При производстве сварочных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идентификацию применяемых сварочных материалов и сварочного оборудования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выполнение сварных соединений в соответствии с технологическими (операционными) картами сварки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регистрацию сведений о сварщиках, выполняющих сварные соединения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идентификацию мест расположения сварных соединений в конструкции и мест исправлений дефектов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05.  регистрацию результатов качества сварных соединений, включая контроль после исправления дефектов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30613"/>
                </a:solidFill>
                <a:latin typeface="Inter"/>
              </a:rPr>
              <a:t>Итоги · Документация и качество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Исполнительная документация и ключевые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процессе выполнения сварочных работ оформляют: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01.  журналы сварочных работ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02.  паспорта, акты и заключения по неразрушающему контролю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03.  протоколы испытаний сварных соединений</a:t>
            </a:r>
          </a:p>
          <a:p>
            <a:pPr>
              <a:spcBef>
                <a:spcPts val="90"/>
              </a:spcBef>
            </a:pPr>
            <a:r>
              <a:rPr sz="1400" b="0">
                <a:solidFill>
                  <a:srgbClr val="1A1A1A"/>
                </a:solidFill>
                <a:latin typeface="Inter"/>
              </a:rPr>
              <a:t>04.  иную исполнительную и (или) эксплуатационную документацию по требованиям ПТД и НД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20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0000"/>
            <a:ext cx="10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Inter"/>
              </a:rPr>
              <a:t>Сварка на ОПО — только аттестованным персоналом, по ПТД и с полным циклом контроля.</a:t>
            </a:r>
          </a:p>
        </p:txBody>
      </p:sp>
      <p:pic>
        <p:nvPicPr>
          <p:cNvPr id="12" name="Picture 11" descr="m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0" y="1400000"/>
            <a:ext cx="4800000" cy="4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