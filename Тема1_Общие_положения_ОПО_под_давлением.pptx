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7" r:id="rId15"/>
    <p:sldId id="268" r:id="rId16"/>
    <p:sldId id="264" r:id="rId8"/>
    <p:sldId id="265" r:id="rId9"/>
    <p:sldId id="266" r:id="rId10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26" y="1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45720" cy="5029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806" y="2507965"/>
            <a:ext cx="10546082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2800" b="1" dirty="0">
                <a:solidFill>
                  <a:srgbClr val="1A1A1A"/>
                </a:solidFill>
                <a:latin typeface="Inter"/>
              </a:rPr>
              <a:t>Общие положения по проектированию, строительству, реконструкции, техническом перевооружении ОПО, на которых используется оборудование под давлением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59" y="4480560"/>
            <a:ext cx="3657601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59" y="45720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 dirty="0" err="1">
                <a:solidFill>
                  <a:srgbClr val="6B7280"/>
                </a:solidFill>
                <a:latin typeface="Inter"/>
              </a:rPr>
              <a:t>Требования</a:t>
            </a:r>
            <a:r>
              <a:rPr sz="1600" b="0" i="0" dirty="0">
                <a:solidFill>
                  <a:srgbClr val="6B7280"/>
                </a:solidFill>
                <a:latin typeface="Inter"/>
              </a:rPr>
              <a:t> к </a:t>
            </a:r>
            <a:r>
              <a:rPr sz="1600" b="0" i="0" dirty="0" err="1">
                <a:solidFill>
                  <a:srgbClr val="6B7280"/>
                </a:solidFill>
                <a:latin typeface="Inter"/>
              </a:rPr>
              <a:t>устройству</a:t>
            </a:r>
            <a:r>
              <a:rPr sz="1600" b="0" i="0" dirty="0">
                <a:solidFill>
                  <a:srgbClr val="6B7280"/>
                </a:solidFill>
                <a:latin typeface="Inter"/>
              </a:rPr>
              <a:t>, </a:t>
            </a:r>
            <a:r>
              <a:rPr sz="1600" b="0" i="0" dirty="0" err="1">
                <a:solidFill>
                  <a:srgbClr val="6B7280"/>
                </a:solidFill>
                <a:latin typeface="Inter"/>
              </a:rPr>
              <a:t>эксплуатации</a:t>
            </a:r>
            <a:r>
              <a:rPr sz="1600" b="0" i="0" dirty="0">
                <a:solidFill>
                  <a:srgbClr val="6B7280"/>
                </a:solidFill>
                <a:latin typeface="Inter"/>
              </a:rPr>
              <a:t> и </a:t>
            </a:r>
            <a:r>
              <a:rPr sz="1600" b="0" i="0" dirty="0" err="1">
                <a:solidFill>
                  <a:srgbClr val="6B7280"/>
                </a:solidFill>
                <a:latin typeface="Inter"/>
              </a:rPr>
              <a:t>техническому</a:t>
            </a:r>
            <a:r>
              <a:rPr sz="16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rgbClr val="6B7280"/>
                </a:solidFill>
                <a:latin typeface="Inter"/>
              </a:rPr>
              <a:t>освидетельствованию</a:t>
            </a:r>
            <a:r>
              <a:rPr sz="16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rgbClr val="6B7280"/>
                </a:solidFill>
                <a:latin typeface="Inter"/>
              </a:rPr>
              <a:t>оборудования</a:t>
            </a:r>
            <a:r>
              <a:rPr sz="1600" b="0" i="0" dirty="0">
                <a:solidFill>
                  <a:srgbClr val="6B7280"/>
                </a:solidFill>
                <a:latin typeface="Inter"/>
              </a:rPr>
              <a:t>, </a:t>
            </a:r>
            <a:r>
              <a:rPr sz="1600" b="0" i="0" dirty="0" err="1">
                <a:solidFill>
                  <a:srgbClr val="6B7280"/>
                </a:solidFill>
                <a:latin typeface="Inter"/>
              </a:rPr>
              <a:t>работающего</a:t>
            </a:r>
            <a:r>
              <a:rPr sz="16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rgbClr val="6B7280"/>
                </a:solidFill>
                <a:latin typeface="Inter"/>
              </a:rPr>
              <a:t>под</a:t>
            </a:r>
            <a:r>
              <a:rPr sz="16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rgbClr val="6B7280"/>
                </a:solidFill>
                <a:latin typeface="Inter"/>
              </a:rPr>
              <a:t>избыточным</a:t>
            </a:r>
            <a:r>
              <a:rPr sz="16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rgbClr val="6B7280"/>
                </a:solidFill>
                <a:latin typeface="Inter"/>
              </a:rPr>
              <a:t>давлением</a:t>
            </a:r>
            <a:endParaRPr sz="1600" b="0" i="0" dirty="0">
              <a:solidFill>
                <a:srgbClr val="6B7280"/>
              </a:solidFill>
              <a:latin typeface="Inter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7607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12" b="1" i="0">
                <a:solidFill>
                  <a:srgbClr val="1A1A1A"/>
                </a:solidFill>
                <a:latin typeface="Inter"/>
              </a:rPr>
              <a:t>ФНП № 536: обязательные требования промышленной безопасности при использовании оборудования под избыточным давлением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Приказ Ростехнадзора от 15 декабря 2020 года № 536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90195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Требования промышленной безопасности, обязательные при разработке и осуществлении технологических процессов, при проектировании, строительстве, эксплуатации, реконструкции, капитальном ремонте, техническом перевооружении, консервации и ликвидации ОПО, на которых используется оборудование под давлением, установлены приказом Федеральной службы по экологическому, технологическому и атомному надзору от 15 декабря 2020 года № 536 «Об утверждении федеральных норм и правил в области промышленной безопасности «Правила промышленной безопасности при использовании оборудования, работающего под избыточным давлением».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ФНП № 536 направлены на обеспечение промышленной безопасности, предупреждение аварий, инцидентов и травматизма на опасных производственных объектах (ОПО) при использовании оборудования, работающего под избыточным давлением более 0,07 МПа.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9943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73659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Действие ФНП № 536 распространяется на все стадии жизненного цикла ОПО — от проектирования до ликвидации.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Рабочие среды и пороговые параметры давления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ФНП № 536 распространяется на оборудование, работающее под избыточным давлением более 0,07 МПа (0,7 кгс/см²)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4343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Рабочие среды под действием ФНП № 536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64383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20154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Пар и газ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30143"/>
            <a:ext cx="5318607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rgbClr val="6B7280"/>
                </a:solidFill>
                <a:latin typeface="Inter"/>
              </a:rPr>
              <a:t>Газообразное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сжиженное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состояние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: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сжатые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сжиженные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растворённые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под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давлением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газы</a:t>
            </a:r>
            <a:endParaRPr sz="1100" b="0" i="0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98106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Вода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9669"/>
            <a:ext cx="531860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rgbClr val="6B7280"/>
                </a:solidFill>
                <a:latin typeface="Inter"/>
              </a:rPr>
              <a:t>Температура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более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115 °С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при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избыточном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давлении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свыше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0,07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МПа</a:t>
            </a:r>
            <a:endParaRPr sz="1100" b="0" i="0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76059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Иные жидкости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89195"/>
            <a:ext cx="5318607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rgbClr val="6B7280"/>
                </a:solidFill>
                <a:latin typeface="Inter"/>
              </a:rPr>
              <a:t>Температура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превышающая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температуру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кипения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жидкости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при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избыточном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давлении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0,07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МПа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(0,7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кгс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/см²)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83864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Пороговые параметры давления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447" y="315868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447" y="329584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Единица давления (СИ)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52444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0,07 МПа — нижний порог избыточного давления, выше которого ФНП № 536 вступает в действие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407536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Единица давления (техн.)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303966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0,7 кгс/см² — эквивалентное значение в технических единицах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666297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Ключевой принцип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894897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Избыточное давление, а не абсолютное — является критерием применимости ФНП № 536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Все три категории сред (пар/газ, вода &gt;115 °С, иные жидкости выше температуры кипения) попадают под требования ФНП № 536 при превышении порога 0,07 МПа (0,7 кгс/см²).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AE29E4AA-0F63-46B3-BB20-4F31BE752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9169678-88C6-453B-95B8-2C36B0FB0BD6}"/>
              </a:ext>
            </a:extLst>
          </p:cNvPr>
          <p:cNvSpPr/>
          <p:nvPr/>
        </p:nvSpPr>
        <p:spPr>
          <a:xfrm>
            <a:off x="457200" y="923192"/>
            <a:ext cx="11185855" cy="482152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>
                <a:solidFill>
                  <a:schemeClr val="bg1"/>
                </a:solidFill>
                <a:latin typeface="Inter"/>
              </a:rPr>
              <a:t>15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видов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оборудования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под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давлением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по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ФНП № 536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 dirty="0">
                <a:solidFill>
                  <a:schemeClr val="bg1"/>
                </a:solidFill>
                <a:latin typeface="Inter"/>
              </a:rPr>
              <a:t>ФНП № 536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распространяется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следующие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виды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 (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типы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)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оборудования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под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давлением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93441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Оборудование под давлением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713482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5064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50641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Паровые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котлы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том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числе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котлы-бойлеры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автономные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пароперегреватели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экономайзеры</a:t>
            </a:r>
            <a:endParaRPr sz="1400" b="0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25297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52977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Водогрейные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пароводогрейные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котлы</a:t>
            </a:r>
            <a:endParaRPr sz="1400" b="0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365531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55313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Энерготехнологические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котлы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: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паровые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водогрейные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том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числе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содорегенерационные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котлы</a:t>
            </a:r>
            <a:endParaRPr sz="1400" b="0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405765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57650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Котлы-утилизаторы</a:t>
            </a:r>
            <a:endParaRPr sz="1400" b="0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445998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59986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Котлы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передвижных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транспортабельных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установок</a:t>
            </a:r>
            <a:endParaRPr sz="1400" b="0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48623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6232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Котлы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паровые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жидкостные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работающие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с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органическими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неорганическими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теплоносителями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кроме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воды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водяного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пара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703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70398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Электрокотлы</a:t>
            </a:r>
            <a:endParaRPr sz="1400" b="0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Перечень установлен ФНП № 536. Оборудование, не включённое в данный список, под действие ФНП № 536 не подпадает.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2B17A6E-4C43-489D-83D4-06B865D9A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597AACE-65EE-4B24-BAF9-69988C920FFE}"/>
              </a:ext>
            </a:extLst>
          </p:cNvPr>
          <p:cNvSpPr/>
          <p:nvPr/>
        </p:nvSpPr>
        <p:spPr>
          <a:xfrm>
            <a:off x="457200" y="923191"/>
            <a:ext cx="11185855" cy="501161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>
                <a:solidFill>
                  <a:schemeClr val="bg1"/>
                </a:solidFill>
                <a:latin typeface="Inter"/>
              </a:rPr>
              <a:t>15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видов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оборудования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под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давлением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по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ФНП № 536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24911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Оборудование под давлением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04495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18211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82111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dirty="0" err="1">
                <a:solidFill>
                  <a:schemeClr val="bg1"/>
                </a:solidFill>
                <a:latin typeface="Inter"/>
              </a:rPr>
              <a:t>Трубопроводы</a:t>
            </a:r>
            <a:r>
              <a:rPr sz="140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Inter"/>
              </a:rPr>
              <a:t>пара</a:t>
            </a:r>
            <a:r>
              <a:rPr sz="140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dirty="0" err="1">
                <a:solidFill>
                  <a:schemeClr val="bg1"/>
                </a:solidFill>
                <a:latin typeface="Inter"/>
              </a:rPr>
              <a:t>горячей</a:t>
            </a:r>
            <a:r>
              <a:rPr sz="140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воды</a:t>
            </a:r>
            <a:endParaRPr sz="1400" b="0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58444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84447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dirty="0" err="1">
                <a:solidFill>
                  <a:schemeClr val="bg1"/>
                </a:solidFill>
                <a:latin typeface="Inter"/>
              </a:rPr>
              <a:t>Сосуды</a:t>
            </a:r>
            <a:r>
              <a:rPr sz="140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dirty="0" err="1">
                <a:solidFill>
                  <a:schemeClr val="bg1"/>
                </a:solidFill>
                <a:latin typeface="Inter"/>
              </a:rPr>
              <a:t>работающие</a:t>
            </a:r>
            <a:r>
              <a:rPr sz="140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Inter"/>
              </a:rPr>
              <a:t>под</a:t>
            </a:r>
            <a:r>
              <a:rPr sz="140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Inter"/>
              </a:rPr>
              <a:t>избыточным</a:t>
            </a:r>
            <a:r>
              <a:rPr sz="140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Inter"/>
              </a:rPr>
              <a:t>давлением</a:t>
            </a:r>
            <a:r>
              <a:rPr sz="140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Inter"/>
              </a:rPr>
              <a:t>пара</a:t>
            </a:r>
            <a:r>
              <a:rPr sz="140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dirty="0" err="1">
                <a:solidFill>
                  <a:schemeClr val="bg1"/>
                </a:solidFill>
                <a:latin typeface="Inter"/>
              </a:rPr>
              <a:t>газов</a:t>
            </a:r>
            <a:r>
              <a:rPr sz="140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dirty="0" err="1">
                <a:solidFill>
                  <a:schemeClr val="bg1"/>
                </a:solidFill>
                <a:latin typeface="Inter"/>
              </a:rPr>
              <a:t>жидкостей</a:t>
            </a:r>
            <a:endParaRPr sz="140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98678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86783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 err="1">
                <a:solidFill>
                  <a:schemeClr val="bg1"/>
                </a:solidFill>
                <a:latin typeface="Inter"/>
              </a:rPr>
              <a:t>Баллоны, предназначенные для сжатых, сжиженных и растворённых под давлением газов</a:t>
            </a:r>
            <a:endParaRPr sz="140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1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19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 err="1">
                <a:solidFill>
                  <a:schemeClr val="bg1"/>
                </a:solidFill>
                <a:latin typeface="Inter"/>
              </a:rPr>
              <a:t>Цистерны и бочки для сжатых и сжиженных газов</a:t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endParaRPr sz="140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479145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91456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 err="1">
                <a:solidFill>
                  <a:schemeClr val="bg1"/>
                </a:solidFill>
                <a:latin typeface="Inter"/>
              </a:rPr>
              <a:t>Цистерны и сосуды для сжатых, сжиженных газов, жидкостей и сыпучих тел с периодическим созданием избыточного давления для опорожнения</a:t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9379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9379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 err="1">
                <a:solidFill>
                  <a:schemeClr val="bg1"/>
                </a:solidFill>
                <a:latin typeface="Inter"/>
              </a:rPr>
              <a:t>Барокамеры</a:t>
            </a:r>
            <a:endParaRPr sz="140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55961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96128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dirty="0" err="1">
                <a:solidFill>
                  <a:schemeClr val="bg1"/>
                </a:solidFill>
                <a:latin typeface="Inter"/>
              </a:rPr>
              <a:t>Оборудование под давлением, применяемое при разработке, изготовлении, испытании, эксплуатации и утилизации ядерного оружия и ядерных установок военного назначения на ОПО организаций Госкорпорации «Росатом»</a:t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  <a:r>
              <a:rPr sz="1400" dirty="0" err="1">
                <a:solidFill>
                  <a:schemeClr val="bg1"/>
                </a:solidFill>
                <a:latin typeface="Inter"/>
              </a:rPr>
              <a:t/>
            </a:r>
            <a:r>
              <a:rPr sz="1400" dirty="0">
                <a:solidFill>
                  <a:schemeClr val="bg1"/>
                </a:solidFill>
                <a:latin typeface="Inter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На какое оборудование ФНП № 536 не распространяется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Исчерпывающий перечень исключений установлен ФНП № 536 (п. «а»–«ч»)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43175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Транспортное и специализированное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63215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0037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Морские и речные суда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28975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Котлы, устанавливаемые на морских и речных судах (ФНП № 536, п. «а»)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9130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Железнодорожный подвижной состав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19906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Отопительные и паровозные котлы железнодорожного подвижного состава (ФНП № 536, п. «б»)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70832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Трубчатые печи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99432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Трубчатые печи технологических установок (ФНП № 536, п. «д»)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176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Летательные аппараты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90363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Оборудование под давлением, устанавливаемое на летательных аппаратах (ФНП № 536, п. «ч»)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543175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Малообъёмное и иное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4447" y="2863215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4447" y="300037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Котлы малого объёма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228975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Котлы вместимостью 0,001 м³ и менее (ФНП № 536, п. «в»)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59130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Электрокотлы малой вместимости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819906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Электрокотлы вместимостью не более 0,025 м³ (ФНП № 536, п. «г»)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182237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Сосуды для научных целей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410837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Сосуды вместимостью не более 0,025 м³ для научно-экспериментальных целей (ФНП № 536, п. «е»)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96176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Вакуумное оборудование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5190363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Сосуды и аппараты, работающие под вакуумом (ФНП № 536, перечень исключений)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Перечень исключений в ФНП № 536 является исчерпывающим. Всё оборудование под давлением, не вошедшее в этот перечень, подпадает под действие ФНП № 536 и подлежит соблюдению установленных требований.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Исключения из сферы действия ФНП № 536 (продолжение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ФНП не применяются при использовании следующего оборудования под давлением (продолжение перечня):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43175"/>
            <a:ext cx="5318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Исключения (продолжение)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63175"/>
            <a:ext cx="5318607" cy="127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447" y="2543175"/>
            <a:ext cx="5318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Исключения (продолжение)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7" y="2863175"/>
            <a:ext cx="5318607" cy="127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0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Сосуды P·V ≤ 0,02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2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Вместимость ≤ 0,025 м³, у которых произведение рабочего давления (МПа) и вместимости (м³) ≤ 0,02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Сосуды взрывного процесса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Давление создаётся при взрыве внутри или горении в режиме самораспространяющегося высокотемпературного синтеза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2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Вакуум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Сосуды и трубопроводы, работающие под вакуумом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8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Летательные аппараты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0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Сосуды, устанавливаемые на самолётах и других летательных аппаратах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00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Тормозные резервуары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22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Воздушные резервуары тормозного оборудования ж/д транспорта, автомобилей и иных средств передвижения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56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Вооружение / ЧС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78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Оборудование в составе вооружения и военной техники, а также применяемое при ликвидации ЧС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12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Атомная энергия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34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Сосуды и трубопроводы АЭУ, с радиоактивной средой; оборудование специально для атомной энергии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68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Отопительные приборы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90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Приборы систем парового и водяного отопления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Исключения из сферы действия ФНП № 536 (продолжение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Завершение перечня исключений (п. «п»–«ч»):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43175"/>
            <a:ext cx="5318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Исключения (п. «п»–«с»)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63175"/>
            <a:ext cx="5318607" cy="127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447" y="2543175"/>
            <a:ext cx="5318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Исключения (п. «т»–«ч»)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7" y="2863175"/>
            <a:ext cx="5318607" cy="127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0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Трубные конструкции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2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Сосуды из труб внутренним диаметром ≤ 150 мм без коллекторов либо с коллекторами из труб ≤ 150 мм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Части машин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8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Не самостоятельные сосуды: корпусы насосов/турбин, цилиндры двигателей, компрессоров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2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Трубопроводы на транспорте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Трубопроводы пара и горячей воды на подвижном составе ж/д и автотранспорта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8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Малые трубопроводы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0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Категории I, II, III — Dнар &lt; 76 мм; категории IV — Dнар &lt; 51 мм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00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Сливные / выхлопные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22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Сливные, продувочные и выхлопные трубопроводы, соединённые с атмосферой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56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Неметаллическая оболочка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78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Оборудование из неметаллической гибкой (эластичной) оболочки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12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Медицинские стерилизаторы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34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Стерилизаторы в медорганизациях для стерилизации изделий и обеззараживания отходов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680375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Газонаполненное ЭТО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908975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Корпуса газонаполненного электротехнического оборудования под давлением газа для изоляции / гашения дуги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Перечень исключений исчерпывающий. Всё оборудование вне этого перечня подпадает под ФНП № 536.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Стадии жизненного цикла ОПО, регулируемые ФНП № 536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ФНП устанавливают требования промышленной безопасности, обязательные на всех стадиях — от разработки технологических процессов до ликвидации объекта.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9864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Стадии жизненного цикла ОПО (ФНП № 536):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218688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35584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5584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Проектирование — разработка технологических процессов и проектной документации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818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8183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Строительство ОПО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6052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Реконструкция ОПО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6285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62856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Капитальный ремонт ОПО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6519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6519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Техническое перевооружение ОПО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Требования ФНП № 536 обязательны на КАЖДОЙ из перечисленных стадий без исключений.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Стадии жизненного цикла ОПО, регулируемые ФНП № 536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24377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Стадии жизненного цикла ОПО (ФНП № 536):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344418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48157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81577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Эксплуатация — включая размещение, монтаж, наладку, обслуживание и ремонт оборудования под давлением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8965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89654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Техническое освидетельствование и техническое диагностирование оборудования под давлением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9199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9199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Реконструкция (модернизация) оборудования под давлением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9432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94326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Консервация ОПО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9666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9666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Ликвидация ОПО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Вместимость сосуда и группа сосудов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Правила определения для целей применения ФНП № 536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tIns="0" rIns="0" bIns="0">
            <a:normAutofit fontScale="77500" lnSpcReduction="20000"/>
          </a:bodyPr>
          <a:lstStyle/>
          <a:p>
            <a:pPr algn="l"/>
            <a:r>
              <a:rPr sz="1400" b="0" i="0" dirty="0" err="1">
                <a:solidFill>
                  <a:srgbClr val="1A1A1A"/>
                </a:solidFill>
                <a:latin typeface="Inter"/>
              </a:rPr>
              <a:t>Вместимость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сосуда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определяется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как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общий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объём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сосуда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за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вычетом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объёма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занимаемого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футеровкой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трубами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другими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внутренними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устройствами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Внутренние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элементы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расчёт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включаются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 err="1">
                <a:solidFill>
                  <a:srgbClr val="1A1A1A"/>
                </a:solidFill>
                <a:latin typeface="Inter"/>
              </a:rPr>
              <a:t>Группа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сосудов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рассматривается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как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один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сосуд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 В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группу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входят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:</a:t>
            </a:r>
          </a:p>
          <a:p>
            <a:pPr algn="l">
              <a:spcBef>
                <a:spcPts val="489"/>
              </a:spcBef>
            </a:pPr>
            <a:r>
              <a:rPr sz="1400" b="0" i="0" dirty="0">
                <a:solidFill>
                  <a:srgbClr val="1A1A1A"/>
                </a:solidFill>
                <a:latin typeface="Inter"/>
              </a:rPr>
              <a:t>•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два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более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сосуда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объединённых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проекту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общим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трубопроводом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входа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/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выхода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рабочей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среды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на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котором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установлены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запорная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арматура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предохранительное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(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ые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устройство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(а);</a:t>
            </a:r>
          </a:p>
          <a:p>
            <a:pPr algn="l">
              <a:spcBef>
                <a:spcPts val="489"/>
              </a:spcBef>
            </a:pPr>
            <a:r>
              <a:rPr sz="1400" b="0" i="0" dirty="0">
                <a:solidFill>
                  <a:srgbClr val="1A1A1A"/>
                </a:solidFill>
                <a:latin typeface="Inter"/>
              </a:rPr>
              <a:t>•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сосуды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состоящие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из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отдельных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корпусов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соединённые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между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собой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трубами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с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внутренним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диаметром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более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100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мм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>
                <a:solidFill>
                  <a:srgbClr val="1A1A1A"/>
                </a:solidFill>
                <a:latin typeface="Inter"/>
              </a:rPr>
              <a:t>В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обоих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случаях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суммарная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вместимость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определяется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по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всей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группе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как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единому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rgbClr val="1A1A1A"/>
                </a:solidFill>
                <a:latin typeface="Inter"/>
              </a:rPr>
              <a:t>объекту</a:t>
            </a:r>
            <a:r>
              <a:rPr sz="1400" b="0" i="0" dirty="0">
                <a:solidFill>
                  <a:srgbClr val="1A1A1A"/>
                </a:solidFill>
                <a:latin typeface="Inter"/>
              </a:rPr>
              <a:t>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Техническое перевооружение ОПО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50000"/>
            <a:ext cx="1109441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Определение по Федеральному закону от 21.07.1997 № 116-ФЗ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00000"/>
            <a:ext cx="11094415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Техническое перевооружение ОПО — внедрение новой технологии, автоматизация, модернизация или замена оборудования, ведущие к изменению технологического процесса на опасном производственном объекте.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0000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Виды деятельности в области промышленной безопасности (ст. 6 Закона № 116-ФЗ)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20000"/>
            <a:ext cx="11094415" cy="127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0000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 проектирование, строительство, эксплуатация, реконструкция, капитальный ремонт, техническое перевооружение, консервация и ликвидация ОПО;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000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 изготовление, монтаж, наладка, обслуживание и ремонт технических устройств, применяемых на ОПО;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4000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 проведение экспертизы промышленной безопасности.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Реконструкция и капитальный ремонт (ГрК РФ № 190-ФЗ)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50000"/>
            <a:ext cx="1109441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Определения по Градостроительному кодексу Российской Федерации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0000"/>
            <a:ext cx="531860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Реконструкция объектов капстроительства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00000"/>
            <a:ext cx="5318607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Изменение параметров объекта (высота, этажность, площадь, объём), надстройка, перестройка, расширение, замена и (или) восстановление несущих строительных конструкций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100000"/>
            <a:ext cx="531860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Реконструкция линейных объектов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2400000"/>
            <a:ext cx="5318607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Изменение параметров, влекущее изменение класса/категории/показателей функционирования либо требующее изменения границ полос отвода и (или) охранных зон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00000"/>
            <a:ext cx="531860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Капитальный ремонт объектов капстроительства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0000"/>
            <a:ext cx="5318607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Замена и (или) восстановление строительных конструкций (кроме несущих), систем инженерно-технического обеспечения и их сетей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3900000"/>
            <a:ext cx="531860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Капитальный ремонт линейных объектов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4200000"/>
            <a:ext cx="5318607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Изменение параметров без изменения класса/категории/показателей функционирования и без изменения границ полос отвода и охранных зон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Документация на техперевооружение и экспертиза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50000"/>
            <a:ext cx="1109441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Закона № 116-ФЗ к порядку разработки и экспертизе документации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50000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Техперевооружение ОПО осуществляется на основании документации, разработанной в порядке, установленном 116-ФЗ, с учётом законодательства о градостроительной деятельности.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3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30000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Если техперевооружение проводится одновременно с реконструкцией — документация на техперевооружение входит в состав проектной документации.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1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10000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Документация на техперевооружение подлежит экспертизе промышленной безопасности, если она не входит в состав проектной документации, подлежащей экспертизе по законодательству о градостроительной деятельности.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9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90000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Не допускаются техперевооружение ОПО без положительного заключения экспертизы промышленной безопасности, внесённого в реестр, либо без положительного заключения экспертизы проектной документации.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Выбор оборудования и недопустимость отклонений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50000"/>
            <a:ext cx="1109441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при разработке проектной документации и реализации решений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00000"/>
            <a:ext cx="5318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Выбор оборудования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20000"/>
            <a:ext cx="5318607" cy="127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447" y="2300000"/>
            <a:ext cx="53186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Соблюдение документации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7" y="2620000"/>
            <a:ext cx="5318607" cy="127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57200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Выбор состава оборудования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85800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Исходя из назначения и условий эксплуатации: максимальные параметры источника давления (давление, температура), группа рабочей среды, коррозионные и иные факторы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7200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Запрет несоответствия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45800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Не допускается установка и применение оборудования, если его характеристики и материалы не соответствуют свойствам среды и условиям эксплуатации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757200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Запрет отклонений от проекта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985800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При строительстве, реконструкции, капремонте и эксплуатации отклонения от проектной документации и документации на техперевооружение не допускаются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317200"/>
            <a:ext cx="53186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Изменения только через пересмотр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545800"/>
            <a:ext cx="5318607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Внесение изменений — в порядке, установленном для разработки и экспертизы соответствующей документации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Решения по установке, размещению, обвязке котлов и сосудов, прокладке трубопроводов должны обеспечивать безопасность обслуживания, осмотра, ремонта, промывки и очистки.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Размещение арматуры и доступ к зонам обслуживания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00000"/>
            <a:ext cx="1109441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Ключевые требования проектных решений по обслуживанию оборудования под давлением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50000"/>
            <a:ext cx="531860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Арматура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50000"/>
            <a:ext cx="5318607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Арматура должна быть установлена в местах, доступных для управления, обслуживания и ремонта.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550000"/>
            <a:ext cx="531860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Стационарные площадки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2850000"/>
            <a:ext cx="5318607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Наличие стационарных площадок и лестниц — для доступа к зонам установки КИП, запорной и регулирующей арматуры и иных устройств управления.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0000"/>
            <a:ext cx="531860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Конструкция и крепление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00000"/>
            <a:ext cx="5318607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Устройство площадок и лестниц, места размещения и способы крепления устанавливаются чертежами комплекта проектной (рабочей) документации.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4200000"/>
            <a:ext cx="5318607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Периодические работы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4500000"/>
            <a:ext cx="5318607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Для планового ТО и ремонта в местах люков, арматуры с дистанционным приводом, датчиков — допускается применение вертикальных лестниц по проекту.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Площадки и лестницы обслуживания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50000"/>
            <a:ext cx="11094415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Проектом должно быть обеспечено наличие стационарных металлических площадок и лестниц, а также переносных/передвижных при необходимости.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50000"/>
            <a:ext cx="411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50000"/>
            <a:ext cx="10637215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Ограждение перилами высотой не менее 900 мм со сплошной обшивкой по низу не менее 100 мм.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0000"/>
            <a:ext cx="411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50000"/>
            <a:ext cx="10637215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Свободная высота прохода персонала — не менее 2 м; ширина свободного прохода — не менее 600 мм, у арматуры и приборов — не менее 800 мм.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50000"/>
            <a:ext cx="411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50000"/>
            <a:ext cx="10637215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ремонте с разборкой/демонтажем ширина прохода — с учётом габаритов демонтируемых частей.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0000"/>
            <a:ext cx="411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0000"/>
            <a:ext cx="10637215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Над трубопроводами высотой препятствия &gt; 300 мм — переходные мостики.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50000"/>
            <a:ext cx="411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50000"/>
            <a:ext cx="10637215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Переходные площадки и лестницы — с перилами с обеих сторон; площадки котлов длиной &gt; 5 м — не менее двух лестниц (выходов) в противоположных концах.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Площадки и лестницы обслуживания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50000"/>
            <a:ext cx="411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50000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Запрещены гладкие площадки и ступени, а также изготовление из прутковой (круглой) стали.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30000"/>
            <a:ext cx="411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30000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Наклонные лестницы высотой &gt; 1,5 м: угол ≤ 50°, ширина ≥ 600 мм, высота между ступенями ≤ 200 мм, ширина ступеней ≥ 80 мм; при большой высоте — промежуточные площадки.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10000"/>
            <a:ext cx="411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10000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Вертикальные лестницы для периодического доступа: ширина ≥ 600 мм, шаг ступеней ≤ 350 мм; с высоты 2 м — предохранительные дуги R 350–400 мм.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90000"/>
            <a:ext cx="411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90000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Для ремонта в местах без постоянного обслуживания допускается применение переносных средств подмащивания, стремянок и приставных лестниц.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70000"/>
            <a:ext cx="411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70000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Не допускается установка приставных лестниц и стремянок около и над работающими машинами и механизмами, а также работы со ступеней с ручными машинами, сваркой, перемещением тяжёлых предметов.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Зоны повышенной опасности (объекты до ФНП № 536)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50000"/>
            <a:ext cx="11094415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Если конструктивные особенности оборудования или здания, введённых в эксплуатацию до вступления в силу ФНП № 536, препятствуют соблюдению ширины и высоты свободного прохода, должны быть приняты дополнительные меры: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0000"/>
            <a:ext cx="1063721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Определение в производственной инструкции или отдельном документе маршрута (схемы) безопасного передвижения персонала с указанием мест повышенной опасности.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0000"/>
            <a:ext cx="1063721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Перекрытие мест повышенной опасности для прохода при наличии альтернативного безопасного маршрута.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60000"/>
            <a:ext cx="1063721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Оснащение мест прохода информационными табличками и знаками опасности при отсутствии безопасного маршрута.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4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0000"/>
            <a:ext cx="1063721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Обязательное использование персоналом СИЗ (касок) при проходе в местах повышенной опасности.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1023</Words>
  <Application>Microsoft Office PowerPoint</Application>
  <PresentationFormat>Широкоэкранный</PresentationFormat>
  <Paragraphs>123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6</cp:revision>
  <dcterms:created xsi:type="dcterms:W3CDTF">2013-01-27T09:14:16Z</dcterms:created>
  <dcterms:modified xsi:type="dcterms:W3CDTF">2026-08-26T14:22:44Z</dcterms:modified>
  <cp:category/>
</cp:coreProperties>
</file>