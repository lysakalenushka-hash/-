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0000"/>
            <a:ext cx="4000000" cy="28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4800000"/>
            <a:ext cx="21000000" cy="1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
КРОВОТЕЧЕНИЯХ И ТРАВМАХ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6800000"/>
            <a:ext cx="14000000" cy="25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00000" y="19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19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800000" y="19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0000" y="19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Голова, глаза, нос, носовое кровотечение</a:t>
            </a:r>
          </a:p>
        </p:txBody>
      </p:sp>
      <p:sp>
        <p:nvSpPr>
          <p:cNvPr id="9" name="Oval 8"/>
          <p:cNvSpPr/>
          <p:nvPr/>
        </p:nvSpPr>
        <p:spPr>
          <a:xfrm>
            <a:off x="700000" y="33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000" y="33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00000" y="33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0000" y="33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Шея, грудь, инородный предмет</a:t>
            </a:r>
          </a:p>
        </p:txBody>
      </p:sp>
      <p:sp>
        <p:nvSpPr>
          <p:cNvPr id="13" name="Oval 12"/>
          <p:cNvSpPr/>
          <p:nvPr/>
        </p:nvSpPr>
        <p:spPr>
          <a:xfrm>
            <a:off x="700000" y="47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0000" y="47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0000" y="47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00000" y="47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Живот, таз, конечности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61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0000" y="61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00000" y="61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00000" y="61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Позвоночник и травматическая ампутация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20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ТРАВМЕ ГОЛОВЫ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250000"/>
            <a:ext cx="22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3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1900000"/>
            <a:ext cx="75000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ead_traum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966" y="2100000"/>
            <a:ext cx="4362068" cy="55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000" y="7900000"/>
            <a:ext cx="72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Придание пострадавшему с травмой головы и находящемуся без сознания, устойчивого бокового положения.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50000" y="1900000"/>
            <a:ext cx="75000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ead_trauma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8966" y="2100000"/>
            <a:ext cx="4362068" cy="55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00000" y="7900000"/>
            <a:ext cx="72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Остановка кровотечения при ранении головы путем прямого давления на рану. Нельзя применять этот способ при открытых черепно-мозговых травмах.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200000" y="1900000"/>
            <a:ext cx="75000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head_trauma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68966" y="2100000"/>
            <a:ext cx="4362068" cy="55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350000" y="7900000"/>
            <a:ext cx="72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Остановка кровотечения при травме головы наложением давящей повязки.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20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ТРАВМАХ ГЛАЗА И НОСА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250000"/>
            <a:ext cx="22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3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1900000"/>
            <a:ext cx="110000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100000"/>
            <a:ext cx="104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травме глаза: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800000"/>
            <a:ext cx="104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Наложить стерильную повязку на оба глаза.</a:t>
            </a:r>
          </a:p>
        </p:txBody>
      </p:sp>
      <p:pic>
        <p:nvPicPr>
          <p:cNvPr id="9" name="Picture 8" descr="eye_inju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3448" y="4300000"/>
            <a:ext cx="8793103" cy="75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2500000" y="1900000"/>
            <a:ext cx="110000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0000" y="2100000"/>
            <a:ext cx="104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травме носа: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0000" y="2800000"/>
            <a:ext cx="10400000" cy="1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Усадить пострадавшего со слегка наклоненной вперед головой, зажать нос, приложить холод на переносицу.</a:t>
            </a:r>
          </a:p>
        </p:txBody>
      </p:sp>
      <p:pic>
        <p:nvPicPr>
          <p:cNvPr id="13" name="Picture 12" descr="nose_inju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96552" y="5000000"/>
            <a:ext cx="8206896" cy="68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20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НОСОВОМ КРОВОТЕЧЕНИИ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250000"/>
            <a:ext cx="22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3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900000"/>
            <a:ext cx="55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1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2600000"/>
            <a:ext cx="5500000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os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00" y="4258333"/>
            <a:ext cx="5300000" cy="618333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50000" y="1900000"/>
            <a:ext cx="55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50000" y="2600000"/>
            <a:ext cx="5500000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nose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000" y="4258333"/>
            <a:ext cx="5300000" cy="618333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200000" y="1900000"/>
            <a:ext cx="55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200000" y="2600000"/>
            <a:ext cx="5500000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nose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00000" y="4258333"/>
            <a:ext cx="5300000" cy="618333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950000" y="1900000"/>
            <a:ext cx="55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950000" y="2600000"/>
            <a:ext cx="5500000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ose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50000" y="4258333"/>
            <a:ext cx="5300000" cy="618333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20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ТРАВМЕ ШЕИ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250000"/>
            <a:ext cx="22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3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850000"/>
            <a:ext cx="75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1 Остановка кровотечения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2900000"/>
            <a:ext cx="7500000" cy="94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eck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034" y="3100000"/>
            <a:ext cx="7137931" cy="90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50000" y="1850000"/>
            <a:ext cx="75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2 Фиксация шеи при перемещении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50000" y="2900000"/>
            <a:ext cx="7500000" cy="94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neck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034" y="3100000"/>
            <a:ext cx="7137931" cy="900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200000" y="1850000"/>
            <a:ext cx="75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3 Фиксация шейного отдела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200000" y="2900000"/>
            <a:ext cx="7500000" cy="94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neck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81034" y="3100000"/>
            <a:ext cx="7137931" cy="90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Кровотечение при травме шеи: артерия или вена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Артериальное (сонная): алая кровь, пульсирующая струя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Венозное (яремные): тёмная обильная струя; риск воздушной эмболии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Прямое давление на рану (не пережимать обе сонные артерии)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Давящая повязка через плечо — не тугая круговая на шее</a:t>
            </a:r>
          </a:p>
          <a:p>
            <a:pPr algn="l">
              <a:spcAft>
                <a:spcPts val="1000"/>
              </a:spcAft>
            </a:pPr>
            <a:r>
              <a:rPr sz="32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Жгут на шею НЕ накладывают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11000000"/>
            <a:ext cx="23000000" cy="16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0000" y="11000000"/>
            <a:ext cx="120000" cy="16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11200000"/>
            <a:ext cx="22000000" cy="12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Не сдавливайте дыхательные пути повязкой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20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ТРАВМЕ ГРУДИ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250000"/>
            <a:ext cx="22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3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850000"/>
            <a:ext cx="75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1 Придать полусидячее положение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2900000"/>
            <a:ext cx="7500000" cy="94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s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034" y="3100000"/>
            <a:ext cx="7137931" cy="90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50000" y="1850000"/>
            <a:ext cx="75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2 Наложить герметизирующую (окклюзионную) повязку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50000" y="2900000"/>
            <a:ext cx="7500000" cy="94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st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034" y="3100000"/>
            <a:ext cx="7137931" cy="900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200000" y="1850000"/>
            <a:ext cx="75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3 Обложить инородный предмет салфетками или бинтами, наложив поверх них давящую повязку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200000" y="2900000"/>
            <a:ext cx="7500000" cy="94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est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81034" y="3100000"/>
            <a:ext cx="7137931" cy="90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Техника окклюзионной повязки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0000" y="190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0000" y="21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1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0000" y="210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Придать полусидячее положение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3330000"/>
            <a:ext cx="23000000" cy="125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0000" y="3530000"/>
            <a:ext cx="800000" cy="8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0000" y="353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0000" y="353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Воздухонепроницаемый материал на рану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0000" y="476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0000" y="496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000" y="496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0000" y="496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Зафиксировать пластырем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0000" y="619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0000" y="639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0000" y="639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0000" y="639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сквозном — закрыть вход и выход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0000" y="762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0000" y="782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0000" y="782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0000" y="782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Контролировать дыхание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Инородный предмет в ране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ИЗВЛЕКАТЬ — предмет может тампонировать сосуд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Обложить салфетками / бинтами валиками вокруг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Давящая повязка поверх валиков с фиксацией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продавливать предмет вглубь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Вызвать СМП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11000000"/>
            <a:ext cx="23000000" cy="16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0000" y="11000000"/>
            <a:ext cx="120000" cy="16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11200000"/>
            <a:ext cx="22000000" cy="12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Правило: зафиксировать — не извлекать!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20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ТРАВМЕ ЖИВОТА И ТАЗА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250000"/>
            <a:ext cx="22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3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850000"/>
            <a:ext cx="23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Закрытая травма живота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2500000"/>
            <a:ext cx="23000000" cy="2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Шаг 1 Вызвать скорую помощь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Шаг 2 Положить холод на живот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Шаг 3 Придать положение на спине с валиком под полусогнутыми разведенными в стороны ногами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5200000"/>
            <a:ext cx="23000000" cy="7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bdomen_clo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690" y="5400000"/>
            <a:ext cx="16158620" cy="66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20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ТРАВМЕ ЖИВОТА И ТАЗА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250000"/>
            <a:ext cx="22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3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850000"/>
            <a:ext cx="23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Открытая травма живота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2500000"/>
            <a:ext cx="23000000" cy="2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Шаг 1 Поверх валиков наложить повязку, не прижимая выпавшие органы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Шаг 2 Положить холод на живот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Шаг 3 Вызвать скорую помощь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5200000"/>
            <a:ext cx="23000000" cy="7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bdomen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690" y="5400000"/>
            <a:ext cx="16158620" cy="66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20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ТРАВМЕ КОНЕЧНОСТЕЙ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250000"/>
            <a:ext cx="22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3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1900000"/>
            <a:ext cx="75000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imb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7241" y="2100000"/>
            <a:ext cx="3965517" cy="50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000" y="7400000"/>
            <a:ext cx="7200000" cy="4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1 Остановить кровотечение</a:t>
            </a:r>
          </a:p>
        </p:txBody>
      </p:sp>
      <p:sp>
        <p:nvSpPr>
          <p:cNvPr id="9" name="Rectangle 8"/>
          <p:cNvSpPr/>
          <p:nvPr/>
        </p:nvSpPr>
        <p:spPr>
          <a:xfrm>
            <a:off x="8450000" y="1900000"/>
            <a:ext cx="75000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imb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7241" y="2100000"/>
            <a:ext cx="3965517" cy="50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00000" y="7400000"/>
            <a:ext cx="7200000" cy="4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2 Иммобилизация с обездвиживанием двух соседних суставов с помощью шин, наложенных поверх одежды.
В качестве иммобилизующего средства можно использовать шины или плоские узкие предметы: палки, доски, линейки, прутья, фанеру, картон и др.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200000" y="1900000"/>
            <a:ext cx="75000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mb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67241" y="2100000"/>
            <a:ext cx="3965517" cy="50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350000" y="7400000"/>
            <a:ext cx="7200000" cy="4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3 При открытых переломах нельзя прикладывать шину к местам, где выступают наружу костные отломки.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20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ТРАВМЕ КОНЕЧНОСТЕЙ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250000"/>
            <a:ext cx="22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3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2200000"/>
            <a:ext cx="11000000" cy="5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Иммобилизация – это создание неподвижности поврежденной части тела с помощью подручных средств, готовых транспортных шин или используя здоровые части тела пострадавшего (аутоиммобилизация).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00000" y="2000000"/>
            <a:ext cx="10000000" cy="10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mobi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0000" y="3509091"/>
            <a:ext cx="9600000" cy="698181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Иммобилизация при переломе с кровотечением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Сначала остановите кровотечение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Затем иммобилизация двух соседних суставов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Шины — поверх одежды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открытом переломе не класть шину на выступающие отломки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Костные отломки не вправлять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Первая помощь при отрыве конечности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Немедленно жгут выше места отрыва (плечо / бедро)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Давящая повязка на культю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Записка со временем наложения жгута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Сегмент: ткань → пакет → пакет со холодом (не мочить)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Передать сегмент вместе с пострадавшим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11000000"/>
            <a:ext cx="23000000" cy="16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0000" y="11000000"/>
            <a:ext cx="120000" cy="16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11200000"/>
            <a:ext cx="22000000" cy="12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Жгут при отрыве показан. t max ≤ 60 мин / 30 мин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20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ТРАВМЕ ПОЗВОНОЧНИКА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250000"/>
            <a:ext cx="22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3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1900000"/>
            <a:ext cx="110000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pin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5862" y="2100000"/>
            <a:ext cx="8448275" cy="70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0000" y="9400000"/>
            <a:ext cx="10400000" cy="2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перемещении пострадавший должен находиться на ровной, жесткой, горизонтальной поверхности</a:t>
            </a:r>
          </a:p>
        </p:txBody>
      </p:sp>
      <p:sp>
        <p:nvSpPr>
          <p:cNvPr id="9" name="Rectangle 8"/>
          <p:cNvSpPr/>
          <p:nvPr/>
        </p:nvSpPr>
        <p:spPr>
          <a:xfrm>
            <a:off x="12500000" y="1900000"/>
            <a:ext cx="11000000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pine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75862" y="2100000"/>
            <a:ext cx="8448275" cy="70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800000" y="9400000"/>
            <a:ext cx="10400000" cy="2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Перемещение или перекладывание пострадавшего следует осуществлять с помощью нескольких человек, особое внимание следует уделить фиксации шейного отдела позвоночника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Правила перемещения при травме позвоночника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Перемещать только при угрозе жизни или для эвакуации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Поверхность: ровная, жёсткая, горизонтальная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Нужно несколько человек (обычно 3–5)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Один постоянно удерживает голову и шейный отдел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Перекладывание одним движением, без скручивания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Главное запомнить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19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0000" y="225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Голова / нос: повязки; при потере сознания — боковое положение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375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0000" y="37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0000" y="410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Шея и грудь: без кругового жгута; окклюзионная повязка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000" y="560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0000" y="56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0000" y="595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Живот: органы не вправлять; конечности — кровь, затем шина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000" y="745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0000" y="74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0000" y="780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Позвоночник — жёсткая поверхность и фиксация шеи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000" y="11500000"/>
            <a:ext cx="230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Инородный предмет — зафиксировать, не извлекать!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5500000"/>
            <a:ext cx="210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БЛАГОДАРИМ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6900000"/>
            <a:ext cx="10000000" cy="25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