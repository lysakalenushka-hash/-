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4800000"/>
            <a:ext cx="23664000" cy="1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ОСТАНОВКА КРОВОТЕЧЕНИЯ ПРИ РАНЕНИЯХ РАЗЛИЧНЫХ ОБЛАСТЕЙ ТЕЛА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0" y="6600000"/>
            <a:ext cx="10000000" cy="25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0000" y="6900000"/>
            <a:ext cx="23664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Теоретический модуль · п. 2.5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800000"/>
            <a:ext cx="23664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360000" y="2000000"/>
            <a:ext cx="700000" cy="7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60000" y="2000000"/>
            <a:ext cx="7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60000" y="2000000"/>
            <a:ext cx="14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Голова, глаза, нос</a:t>
            </a:r>
          </a:p>
        </p:txBody>
      </p:sp>
      <p:sp>
        <p:nvSpPr>
          <p:cNvPr id="8" name="Oval 7"/>
          <p:cNvSpPr/>
          <p:nvPr/>
        </p:nvSpPr>
        <p:spPr>
          <a:xfrm>
            <a:off x="2360000" y="3400000"/>
            <a:ext cx="700000" cy="7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60000" y="3400000"/>
            <a:ext cx="7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0000" y="3400000"/>
            <a:ext cx="14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Шея, грудь, инородный предмет</a:t>
            </a:r>
          </a:p>
        </p:txBody>
      </p:sp>
      <p:sp>
        <p:nvSpPr>
          <p:cNvPr id="11" name="Oval 10"/>
          <p:cNvSpPr/>
          <p:nvPr/>
        </p:nvSpPr>
        <p:spPr>
          <a:xfrm>
            <a:off x="2360000" y="4800000"/>
            <a:ext cx="700000" cy="7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0000" y="4800000"/>
            <a:ext cx="7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000" y="4800000"/>
            <a:ext cx="14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Живот, таз, конечности</a:t>
            </a:r>
          </a:p>
        </p:txBody>
      </p:sp>
      <p:sp>
        <p:nvSpPr>
          <p:cNvPr id="14" name="Oval 13"/>
          <p:cNvSpPr/>
          <p:nvPr/>
        </p:nvSpPr>
        <p:spPr>
          <a:xfrm>
            <a:off x="2360000" y="6200000"/>
            <a:ext cx="700000" cy="7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60000" y="6200000"/>
            <a:ext cx="7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0000" y="6200000"/>
            <a:ext cx="14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Позвоночник и ампутация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000000" y="1600000"/>
            <a:ext cx="80000" cy="90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5500000"/>
            <a:ext cx="23664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Голова · глаза · нос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0" y="7200000"/>
            <a:ext cx="10000000" cy="25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Травма головы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" y="1900000"/>
            <a:ext cx="7721333" cy="9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ead_traum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666" y="2000000"/>
            <a:ext cx="4600000" cy="580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0000" y="7900000"/>
            <a:ext cx="7421333" cy="2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Боковое положение
при потере сознания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8331333" y="1900000"/>
            <a:ext cx="7721333" cy="9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d_trauma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1999" y="2000000"/>
            <a:ext cx="4600000" cy="58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81333" y="7900000"/>
            <a:ext cx="7421333" cy="2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Прямое давление
(не при открытой ЧМТ)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302666" y="1900000"/>
            <a:ext cx="7721333" cy="9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ead_trauma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63332" y="2000000"/>
            <a:ext cx="4600000" cy="580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452666" y="7900000"/>
            <a:ext cx="7421333" cy="2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Давящая повязка
на рану головы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Травмы глаза и носа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" y="1900000"/>
            <a:ext cx="11707000" cy="9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ye_inju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3500" y="2000000"/>
            <a:ext cx="6800000" cy="580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0000" y="7900000"/>
            <a:ext cx="11407000" cy="2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Глаз: повязка на оба глаза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17000" y="1900000"/>
            <a:ext cx="11707000" cy="9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ose_inju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70500" y="2000000"/>
            <a:ext cx="7000000" cy="58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467000" y="7900000"/>
            <a:ext cx="11407000" cy="2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Нос: вперёд, зажим, холод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Носовое кровотечение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" y="1900000"/>
            <a:ext cx="5728500" cy="9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os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536" y="2000000"/>
            <a:ext cx="4971428" cy="580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0000" y="7900000"/>
            <a:ext cx="5428500" cy="2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1. Усадить, голова вперёд</a:t>
            </a:r>
          </a:p>
        </p:txBody>
      </p:sp>
      <p:sp>
        <p:nvSpPr>
          <p:cNvPr id="8" name="Rectangle 7"/>
          <p:cNvSpPr/>
          <p:nvPr/>
        </p:nvSpPr>
        <p:spPr>
          <a:xfrm>
            <a:off x="6338500" y="1900000"/>
            <a:ext cx="5728500" cy="9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ose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7036" y="2000000"/>
            <a:ext cx="4971428" cy="58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88500" y="7900000"/>
            <a:ext cx="5428500" cy="2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2. Зажать на 10–15 мин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317000" y="1900000"/>
            <a:ext cx="5728500" cy="9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ose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95536" y="2000000"/>
            <a:ext cx="4971428" cy="580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467000" y="7900000"/>
            <a:ext cx="5428500" cy="2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3. Холод на переносицу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95500" y="1900000"/>
            <a:ext cx="5728500" cy="9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ose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74036" y="2000000"/>
            <a:ext cx="4971428" cy="580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445500" y="7900000"/>
            <a:ext cx="5428500" cy="2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4. Не высмаркиваться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5500000"/>
            <a:ext cx="23664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Шея и грудь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0" y="7200000"/>
            <a:ext cx="10000000" cy="25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Травма шеи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" y="1900000"/>
            <a:ext cx="7721333" cy="9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eck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666" y="2000000"/>
            <a:ext cx="4600000" cy="580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0000" y="7900000"/>
            <a:ext cx="7421333" cy="2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1. Остановка кровотечения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8331333" y="1900000"/>
            <a:ext cx="7721333" cy="9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eck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1999" y="2000000"/>
            <a:ext cx="4600000" cy="58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81333" y="7900000"/>
            <a:ext cx="7421333" cy="2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2. Фиксация при перемещении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302666" y="1900000"/>
            <a:ext cx="7721333" cy="9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eck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63332" y="2000000"/>
            <a:ext cx="4600000" cy="580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452666" y="7900000"/>
            <a:ext cx="7421333" cy="2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3. Фиксация шейного отдела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Шея: артерия или вена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0000" y="2000000"/>
            <a:ext cx="22664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Артериальное: алая пульсирующая струя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Венозное: тёмная обильная струя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Прямое давление (не пережимать обе сонные)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Повязка через плечо — не круговая тугая</a:t>
            </a:r>
          </a:p>
          <a:p>
            <a:pPr algn="l">
              <a:spcAft>
                <a:spcPts val="1400"/>
              </a:spcAft>
            </a:pPr>
            <a:r>
              <a:rPr sz="32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Жгут на шею НЕ накладывают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0000" y="11200000"/>
            <a:ext cx="23664000" cy="15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0000" y="11200000"/>
            <a:ext cx="120000" cy="15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11400000"/>
            <a:ext cx="23064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Не сдавливайте дыхательные пути повязкой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Травма груди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" y="1900000"/>
            <a:ext cx="7721333" cy="9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es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666" y="2000000"/>
            <a:ext cx="4600000" cy="580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0000" y="7900000"/>
            <a:ext cx="7421333" cy="2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1. Полусидячее положение</a:t>
            </a:r>
          </a:p>
        </p:txBody>
      </p:sp>
      <p:sp>
        <p:nvSpPr>
          <p:cNvPr id="8" name="Rectangle 7"/>
          <p:cNvSpPr/>
          <p:nvPr/>
        </p:nvSpPr>
        <p:spPr>
          <a:xfrm>
            <a:off x="8331333" y="1900000"/>
            <a:ext cx="7721333" cy="9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est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1999" y="2000000"/>
            <a:ext cx="4600000" cy="58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81333" y="7900000"/>
            <a:ext cx="7421333" cy="2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2. Окклюзионная повязка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302666" y="1900000"/>
            <a:ext cx="7721333" cy="9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est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63332" y="2000000"/>
            <a:ext cx="4600000" cy="580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452666" y="7900000"/>
            <a:ext cx="7421333" cy="2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3. Предмет: обложить, повязка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Окклюзионная повязка — схема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60000" y="1800000"/>
            <a:ext cx="19000000" cy="140000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160000" y="21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60000" y="21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0000" y="2000000"/>
            <a:ext cx="17000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Полусидячее положение</a:t>
            </a:r>
          </a:p>
        </p:txBody>
      </p:sp>
      <p:sp>
        <p:nvSpPr>
          <p:cNvPr id="9" name="Down Arrow 8"/>
          <p:cNvSpPr/>
          <p:nvPr/>
        </p:nvSpPr>
        <p:spPr>
          <a:xfrm>
            <a:off x="11360000" y="3220000"/>
            <a:ext cx="350000" cy="180000"/>
          </a:xfrm>
          <a:prstGeom prst="downArrow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860000" y="3450000"/>
            <a:ext cx="19000000" cy="14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60000" y="3750000"/>
            <a:ext cx="800000" cy="8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60000" y="37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0000" y="3650000"/>
            <a:ext cx="17000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Воздухонепроницаемый материал на рану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1360000" y="4870000"/>
            <a:ext cx="350000" cy="180000"/>
          </a:xfrm>
          <a:prstGeom prst="downArrow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860000" y="5100000"/>
            <a:ext cx="19000000" cy="140000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60000" y="54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60000" y="54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60000" y="5300000"/>
            <a:ext cx="17000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Фиксация пластырем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11360000" y="6520000"/>
            <a:ext cx="350000" cy="180000"/>
          </a:xfrm>
          <a:prstGeom prst="downArrow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860000" y="6750000"/>
            <a:ext cx="19000000" cy="140000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160000" y="705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60000" y="70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60000" y="6950000"/>
            <a:ext cx="17000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сквозном — вход и выход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11360000" y="8170000"/>
            <a:ext cx="350000" cy="180000"/>
          </a:xfrm>
          <a:prstGeom prst="downArrow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860000" y="8400000"/>
            <a:ext cx="19000000" cy="140000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160000" y="87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60000" y="87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0000" y="8600000"/>
            <a:ext cx="17000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Контроль дыхания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Инородный предмет в ране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0000" y="2000000"/>
            <a:ext cx="22664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ИЗВЛЕКАТЬ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Обложить валиками вокруг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Давящая повязка с фиксацией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продавливать предмет вглубь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Вызвать СМП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0000" y="11200000"/>
            <a:ext cx="23664000" cy="15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0000" y="11200000"/>
            <a:ext cx="120000" cy="15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11400000"/>
            <a:ext cx="23064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Правило: зафиксировать — не извлекать!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5500000"/>
            <a:ext cx="23664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Живот · таз · конечности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0" y="7200000"/>
            <a:ext cx="10000000" cy="25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Закрытая травма живота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0000" y="1900000"/>
            <a:ext cx="130152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Вызвать СМП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Холод на живот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На спине, ноги полусогнуты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кормить и не поить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75200" y="1900000"/>
            <a:ext cx="9465600" cy="8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bdomen_clo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5200" y="4007730"/>
            <a:ext cx="9265600" cy="37845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Открытая травма живота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0000" y="1900000"/>
            <a:ext cx="13015200" cy="6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Органы НЕ вправлять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Накрыть влажной тканью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Повязка без давления на органы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Срочный вызов СМП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75200" y="1900000"/>
            <a:ext cx="9465600" cy="68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bdomen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5200" y="3407730"/>
            <a:ext cx="9265600" cy="37845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1200000"/>
            <a:ext cx="23664000" cy="15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1200000"/>
            <a:ext cx="120000" cy="15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0000" y="11400000"/>
            <a:ext cx="23064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Органы брюшной полости не вправлять!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Травма конечностей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" y="1900000"/>
            <a:ext cx="7721333" cy="9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imb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666" y="2000000"/>
            <a:ext cx="4600000" cy="580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0000" y="7900000"/>
            <a:ext cx="7421333" cy="2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1. Остановить кровотечение</a:t>
            </a:r>
          </a:p>
        </p:txBody>
      </p:sp>
      <p:sp>
        <p:nvSpPr>
          <p:cNvPr id="8" name="Rectangle 7"/>
          <p:cNvSpPr/>
          <p:nvPr/>
        </p:nvSpPr>
        <p:spPr>
          <a:xfrm>
            <a:off x="8331333" y="1900000"/>
            <a:ext cx="7721333" cy="9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imb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1999" y="2000000"/>
            <a:ext cx="4600000" cy="58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81333" y="7900000"/>
            <a:ext cx="7421333" cy="2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2. Иммобилизация 2 суставов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302666" y="1900000"/>
            <a:ext cx="7721333" cy="9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imb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63332" y="2000000"/>
            <a:ext cx="4600000" cy="580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452666" y="7900000"/>
            <a:ext cx="7421333" cy="2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3. Не на отломки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Иммобилизация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0000" y="1900000"/>
            <a:ext cx="130152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Неподвижность повреждённой части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Шины поверх одежды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Два соседних сустава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Отломки не вправлять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Сначала кровь — затем шина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75200" y="1900000"/>
            <a:ext cx="9465600" cy="8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mobi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5200" y="2530691"/>
            <a:ext cx="9265600" cy="673861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Травматическая ампутация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0000" y="2000000"/>
            <a:ext cx="22664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32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Жгут выше отрыва (плечо / бедро)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Давящая повязка на культю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Записка со временем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Сегмент: ткань → пакет → холод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Передать сегмент вместе с пострадавшим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0000" y="11200000"/>
            <a:ext cx="23664000" cy="15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0000" y="11200000"/>
            <a:ext cx="120000" cy="15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11400000"/>
            <a:ext cx="23064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Жгут при отрыве показан. t max ≤ 60 / 30 мин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5500000"/>
            <a:ext cx="23664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Позвоночник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0" y="7200000"/>
            <a:ext cx="10000000" cy="25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Травма позвоночника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" y="1900000"/>
            <a:ext cx="11707000" cy="9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pin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500" y="2000000"/>
            <a:ext cx="7000000" cy="580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0000" y="7900000"/>
            <a:ext cx="11407000" cy="2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Жёсткая ровная поверхность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17000" y="1900000"/>
            <a:ext cx="11707000" cy="9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pine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70500" y="2000000"/>
            <a:ext cx="7000000" cy="58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467000" y="7900000"/>
            <a:ext cx="11407000" cy="2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Несколько человек + фиксация шеи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Перемещение при травме позвоночника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0000" y="2000000"/>
            <a:ext cx="22664000" cy="7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Только при угрозе жизни или эвакуации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Нужно 3–5 человек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Один держит голову и шею постоянно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Одно движение, без скручивания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Фиксация шеи вручную / воротником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Главное запомнить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60000" y="2150000"/>
            <a:ext cx="600000" cy="6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60000" y="2150000"/>
            <a:ext cx="6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0000" y="2000000"/>
            <a:ext cx="18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Голова/нос: повязки; при потере сознания — боковое положение</a:t>
            </a:r>
          </a:p>
        </p:txBody>
      </p:sp>
      <p:sp>
        <p:nvSpPr>
          <p:cNvPr id="8" name="Oval 7"/>
          <p:cNvSpPr/>
          <p:nvPr/>
        </p:nvSpPr>
        <p:spPr>
          <a:xfrm>
            <a:off x="1860000" y="3750000"/>
            <a:ext cx="600000" cy="6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60000" y="3750000"/>
            <a:ext cx="6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60000" y="3600000"/>
            <a:ext cx="18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Шея и грудь: без кругового жгута; окклюзионная повязка</a:t>
            </a:r>
          </a:p>
        </p:txBody>
      </p:sp>
      <p:sp>
        <p:nvSpPr>
          <p:cNvPr id="11" name="Oval 10"/>
          <p:cNvSpPr/>
          <p:nvPr/>
        </p:nvSpPr>
        <p:spPr>
          <a:xfrm>
            <a:off x="1860000" y="5350000"/>
            <a:ext cx="600000" cy="6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60000" y="5350000"/>
            <a:ext cx="6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60000" y="5200000"/>
            <a:ext cx="18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Живот: органы не вправлять; конечности — кровь, затем шина</a:t>
            </a:r>
          </a:p>
        </p:txBody>
      </p:sp>
      <p:sp>
        <p:nvSpPr>
          <p:cNvPr id="14" name="Oval 13"/>
          <p:cNvSpPr/>
          <p:nvPr/>
        </p:nvSpPr>
        <p:spPr>
          <a:xfrm>
            <a:off x="1860000" y="6950000"/>
            <a:ext cx="600000" cy="6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60000" y="6950000"/>
            <a:ext cx="6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60000" y="6800000"/>
            <a:ext cx="18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Позвоночник — жёсткая поверхность и команда с фиксацией шеи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11200000"/>
            <a:ext cx="23664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Инородный предмет — зафиксировать, не извлекать!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5500000"/>
            <a:ext cx="23664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Благодарим за внимание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0" y="7000000"/>
            <a:ext cx="10000000" cy="25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0000" y="7400000"/>
            <a:ext cx="23664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