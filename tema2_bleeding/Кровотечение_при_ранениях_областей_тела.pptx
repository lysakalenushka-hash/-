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00000"/>
            <a:ext cx="3500000" cy="220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3000000"/>
            <a:ext cx="20000000" cy="1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2C2C2C"/>
                </a:solidFill>
                <a:latin typeface="Arial"/>
              </a:rPr>
              <a:t>ОСТАНОВКА КРОВОТЕЧЕНИЯ ПРИ РАНЕНИЯХ РАЗЛИЧНЫХ ОБЛАСТЕЙ ТЕЛА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900000"/>
            <a:ext cx="16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51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Теоретический модуль · п. 2.5 Приложения № 2 к ПП РФ № 2464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800000"/>
            <a:ext cx="2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Курс первой помощи · Тема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Тема 2 · Оказание первой помощи при наружных кровотечениях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СОДЕРЖАНИЕ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2000000"/>
            <a:ext cx="700000" cy="7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000000"/>
            <a:ext cx="7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0000" y="2000000"/>
            <a:ext cx="19000000" cy="7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00000" y="2000000"/>
            <a:ext cx="18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2C2C2C"/>
                </a:solidFill>
                <a:latin typeface="Arial"/>
              </a:rPr>
              <a:t>Голова, глаза, нос, носовое кровотечение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2950000"/>
            <a:ext cx="700000" cy="7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2950000"/>
            <a:ext cx="7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0000" y="2950000"/>
            <a:ext cx="19000000" cy="7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0000" y="2950000"/>
            <a:ext cx="18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2C2C2C"/>
                </a:solidFill>
                <a:latin typeface="Arial"/>
              </a:rPr>
              <a:t>Шея, грудь, инородный предмет в ране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3900000"/>
            <a:ext cx="700000" cy="7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3900000"/>
            <a:ext cx="7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0000" y="3900000"/>
            <a:ext cx="19000000" cy="7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00000" y="3900000"/>
            <a:ext cx="18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2C2C2C"/>
                </a:solidFill>
                <a:latin typeface="Arial"/>
              </a:rPr>
              <a:t>Живот, таз, конечности, позвоночник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" y="4850000"/>
            <a:ext cx="700000" cy="7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4850000"/>
            <a:ext cx="7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0000" y="4850000"/>
            <a:ext cx="19000000" cy="7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0000" y="4850000"/>
            <a:ext cx="18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2C2C2C"/>
                </a:solidFill>
                <a:latin typeface="Arial"/>
              </a:rPr>
              <a:t>Отрыв конечности и правила перемещения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2C2C2C"/>
                </a:solidFill>
                <a:latin typeface="Arial"/>
              </a:rPr>
              <a:t>ГОЛОВА · ГЛАЗА · НОС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400000"/>
            <a:ext cx="12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Исходный материал · доработано по стандартам первой помощи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НОСОВОЕ КРОВОТЕЧЕНИЕ — КЛЮЧЕВЫЕ ШАГИ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Усадить, голову слегка наклонить вперёд (не запрокидывать!).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Зажать нос (крылья носа) на 10–15 минут непрерывно.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Приложить холод на переносицу / затылок.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Не высмаркиваться, не тампонировать ватой глубоко без навыка.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При травме носа с деформацией — холод, покой, вызов СМП.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При обильном/повторном кровотечении, слабости, травме головы — СМП обязательно.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2C2C2C"/>
                </a:solidFill>
                <a:latin typeface="Arial"/>
              </a:rPr>
              <a:t>ШЕЯ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400000"/>
            <a:ext cx="12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Исходный материал · доработано по стандартам первой помощи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КРОВОТЕЧЕНИЕ ПРИ ТРАВМЕ ШЕИ: АРТЕРИЯ ИЛИ ВЕНА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Артериальное (сонная): алая кровь, пульсирующая струя, очень быстрая потеря крови.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Венозное (яремные вены): тёмная кровь, равномерная обильная струя; риск воздушной эмболии.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Действия: прямое давление на рану (осторожно, не пережимать обе сонные артерии).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Давящая повязка через плечо / вокруг (не круговая тугая на шее!).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Прижать рану и одновременно зафиксировать шею при перемещении.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Пострадавшего не оставлять; срочный вызов СМП.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10500000"/>
            <a:ext cx="20500000" cy="1800000"/>
          </a:xfrm>
          <a:prstGeom prst="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0800000"/>
            <a:ext cx="200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2828"/>
                </a:solidFill>
                <a:latin typeface="Arial"/>
              </a:rPr>
              <a:t>На шею жгут НЕ накладывают. Не сдавливайте дыхательные пути повязкой.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2C2C2C"/>
                </a:solidFill>
                <a:latin typeface="Arial"/>
              </a:rPr>
              <a:t>ГРУДЬ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400000"/>
            <a:ext cx="12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Исходный материал · доработано по стандартам первой помощи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ОККЛЮЗИОННАЯ (ГЕРМЕТИЗИРУЮЩАЯ) ПОВЯЗКА — СХЕМА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1. Придать полусидячее положение (если нет травмы позвоночника / шока).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2. На рану груди положить воздухонепроницаемый материал (плёнка, оболочка от ППИ, клеёнка).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3. Закрепить пластырем с трёх сторон (клапан) или полностью — по обучению/комплектации.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4. Цель — уменьшить подсасывание воздуха в плевральную полость.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5. Контролировать дыхание; при ухудшении сообщить СМП.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6. При сквозном ранении закрыть оба отверстия (вход и выход).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ИНОРОДНЫЙ ПРЕДМЕТ В РАНЕ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НЕ ИЗВЛЕКАТЬ инородный предмет — он может тампонировать сосуд.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Обложить предмет салфетками/бинтами валиками вокруг.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Наложить давящую повязку поверх валиков, фиксируя предмет.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Остановить наружное кровотечение вокруг, не продавливая предмет вглубь.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Иммобилизировать область ранения, вызвать СМП.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Контролировать сознание, дыхание, признаки шока.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10500000"/>
            <a:ext cx="20500000" cy="1800000"/>
          </a:xfrm>
          <a:prstGeom prst="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0800000"/>
            <a:ext cx="200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2828"/>
                </a:solidFill>
                <a:latin typeface="Arial"/>
              </a:rPr>
              <a:t>Правило: зафиксировать — не извлекать!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2C2C2C"/>
                </a:solidFill>
                <a:latin typeface="Arial"/>
              </a:rPr>
              <a:t>ЖИВОТ И ТАЗ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400000"/>
            <a:ext cx="12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Исходный материал · доработано по стандартам первой помощи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ОТКРЫТАЯ ТРАВМА ЖИВОТА — ВАЖНО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Выпавшие органы НЕ вправлять в рану.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Накрыть влажной (чистой) тканью / салфетками, обложить валиками.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Поверх валиков — повязка без давления на органы.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Холод рядом (не на сами органы напрямую через давление).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Положение: на спине, ноги полусогнуты и разведены (как при закрытой травме — по состоянию).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Не поить и не кормить; срочный вызов СМП.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2C2C2C"/>
                </a:solidFill>
                <a:latin typeface="Arial"/>
              </a:rPr>
              <a:t>КОНЕЧНОСТИ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400000"/>
            <a:ext cx="12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Исходный материал · доработано по стандартам первой помощи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ИММОБИЛИЗАЦИЯ ПРИ ПЕРЕЛОМЕ С КРОВОТЕЧЕНИЕМ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Сначала остановите кровотечение (давление / повязка / жгут по показаниям).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Затем иммобилизация: обездвижить два соседних сустава (выше и ниже перелома).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Шины — поверх одежды; при открытом переломе не класть шину на выступающие отломки.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Костные отломки не вправлять.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После иммобилизации — контроль повязки и пальцев (цвет, чувствительность).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Признаками успеха: меньше боль при движении, кровотечение не возобновляется.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ТРАВМАТИЧЕСКАЯ АМПУТАЦИЯ (ОТРЫВ КОНЕЧНОСТИ)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02828"/>
                </a:solidFill>
                <a:latin typeface="Arial"/>
              </a:rPr>
              <a:t>•  Немедленно наложите жгут выше места отрыва (на плечо/бедро).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Давящая повязка на культю; прямое давление при необходимости.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Записка со временем наложения жгута.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Ампутированный сегмент: завернуть в чистую ткань → пакет → второй пакет со льдом/холодом (сегмент не мочить и не класть на лёд напрямую).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Передать сегмент вместе с пострадавшим бригаде СМП.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Профилактика шока: положение, тепло, контроль сознания и дыхания.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10500000"/>
            <a:ext cx="20500000" cy="1800000"/>
          </a:xfrm>
          <a:prstGeom prst="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0800000"/>
            <a:ext cx="200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2828"/>
                </a:solidFill>
                <a:latin typeface="Arial"/>
              </a:rPr>
              <a:t>Жгут при отрыве конечности — показан. t max ≤ 60 мин / 30 мин.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2C2C2C"/>
                </a:solidFill>
                <a:latin typeface="Arial"/>
              </a:rPr>
              <a:t>ПОЗВОНОЧНИК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400000"/>
            <a:ext cx="12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Исходный материал · доработано по стандартам первой помощи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ПЕРЕМЕЩЕНИЕ ПРИ ТРАВМЕ ПОЗВОНОЧНИКА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00000"/>
            <a:ext cx="20500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Перемещать только при угрозе жизни на месте или для эвакуации по указанию служб.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Поверхность: ровная, жёсткая, горизонтальная (щит, дверь, носилки).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Нужно несколько человек (обычно 3–5): синхронно поддерживать голову–туловище–ноги.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Один удерживает голову и шейный отдел постоянно (осевая фиксация).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Команда «раз–два–три» — перекладывание одним движением, без скручивания.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C2C2C"/>
                </a:solidFill>
                <a:latin typeface="Arial"/>
              </a:rPr>
              <a:t>•  Фиксация шеи вручную / подручными средствами / табельным воротником (при наличии).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00000"/>
            <a:ext cx="700000" cy="7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80000"/>
            <a:ext cx="70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00000"/>
            <a:ext cx="2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КРАТКОЕ РЕЗЮМЕ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350000"/>
            <a:ext cx="20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50000"/>
            <a:ext cx="20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F6F"/>
                </a:solidFill>
                <a:latin typeface="Arial"/>
              </a:rPr>
              <a:t>Оказание первой помощи при наружных кровотечениях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2000000"/>
            <a:ext cx="20500000" cy="14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000" y="2000000"/>
            <a:ext cx="120000" cy="14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0000" y="2350000"/>
            <a:ext cx="190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2C2C2C"/>
                </a:solidFill>
                <a:latin typeface="Arial"/>
              </a:rPr>
              <a:t>Голова/глаза/нос: повязки, боковое положение при потере сознания; нос — вперёд, зажим, холод.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3650000"/>
            <a:ext cx="20500000" cy="14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000" y="3650000"/>
            <a:ext cx="120000" cy="14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0000" y="4000000"/>
            <a:ext cx="190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2C2C2C"/>
                </a:solidFill>
                <a:latin typeface="Arial"/>
              </a:rPr>
              <a:t>Шея и грудь: давление без кругового жгута; окклюзионная повязка; предмет не извлекать.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5300000"/>
            <a:ext cx="20500000" cy="14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000" y="5300000"/>
            <a:ext cx="120000" cy="14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0000" y="5650000"/>
            <a:ext cx="190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2C2C2C"/>
                </a:solidFill>
                <a:latin typeface="Arial"/>
              </a:rPr>
              <a:t>Живот: органы не вправлять; конечности — кровь, затем иммобилизация двух суставов.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6950000"/>
            <a:ext cx="20500000" cy="1400000"/>
          </a:xfrm>
          <a:prstGeom prst="rect">
            <a:avLst/>
          </a:prstGeom>
          <a:solidFill>
            <a:srgbClr val="FFFFFF"/>
          </a:solidFill>
          <a:ln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000" y="6950000"/>
            <a:ext cx="120000" cy="1400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0000" y="7300000"/>
            <a:ext cx="190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2C2C2C"/>
                </a:solidFill>
                <a:latin typeface="Arial"/>
              </a:rPr>
              <a:t>Позвоночник — только жёсткая поверхность и команда из нескольких человек с фиксацией шеи.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200000"/>
            <a:ext cx="200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C2C2C"/>
                </a:solidFill>
                <a:latin typeface="Arial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10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F6F"/>
                </a:solidFill>
                <a:latin typeface="Arial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