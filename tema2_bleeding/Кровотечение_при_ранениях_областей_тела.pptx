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7500000" y="0"/>
            <a:ext cx="68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00000"/>
            <a:ext cx="4500000" cy="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5000000"/>
            <a:ext cx="165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
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6800000"/>
            <a:ext cx="14000000" cy="3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0000" y="19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0" y="19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0000" y="19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Голова, глаза, нос, носовое кровотечение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33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33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0" y="33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0000" y="33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Шея, грудь, инородный предмет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4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4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0000" y="47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0000" y="47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Живот, таз, конечности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6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6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61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0000" y="61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и травматическая ампутация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ГОЛОВЫ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75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d_traum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615" y="2100000"/>
            <a:ext cx="4780769" cy="55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000" y="7900000"/>
            <a:ext cx="72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Придание пострадавшему с травмой головы и находящемуся без сознания, устойчивого бокового положения.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50000" y="1900000"/>
            <a:ext cx="75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ad_traum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9615" y="2100000"/>
            <a:ext cx="4780769" cy="5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00000" y="7900000"/>
            <a:ext cx="72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Остановка кровотечения при ранении головы путем прямого давления на рану. Нельзя применять этот способ при открытых черепно-мозговых травмах.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200000" y="1900000"/>
            <a:ext cx="75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ead_traum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17308" y="2100000"/>
            <a:ext cx="4865384" cy="55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50000" y="7900000"/>
            <a:ext cx="72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Остановка кровотечения при травме головы наложением давящей повязки.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ТРАВМАХ ГЛАЗА И НОСА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10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100000"/>
            <a:ext cx="104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травме глаза: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800000"/>
            <a:ext cx="104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Наложить стерильную повязку на оба глаза.</a:t>
            </a:r>
          </a:p>
        </p:txBody>
      </p:sp>
      <p:pic>
        <p:nvPicPr>
          <p:cNvPr id="9" name="Picture 8" descr="eye_inju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385" y="4300000"/>
            <a:ext cx="9519230" cy="75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2500000" y="1900000"/>
            <a:ext cx="110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0000" y="2100000"/>
            <a:ext cx="104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травме носа: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0000" y="2800000"/>
            <a:ext cx="10400000" cy="1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Усадить пострадавшего со слегка наклоненной вперед головой, зажать нос, приложить холод на переносицу.</a:t>
            </a:r>
          </a:p>
        </p:txBody>
      </p:sp>
      <p:pic>
        <p:nvPicPr>
          <p:cNvPr id="13" name="Picture 12" descr="nose_inju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4615" y="5000000"/>
            <a:ext cx="8630769" cy="68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НОСОВОМ КРОВОТЕЧЕНИИ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55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600000"/>
            <a:ext cx="55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os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3669444"/>
            <a:ext cx="5300000" cy="73611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50000" y="1900000"/>
            <a:ext cx="55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50000" y="2600000"/>
            <a:ext cx="55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os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000" y="3669444"/>
            <a:ext cx="5300000" cy="73611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200000" y="1900000"/>
            <a:ext cx="55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200000" y="2600000"/>
            <a:ext cx="55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s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00000" y="3669444"/>
            <a:ext cx="5300000" cy="73611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950000" y="1900000"/>
            <a:ext cx="55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950000" y="2600000"/>
            <a:ext cx="55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s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0000" y="3669444"/>
            <a:ext cx="5300000" cy="73611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ШЕИ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 Остановка кровотечения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900000"/>
            <a:ext cx="7500000" cy="9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eck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3400885"/>
            <a:ext cx="7300000" cy="83982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5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 Фиксация шеи при перемещении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0000" y="2900000"/>
            <a:ext cx="7500000" cy="9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eck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000" y="3400885"/>
            <a:ext cx="7300000" cy="83982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20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 Фиксация шейного отдела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00000" y="2900000"/>
            <a:ext cx="7500000" cy="9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eck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0000" y="3473913"/>
            <a:ext cx="7300000" cy="82521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при травме шеи: артерия или вена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Артериальное (сонная): алая кровь, пульсирующая струя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Венозное (яремные): тёмная обильная струя; риск воздушной эмболии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Прямое давление на рану (не пережимать обе сонные артерии)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через плечо — не тугая круговая на шее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Жгут на шею НЕ накладывают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Не сдавливайте дыхательные пути повязкой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ГРУДИ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 Придать полусидячее положение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900000"/>
            <a:ext cx="7500000" cy="9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3400885"/>
            <a:ext cx="7300000" cy="83982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5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 Наложить герметизирующую (окклюзионную) повязку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0000" y="2900000"/>
            <a:ext cx="7500000" cy="9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s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000" y="3400885"/>
            <a:ext cx="7300000" cy="83982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20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 Обложить инородный предмет салфетками или бинтами, наложив поверх них давящую повязку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00000" y="2900000"/>
            <a:ext cx="7500000" cy="9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s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0000" y="3473913"/>
            <a:ext cx="7300000" cy="82521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Техника окклюзионной повязки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0000" y="190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0000" y="2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0000" y="210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Придать полусидячее положение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330000"/>
            <a:ext cx="23000000" cy="125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0000" y="353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353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0000" y="353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Воздухонепроницаемый материал на рану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476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0000" y="496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000" y="496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0000" y="496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Зафиксировать пластырем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0000" y="619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0000" y="639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639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0000" y="639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сквозном — закрыть вход и выход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000" y="762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0000" y="782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000" y="782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0000" y="782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Контролировать дыхание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Инородный предмет в ране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ИЗВЛЕКАТЬ — предмет может тампонировать сосуд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Обложить салфетками / бинтами валиками вокруг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поверх валиков с фиксацией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продавливать предмет вглубь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Вызвать СМП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Правило: зафиксировать — не извлекать!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ЖИВОТА И ТАЗА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Закрытая травма живота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500000"/>
            <a:ext cx="23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1 Вызвать скорую помощь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2 Положить холод на живот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3 Придать положение на спине с валиком под полусогнутыми разведенными в стороны ногами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200000"/>
            <a:ext cx="23000000" cy="7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bdomen_clo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2308" y="5400000"/>
            <a:ext cx="17515384" cy="66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ЖИВОТА И ТАЗА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Открытая травма живота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500000"/>
            <a:ext cx="23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1 Поверх валиков наложить повязку, не прижимая выпавшие органы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2 Положить холод на живот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3 Вызвать скорую помощь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200000"/>
            <a:ext cx="23000000" cy="7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bdome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2308" y="5400000"/>
            <a:ext cx="17515384" cy="66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КОНЕЧНОСТЕЙ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75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mb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923" y="2100000"/>
            <a:ext cx="4346153" cy="50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000" y="7400000"/>
            <a:ext cx="7200000" cy="4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 Остановить кровотечение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8450000" y="1900000"/>
            <a:ext cx="75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mb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6923" y="2100000"/>
            <a:ext cx="4346153" cy="50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00000" y="7400000"/>
            <a:ext cx="7200000" cy="4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 Иммобилизация с обездвиживанием двух соседних суставов с помощью шин, наложенных поверх одежды.
В качестве иммобилизующего средства можно использовать шины или плоские узкие предметы: палки, доски, линейки, прутья, фанеру, картон и др.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200000" y="1900000"/>
            <a:ext cx="75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mb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38462" y="2100000"/>
            <a:ext cx="4423076" cy="50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50000" y="7400000"/>
            <a:ext cx="7200000" cy="4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 При открытых переломах нельзя прикладывать шину к местам, где выступают наружу костные отломки.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КОНЕЧНОСТЕЙ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200000"/>
            <a:ext cx="11000000" cy="5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Иммобилизация – это создание неподвижности поврежденной части тела с помощью подручных средств, готовых транспортных шин или используя здоровые части тела пострадавшего (аутоиммобилизация).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00000" y="2000000"/>
            <a:ext cx="10000000" cy="10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mob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0000" y="3571429"/>
            <a:ext cx="9600000" cy="685714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Иммобилизация при переломе с кровотечением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остановите кровотечение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иммобилизация двух соседних суставов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Шины — поверх одежды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открытом переломе не класть шину на выступающие отломки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Костные отломки не вправлять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Первая помощь при отрыве конечности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Немедленно жгут выше места отрыва (плечо / бедро)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на культю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Записка со временем наложения жгута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Сегмент: ткань → пакет → пакет со холодом (не мочить)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Передать сегмент вместе с пострадавшим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Жгут при отрыве показан. t max ≤ 60 мин / 30 мин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ПОЗВОНОЧНИКА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10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pi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077" y="2100000"/>
            <a:ext cx="9153846" cy="70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0000" y="9400000"/>
            <a:ext cx="10400000" cy="2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перемещении пострадавший должен находиться на ровной, жесткой, горизонтальной поверхности</a:t>
            </a:r>
          </a:p>
        </p:txBody>
      </p:sp>
      <p:sp>
        <p:nvSpPr>
          <p:cNvPr id="9" name="Rectangle 8"/>
          <p:cNvSpPr/>
          <p:nvPr/>
        </p:nvSpPr>
        <p:spPr>
          <a:xfrm>
            <a:off x="12500000" y="1900000"/>
            <a:ext cx="110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pi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3077" y="2100000"/>
            <a:ext cx="9153846" cy="70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0000" y="9400000"/>
            <a:ext cx="10400000" cy="2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Перемещение или перекладывание пострадавшего следует осуществлять с помощью нескольких человек, особое внимание следует уделить фиксации шейного отдела позвоночника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Правила перемещения при травме позвоночника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Перемещать только при угрозе жизни или для эвакуации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Поверхность: ровная, жёсткая, горизонтальная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Нужно несколько человек (обычно 3–5)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Один постоянно удерживает голову и шейный отдел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Перекладывание одним движением, без скручивания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22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 / нос: повязки; при потере сознания — боковое положение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7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3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41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 и грудь: без кругового жгута; окклюзионная повязка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6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56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59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Живот: органы не вправлять; конечности — кровь, затем шина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74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74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000" y="78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— жёсткая поверхность и фиксация шеи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11500000"/>
            <a:ext cx="230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Инородный предмет — зафиксировать, не извлекать!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7500000" y="0"/>
            <a:ext cx="68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5500000"/>
            <a:ext cx="16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6900000"/>
            <a:ext cx="10000000" cy="3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