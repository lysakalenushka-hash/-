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24384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7500000" y="0"/>
            <a:ext cx="6884000" cy="13716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00000"/>
            <a:ext cx="4500000" cy="28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5000000"/>
            <a:ext cx="16500000" cy="1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
КРОВОТЕЧЕНИЯХ И ТРАВМАХ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6800000"/>
            <a:ext cx="14000000" cy="35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Содержание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00000" y="19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19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800000" y="19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0000" y="19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Голова, глаза, нос, носовое кровотечение</a:t>
            </a:r>
          </a:p>
        </p:txBody>
      </p:sp>
      <p:sp>
        <p:nvSpPr>
          <p:cNvPr id="9" name="Oval 8"/>
          <p:cNvSpPr/>
          <p:nvPr/>
        </p:nvSpPr>
        <p:spPr>
          <a:xfrm>
            <a:off x="700000" y="33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0000" y="33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00000" y="33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0000" y="33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Шея, грудь, инородный предмет</a:t>
            </a:r>
          </a:p>
        </p:txBody>
      </p:sp>
      <p:sp>
        <p:nvSpPr>
          <p:cNvPr id="13" name="Oval 12"/>
          <p:cNvSpPr/>
          <p:nvPr/>
        </p:nvSpPr>
        <p:spPr>
          <a:xfrm>
            <a:off x="700000" y="47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0000" y="47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0000" y="47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00000" y="47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Живот, таз, конечности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61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0000" y="61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00000" y="61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00000" y="61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Позвоночник и травматическая ампутация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2200000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ТРАВМЕ ГОЛОВЫ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150000"/>
            <a:ext cx="16000000" cy="3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2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850000"/>
            <a:ext cx="11000000" cy="2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Придание пострадавшему с травмой головы и находящемуся без сознания, устойчивого бокового положения.</a:t>
            </a:r>
          </a:p>
        </p:txBody>
      </p:sp>
      <p:pic>
        <p:nvPicPr>
          <p:cNvPr id="7" name="Picture 6" descr="head_traum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00000" y="1764000"/>
            <a:ext cx="10500000" cy="2772000"/>
          </a:xfrm>
          <a:prstGeom prst="rect">
            <a:avLst/>
          </a:prstGeom>
        </p:spPr>
      </p:pic>
      <p:pic>
        <p:nvPicPr>
          <p:cNvPr id="8" name="Picture 7" descr="head_trauma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000" y="5000000"/>
            <a:ext cx="10360000" cy="28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900000" y="5200000"/>
            <a:ext cx="11000000" cy="2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Остановка кровотечения при ранении головы путем прямого давления на рану. Нельзя применять этот способ при открытых черепно-мозговых травмах.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0000" y="8600000"/>
            <a:ext cx="11000000" cy="2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Остановка кровотечения при травме головы наложением давящей повязки.</a:t>
            </a:r>
          </a:p>
        </p:txBody>
      </p:sp>
      <p:pic>
        <p:nvPicPr>
          <p:cNvPr id="11" name="Picture 10" descr="head_trauma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00000" y="8594000"/>
            <a:ext cx="10500000" cy="361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2200000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ТРАВМАХ ГЛАЗА И НОСА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150000"/>
            <a:ext cx="16000000" cy="3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2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900000"/>
            <a:ext cx="110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 травме глаза: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2550000"/>
            <a:ext cx="110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Наложить стерильную повязку на оба глаза.</a:t>
            </a:r>
          </a:p>
        </p:txBody>
      </p:sp>
      <p:pic>
        <p:nvPicPr>
          <p:cNvPr id="8" name="Picture 7" descr="eye_inju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000" y="4813265"/>
            <a:ext cx="10600000" cy="627346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500000" y="1900000"/>
            <a:ext cx="110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 травме носа: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00000" y="2550000"/>
            <a:ext cx="11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Усадить пострадавшего со слегка наклоненной вперед головой, зажать нос, приложить холод на переносицу.</a:t>
            </a:r>
          </a:p>
        </p:txBody>
      </p:sp>
      <p:pic>
        <p:nvPicPr>
          <p:cNvPr id="11" name="Picture 10" descr="nose_inju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0" y="5176000"/>
            <a:ext cx="10600000" cy="614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2200000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НОСОВОМ КРОВОТЕЧЕНИИ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150000"/>
            <a:ext cx="16000000" cy="3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2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850000"/>
            <a:ext cx="11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1</a:t>
            </a:r>
          </a:p>
        </p:txBody>
      </p:sp>
      <p:pic>
        <p:nvPicPr>
          <p:cNvPr id="7" name="Picture 6" descr="nos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00" y="2676774"/>
            <a:ext cx="11200000" cy="40464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300000" y="1850000"/>
            <a:ext cx="11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2</a:t>
            </a:r>
          </a:p>
        </p:txBody>
      </p:sp>
      <p:pic>
        <p:nvPicPr>
          <p:cNvPr id="9" name="Picture 8" descr="nose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00000" y="2676774"/>
            <a:ext cx="11200000" cy="404645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0000" y="7250000"/>
            <a:ext cx="11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3</a:t>
            </a:r>
          </a:p>
        </p:txBody>
      </p:sp>
      <p:pic>
        <p:nvPicPr>
          <p:cNvPr id="11" name="Picture 10" descr="nose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000" y="7932258"/>
            <a:ext cx="11200000" cy="433548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300000" y="7250000"/>
            <a:ext cx="11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4</a:t>
            </a:r>
          </a:p>
        </p:txBody>
      </p:sp>
      <p:pic>
        <p:nvPicPr>
          <p:cNvPr id="13" name="Picture 12" descr="nose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00000" y="7932258"/>
            <a:ext cx="11200000" cy="433548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2200000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ТРАВМЕ ШЕИ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150000"/>
            <a:ext cx="16000000" cy="3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2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850000"/>
            <a:ext cx="75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1 Остановка кровотечения</a:t>
            </a:r>
          </a:p>
        </p:txBody>
      </p:sp>
      <p:pic>
        <p:nvPicPr>
          <p:cNvPr id="7" name="Picture 6" descr="neck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00" y="3493750"/>
            <a:ext cx="7300000" cy="8212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50000" y="1850000"/>
            <a:ext cx="75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2 Фиксация шеи при перемещении</a:t>
            </a:r>
          </a:p>
        </p:txBody>
      </p:sp>
      <p:pic>
        <p:nvPicPr>
          <p:cNvPr id="9" name="Picture 8" descr="neck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0000" y="3571226"/>
            <a:ext cx="7300000" cy="80575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200000" y="1850000"/>
            <a:ext cx="75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3 Фиксация шейного отдела</a:t>
            </a:r>
          </a:p>
        </p:txBody>
      </p:sp>
      <p:pic>
        <p:nvPicPr>
          <p:cNvPr id="11" name="Picture 10" descr="neck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00000" y="3853947"/>
            <a:ext cx="7300000" cy="74921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Кровотечение при травме шеи: артерия или вена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900000"/>
            <a:ext cx="23000000" cy="6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Артериальное (сонная): алая кровь, пульсирующая струя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Венозное (яремные): тёмная обильная струя; риск воздушной эмболии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Прямое давление на рану (не пережимать обе сонные артерии)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Давящая повязка через плечо — не тугая круговая на шее</a:t>
            </a:r>
          </a:p>
          <a:p>
            <a:pPr algn="l">
              <a:spcAft>
                <a:spcPts val="1000"/>
              </a:spcAft>
            </a:pPr>
            <a:r>
              <a:rPr sz="32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Жгут на шею НЕ накладывают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11000000"/>
            <a:ext cx="23000000" cy="1600000"/>
          </a:xfrm>
          <a:prstGeom prst="round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0000" y="11000000"/>
            <a:ext cx="120000" cy="16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11200000"/>
            <a:ext cx="22000000" cy="12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Не сдавливайте дыхательные пути повязкой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2200000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ТРАВМЕ ГРУДИ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150000"/>
            <a:ext cx="16000000" cy="3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2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850000"/>
            <a:ext cx="75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1 Придать полусидячее положение</a:t>
            </a:r>
          </a:p>
        </p:txBody>
      </p:sp>
      <p:pic>
        <p:nvPicPr>
          <p:cNvPr id="7" name="Picture 6" descr="ches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00" y="3563942"/>
            <a:ext cx="7300000" cy="80721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50000" y="1850000"/>
            <a:ext cx="75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2 Наложить герметизирующую (окклюзионную) повязку</a:t>
            </a:r>
          </a:p>
        </p:txBody>
      </p:sp>
      <p:pic>
        <p:nvPicPr>
          <p:cNvPr id="9" name="Picture 8" descr="chest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0000" y="3640094"/>
            <a:ext cx="7300000" cy="79198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200000" y="1850000"/>
            <a:ext cx="75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3 Обложить инородный предмет салфетками или бинтами, наложив поверх них давящую повязку</a:t>
            </a:r>
          </a:p>
        </p:txBody>
      </p:sp>
      <p:pic>
        <p:nvPicPr>
          <p:cNvPr id="11" name="Picture 10" descr="chest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00000" y="3917982"/>
            <a:ext cx="7300000" cy="73640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Техника окклюзионной повязки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0000" y="190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0000" y="21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1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0000" y="210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Придать полусидячее положение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000" y="3330000"/>
            <a:ext cx="23000000" cy="125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0000" y="3530000"/>
            <a:ext cx="800000" cy="80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0000" y="353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0000" y="353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Воздухонепроницаемый материал на рану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0000" y="476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0000" y="496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0000" y="496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0000" y="496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Зафиксировать пластырем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0000" y="619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0000" y="639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0000" y="639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0000" y="639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 сквозном — закрыть вход и выход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0000" y="7620000"/>
            <a:ext cx="23000000" cy="125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0000" y="782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0000" y="782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0000" y="782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Контролировать дыхание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Инородный предмет в ране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900000"/>
            <a:ext cx="23000000" cy="6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ИЗВЛЕКАТЬ — предмет может тампонировать сосуд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Обложить салфетками / бинтами валиками вокруг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Давящая повязка поверх валиков с фиксацией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продавливать предмет вглубь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Вызвать СМП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11000000"/>
            <a:ext cx="23000000" cy="1600000"/>
          </a:xfrm>
          <a:prstGeom prst="round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0000" y="11000000"/>
            <a:ext cx="120000" cy="16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11200000"/>
            <a:ext cx="22000000" cy="12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Правило: зафиксировать — не извлекать!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2200000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ТРАВМЕ ЖИВОТА И ТАЗА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150000"/>
            <a:ext cx="16000000" cy="3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2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850000"/>
            <a:ext cx="23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Закрытая травма живота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2500000"/>
            <a:ext cx="23000000" cy="2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Шаг 1 Вызвать скорую помощь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Шаг 2 Положить холод на живот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Шаг 3 Придать положение на спине с валиком под полусогнутыми разведенными в стороны ногами</a:t>
            </a:r>
          </a:p>
        </p:txBody>
      </p:sp>
      <p:pic>
        <p:nvPicPr>
          <p:cNvPr id="8" name="Picture 7" descr="abdomen_clos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00" y="6088889"/>
            <a:ext cx="23000000" cy="562222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2200000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ТРАВМЕ ЖИВОТА И ТАЗА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150000"/>
            <a:ext cx="16000000" cy="3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2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850000"/>
            <a:ext cx="23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Открытая травма живота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2500000"/>
            <a:ext cx="23000000" cy="2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Шаг 1 Поверх валиков наложить повязку, не прижимая выпавшие органы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Шаг 2 Положить холод на живот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Шаг 3 Вызвать скорую помощь</a:t>
            </a:r>
          </a:p>
        </p:txBody>
      </p:sp>
      <p:pic>
        <p:nvPicPr>
          <p:cNvPr id="8" name="Picture 7" descr="abdomen_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00" y="6088889"/>
            <a:ext cx="23000000" cy="562222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2200000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ТРАВМЕ КОНЕЧНОСТЕЙ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150000"/>
            <a:ext cx="16000000" cy="3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2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000" y="1850000"/>
            <a:ext cx="7300000" cy="2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1 Остановить кровотечение</a:t>
            </a:r>
          </a:p>
        </p:txBody>
      </p:sp>
      <p:pic>
        <p:nvPicPr>
          <p:cNvPr id="7" name="Picture 6" descr="limb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00" y="5304245"/>
            <a:ext cx="7300000" cy="59915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50000" y="1850000"/>
            <a:ext cx="7300000" cy="2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2 Иммобилизация с обездвиживанием двух соседних суставов с помощью шин, наложенных поверх одежды.
В качестве иммобилизующего средства можно использовать шины или плоские узкие предметы: палки, доски, линейки, прутья, фанеру, картон и др.</a:t>
            </a:r>
          </a:p>
        </p:txBody>
      </p:sp>
      <p:pic>
        <p:nvPicPr>
          <p:cNvPr id="9" name="Picture 8" descr="limb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0000" y="5413182"/>
            <a:ext cx="7300000" cy="57736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300000" y="1850000"/>
            <a:ext cx="7300000" cy="2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3 При открытых переломах нельзя прикладывать шину к местам, где выступают наружу костные отломки.</a:t>
            </a:r>
          </a:p>
        </p:txBody>
      </p:sp>
      <p:pic>
        <p:nvPicPr>
          <p:cNvPr id="11" name="Picture 10" descr="limb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00000" y="5608898"/>
            <a:ext cx="7299999" cy="538220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2200000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ТРАВМЕ КОНЕЧНОСТЕЙ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150000"/>
            <a:ext cx="16000000" cy="3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2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2200000"/>
            <a:ext cx="11000000" cy="5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Иммобилизация – это создание неподвижности поврежденной части тела с помощью подручных средств, готовых транспортных шин или используя здоровые части тела пострадавшего (аутоиммобилизация).</a:t>
            </a:r>
          </a:p>
        </p:txBody>
      </p:sp>
      <p:pic>
        <p:nvPicPr>
          <p:cNvPr id="7" name="Picture 6" descr="immobi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00" y="2693642"/>
            <a:ext cx="10000000" cy="86127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Иммобилизация при переломе с кровотечением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900000"/>
            <a:ext cx="230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Сначала остановите кровотечение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Затем иммобилизация двух соседних суставов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Шины — поверх одежды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открытом переломе не класть шину на выступающие отломки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Костные отломки не вправлять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Первая помощь при отрыве конечности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900000"/>
            <a:ext cx="23000000" cy="6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Немедленно жгут выше места отрыва (плечо / бедро)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Давящая повязка на культю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Записка со временем наложения жгута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Сегмент: ткань → пакет → пакет со холодом (не мочить)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Передать сегмент вместе с пострадавшим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11000000"/>
            <a:ext cx="23000000" cy="1600000"/>
          </a:xfrm>
          <a:prstGeom prst="round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0000" y="11000000"/>
            <a:ext cx="120000" cy="16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11200000"/>
            <a:ext cx="22000000" cy="12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Жгут при отрыве показан. t max ≤ 60 мин / 30 мин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2200000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ТРАВМЕ ПОЗВОНОЧНИКА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150000"/>
            <a:ext cx="16000000" cy="3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2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pic>
        <p:nvPicPr>
          <p:cNvPr id="6" name="Picture 5" descr="spin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00" y="2142945"/>
            <a:ext cx="11000000" cy="39141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00000" y="6500000"/>
            <a:ext cx="10600000" cy="2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 перемещении пострадавший должен находиться на ровной, жесткой, горизонтальной поверхности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500000" y="1850000"/>
            <a:ext cx="11000000" cy="2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Перемещение или перекладывание пострадавшего следует осуществлять с помощью нескольких человек, особое внимание следует уделить фиксации шейного отдела позвоночника</a:t>
            </a:r>
          </a:p>
        </p:txBody>
      </p:sp>
      <p:pic>
        <p:nvPicPr>
          <p:cNvPr id="9" name="Picture 8" descr="spine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00000" y="6000000"/>
            <a:ext cx="11000000" cy="500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Правила перемещения при травме позвоночника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900000"/>
            <a:ext cx="230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Перемещать только при угрозе жизни или для эвакуации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Поверхность: ровная, жёсткая, горизонтальная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Нужно несколько человек (обычно 3–5)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Один постоянно удерживает голову и шейный отдел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Перекладывание одним движением, без скручивания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Главное запомнить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0000" y="190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19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0000" y="225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Голова / нос: повязки; при потере сознания — боковое положение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375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0000" y="37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0000" y="410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Шея и грудь: без кругового жгута; окклюзионная повязка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0000" y="560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0000" y="56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0000" y="595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Живот: органы не вправлять; конечности — кровь, затем шина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000" y="745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0000" y="74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0000" y="780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Позвоночник — жёсткая поверхность и фиксация шеи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0000" y="11500000"/>
            <a:ext cx="230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Инородный предмет — зафиксировать, не извлекать!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7500000" y="0"/>
            <a:ext cx="6884000" cy="13716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5500000"/>
            <a:ext cx="160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БЛАГОДАРИМ ЗА ВНИМАНИЕ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6900000"/>
            <a:ext cx="10000000" cy="35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