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7500000" y="0"/>
            <a:ext cx="6884000" cy="13716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00000"/>
            <a:ext cx="4500000" cy="28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5000000"/>
            <a:ext cx="16500000" cy="1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
КРОВОТЕЧЕНИЯХ И ТРАВМАХ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6800000"/>
            <a:ext cx="14000000" cy="35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00000" y="19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19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800000" y="19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0000" y="19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Прямое давление и давящая повязка</a:t>
            </a:r>
          </a:p>
        </p:txBody>
      </p:sp>
      <p:sp>
        <p:nvSpPr>
          <p:cNvPr id="9" name="Oval 8"/>
          <p:cNvSpPr/>
          <p:nvPr/>
        </p:nvSpPr>
        <p:spPr>
          <a:xfrm>
            <a:off x="700000" y="33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0000" y="33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00000" y="33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0000" y="33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Пальцевое прижатие и максимальное сгибание</a:t>
            </a:r>
          </a:p>
        </p:txBody>
      </p:sp>
      <p:sp>
        <p:nvSpPr>
          <p:cNvPr id="13" name="Oval 12"/>
          <p:cNvSpPr/>
          <p:nvPr/>
        </p:nvSpPr>
        <p:spPr>
          <a:xfrm>
            <a:off x="700000" y="47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0000" y="47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0000" y="47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00000" y="47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Жгут и подручные средства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61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0000" y="61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00000" y="61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00000" y="61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Алгоритм, записка, ошибки и ограничения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СПОСОБЫ ВРЕМЕННОЙ ОСТАНОВКИ НАРУЖНОГО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900000"/>
            <a:ext cx="11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Прямое давление на рану</a:t>
            </a:r>
          </a:p>
        </p:txBody>
      </p:sp>
      <p:pic>
        <p:nvPicPr>
          <p:cNvPr id="7" name="Picture 6" descr="direct_pres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000" y="3453030"/>
            <a:ext cx="10400000" cy="81939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200000" y="1900000"/>
            <a:ext cx="11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Наложение давящей повязки</a:t>
            </a:r>
          </a:p>
        </p:txBody>
      </p:sp>
      <p:pic>
        <p:nvPicPr>
          <p:cNvPr id="9" name="Picture 8" descr="pressure_band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00000" y="3453030"/>
            <a:ext cx="10400000" cy="819393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СПОСОБЫ ВРЕМЕННОЙ ОСТАНОВКИ НАРУЖНОГО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700000"/>
            <a:ext cx="23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Пальцевое прижатие артерии</a:t>
            </a:r>
          </a:p>
        </p:txBody>
      </p:sp>
      <p:pic>
        <p:nvPicPr>
          <p:cNvPr id="7" name="Picture 6" descr="carotid_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364" y="2300000"/>
            <a:ext cx="6677272" cy="52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0000" y="7800000"/>
            <a:ext cx="7300000" cy="4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Общая сонная артерия прижимается на передней поверхности шеи снаружи от гортани на стороне повреждения.</a:t>
            </a:r>
          </a:p>
        </p:txBody>
      </p:sp>
      <p:pic>
        <p:nvPicPr>
          <p:cNvPr id="9" name="Picture 8" descr="carotid_4fing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1364" y="2300000"/>
            <a:ext cx="6677272" cy="520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50000" y="7800000"/>
            <a:ext cx="7300000" cy="4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Давление в указанную точку может осуществляться четырьмя пальцами одновременно по направлению к позвоночнику, при этом сонная артерия придавливается к нему.</a:t>
            </a:r>
          </a:p>
        </p:txBody>
      </p:sp>
      <p:pic>
        <p:nvPicPr>
          <p:cNvPr id="11" name="Picture 10" descr="carotid_thum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52273" y="2300000"/>
            <a:ext cx="6795454" cy="520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300000" y="7800000"/>
            <a:ext cx="7300000" cy="4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Другим вариантом пальцевого прижатия сонной артерии является давление в ту же точку большим пальцем по направлению к позвоночнику.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СПОСОБЫ ВРЕМЕННОЙ ОСТАНОВКИ НАРУЖНОГО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700000"/>
            <a:ext cx="23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Пальцевое прижатие артерии</a:t>
            </a:r>
          </a:p>
        </p:txBody>
      </p:sp>
      <p:pic>
        <p:nvPicPr>
          <p:cNvPr id="7" name="Picture 6" descr="subclavian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364" y="2300000"/>
            <a:ext cx="6677272" cy="52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0000" y="7800000"/>
            <a:ext cx="7300000" cy="4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Подключичная артерия прижимается в ямке над ключицей к первому ребру</a:t>
            </a:r>
          </a:p>
        </p:txBody>
      </p:sp>
      <p:pic>
        <p:nvPicPr>
          <p:cNvPr id="9" name="Picture 8" descr="subclavian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1364" y="2300000"/>
            <a:ext cx="6677272" cy="520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50000" y="7800000"/>
            <a:ext cx="7300000" cy="4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Осуществлять давление в точку прижатия подключичной артерии можно с помощью четырех выпрямленных пальцев</a:t>
            </a:r>
          </a:p>
        </p:txBody>
      </p:sp>
      <p:pic>
        <p:nvPicPr>
          <p:cNvPr id="11" name="Picture 10" descr="subclavian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52273" y="2300000"/>
            <a:ext cx="6795454" cy="520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300000" y="7800000"/>
            <a:ext cx="7300000" cy="4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Другим способом пальцевого прижатия подключичной артерии является давление согнутыми пальцами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СПОСОБЫ ВРЕМЕННОЙ ОСТАНОВКИ НАРУЖНОГО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700000"/>
            <a:ext cx="23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Пальцевое прижатие артерии</a:t>
            </a:r>
          </a:p>
        </p:txBody>
      </p:sp>
      <p:pic>
        <p:nvPicPr>
          <p:cNvPr id="7" name="Picture 6" descr="brachial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7500" y="2300000"/>
            <a:ext cx="8580000" cy="52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0000" y="7800000"/>
            <a:ext cx="11175000" cy="4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Плечевая артерия прижимается к плечевой кости с внутренней стороны между бицепсом и трицепсом в средней трети плеча</a:t>
            </a:r>
          </a:p>
        </p:txBody>
      </p:sp>
      <p:pic>
        <p:nvPicPr>
          <p:cNvPr id="9" name="Picture 8" descr="brachial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92500" y="2300000"/>
            <a:ext cx="8840000" cy="520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425000" y="7800000"/>
            <a:ext cx="11175000" cy="4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Давление на точку прижатия осуществляется с помощью четырех пальцев кисти, обхватывающей плечо пострадавшего сверху или снизу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СПОСОБЫ ВРЕМЕННОЙ ОСТАНОВКИ НАРУЖНОГО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700000"/>
            <a:ext cx="23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Пальцевое прижатие артерии</a:t>
            </a:r>
          </a:p>
        </p:txBody>
      </p:sp>
      <p:pic>
        <p:nvPicPr>
          <p:cNvPr id="7" name="Picture 6" descr="axillary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7500" y="2300000"/>
            <a:ext cx="8580000" cy="52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0000" y="7800000"/>
            <a:ext cx="11175000" cy="4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Подмышечная артерия прижимается к плечевой кости в подмышечной впадине при кровотечении из раны плеча ниже плечевого сустава.</a:t>
            </a:r>
          </a:p>
        </p:txBody>
      </p:sp>
      <p:pic>
        <p:nvPicPr>
          <p:cNvPr id="9" name="Picture 8" descr="axillary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92500" y="2300000"/>
            <a:ext cx="8840000" cy="520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425000" y="7800000"/>
            <a:ext cx="11175000" cy="4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Давление производится прямыми, жестко зафиксированными пальцами с достаточной силой в направлении плечевого сустава. Область плечевого сустава придерживать другой рукой.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СПОСОБЫ ВРЕМЕННОЙ ОСТАНОВКИ НАРУЖНОГО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700000"/>
            <a:ext cx="23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Пальцевое прижатие артерии</a:t>
            </a:r>
          </a:p>
        </p:txBody>
      </p:sp>
      <p:pic>
        <p:nvPicPr>
          <p:cNvPr id="7" name="Picture 6" descr="femoral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786" y="2300000"/>
            <a:ext cx="8171428" cy="52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0000" y="7800000"/>
            <a:ext cx="11175000" cy="4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Бедренная артерия прижимается ниже паховой складки при кровотечении из ран в области бедра.</a:t>
            </a:r>
          </a:p>
        </p:txBody>
      </p:sp>
      <p:pic>
        <p:nvPicPr>
          <p:cNvPr id="9" name="Picture 8" descr="femoral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02976" y="2300000"/>
            <a:ext cx="8419047" cy="520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425000" y="7800000"/>
            <a:ext cx="11175000" cy="4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Давление выполняется кулаком, зафиксированным второй рукой, весом тела участника оказания первой помощи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СПОСОБЫ ВРЕМЕННОЙ ОСТАНОВКИ НАРУЖНОГО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750000"/>
            <a:ext cx="23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Максимальное сгибание конечности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2400000"/>
            <a:ext cx="7500000" cy="9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lexion_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3846" y="2550000"/>
            <a:ext cx="4172307" cy="48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0000" y="7600000"/>
            <a:ext cx="7200000" cy="4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Для остановки кровотечения из предплечья в локтевой сгиб вкладывают валик, конечность максимально сгибают в локтевом суставе и предплечье фиксируют к плечу в таком положении, например, ремнем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50000" y="2400000"/>
            <a:ext cx="7500000" cy="9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lexion_le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13846" y="2550000"/>
            <a:ext cx="4172307" cy="480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00000" y="7600000"/>
            <a:ext cx="7200000" cy="4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 повреждении сосудов стопы, голени и подколенной ямки в последнюю вкладывают несколько бинтов или валик из ткани, после чего конечность сгибают в коленном суставе и фиксируют в этом положении бинтом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200000" y="2400000"/>
            <a:ext cx="7500000" cy="9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lexion_thig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26923" y="2550000"/>
            <a:ext cx="4246153" cy="480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350000" y="7600000"/>
            <a:ext cx="7200000" cy="4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Для остановки кровотечения при травме бедра сверток из ткани или несколько бинтов вкладывают в область паховой складки, притягивают колено к груди и фиксируют руками или бинтом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СПОСОБЫ ВРЕМЕННОЙ ОСТАНОВКИ НАРУЖНОГО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750000"/>
            <a:ext cx="23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Наложение кровоостанавливающего жгута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2350000"/>
            <a:ext cx="23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t max ⩽ 60 мин. в теплое время года · 30 мин. в холодное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3300000"/>
            <a:ext cx="7400000" cy="8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ournique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000" y="3773009"/>
            <a:ext cx="7100000" cy="785398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400000" y="3300000"/>
            <a:ext cx="7400000" cy="8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ourniquet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0000" y="3773009"/>
            <a:ext cx="7100000" cy="785398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6100000" y="3300000"/>
            <a:ext cx="7400000" cy="8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ourniquet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50000" y="3841304"/>
            <a:ext cx="7100000" cy="771739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СПОСОБЫ ВРЕМЕННОЙ ОСТАНОВКИ НАРУЖНОГО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2000000"/>
            <a:ext cx="110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 качестве импровизированного жгута можно использовать подручные средства: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3200000"/>
            <a:ext cx="11000000" cy="6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тесьму,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платок,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галстук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и другие подобные вещи.</a:t>
            </a:r>
          </a:p>
        </p:txBody>
      </p:sp>
      <p:pic>
        <p:nvPicPr>
          <p:cNvPr id="8" name="Picture 7" descr="improvised_t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0" y="2441176"/>
            <a:ext cx="10000000" cy="911764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Пошаговый алгоритм наложения жгута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0000" y="190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0000" y="21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1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0000" y="210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Показания: давление и повязка неэффективны / отрыв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333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0000" y="353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0000" y="353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0000" y="353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Место: выше раны, на плечо или бедро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0000" y="476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0000" y="496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0000" y="496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0000" y="496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На одежду / подкладку; первый тур — максимальное натяжение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0000" y="619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0000" y="639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0000" y="639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0000" y="639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Кровь остановилась; пульс дистальнее не определяется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0000" y="762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0000" y="782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0000" y="782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0000" y="782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Записка со временем; жгут должен быть виден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0000" y="9050000"/>
            <a:ext cx="23000000" cy="125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0000" y="9250000"/>
            <a:ext cx="800000" cy="8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0000" y="925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0000" y="925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Лимит: 60 мин (тепло) / 30 мин (холод)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Записка под жгут — что указать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6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Точное время наложения: ЧЧ:ММ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Фамилия / кто наложил — по возможности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Кратко — место происшествия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Вложить под жгут или прикрепить на видном месте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Сообщить время бригаде СМП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11000000"/>
            <a:ext cx="23000000" cy="160000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0000" y="11000000"/>
            <a:ext cx="120000" cy="16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11200000"/>
            <a:ext cx="22000000" cy="12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Без записки легко превысить допустимое время жгута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Ошибки при наложении жгута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Слабое натяжение — усиление кровотечения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Слишком далеко от раны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На голую кожу без подкладки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Скрытие жгута одеждой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Нет записки со временем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Жгут без показаний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Когда НЕЛЬЗЯ накладывать жгут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6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Кровотечение останавливается давлением или повязкой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Капиллярное и умеренное венозное кровотечение</a:t>
            </a:r>
          </a:p>
          <a:p>
            <a:pPr algn="l">
              <a:spcAft>
                <a:spcPts val="1000"/>
              </a:spcAft>
            </a:pPr>
            <a:r>
              <a:rPr sz="32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Раны шеи, груди, живота, головы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Нет конечности проксимальнее раны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11000000"/>
            <a:ext cx="23000000" cy="160000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0000" y="11000000"/>
            <a:ext cx="120000" cy="16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11200000"/>
            <a:ext cx="22000000" cy="12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На шею, грудь, живот и голову жгут не накладывают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Гемостатические средства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Гемостатические салфетки / бинты из аптечки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Плотно вложить в рану / на рану и сильно придавить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Затем — давящая повязка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Там, где жгут невозможен, или как усиление давления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Главное запомнить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19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0000" y="225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Приоритет: давление → повязка → жгут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375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0000" y="37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0000" y="410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Пальцевое прижатие и сгибание — временные приёмы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000" y="560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0000" y="56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0000" y="595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Жгут: на одежду, с запиской; ≤60 / ≤30 мин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000" y="745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0000" y="74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0000" y="780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Гемостатики усиливают давление там, где уместно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0000" y="11500000"/>
            <a:ext cx="230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t max ≤ 60 мин (тепло) · ≤ 30 мин (холод)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7500000" y="0"/>
            <a:ext cx="6884000" cy="13716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5500000"/>
            <a:ext cx="160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БЛАГОДАРИМ ЗА ВНИМАНИЕ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6900000"/>
            <a:ext cx="10000000" cy="35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