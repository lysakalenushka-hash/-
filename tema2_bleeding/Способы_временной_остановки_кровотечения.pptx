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800000"/>
            <a:ext cx="23664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 НАРУЖНОГО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0" y="6600000"/>
            <a:ext cx="10000000" cy="25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6900000"/>
            <a:ext cx="23664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Теоретический модуль · п. 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7800000"/>
            <a:ext cx="23664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0055AA"/>
                </a:solidFill>
                <a:latin typeface="Open Sans"/>
                <a:ea typeface="Open Sans"/>
                <a:cs typeface="Open Sans"/>
              </a:rPr>
              <a:t>Тема 2 · Оказание первой помощи при наружных кровотечениях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60000" y="2000000"/>
            <a:ext cx="700000" cy="7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60000" y="2000000"/>
            <a:ext cx="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0000" y="2000000"/>
            <a:ext cx="14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и давящая повязка</a:t>
            </a:r>
          </a:p>
        </p:txBody>
      </p:sp>
      <p:sp>
        <p:nvSpPr>
          <p:cNvPr id="8" name="Oval 7"/>
          <p:cNvSpPr/>
          <p:nvPr/>
        </p:nvSpPr>
        <p:spPr>
          <a:xfrm>
            <a:off x="2360000" y="3400000"/>
            <a:ext cx="700000" cy="7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0000" y="3400000"/>
            <a:ext cx="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0000" y="3400000"/>
            <a:ext cx="14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Пальцевое прижатие и сгибание</a:t>
            </a:r>
          </a:p>
        </p:txBody>
      </p:sp>
      <p:sp>
        <p:nvSpPr>
          <p:cNvPr id="11" name="Oval 10"/>
          <p:cNvSpPr/>
          <p:nvPr/>
        </p:nvSpPr>
        <p:spPr>
          <a:xfrm>
            <a:off x="2360000" y="4800000"/>
            <a:ext cx="700000" cy="7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0000" y="4800000"/>
            <a:ext cx="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0000" y="4800000"/>
            <a:ext cx="14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и подручные средства</a:t>
            </a:r>
          </a:p>
        </p:txBody>
      </p:sp>
      <p:sp>
        <p:nvSpPr>
          <p:cNvPr id="14" name="Oval 13"/>
          <p:cNvSpPr/>
          <p:nvPr/>
        </p:nvSpPr>
        <p:spPr>
          <a:xfrm>
            <a:off x="2360000" y="6200000"/>
            <a:ext cx="700000" cy="7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60000" y="6200000"/>
            <a:ext cx="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000" y="6200000"/>
            <a:ext cx="14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Алгоритм, записка, ошибки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00000" y="1600000"/>
            <a:ext cx="80000" cy="90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500000"/>
            <a:ext cx="23664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и давящая повязка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0" y="7200000"/>
            <a:ext cx="10000000" cy="25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и давящая повязка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1900000"/>
            <a:ext cx="11707000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rect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075" y="2000000"/>
            <a:ext cx="8588850" cy="5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000" y="7900000"/>
            <a:ext cx="11407000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на рану
Основной способ (приказ № 220н)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17000" y="1900000"/>
            <a:ext cx="11707000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ssure_band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9768" y="2000000"/>
            <a:ext cx="8841463" cy="5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67000" y="7900000"/>
            <a:ext cx="11407000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Давящая повязка
После остановки или если давление невозможно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500000"/>
            <a:ext cx="23664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Пальцевое прижатие артерий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0" y="7200000"/>
            <a:ext cx="10000000" cy="25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Сонная артерия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rotid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1" y="2000000"/>
            <a:ext cx="7411111" cy="5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000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Точка: шея снаружи от гортани</a:t>
            </a:r>
          </a:p>
        </p:txBody>
      </p:sp>
      <p:sp>
        <p:nvSpPr>
          <p:cNvPr id="8" name="Rectangle 7"/>
          <p:cNvSpPr/>
          <p:nvPr/>
        </p:nvSpPr>
        <p:spPr>
          <a:xfrm>
            <a:off x="8331333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rotid_4fing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444" y="2000000"/>
            <a:ext cx="7411111" cy="5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1333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четырьмя пальцами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02666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rotid_thu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7777" y="2000000"/>
            <a:ext cx="7411111" cy="58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2666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Вариант: большим пальцем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Подключичная артерия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ubclavia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11" y="2000000"/>
            <a:ext cx="7411111" cy="5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000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Ямка над ключицей к I ребру</a:t>
            </a:r>
          </a:p>
        </p:txBody>
      </p:sp>
      <p:sp>
        <p:nvSpPr>
          <p:cNvPr id="8" name="Rectangle 7"/>
          <p:cNvSpPr/>
          <p:nvPr/>
        </p:nvSpPr>
        <p:spPr>
          <a:xfrm>
            <a:off x="8331333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bclavian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444" y="2000000"/>
            <a:ext cx="7411111" cy="5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1333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Четыре выпрямленных пальца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02666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ubclavian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7777" y="2000000"/>
            <a:ext cx="7411111" cy="58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2666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Вариант: согнутыми пальцами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Плечевая артерия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1900000"/>
            <a:ext cx="11707000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chia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62" y="2000000"/>
            <a:ext cx="9390476" cy="5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000" y="7900000"/>
            <a:ext cx="11407000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Внутренняя сторона плеча,
средняя треть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17000" y="1900000"/>
            <a:ext cx="11707000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achia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7167" y="2000000"/>
            <a:ext cx="9666666" cy="5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67000" y="7900000"/>
            <a:ext cx="11407000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Четыре пальца,
обхватывающие плечо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Подмышечная и бедренная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1900000"/>
            <a:ext cx="11707000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xillary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167" y="2000000"/>
            <a:ext cx="9666666" cy="5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000" y="7900000"/>
            <a:ext cx="11407000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Подмышечная: впадина
к плечевой кости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17000" y="1900000"/>
            <a:ext cx="11707000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emora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7457" y="2000000"/>
            <a:ext cx="8826086" cy="5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67000" y="7900000"/>
            <a:ext cx="11407000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Бедренная: ниже паха,
кулаком, весом тела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Точки пальцевого прижатия — сводка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2000" y="2000000"/>
          <a:ext cx="20000000" cy="6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6666"/>
                <a:gridCol w="6666666"/>
                <a:gridCol w="6666668"/>
              </a:tblGrid>
              <a:tr h="1100000"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Артерия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Место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Как давить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11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Сонная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Шея снаружи от гортани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4 пальца / большой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Подключичная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Над ключицей к I ребру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4 пальца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1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Подмышечная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Подмышечная впадина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Жёсткие пальцы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Плечевая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Между бицепсом и трицепсом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Обхват плеча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1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Бедренная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Ниже паховой складки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Кулак, вес тела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Максимальное сгибание конечности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exion_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666" y="2000000"/>
            <a:ext cx="4600000" cy="5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000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Предплечье:
валик в локтевой сгиб</a:t>
            </a:r>
          </a:p>
        </p:txBody>
      </p:sp>
      <p:sp>
        <p:nvSpPr>
          <p:cNvPr id="8" name="Rectangle 7"/>
          <p:cNvSpPr/>
          <p:nvPr/>
        </p:nvSpPr>
        <p:spPr>
          <a:xfrm>
            <a:off x="8331333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exion_l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999" y="2000000"/>
            <a:ext cx="4600000" cy="5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1333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Голень:
валик в подколенную ямку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02666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lexion_t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63332" y="2000000"/>
            <a:ext cx="4600000" cy="58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2666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Бедро:
валик в пах, колено к груди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500000"/>
            <a:ext cx="23664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Кровоостанавливающий жгут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0" y="7200000"/>
            <a:ext cx="10000000" cy="25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Показания к жгуту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900000"/>
            <a:ext cx="13015200" cy="6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Обширное повреждение конечности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Отрыв конечности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Давление и повязка неэффективны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Накладывать на плечо или бедро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Только на одежду / подкладку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75200" y="1900000"/>
            <a:ext cx="9465600" cy="68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urnique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8000" y="2000000"/>
            <a:ext cx="6900000" cy="6600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1200000"/>
            <a:ext cx="23664000" cy="1500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1200000"/>
            <a:ext cx="120000" cy="15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" y="11400000"/>
            <a:ext cx="23064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t max ≤ 60 мин (тепло) · ≤ 30 мин (холод)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Алгоритм наложения жгута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60000" y="1800000"/>
            <a:ext cx="19000000" cy="140000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60000" y="21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21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0000" y="2000000"/>
            <a:ext cx="170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Проверить показания</a:t>
            </a:r>
          </a:p>
        </p:txBody>
      </p:sp>
      <p:sp>
        <p:nvSpPr>
          <p:cNvPr id="9" name="Down Arrow 8"/>
          <p:cNvSpPr/>
          <p:nvPr/>
        </p:nvSpPr>
        <p:spPr>
          <a:xfrm>
            <a:off x="11360000" y="3220000"/>
            <a:ext cx="350000" cy="180000"/>
          </a:xfrm>
          <a:prstGeom prst="downArrow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60000" y="3450000"/>
            <a:ext cx="19000000" cy="140000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60000" y="375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0000" y="37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0000" y="3650000"/>
            <a:ext cx="170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Выше раны, на плечо/бедро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1360000" y="4870000"/>
            <a:ext cx="350000" cy="180000"/>
          </a:xfrm>
          <a:prstGeom prst="downArrow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60000" y="5100000"/>
            <a:ext cx="19000000" cy="140000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60000" y="54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0000" y="54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0000" y="5300000"/>
            <a:ext cx="170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 одежду; первый тур — макс. натяжение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1360000" y="6520000"/>
            <a:ext cx="350000" cy="180000"/>
          </a:xfrm>
          <a:prstGeom prst="downArrow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60000" y="6750000"/>
            <a:ext cx="19000000" cy="140000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60000" y="705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0" y="70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0000" y="6950000"/>
            <a:ext cx="170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Кровь остановилась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1360000" y="8170000"/>
            <a:ext cx="350000" cy="180000"/>
          </a:xfrm>
          <a:prstGeom prst="downArrow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60000" y="8400000"/>
            <a:ext cx="19000000" cy="140000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60000" y="8700000"/>
            <a:ext cx="800000" cy="8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60000" y="870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0000" y="8600000"/>
            <a:ext cx="170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Записка со временем; жгут виден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1360000" y="9820000"/>
            <a:ext cx="350000" cy="180000"/>
          </a:xfrm>
          <a:prstGeom prst="downArrow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60000" y="10050000"/>
            <a:ext cx="19000000" cy="1400000"/>
          </a:xfrm>
          <a:prstGeom prst="round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60000" y="10350000"/>
            <a:ext cx="800000" cy="8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0000" y="103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055AA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0000" y="10250000"/>
            <a:ext cx="170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Лимит: 60 мин / 30 мин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Наложение жгута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urnique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848" y="2000000"/>
            <a:ext cx="6063636" cy="5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000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1. Выше раны на одежду</a:t>
            </a:r>
          </a:p>
        </p:txBody>
      </p:sp>
      <p:sp>
        <p:nvSpPr>
          <p:cNvPr id="8" name="Rectangle 7"/>
          <p:cNvSpPr/>
          <p:nvPr/>
        </p:nvSpPr>
        <p:spPr>
          <a:xfrm>
            <a:off x="8331333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ournique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181" y="2000000"/>
            <a:ext cx="6063636" cy="5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81333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2. Максимальное натяжение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302666" y="1900000"/>
            <a:ext cx="7721333" cy="9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ournique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1514" y="2000000"/>
            <a:ext cx="6063636" cy="580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52666" y="7900000"/>
            <a:ext cx="7421333" cy="2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3. Записка со временем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Подручные средства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900000"/>
            <a:ext cx="130152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Тесьма, платок, галстук, ремень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Закрутка для натяжения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использовать проволоку и леску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Критерий: кровь остановилась</a:t>
            </a:r>
          </a:p>
          <a:p>
            <a:pPr algn="l">
              <a:spcAft>
                <a:spcPts val="1400"/>
              </a:spcAft>
            </a:pPr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Обязательна записка со временем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75200" y="1900000"/>
            <a:ext cx="9465600" cy="80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provised_t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4250" y="2000000"/>
            <a:ext cx="8287500" cy="7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Записка под жгут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000" y="1900000"/>
            <a:ext cx="900000" cy="900000"/>
          </a:xfrm>
          <a:prstGeom prst="round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900000"/>
            <a:ext cx="9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0000" y="1900000"/>
            <a:ext cx="22464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Время наложения: ЧЧ:ММ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500000"/>
            <a:ext cx="900000" cy="900000"/>
          </a:xfrm>
          <a:prstGeom prst="round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3500000"/>
            <a:ext cx="9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0000" y="3500000"/>
            <a:ext cx="22464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Кто наложил (по возможности)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5100000"/>
            <a:ext cx="900000" cy="900000"/>
          </a:xfrm>
          <a:prstGeom prst="round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5100000"/>
            <a:ext cx="9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0000" y="5100000"/>
            <a:ext cx="22464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Кратко — место происшествия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6700000"/>
            <a:ext cx="900000" cy="900000"/>
          </a:xfrm>
          <a:prstGeom prst="round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6700000"/>
            <a:ext cx="9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0000" y="6700000"/>
            <a:ext cx="22464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Записка на видном месте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Ошибки при наложении жгута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0000" y="2000000"/>
            <a:ext cx="22664000" cy="7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Слабое натяжение — усиление кровотечения</a:t>
            </a:r>
          </a:p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Слишком далеко от раны</a:t>
            </a:r>
          </a:p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 голую кожу без подкладки</a:t>
            </a:r>
          </a:p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Скрытие жгута одеждой</a:t>
            </a:r>
          </a:p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Нет записки со временем</a:t>
            </a:r>
          </a:p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Жгут без показаний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НЕЛЬЗЯ накладывать жгут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0000" y="2000000"/>
            <a:ext cx="22664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Кровь останавливается давлением / повязкой</a:t>
            </a:r>
          </a:p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Капиллярное и умеренное венозное кровотечение</a:t>
            </a:r>
          </a:p>
          <a:p>
            <a:pPr algn="l">
              <a:spcAft>
                <a:spcPts val="1400"/>
              </a:spcAft>
            </a:pPr>
            <a:r>
              <a:rPr sz="32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Раны шеи, груди, живота, головы</a:t>
            </a:r>
          </a:p>
          <a:p>
            <a:pPr algn="l">
              <a:spcAft>
                <a:spcPts val="1400"/>
              </a:spcAft>
            </a:pPr>
            <a:r>
              <a:rPr sz="3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Нет конечности проксимальнее раны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11200000"/>
            <a:ext cx="23664000" cy="1500000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1200000"/>
            <a:ext cx="120000" cy="15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11400000"/>
            <a:ext cx="23064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На шею, грудь, живот и голову жгут не накладывают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50000"/>
            <a:ext cx="23664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1450000"/>
            <a:ext cx="23664000" cy="20000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60000" y="2150000"/>
            <a:ext cx="600000" cy="6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0000" y="2150000"/>
            <a:ext cx="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0000" y="2000000"/>
            <a:ext cx="18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Приоритет: давление → повязка → жгут</a:t>
            </a:r>
          </a:p>
        </p:txBody>
      </p:sp>
      <p:sp>
        <p:nvSpPr>
          <p:cNvPr id="8" name="Oval 7"/>
          <p:cNvSpPr/>
          <p:nvPr/>
        </p:nvSpPr>
        <p:spPr>
          <a:xfrm>
            <a:off x="1860000" y="3750000"/>
            <a:ext cx="600000" cy="6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0000" y="3750000"/>
            <a:ext cx="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0000" y="3600000"/>
            <a:ext cx="18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Пальцевое прижатие и сгибание — временные приёмы</a:t>
            </a:r>
          </a:p>
        </p:txBody>
      </p:sp>
      <p:sp>
        <p:nvSpPr>
          <p:cNvPr id="11" name="Oval 10"/>
          <p:cNvSpPr/>
          <p:nvPr/>
        </p:nvSpPr>
        <p:spPr>
          <a:xfrm>
            <a:off x="1860000" y="5350000"/>
            <a:ext cx="600000" cy="6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0000" y="5350000"/>
            <a:ext cx="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0000" y="5200000"/>
            <a:ext cx="18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Жгут: на одежду, с запиской; ≤60 / ≤30 мин</a:t>
            </a:r>
          </a:p>
        </p:txBody>
      </p:sp>
      <p:sp>
        <p:nvSpPr>
          <p:cNvPr id="14" name="Oval 13"/>
          <p:cNvSpPr/>
          <p:nvPr/>
        </p:nvSpPr>
        <p:spPr>
          <a:xfrm>
            <a:off x="1860000" y="6950000"/>
            <a:ext cx="600000" cy="60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60000" y="6950000"/>
            <a:ext cx="6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0000" y="6800000"/>
            <a:ext cx="180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Гемостатики усиливают давление там, где уместно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11200000"/>
            <a:ext cx="23664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Время наложения жгута — критический фактор!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500000"/>
            <a:ext cx="23664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0" y="7000000"/>
            <a:ext cx="10000000" cy="25000"/>
          </a:xfrm>
          <a:prstGeom prst="rect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7400000"/>
            <a:ext cx="23664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Тема 2 · Оказание первой помощи при наружных кровотечениях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