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24384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00000"/>
            <a:ext cx="24384000" cy="28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000" y="4600000"/>
            <a:ext cx="228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СПОСОБЫ ВРЕМЕННОЙ ОСТАНОВКИ НАРУЖНОГО КРОВОТЕЧЕНИЯ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800000" y="6200000"/>
            <a:ext cx="12000000" cy="2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000" y="6500000"/>
            <a:ext cx="22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0055AA"/>
                </a:solidFill>
                <a:latin typeface="Open Sans"/>
                <a:ea typeface="Open Sans"/>
                <a:cs typeface="Open Sans"/>
              </a:rPr>
              <a:t>Теоретический модуль · п. 2.3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7200000"/>
            <a:ext cx="22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Тема 2 · Оказание первой помощи при наружных кровотечениях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Содержание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00000" y="195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000" y="19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900000" y="1950000"/>
            <a:ext cx="205000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00000" y="1950000"/>
            <a:ext cx="19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Прямое давление и давящая повязка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000" y="315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000" y="31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00000" y="3150000"/>
            <a:ext cx="205000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0000" y="3150000"/>
            <a:ext cx="19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Пальцевое прижатие и максимальное сгибание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000" y="435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000" y="43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00000" y="4350000"/>
            <a:ext cx="205000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00000" y="4350000"/>
            <a:ext cx="19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Жгут и подручные средства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000" y="555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000" y="55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00000" y="5550000"/>
            <a:ext cx="205000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00000" y="5550000"/>
            <a:ext cx="19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Алгоритм, записка, ошибки и ограничения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5500000"/>
            <a:ext cx="22800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Прямое давление и давящая повязка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6900000"/>
            <a:ext cx="12000000" cy="2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Прямое давление на рану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8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Основной способ по Приказу Минздрава № 220н.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Надавите чистой салфеткой / рукой прямо на рану.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Удерживайте давление непрерывно.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Если кровотечение остановилось — наложите давящую повязку.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промокании — не снимать, усилить поверх новыми турами.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Если давление невозможно (инородное тело, отломки) — повязка / жгут.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Давящая повязка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8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Салфетка на рану + тугое бинтование с усилием.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Накладывается после остановки крови прямым давлением.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Либо сразу, если прямое давление невозможно или опасно.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Может включать фиксацию инородного тела в ране.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Контролируйте цвет и чувствительность пальцев дистальнее.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промокании усиливайте, не снимая нижние слои.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5500000"/>
            <a:ext cx="22800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Пальцевое прижатие артерий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6900000"/>
            <a:ext cx="12000000" cy="2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Точки пальцевого прижатия артерий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00000" y="2050000"/>
          <a:ext cx="22800000" cy="9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00000"/>
                <a:gridCol w="7600000"/>
                <a:gridCol w="7600000"/>
              </a:tblGrid>
              <a:tr h="1583333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Артерия</a:t>
                      </a:r>
                    </a:p>
                  </a:txBody>
                  <a:tcPr>
                    <a:solidFill>
                      <a:srgbClr val="0055A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Место прижатия</a:t>
                      </a:r>
                    </a:p>
                  </a:txBody>
                  <a:tcPr>
                    <a:solidFill>
                      <a:srgbClr val="0055A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Как давить</a:t>
                      </a:r>
                    </a:p>
                  </a:txBody>
                  <a:tcPr>
                    <a:solidFill>
                      <a:srgbClr val="0055AA"/>
                    </a:solidFill>
                  </a:tcPr>
                </a:tc>
              </a:tr>
              <a:tr h="1583333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Сонная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Шея снаружи от гортани, к позвоночнику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4 пальца или большой палец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583333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Подключичная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Ямка над ключицей к I ребру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4 пальца / согнутые пальцы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1583333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Подмышечная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Подмышечная впадина к плечевой кости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Прямые жёсткие пальцы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583333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Плечевая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Внутренняя сторона плеча (бицепс–трицепс)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4 пальца, обхватывая плечо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1583335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Бедренная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Ниже паховой складки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Кулак, вес тела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Максимальное сгибание конечности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8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Предплечье: валик в локтевой сгиб → максимум согнуть → фиксировать к плечу.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Голень / стопа: валик в подколенную ямку → согнуть в колене → фиксировать.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Бедро: валик в паховую складку → колено к груди → фиксировать.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Временный приём до наложения повязки или жгута.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 применять при подозрении на перелом в зоне сгибания.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5500000"/>
            <a:ext cx="22800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Кровоостанавливающий жгут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6900000"/>
            <a:ext cx="12000000" cy="2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Показания к наложению жгута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7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Обширное повреждение конечности.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Отрыв (травматическая ампутация) конечности.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Кровотечение не останавливается прямым давлением.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Давящая повязка неэффективна.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Накладывать на плечо или бедро (не на предплечье / голень).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Обязательно на одежду или подкладку.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000" y="11000000"/>
            <a:ext cx="22800000" cy="1800000"/>
          </a:xfrm>
          <a:prstGeom prst="round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0000" y="11000000"/>
            <a:ext cx="120000" cy="18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0000" y="11300000"/>
            <a:ext cx="21800000" cy="1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t max ≤ 60 мин в тёплое время · ≤ 30 мин в холодное!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Пошаговый алгоритм наложения жгута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00000" y="1950000"/>
            <a:ext cx="22800000" cy="1200000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0000" y="2010000"/>
            <a:ext cx="500000" cy="10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00000" y="2030000"/>
            <a:ext cx="221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Показания: давление и повязка неэффективны / отрыв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000" y="3350000"/>
            <a:ext cx="22800000" cy="1200000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0000" y="3410000"/>
            <a:ext cx="500000" cy="10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0000" y="3430000"/>
            <a:ext cx="221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Место: выше раны, на плечо или бедро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000" y="4750000"/>
            <a:ext cx="22800000" cy="1200000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0000" y="4810000"/>
            <a:ext cx="500000" cy="10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0000" y="4830000"/>
            <a:ext cx="221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На одежду / подкладку; первый тур — максимальное натяжение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000" y="6150000"/>
            <a:ext cx="22800000" cy="1200000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0000" y="6210000"/>
            <a:ext cx="500000" cy="10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00000" y="6230000"/>
            <a:ext cx="221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Кровь остановилась, пульс дистальнее не определяется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000" y="7550000"/>
            <a:ext cx="22800000" cy="1200000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0000" y="7610000"/>
            <a:ext cx="500000" cy="10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00000" y="7630000"/>
            <a:ext cx="221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Записка со временем; жгут должен быть виден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000" y="8950000"/>
            <a:ext cx="22800000" cy="12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0000" y="9010000"/>
            <a:ext cx="500000" cy="10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00000" y="9030000"/>
            <a:ext cx="221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Лимит: 60 мин (тепло) / 30 мин (холод)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Записка под жгут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7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Укажите точное время наложения: ЧЧ:ММ (и дату при необходимости).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Фамилия / кто наложил — по возможности.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Кратко — место происшествия.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Вложите записку под жгут или прикрепите к одежде на видном месте.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Сообщите время бригаде скорой помощи при передаче.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 полагайтесь только на память.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000" y="11000000"/>
            <a:ext cx="22800000" cy="1800000"/>
          </a:xfrm>
          <a:prstGeom prst="round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0000" y="11000000"/>
            <a:ext cx="120000" cy="18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0000" y="11300000"/>
            <a:ext cx="21800000" cy="1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Без записки легко превысить допустимое время жгута!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Ошибки при наложении жгута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8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Слабое натяжение — венозный застой, усиление кровотечения.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Слишком далеко от раны — излишняя ишемия.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На голую кожу без подкладки — повреждение кожи и нервов.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Скрытие жгута одеждой — бригада СМП может не заметить.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Нет записки со временем — риск превышения срока.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Жгут «на всякий случай» при капиллярном кровотечении.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Когда НЕЛЬЗЯ накладывать жгут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8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Кровотечение останавливается давлением или давящей повязкой.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Капиллярное и умеренное венозное кровотечение.</a:t>
            </a:r>
          </a:p>
          <a:p>
            <a:pPr algn="l">
              <a:spcAft>
                <a:spcPts val="1000"/>
              </a:spcAft>
            </a:pPr>
            <a:r>
              <a:rPr sz="32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•  Раны шеи, груди, живота, головы — жгут туда не накладывают.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Нет конечности проксимальнее раны для размещения жгута.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Инородное тело без массивного артериального кровотечения — фиксация + повязка.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Подручные средства и гемостатики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8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Импровизированный жгут: тесьма, платок, галстук, ремень + закрутка.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 использовать проволоку, леску, узкий шнур.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Гемостатические салфетки / бинты из аптечки первой помощи.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Плотно вложить в рану / на рану, сильно придавить, затем повязка.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Применяют там, где жгут невозможен, или как усиление давления.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После остановки — контроль, согревание, ожидание СМП.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Краткое резюме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5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0000" y="19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000" y="2250000"/>
            <a:ext cx="2180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Приоритет: прямое давление → давящая повязка → жгут по показаниям.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000" y="385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0000" y="38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00000" y="4150000"/>
            <a:ext cx="2180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Пальцевое прижатие и сгибание — временные приёмы.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000" y="575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0000" y="57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0000" y="6050000"/>
            <a:ext cx="2180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Жгут: на одежду, выше раны, с запиской; ≤60 мин / ≤30 мин.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765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76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00000" y="7950000"/>
            <a:ext cx="2180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Гемостатические средства усиливают давление там, где это уместно.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5500000"/>
            <a:ext cx="22800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Спасибо за внимание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6900000"/>
            <a:ext cx="10000000" cy="2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7200000"/>
            <a:ext cx="22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Тема 2 · Оказание первой помощи при наружных кровотечениях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