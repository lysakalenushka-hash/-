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24384000" cy="13716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Содержание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00000" y="20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0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1900000" y="20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200000" y="20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Прямое давление и давящая повязка</a:t>
            </a:r>
          </a:p>
        </p:txBody>
      </p:sp>
      <p:sp>
        <p:nvSpPr>
          <p:cNvPr id="9" name="Oval 8"/>
          <p:cNvSpPr/>
          <p:nvPr/>
        </p:nvSpPr>
        <p:spPr>
          <a:xfrm>
            <a:off x="800000" y="34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0000" y="34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0000" y="34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00000" y="34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максимальное сгибание</a:t>
            </a:r>
          </a:p>
        </p:txBody>
      </p:sp>
      <p:sp>
        <p:nvSpPr>
          <p:cNvPr id="13" name="Oval 12"/>
          <p:cNvSpPr/>
          <p:nvPr/>
        </p:nvSpPr>
        <p:spPr>
          <a:xfrm>
            <a:off x="800000" y="48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0000" y="48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0000" y="48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00000" y="48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 и подручные средства</a:t>
            </a:r>
          </a:p>
        </p:txBody>
      </p:sp>
      <p:sp>
        <p:nvSpPr>
          <p:cNvPr id="17" name="Oval 16"/>
          <p:cNvSpPr/>
          <p:nvPr/>
        </p:nvSpPr>
        <p:spPr>
          <a:xfrm>
            <a:off x="800000" y="620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620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0000" y="6200000"/>
            <a:ext cx="20500000" cy="8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00000" y="6200000"/>
            <a:ext cx="19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Алгоритм, записка, ошибки и ограничения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Пошаговый алгоритм наложения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00000" y="1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100000" y="2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00000" y="2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Показания: давление и повязка неэффективны / отрыв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0000" y="3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100000" y="3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00000" y="3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00000" y="3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Место: выше раны, на плечо или бедро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0000" y="4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100000" y="5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100000" y="5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00000" y="5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На одежду / подкладку; первый тур — максимальное натяжение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0000" y="64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100000" y="66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00000" y="6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00000" y="6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Кровь остановилась; пульс дистальнее не определяется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0000" y="7900000"/>
            <a:ext cx="22800000" cy="1300000"/>
          </a:xfrm>
          <a:prstGeom prst="roundRect">
            <a:avLst/>
          </a:prstGeom>
          <a:solidFill>
            <a:srgbClr val="F7F7F7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100000" y="8150000"/>
            <a:ext cx="800000" cy="800000"/>
          </a:xfrm>
          <a:prstGeom prst="ellipse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00000" y="81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00000" y="81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со временем; жгут должен быть виден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000" y="9400000"/>
            <a:ext cx="22800000" cy="1300000"/>
          </a:xfrm>
          <a:prstGeom prst="round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00000" y="9650000"/>
            <a:ext cx="800000" cy="800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00000" y="9650000"/>
            <a:ext cx="8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1">
                <a:solidFill>
                  <a:srgbClr val="0055AA"/>
                </a:solidFill>
                <a:latin typeface="Open Sans"/>
                <a:ea typeface="Open Sans"/>
                <a:cs typeface="Open Sans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200000" y="9650000"/>
            <a:ext cx="20500000" cy="8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FFFFFF"/>
                </a:solidFill>
                <a:latin typeface="Open Sans"/>
                <a:ea typeface="Open Sans"/>
                <a:cs typeface="Open Sans"/>
              </a:rPr>
              <a:t>Лимит: 60 мин (тепло) / 30 мин (холод)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Записка под жгут — что указать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Точное время наложения: ЧЧ:ММ (и дата при необходимости)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Фамилия / кто наложил — по возможности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Кратко — место происшествия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Вложить под жгут или прикрепить к одежде на видном месте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Сообщить время бригаде СМП при передаче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Без записки легко превысить допустимое время жгута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Ошибки при наложении жгута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Слабое натяжение — венозный застой, усиление кровотечения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Слишком далеко от раны — излишняя ишемия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На голую кожу без подкладки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Скрытие жгута одеждой — СМП может не заметить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записки со временем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Жгут без показаний (при капиллярном кровотечении)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Когда НЕЛЬЗЯ накладывать жгут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6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Кровотечение останавливается давлением или давящей повязкой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Капиллярное и умеренное венозное кровотечение</a:t>
            </a:r>
          </a:p>
          <a:p>
            <a:pPr algn="l">
              <a:spcAft>
                <a:spcPts val="1200"/>
              </a:spcAft>
            </a:pPr>
            <a:r>
              <a:rPr sz="32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•  Раны шеи, груди, живота, головы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Нет конечности проксимальнее раны для размещения жгута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0000" y="11000000"/>
            <a:ext cx="22800000" cy="1600000"/>
          </a:xfrm>
          <a:prstGeom prst="roundRect">
            <a:avLst/>
          </a:prstGeom>
          <a:solidFill>
            <a:srgbClr val="F7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00000" y="11000000"/>
            <a:ext cx="120000" cy="1600000"/>
          </a:xfrm>
          <a:prstGeom prst="rect">
            <a:avLst/>
          </a:prstGeom>
          <a:solidFill>
            <a:srgbClr val="CC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0000" y="11200000"/>
            <a:ext cx="21800000" cy="12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На шею, грудь, живот и голову жгут не накладывают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Гемостатические средства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0000" y="1900000"/>
            <a:ext cx="22800000" cy="8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Гемостатические салфетки / бинты из аптечки первой помощи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Плотно вложить в рану / на рану и сильно придавить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Затем — давящая повязка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Применяют там, где жгут невозможен, или как усиление давления</a:t>
            </a:r>
          </a:p>
          <a:p>
            <a:pPr algn="l">
              <a:spcAft>
                <a:spcPts val="1200"/>
              </a:spcAft>
            </a:pPr>
            <a:r>
              <a:rPr sz="32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•  Не заменяют вызов скорой помощи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4384000" cy="13716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00000" y="4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1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Главное запомнить</a:t>
            </a:r>
          </a:p>
        </p:txBody>
      </p:sp>
      <p:sp>
        <p:nvSpPr>
          <p:cNvPr id="4" name="Rectangle 3"/>
          <p:cNvSpPr/>
          <p:nvPr/>
        </p:nvSpPr>
        <p:spPr>
          <a:xfrm>
            <a:off x="800000" y="1500000"/>
            <a:ext cx="22800000" cy="20000"/>
          </a:xfrm>
          <a:prstGeom prst="rect">
            <a:avLst/>
          </a:prstGeom>
          <a:solidFill>
            <a:srgbClr val="E1E1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0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300000" y="23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Приоритет: давление → повязка → жгут по показаниям</a:t>
            </a:r>
          </a:p>
        </p:txBody>
      </p:sp>
      <p:sp>
        <p:nvSpPr>
          <p:cNvPr id="8" name="Rectangle 7"/>
          <p:cNvSpPr/>
          <p:nvPr/>
        </p:nvSpPr>
        <p:spPr>
          <a:xfrm>
            <a:off x="800000" y="39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0000" y="39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00000" y="42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Пальцевое прижатие и сгибание — временные приёмы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0000" y="58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00000" y="58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00000" y="61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Жгут: на одежду, с запиской; ≤60 мин / ≤30 мин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000" y="7700000"/>
            <a:ext cx="22800000" cy="160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1E1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0000" y="7700000"/>
            <a:ext cx="120000" cy="1600000"/>
          </a:xfrm>
          <a:prstGeom prst="rect">
            <a:avLst/>
          </a:prstGeom>
          <a:solidFill>
            <a:srgbClr val="0055A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00000" y="8050000"/>
            <a:ext cx="21500000" cy="9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0">
                <a:solidFill>
                  <a:srgbClr val="333333"/>
                </a:solidFill>
                <a:latin typeface="Open Sans"/>
                <a:ea typeface="Open Sans"/>
                <a:cs typeface="Open Sans"/>
              </a:rPr>
              <a:t>Гемостатики усиливают давление там, где уместно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000" y="11500000"/>
            <a:ext cx="22800000" cy="10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CC0000"/>
                </a:solidFill>
                <a:latin typeface="Open Sans"/>
                <a:ea typeface="Open Sans"/>
                <a:cs typeface="Open Sans"/>
              </a:rPr>
              <a:t>t max ≤ 60 мин (тепло) · ≤ 30 мин (холод)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age_2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24384000" cy="13716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