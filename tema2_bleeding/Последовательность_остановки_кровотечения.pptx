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7500000" y="0"/>
            <a:ext cx="6884000" cy="13716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00000"/>
            <a:ext cx="4500000" cy="2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5000000"/>
            <a:ext cx="16500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
КРОВОТЕЧЕНИЯХ И ТРАВМАХ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6800000"/>
            <a:ext cx="14000000" cy="35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00000" y="19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800000" y="19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0000" y="19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Полный алгоритм действий</a:t>
            </a:r>
          </a:p>
        </p:txBody>
      </p:sp>
      <p:sp>
        <p:nvSpPr>
          <p:cNvPr id="9" name="Oval 8"/>
          <p:cNvSpPr/>
          <p:nvPr/>
        </p:nvSpPr>
        <p:spPr>
          <a:xfrm>
            <a:off x="700000" y="33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000" y="33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00000" y="33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0000" y="33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Приоритетность способов остановки</a:t>
            </a:r>
          </a:p>
        </p:txBody>
      </p:sp>
      <p:sp>
        <p:nvSpPr>
          <p:cNvPr id="13" name="Oval 12"/>
          <p:cNvSpPr/>
          <p:nvPr/>
        </p:nvSpPr>
        <p:spPr>
          <a:xfrm>
            <a:off x="700000" y="47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0000" y="47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0000" y="47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00000" y="47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Профилактика травматического шока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61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0000" y="61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0" y="61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00000" y="61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 и контроль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Полный алгоритм (чек-лист)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0000" y="190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0000" y="21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1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0000" y="210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Оценка обстановки → безопасность (СИЗ)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333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0000" y="353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0000" y="353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0000" y="353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осмотр — поиск кровотечения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0000" y="4760000"/>
            <a:ext cx="23000000" cy="125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0000" y="4960000"/>
            <a:ext cx="800000" cy="8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000" y="496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0000" y="496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Временная остановка кровотечения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0000" y="619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0000" y="639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0000" y="639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0000" y="639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жизни: сознание → дыхание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0000" y="762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0000" y="782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0000" y="782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0000" y="782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СЛР при отсутствии признаков жизни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0000" y="905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0000" y="925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0000" y="92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0000" y="92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Вызов скорой медицинской помощи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0000" y="1048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00000" y="1068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0000" y="1068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0000" y="1068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 и помощь при травмах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0000" y="1191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00000" y="1211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0000" y="1211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00000" y="1211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Положение, тепло, контроль, передача СМП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Оценка состояния пострадавшего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массивном кровотечении сначала остановите кровь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Сознание: обратитесь, осторожно потрясите за плечи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Дыхание: смотрю–слушаю–ощущаю не более 10 секунд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Сначала то, что угрожает жизни сейчас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Приоритетность способов остановки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0000" y="1900000"/>
            <a:ext cx="23000000" cy="125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0000" y="2100000"/>
            <a:ext cx="800000" cy="8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1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0000" y="210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Прямое давление на рану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333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0000" y="353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0000" y="353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0000" y="353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Давящая повязка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0000" y="476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0000" y="496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000" y="496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0000" y="496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Жгут — по показаниям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Приоритет при множественных травмах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Угрожающее жизни кровотечение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Дыхательные пути и дыхание / СЛР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Остальные кровотечения и раны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Иммобилизация и положение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ПОНЯТИЕ О ТРАВМАТИЧЕСКОМ ШОКЕ, ПРИЧИНЫ И ПРИЗНАКИ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000000"/>
            <a:ext cx="10000000" cy="35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300000"/>
            <a:ext cx="9200000" cy="2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Травматический шок – состояние, причинами развития которого являются тяжелые травмы и сильные кровотечения.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0000" y="2000000"/>
            <a:ext cx="11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Признаками травматического шока являются: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0000" y="2800000"/>
            <a:ext cx="11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наличие тяжелой травмы и сильного кровотечения;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нарушения дыхания и кровообращения (учащенное дыхание и сердцебиение);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бледная холодная влажная кожа;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возбуждение, сменяющееся апатией.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МЕРОПРИЯТИЯ, ПРЕДУПРЕЖДАЮЩИЕ РАЗВИТИЕ ТРАВМАТИЧЕСКОГО ШОКА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000000"/>
            <a:ext cx="110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 этим мероприятиям относятся: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2800000"/>
            <a:ext cx="11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остановка кровотечения;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придание пострадавшему оптимального положения тела;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иммобилизация травмированных конечностей;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защита от переохлаждения (укутывание подручными средствами или покрывалом спасательным изотермическим).</a:t>
            </a:r>
          </a:p>
        </p:txBody>
      </p:sp>
      <p:sp>
        <p:nvSpPr>
          <p:cNvPr id="8" name="Rectangle 7"/>
          <p:cNvSpPr/>
          <p:nvPr/>
        </p:nvSpPr>
        <p:spPr>
          <a:xfrm>
            <a:off x="12700000" y="2000000"/>
            <a:ext cx="10000000" cy="10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ck_pre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0000" y="2905882"/>
            <a:ext cx="9600000" cy="81882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 ПОСТРАДАВШЕГО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7466666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1 Осмотр головы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2700000"/>
            <a:ext cx="7466666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xam_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00" y="3270059"/>
            <a:ext cx="7266666" cy="83598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66666" y="1900000"/>
            <a:ext cx="7466666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2 Осмотр шеи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66666" y="2700000"/>
            <a:ext cx="7466666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xam_n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666" y="3270059"/>
            <a:ext cx="7266666" cy="835988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233332" y="1900000"/>
            <a:ext cx="7466666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3 Осмотр груди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233332" y="2700000"/>
            <a:ext cx="7466666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am_ch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33332" y="3342754"/>
            <a:ext cx="7266666" cy="82144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 ПОСТРАДАВШЕГО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7466666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4 Осмотр живота и таза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2700000"/>
            <a:ext cx="7466666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xam_abdo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00" y="3270059"/>
            <a:ext cx="7266666" cy="83598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66666" y="1900000"/>
            <a:ext cx="7466666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5 Осмотр ног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66666" y="2700000"/>
            <a:ext cx="7466666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xam_le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666" y="3270059"/>
            <a:ext cx="7266666" cy="835988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233332" y="1900000"/>
            <a:ext cx="7466666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6 Осмотр рук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233332" y="2700000"/>
            <a:ext cx="7466666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am_arm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33332" y="3342754"/>
            <a:ext cx="7266666" cy="821449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Действия после остановки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Контроль повязки: при промокании усилить, не снимая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Сознание, дыхание, цвет кожи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Жгут: время, видимость, записка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Согреть, обеспечить покой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Передать бригаде: что сделано и время жгута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и как ослаблять жгут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Планово ослаблять на месте не рекомендуется</a:t>
            </a:r>
          </a:p>
          <a:p>
            <a:pPr algn="l">
              <a:spcAft>
                <a:spcPts val="1000"/>
              </a:spcAft>
            </a:pPr>
            <a:r>
              <a:rPr sz="32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Если превышен лимит 60 / 30 мин и СМП нет: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Подготовить давление / повязку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Медленно ослабить, оценивая кровь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струе — сразу затянуть и обновить время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1000000"/>
            <a:ext cx="230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11200000"/>
            <a:ext cx="220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Лимит жгута: ≤ 60 мин (тепло) · ≤ 30 мин (холод)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19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0000" y="225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Безопасность → осмотр → кровь → признаки жизни → СМП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375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000" y="37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0000" y="410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Способы: давление → повязка → жгут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560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0000" y="56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0000" y="595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Профилактика шока: кровь, положение, тепло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745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0000" y="74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0000" y="780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После остановки — контроль до передачи СМП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000" y="11500000"/>
            <a:ext cx="230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Сначала угрожающее жизни кровотечение!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7500000" y="0"/>
            <a:ext cx="6884000" cy="13716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5500000"/>
            <a:ext cx="160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БЛАГОДАРИМ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6900000"/>
            <a:ext cx="10000000" cy="35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