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00000"/>
            <a:ext cx="24384000" cy="28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4600000"/>
            <a:ext cx="228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ПОСЛЕДОВАТЕЛЬНОСТЬ МЕРОПРИЯТИЙ ПО ОСТАНОВКЕ КРОВОТЕЧЕНИЯ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000" y="6200000"/>
            <a:ext cx="12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6500000"/>
            <a:ext cx="2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Теоретический модуль · п. 2.4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0000" y="19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000" y="19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0000" y="19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00000" y="19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Полный алгоритм действий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000" y="31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000" y="31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00000" y="31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0000" y="31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Приоритетность способов остановки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000" y="43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000" y="43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00000" y="43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00000" y="43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Профилактика травматического шока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000" y="5550000"/>
            <a:ext cx="900000" cy="9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000" y="5550000"/>
            <a:ext cx="9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00000" y="5550000"/>
            <a:ext cx="205000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00000" y="5550000"/>
            <a:ext cx="19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и действия после остановки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Полный алгоритм (чек-лист)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550000"/>
            <a:ext cx="22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Приказ Минздрава РФ № 220н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2500000"/>
            <a:ext cx="11000000" cy="16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0000" y="2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0000" y="2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обстановки → безопасность (СИЗ)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600000" y="2500000"/>
            <a:ext cx="11000000" cy="16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80000" y="2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00000" y="2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Обзорный осмотр — поиск кровотечения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000" y="4500000"/>
            <a:ext cx="11000000" cy="16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000" y="4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0000" y="4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Временная остановка кровотечения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600000" y="4500000"/>
            <a:ext cx="11000000" cy="16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680000" y="4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00000" y="4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жизни: сознание → дыхание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000" y="6500000"/>
            <a:ext cx="11000000" cy="16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0000" y="6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0000" y="6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СЛР при отсутствии признаков жизни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600000" y="6500000"/>
            <a:ext cx="11000000" cy="16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680000" y="6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00000" y="6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Вызов скорой медицинской помощи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000" y="8500000"/>
            <a:ext cx="11000000" cy="16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0000" y="8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00000" y="8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и помощь при травмах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600000" y="8500000"/>
            <a:ext cx="11000000" cy="16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680000" y="8560000"/>
            <a:ext cx="500000" cy="1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00000" y="8580000"/>
            <a:ext cx="103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Положение, тепло, контроль, передача СМП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состояния пострадавшего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массивном кровотечении сначала остановите кровь.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Сознание: громко обратитесь, осторожно потрясите за плечи.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Дыхание: смотрю–слушаю–ощущаю не более 10 секунд.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нескольких травмах — сначала то, что угрожает жизни сейчас.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тратьте время на второстепенные раны при угрожающем кровотечении.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Приоритетность способов остановки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00000" y="4250000"/>
            <a:ext cx="5000000" cy="35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4450000"/>
            <a:ext cx="5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0000" y="5350000"/>
            <a:ext cx="4600000" cy="2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Прямое
давление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00000" y="5750000"/>
            <a:ext cx="400000" cy="250000"/>
          </a:xfrm>
          <a:prstGeom prst="right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00000" y="4250000"/>
            <a:ext cx="5000000" cy="35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0" y="4450000"/>
            <a:ext cx="5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0000" y="5350000"/>
            <a:ext cx="4600000" cy="2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Давящая
повязка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3400000" y="5750000"/>
            <a:ext cx="400000" cy="250000"/>
          </a:xfrm>
          <a:prstGeom prst="rightArrow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5200000" y="4250000"/>
            <a:ext cx="5000000" cy="350000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200000" y="4450000"/>
            <a:ext cx="5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00000" y="5350000"/>
            <a:ext cx="4600000" cy="2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
по показаниям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00" y="11000000"/>
            <a:ext cx="228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Дополнительно (по учебным программам): пальцевое прижатие, максимальное сгибание.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 при множественных травмах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Сначала — угрожающее жизни кровотечение.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— проходимость дыхательных путей и дыхание / СЛР.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— остальные кровотечения и раны.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— иммобилизация, повязки, оптимальное положение.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нескольких пострадавших — приоритет детям и массивным кровотечениям.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Травматический шок: понятие и признаки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Причины: тяжёлые травмы и сильные кровотечения.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Наличие тяжёлой травмы и сильного кровотечения.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Нарушения дыхания и кровообращения (учащение).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Бледная холодная влажная кожа.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Возбуждение, сменяющееся апатией.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Профилактика травматического шока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120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Остановить кровотечение как можно раньше.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Придать оптимальное положение тела.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Иммобилизировать повреждённые конечности.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Защитить от переохлаждения.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давать есть и пить при тяжёлой травме.</a:t>
            </a:r>
          </a:p>
          <a:p>
            <a:pPr algn="l">
              <a:spcAft>
                <a:spcPts val="1000"/>
              </a:spcAft>
            </a:pPr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Покой, поддержка, контроль сознания и дыхания.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00000" y="1950000"/>
            <a:ext cx="10000000" cy="8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ock_pr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0000" y="2205882"/>
            <a:ext cx="9700000" cy="79882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— голова, шея, грудь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xam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598" y="2000000"/>
            <a:ext cx="5044137" cy="6359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1. Осмотр головы</a:t>
            </a:r>
          </a:p>
        </p:txBody>
      </p:sp>
      <p:sp>
        <p:nvSpPr>
          <p:cNvPr id="9" name="Rectangle 8"/>
          <p:cNvSpPr/>
          <p:nvPr/>
        </p:nvSpPr>
        <p:spPr>
          <a:xfrm>
            <a:off x="8483333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am_n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931" y="2000000"/>
            <a:ext cx="5044137" cy="6359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3333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2. Осмотр шеи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166666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xam_ch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1264" y="2000000"/>
            <a:ext cx="5044137" cy="63599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316666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3. Осмотр груди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 — живот, ноги, руки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xam_abdo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598" y="2000000"/>
            <a:ext cx="5044137" cy="6359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000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4. Осмотр живота и таза</a:t>
            </a:r>
          </a:p>
        </p:txBody>
      </p:sp>
      <p:sp>
        <p:nvSpPr>
          <p:cNvPr id="9" name="Rectangle 8"/>
          <p:cNvSpPr/>
          <p:nvPr/>
        </p:nvSpPr>
        <p:spPr>
          <a:xfrm>
            <a:off x="8483333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am_le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931" y="2000000"/>
            <a:ext cx="5044137" cy="6359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3333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5. Осмотр ног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166666" y="1900000"/>
            <a:ext cx="7433333" cy="10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xam_ar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1264" y="2000000"/>
            <a:ext cx="5044137" cy="63599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316666" y="8410000"/>
            <a:ext cx="7133333" cy="38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Шаг 6. Осмотр рук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Порядок подробного осмотра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Голова → шея → грудь → живот и таз → ноги → руки.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Спина — при возможности безопасно повернуть / осмотреть.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сознании — короткий опрос о жалобах и механизме травмы.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Ищите раны, деформации, болезненность, признаки внутреннего кровотечения.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Устраняйте угрозы по мере выявления (повязка, фиксация, холод).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Действия после остановки кровотечения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Контролируйте повязку: при промокании усильте, не снимая нижние слои.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Проверяйте признаки жизни: сознание, дыхание, цвет кожи.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Следите за жгутом: время, видимость, записка.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Согрейте пострадавшего, обеспечьте покой.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ухудшении — повторный вызов СМП с динамикой.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Передайте бригаде: что случилось, что сделано, время жгута.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и как ослаблять жгут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1950000"/>
            <a:ext cx="22800000" cy="7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Планово ослаблять жгут на месте не рекомендуется.</a:t>
            </a:r>
          </a:p>
          <a:p>
            <a:pPr algn="l">
              <a:spcAft>
                <a:spcPts val="10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Если время превысило 60 мин / 30 мин и СМП задерживается: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подготовьте прямое давление / давящую повязку;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медленно ослабьте жгут, оценивая кровотечение;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если кровь снова бьёт струёй — немедленно затяните и обновите время;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решение о снятии, как правило, принимает медработник.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000" y="11000000"/>
            <a:ext cx="22800000" cy="180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000" y="11000000"/>
            <a:ext cx="120000" cy="18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0000" y="11300000"/>
            <a:ext cx="218000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Лимит жгута: ≤ 60 мин (тепло) · ≤ 30 мин (холод)!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35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Краткое резюме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45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9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22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Алгоритм: безопасность → обзорный осмотр → остановка крови → признаки жизни → СМП.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38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000" y="38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0000" y="41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Способы: от простого к сложному — давление → повязка → жгут.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000" y="57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000" y="5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0000" y="60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Профилактика шока: кровь, положение, иммобилизация, тепло.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765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76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0000" y="7950000"/>
            <a:ext cx="2180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После остановки — контроль повязки / жгута и состояния до передачи СМП.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4384000" cy="12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0000" y="5500000"/>
            <a:ext cx="228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Спасибо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6900000"/>
            <a:ext cx="10000000" cy="2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7200000"/>
            <a:ext cx="22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