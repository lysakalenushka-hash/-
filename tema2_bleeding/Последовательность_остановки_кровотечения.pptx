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00000"/>
            <a:ext cx="3500000" cy="220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000000"/>
            <a:ext cx="20000000" cy="1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2C2C2C"/>
                </a:solidFill>
                <a:latin typeface="Arial"/>
              </a:rPr>
              <a:t>ПОСЛЕДОВАТЕЛЬНОСТЬ МЕРОПРИЯТИЙ ПО ОСТАНОВКЕ КРОВОТЕЧЕНИЯ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000" y="4900000"/>
            <a:ext cx="16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51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Теоретический модуль · п. 2.4 Приложения № 2 к ПП РФ № 2464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5800000"/>
            <a:ext cx="20000000" cy="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Курс первой помощи · Тема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00000" y="20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0000" y="20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Полный алгоритм действий на месте происшествия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0000" y="29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0000" y="29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Приоритетность способов остановки кровотечения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00000" y="39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0000" y="39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Профилактика травматического шока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00000" y="48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0000" y="48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Подробный осмотр и действия после остановки крови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ПОЛНЫЙ АЛГОРИТМ (ЧЕК-ЛИСТ)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1. Оценка обстановки → безопасность себе и пострадавшему (СИЗ: перчатки).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2. Обзорный осмотр — поиск наружного кровотечения.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3. Временная остановка кровотечения (давление / повязка / жгут).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4. Определение признаков жизни: сознание → дыхание (при отсутствии сознания).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5. При отсутствии признаков жизни — СЛР; при наличии — поддержание дыхательных путей.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6. Вызов скорой медицинской помощи (если ещё не вызвали).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7. Подробный осмотр и помощь при выявленных травмах.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8. Оптимальное положение, согревание, контроль состояния, передача бригаде СМП.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2200000"/>
            <a:ext cx="205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F6F6F"/>
                </a:solidFill>
                <a:latin typeface="Arial"/>
              </a:rPr>
              <a:t>Последовательность по Приказу Минздрава РФ от 03.05.2024 № 220н.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ОЦЕНКА СОСТОЯНИЯ ПЕРЕД / В ХОДЕ ПОМОЩИ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продолжающемся массивном кровотечении сначала остановите кровь (сердце ещё работает).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Сознание: громко обратитесь, осторожно потрясите за плечи.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Дыхание: смотрю–слушаю–ощущаю не более 10 секунд (после восстановления проходимости ДП).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Кровообращение: ориентир — признаки жизни и характер кровотечения; пульс — при подготовке.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нескольких травмах: сначала то, что угрожает жизни прямо сейчас (кровотечение, дыхание).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 тратьте время на второстепенные раны, пока не остановлено угрожающее кровотечение.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ПРИОРИТЕТНОСТЬ СПОСОБОВ ОСТАНОВКИ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1. Прямое давление на рану — первый выбор в большинстве случаев.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2. Давящая повязка — если кровотечение остановлено давлением или давление невозможно.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3. Жгут — при обширном повреждении/отрыве конечности или неэффективности п. 1–2.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Дополнительно (по учебным программам): пальцевое прижатие, максимальное сгибание.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множественных кровотечениях — сначала самое интенсивное / артериальное.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 переходите к жгуту «на всякий случай» — только по показаниям.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ПРИОРИТЕТ ПРИ МНОЖЕСТВЕННЫХ ТРАВМАХ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Правило: сначала угрожающее жизни кровотечение.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Затем — проходимость дыхательных путей и дыхание / СЛР при необходимости.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Затем — остальные кровотечения и раны.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Затем — иммобилизация переломов, повязки, оптимальное положение.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нескольких пострадавших — приоритет детям и тем, у кого массивное кровотечение.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 застревайте на одной «неопасной» ране, пока не осмотрены все критические зоны.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0"/>
            <a:ext cx="20000000" cy="1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2C2C2C"/>
                </a:solidFill>
                <a:latin typeface="Arial"/>
              </a:rPr>
              <a:t>ТРАВМАТИЧЕСКИЙ ШОК: ПРИЗНАКИ И ПРОФИЛАКТИКА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6400000"/>
            <a:ext cx="12000000" cy="25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Исходный материал · доработано по стандартам первой помощи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ПРОФИЛАКТИКА ТРАВМАТИЧЕСКОГО ШОКА — АКЦЕНТЫ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Остановить кровотечение как можно раньше.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Придать оптимальное положение тела (с учётом травмы).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Иммобилизировать повреждённые конечности — меньше боль и кровопотеря.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Защитить от переохлаждения: укрыть, изотермическое покрывало.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 давать есть и пить при тяжёлой травме / подозрении на повреждение органов.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Обеспечить покой, психологическую поддержку, контроль сознания и дыхания.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0"/>
            <a:ext cx="20000000" cy="1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>
                <a:solidFill>
                  <a:srgbClr val="2C2C2C"/>
                </a:solidFill>
                <a:latin typeface="Arial"/>
              </a:rPr>
              <a:t>ПОДРОБНЫЙ ОСМОТР ПОСЛЕ ОСТАНОВКИ КРОВОТЕЧЕНИЯ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6400000"/>
            <a:ext cx="12000000" cy="25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Исходный материал · доработано по стандартам первой помощи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ПОРЯДОК ПОДРОБНОГО ОСМОТРА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Голова → шея → грудь → живот и таз → ноги → руки (спина — при возможности безопасно).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наличии сознания — параллельно коротко расспросите о жалобах и механизме травмы.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Ищите раны, деформации, болезненность, нарушение функции, признаки внутреннего кровотечения.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На каждом этапе сразу выполняйте необходимые меры (повязка, фиксация, холод).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Не «собирайте» все находки без действий — устраняйте угрозы по мере выявления.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ДЕЙСТВИЯ ПОСЛЕ ОСТАНОВКИ КРОВОТЕЧЕНИЯ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Контролируйте повязку: при промокании усильте, не снимая нижние слои.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Проверяйте признаки жизни: сознание, дыхание, цвет кожи, жалобы.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Следите за жгутом: время, видимость, записка; не ослабляйте без необходимости.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Согрейте пострадавшего, обеспечьте покой.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Повторите вызов СМП при ухудшении; сообщите диспетчеру динамику.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Передайте бригаде: что случилось, что сделано, время наложения жгута.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КОГДА И КАК ОСЛАБЛЯТЬ ЖГУТ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Планово ослаблять жгут на месте не рекомендуется — риск повторной массивной кровопотери.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C02828"/>
                </a:solidFill>
                <a:latin typeface="Arial"/>
              </a:rPr>
              <a:t>•  Если время превысило допустимое (60 мин / 30 мин) и СМП задерживается: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— подготовьте прямое давление / давящую повязку;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— медленно ослабьте жгут, оценивая кровотечение;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— если кровь снова бьёт струёй — немедленно затяните жгут вновь и обновите время;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— если кровотечение контролируется давлением — оставьте давящую повязку, жгут можно оставить ослабленным рядом (по ситуации обучения).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Решение о снятии принимает, как правило, медработник; ваша задача — не допустить кровопотери.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10500000"/>
            <a:ext cx="20500000" cy="1800000"/>
          </a:xfrm>
          <a:prstGeom prst="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10800000"/>
            <a:ext cx="20000000" cy="1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02828"/>
                </a:solidFill>
                <a:latin typeface="Arial"/>
              </a:rPr>
              <a:t>Лимит жгута: ≤ 60 мин в тёплое время года · ≤ 30 мин в холодное!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КРАТКОЕ РЕЗЮМЕ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000" y="20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0000" y="23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Алгоритм: безопасность → обзорный осмотр → остановка крови → признаки жизни → СМП → подробный осмотр.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36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000" y="36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00000" y="40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Способы: от простого к сложному — давление → повязка → жгут.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3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000" y="53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0000" y="56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Профилактика шока: кровь, положение, иммобилизация, тепло.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69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000" y="69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0000" y="73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После остановки — контроль повязки/жгута и состояния до передачи СМП.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5200000"/>
            <a:ext cx="200000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2C2C2C"/>
                </a:solidFill>
                <a:latin typeface="Arial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6400000"/>
            <a:ext cx="10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