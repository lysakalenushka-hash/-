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7500000" y="0"/>
            <a:ext cx="6884000" cy="13716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00000"/>
            <a:ext cx="4500000" cy="2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5000000"/>
            <a:ext cx="165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
КРОВОТЕЧЕНИЯХ И ТРАВМАХ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6800000"/>
            <a:ext cx="14000000" cy="35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0000" y="190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19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0" y="1900000"/>
            <a:ext cx="2050000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0000" y="1900000"/>
            <a:ext cx="19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Полный алгоритм действий</a:t>
            </a:r>
          </a:p>
        </p:txBody>
      </p:sp>
      <p:sp>
        <p:nvSpPr>
          <p:cNvPr id="9" name="Oval 8"/>
          <p:cNvSpPr/>
          <p:nvPr/>
        </p:nvSpPr>
        <p:spPr>
          <a:xfrm>
            <a:off x="700000" y="330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000" y="33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3300000"/>
            <a:ext cx="2050000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0000" y="3300000"/>
            <a:ext cx="19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Приоритетность способов остановки</a:t>
            </a:r>
          </a:p>
        </p:txBody>
      </p:sp>
      <p:sp>
        <p:nvSpPr>
          <p:cNvPr id="13" name="Oval 12"/>
          <p:cNvSpPr/>
          <p:nvPr/>
        </p:nvSpPr>
        <p:spPr>
          <a:xfrm>
            <a:off x="700000" y="470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000" y="47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4700000"/>
            <a:ext cx="2050000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0000" y="4700000"/>
            <a:ext cx="19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Профилактика травматического шока</a:t>
            </a:r>
          </a:p>
        </p:txBody>
      </p:sp>
      <p:sp>
        <p:nvSpPr>
          <p:cNvPr id="17" name="Oval 16"/>
          <p:cNvSpPr/>
          <p:nvPr/>
        </p:nvSpPr>
        <p:spPr>
          <a:xfrm>
            <a:off x="700000" y="610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0000" y="61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0000" y="6100000"/>
            <a:ext cx="2050000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0000" y="6100000"/>
            <a:ext cx="19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Подробный осмотр и контроль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Полный алгоритм (чек-лист)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0000" y="1900000"/>
            <a:ext cx="23000000" cy="12500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0000" y="210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1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0000" y="2100000"/>
            <a:ext cx="20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Оценка обстановки → безопасность (СИЗ)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3330000"/>
            <a:ext cx="23000000" cy="12500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0000" y="353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0000" y="353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000" y="3530000"/>
            <a:ext cx="20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Обзорный осмотр — поиск кровотечения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4760000"/>
            <a:ext cx="23000000" cy="1250000"/>
          </a:xfrm>
          <a:prstGeom prst="round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0000" y="4960000"/>
            <a:ext cx="800000" cy="8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0000" y="496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055AA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0000" y="4960000"/>
            <a:ext cx="20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Временная остановка кровотечения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0000" y="6190000"/>
            <a:ext cx="23000000" cy="12500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0000" y="639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639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0000" y="6390000"/>
            <a:ext cx="20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Признаки жизни: сознание → дыхание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0000" y="7620000"/>
            <a:ext cx="23000000" cy="12500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0000" y="782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0000" y="782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0000" y="7820000"/>
            <a:ext cx="20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СЛР при отсутствии признаков жизни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0000" y="9050000"/>
            <a:ext cx="23000000" cy="12500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0000" y="925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0000" y="925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0000" y="9250000"/>
            <a:ext cx="20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Вызов скорой медицинской помощи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0000" y="10480000"/>
            <a:ext cx="23000000" cy="12500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0000" y="1068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0000" y="1068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0000" y="10680000"/>
            <a:ext cx="20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Подробный осмотр и помощь при травмах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0000" y="11910000"/>
            <a:ext cx="23000000" cy="12500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0000" y="1211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0000" y="1211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0000" y="12110000"/>
            <a:ext cx="20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Положение, тепло, контроль, передача СМП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Оценка состояния пострадавшего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900000"/>
            <a:ext cx="23000000" cy="8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массивном кровотечении сначала остановите кровь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Сознание: обратитесь, осторожно потрясите за плечи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Дыхание: смотрю–слушаю–ощущаю не более 10 секунд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Сначала то, что угрожает жизни сейчас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Приоритетность способов остановки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0000" y="1900000"/>
            <a:ext cx="23000000" cy="1250000"/>
          </a:xfrm>
          <a:prstGeom prst="round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0000" y="2100000"/>
            <a:ext cx="800000" cy="8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1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055AA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0000" y="2100000"/>
            <a:ext cx="20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Прямое давление на рану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3330000"/>
            <a:ext cx="23000000" cy="12500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0000" y="353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0000" y="353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000" y="3530000"/>
            <a:ext cx="20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Давящая повязка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4760000"/>
            <a:ext cx="23000000" cy="12500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0000" y="496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0000" y="496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0000" y="4960000"/>
            <a:ext cx="20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Жгут — по показаниям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Приоритет при множественных травмах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900000"/>
            <a:ext cx="23000000" cy="8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Угрожающее жизни кровотечение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Дыхательные пути и дыхание / СЛР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Остальные кровотечения и раны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Иммобилизация и положение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22000000" cy="8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ПОНЯТИЕ О ТРАВМАТИЧЕСКОМ ШОКЕ, ПРИЧИНЫ И ПРИЗНАКИ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150000"/>
            <a:ext cx="16000000" cy="3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250000"/>
            <a:ext cx="22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 и травмах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000" y="2000000"/>
            <a:ext cx="10000000" cy="35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300000"/>
            <a:ext cx="9200000" cy="2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Травматический шок – состояние, причинами развития которого являются тяжелые травмы и сильные кровотечения.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2000000"/>
            <a:ext cx="11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Признаками травматического шока являются: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0000" y="2800000"/>
            <a:ext cx="11000000" cy="8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☑  наличие тяжелой травмы и сильного кровотечения;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☑  нарушения дыхания и кровообращения (учащенное дыхание и сердцебиение);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☑  бледная холодная влажная кожа;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☑  возбуждение, сменяющееся апатией.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22000000" cy="8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МЕРОПРИЯТИЯ, ПРЕДУПРЕЖДАЮЩИЕ РАЗВИТИЕ ТРАВМАТИЧЕСКОГО ШОКА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150000"/>
            <a:ext cx="16000000" cy="3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250000"/>
            <a:ext cx="22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 и травмах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2000000"/>
            <a:ext cx="110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 этим мероприятиям относятся: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2800000"/>
            <a:ext cx="11000000" cy="8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☑  остановка кровотечения;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☑  придание пострадавшему оптимального положения тела;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☑  иммобилизация травмированных конечностей;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☑  защита от переохлаждения (укутывание подручными средствами или покрывалом спасательным изотермическим).</a:t>
            </a:r>
          </a:p>
        </p:txBody>
      </p:sp>
      <p:pic>
        <p:nvPicPr>
          <p:cNvPr id="8" name="Picture 7" descr="shock_pr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0" y="2617647"/>
            <a:ext cx="10000000" cy="87647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22000000" cy="8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ПОДРОБНЫЙ ОСМОТР ПОСТРАДАВШЕГО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150000"/>
            <a:ext cx="16000000" cy="3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250000"/>
            <a:ext cx="22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 и травмах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900000"/>
            <a:ext cx="7466666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Шаг 1 Осмотр головы</a:t>
            </a:r>
          </a:p>
        </p:txBody>
      </p:sp>
      <p:pic>
        <p:nvPicPr>
          <p:cNvPr id="7" name="Picture 6" descr="exam_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00" y="3392629"/>
            <a:ext cx="7266666" cy="83147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66666" y="1900000"/>
            <a:ext cx="7466666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Шаг 2 Осмотр шеи</a:t>
            </a:r>
          </a:p>
        </p:txBody>
      </p:sp>
      <p:pic>
        <p:nvPicPr>
          <p:cNvPr id="9" name="Picture 8" descr="exam_n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666" y="3471070"/>
            <a:ext cx="7266666" cy="81578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33332" y="1900000"/>
            <a:ext cx="7466666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Шаг 3 Осмотр груди</a:t>
            </a:r>
          </a:p>
        </p:txBody>
      </p:sp>
      <p:pic>
        <p:nvPicPr>
          <p:cNvPr id="11" name="Picture 10" descr="exam_ch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33332" y="3757310"/>
            <a:ext cx="7266666" cy="75853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22000000" cy="8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ПОДРОБНЫЙ ОСМОТР ПОСТРАДАВШЕГО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150000"/>
            <a:ext cx="16000000" cy="3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250000"/>
            <a:ext cx="22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 и травмах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900000"/>
            <a:ext cx="7466666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Шаг 4 Осмотр живота и таза</a:t>
            </a:r>
          </a:p>
        </p:txBody>
      </p:sp>
      <p:pic>
        <p:nvPicPr>
          <p:cNvPr id="7" name="Picture 6" descr="exam_abdo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00" y="3392629"/>
            <a:ext cx="7266666" cy="83147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66666" y="1900000"/>
            <a:ext cx="7466666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Шаг 5 Осмотр ног</a:t>
            </a:r>
          </a:p>
        </p:txBody>
      </p:sp>
      <p:pic>
        <p:nvPicPr>
          <p:cNvPr id="9" name="Picture 8" descr="exam_le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666" y="3471070"/>
            <a:ext cx="7266666" cy="81578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33332" y="1900000"/>
            <a:ext cx="7466666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Шаг 6 Осмотр рук</a:t>
            </a:r>
          </a:p>
        </p:txBody>
      </p:sp>
      <p:pic>
        <p:nvPicPr>
          <p:cNvPr id="11" name="Picture 10" descr="exam_ar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33332" y="3757310"/>
            <a:ext cx="7266666" cy="75853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Действия после остановки кровотечения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900000"/>
            <a:ext cx="23000000" cy="8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Контроль повязки: при промокании усилить, не снимая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Сознание, дыхание, цвет кожи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Жгут: время, видимость, записка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Согреть, обеспечить покой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Передать бригаде: что сделано и время жгута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Когда и как ослаблять жгут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900000"/>
            <a:ext cx="230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Планово ослаблять на месте не рекомендуется</a:t>
            </a:r>
          </a:p>
          <a:p>
            <a:pPr algn="l">
              <a:spcAft>
                <a:spcPts val="1000"/>
              </a:spcAft>
            </a:pPr>
            <a:r>
              <a:rPr sz="32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Если превышен лимит 60 / 30 мин и СМП нет: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Подготовить давление / повязку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Медленно ослабить, оценивая кровь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струе — сразу затянуть и обновить время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000" y="11000000"/>
            <a:ext cx="23000000" cy="16000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0000" y="11000000"/>
            <a:ext cx="120000" cy="16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11200000"/>
            <a:ext cx="22000000" cy="1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Лимит жгута: ≤ 60 мин (тепло) · ≤ 30 мин (холод)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23000000" cy="1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1900000"/>
            <a:ext cx="120000" cy="1600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000" y="2250000"/>
            <a:ext cx="220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Безопасность → осмотр → кровь → признаки жизни → СМП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3750000"/>
            <a:ext cx="23000000" cy="1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3750000"/>
            <a:ext cx="120000" cy="1600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0000" y="4100000"/>
            <a:ext cx="220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Способы: давление → повязка → жгут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5600000"/>
            <a:ext cx="23000000" cy="1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5600000"/>
            <a:ext cx="120000" cy="1600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0000" y="5950000"/>
            <a:ext cx="220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Профилактика шока: кровь, положение, тепло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7450000"/>
            <a:ext cx="23000000" cy="1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7450000"/>
            <a:ext cx="120000" cy="1600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0000" y="7800000"/>
            <a:ext cx="220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 остановки — контроль до передачи СМП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000" y="11500000"/>
            <a:ext cx="230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Сначала угрожающее жизни кровотечение!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7500000" y="0"/>
            <a:ext cx="6884000" cy="13716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5500000"/>
            <a:ext cx="1600000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6900000"/>
            <a:ext cx="10000000" cy="35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