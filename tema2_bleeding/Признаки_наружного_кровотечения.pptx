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7500000" y="0"/>
            <a:ext cx="6884000" cy="13716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00000"/>
            <a:ext cx="4500000" cy="28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5000000"/>
            <a:ext cx="16500000" cy="1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
КРОВОТЕЧЕНИЯХ И ТРАВМАХ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6800000"/>
            <a:ext cx="14000000" cy="35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00000" y="19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19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800000" y="19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0000" y="19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Виды наружного кровотечения</a:t>
            </a:r>
          </a:p>
        </p:txBody>
      </p:sp>
      <p:sp>
        <p:nvSpPr>
          <p:cNvPr id="9" name="Oval 8"/>
          <p:cNvSpPr/>
          <p:nvPr/>
        </p:nvSpPr>
        <p:spPr>
          <a:xfrm>
            <a:off x="700000" y="33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0000" y="33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00000" y="33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0000" y="33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Сравнительная характеристика</a:t>
            </a:r>
          </a:p>
        </p:txBody>
      </p:sp>
      <p:sp>
        <p:nvSpPr>
          <p:cNvPr id="13" name="Oval 12"/>
          <p:cNvSpPr/>
          <p:nvPr/>
        </p:nvSpPr>
        <p:spPr>
          <a:xfrm>
            <a:off x="700000" y="47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0000" y="47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0000" y="47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00000" y="47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кровопотери и объём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61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0000" y="61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00000" y="61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00000" y="61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Скрытое (внутреннее) кровотечение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ПОНЯТИЕ «КРОВОТЕЧЕНИЕ»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pic>
        <p:nvPicPr>
          <p:cNvPr id="6" name="Picture 5" descr="def_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00" y="3068750"/>
            <a:ext cx="7000000" cy="83625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900000" y="2100000"/>
            <a:ext cx="7500000" cy="42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00000" y="2400000"/>
            <a:ext cx="67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 кровотечением понимают ситуацию, когда кровь по разным причинам покидает сосудистое русло, что приводит к острой кровопотере.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700000" y="20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Основные признаки острой кровопотери: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00000" y="2800000"/>
            <a:ext cx="9000000" cy="9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резкая общая слабость;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чувство жажды;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головокружение;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мелькание «мушек» перед глазами;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обморок, чаще при попытке встать;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бледная, влажная и холодная кожа;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учащённое сердцебиение;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☐  частое дыхание.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280000"/>
            <a:ext cx="22000000" cy="8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РАЗЛИЧНЫХ ВИДОВ НАРУЖНОГО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150000"/>
            <a:ext cx="16000000" cy="35000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2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1900000"/>
            <a:ext cx="72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Артериальное кровотечение</a:t>
            </a:r>
          </a:p>
        </p:txBody>
      </p:sp>
      <p:pic>
        <p:nvPicPr>
          <p:cNvPr id="7" name="Picture 6" descr="bleed_arte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000" y="3490000"/>
            <a:ext cx="6800000" cy="782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00000" y="1900000"/>
            <a:ext cx="72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Венозное кровотечение</a:t>
            </a:r>
          </a:p>
        </p:txBody>
      </p:sp>
      <p:pic>
        <p:nvPicPr>
          <p:cNvPr id="9" name="Picture 8" descr="bleed_veno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0000" y="3676190"/>
            <a:ext cx="6800000" cy="74476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5700000" y="1900000"/>
            <a:ext cx="72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Капиллярное кровотечение</a:t>
            </a:r>
          </a:p>
        </p:txBody>
      </p:sp>
      <p:pic>
        <p:nvPicPr>
          <p:cNvPr id="11" name="Picture 10" descr="bleed_capill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00000" y="3845455"/>
            <a:ext cx="6800000" cy="710909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Сравнительная таблица видов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00000" y="1900000"/>
          <a:ext cx="23000000" cy="6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50000"/>
                <a:gridCol w="5750000"/>
                <a:gridCol w="5750000"/>
                <a:gridCol w="5750000"/>
              </a:tblGrid>
              <a:tr h="120000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Признак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Артериальное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Венозное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Капиллярное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</a:tr>
              <a:tr h="120000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Цвет крови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Алый, яркий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Тёмный, вишнёвый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Красный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0000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Характер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Пульсирующей струёй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Равномерной струёй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Сочится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120000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Скорость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Очень быстрая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Умеренная / быстрая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Медленная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0000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Опасность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Критическая — минуты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Высокая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Обычно низкая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Оценка объёма кровопотери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00000" y="1900000"/>
          <a:ext cx="23000000" cy="6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66666"/>
                <a:gridCol w="7666666"/>
                <a:gridCol w="7666668"/>
              </a:tblGrid>
              <a:tr h="120000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Объём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Доля ОЦК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Open Sans"/>
                          <a:ea typeface="Open Sans"/>
                          <a:cs typeface="Open Sans"/>
                        </a:rPr>
                        <a:t>Состояние</a:t>
                      </a:r>
                    </a:p>
                  </a:txBody>
                  <a:tcPr>
                    <a:solidFill>
                      <a:srgbClr val="444444"/>
                    </a:solidFill>
                  </a:tcPr>
                </a:tc>
              </a:tr>
              <a:tr h="120000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До ~500 мл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≈ 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Слабость, жажда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0000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500–1000 мл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≈ 10–20%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Бледность, тахикардия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120000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1000–1500 мл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≈ 20–30%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Обмороки, холодный пот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0000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&gt;1500–2000 мл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CC0000"/>
                          </a:solidFill>
                          <a:latin typeface="Open Sans"/>
                          <a:ea typeface="Open Sans"/>
                          <a:cs typeface="Open Sans"/>
                        </a:rPr>
                        <a:t>&gt; 30%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333333"/>
                          </a:solidFill>
                          <a:latin typeface="Open Sans"/>
                          <a:ea typeface="Open Sans"/>
                          <a:cs typeface="Open Sans"/>
                        </a:rPr>
                        <a:t>Шок, угроза жизни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Признаки скрытого (внутреннего) кровотечения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6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Снаружи крови может не быть видно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Бледность, холодный пот, нарастающая слабость, жажда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Слабый учащённый пульс, частое дыхание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Боль и напряжение живота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Действия: СМП, положение, холод, не кормить и не поить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11000000"/>
            <a:ext cx="23000000" cy="16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0000" y="11000000"/>
            <a:ext cx="120000" cy="16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11200000"/>
            <a:ext cx="22000000" cy="12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Внутреннее кровотечение на месте не останавливают — нужна СМП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Главное запомнить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19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0000" y="225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Артериальное — алая пульсирующая струя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375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0000" y="37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0000" y="410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Венозное — тёмная струя; капиллярное — сочение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000" y="560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0000" y="56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0000" y="595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Потеря &gt;30% ОЦК угрожает жизни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000" y="745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0000" y="74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0000" y="780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 подозрении на внутреннее — срочный вызов СМП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7500000" y="0"/>
            <a:ext cx="6884000" cy="13716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5500000"/>
            <a:ext cx="160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БЛАГОДАРИМ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6900000"/>
            <a:ext cx="10000000" cy="35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