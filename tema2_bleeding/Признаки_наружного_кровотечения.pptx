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00000"/>
            <a:ext cx="3500000" cy="220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00000" y="3000000"/>
            <a:ext cx="20000000" cy="1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2C2C2C"/>
                </a:solidFill>
                <a:latin typeface="Arial"/>
              </a:rPr>
              <a:t>ПРИЗНАКИ НАРУЖНОГО КРОВОТЕЧЕНИЯ И КРОВОПОТЕРИ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000" y="4900000"/>
            <a:ext cx="16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0000" y="51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Теоретический модуль · п. 2.2 Приложения № 2 к ПП РФ № 2464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00" y="5800000"/>
            <a:ext cx="20000000" cy="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Курс первой помощи · Тема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СОДЕРЖАНИЕ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000" y="20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00000" y="20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00000" y="20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Виды наружного кровотечения: артериальное, венозное, капиллярное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000" y="29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00000" y="29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00000" y="29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Сравнительная характеристика видов кровотечения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000" y="390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00000" y="390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00000" y="390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Признаки острой кровопотери и оценка объёма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000" y="4850000"/>
            <a:ext cx="7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00000" y="4850000"/>
            <a:ext cx="19000000" cy="7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00000" y="4850000"/>
            <a:ext cx="18000000" cy="7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800" b="0">
                <a:solidFill>
                  <a:srgbClr val="2C2C2C"/>
                </a:solidFill>
                <a:latin typeface="Arial"/>
              </a:rPr>
              <a:t>Признаки скрытого (внутреннего) кровотечения — кратко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СРАВНИТЕЛЬНАЯ ТАБЛИЦА ВИДОВ КРОВОТЕЧЕНИЯ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00000" y="2000000"/>
          <a:ext cx="20500000" cy="5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5000"/>
                <a:gridCol w="5125000"/>
                <a:gridCol w="5125000"/>
                <a:gridCol w="5125000"/>
              </a:tblGrid>
              <a:tr h="90000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Arial"/>
                        </a:rPr>
                        <a:t>Признак</a:t>
                      </a:r>
                    </a:p>
                  </a:txBody>
                  <a:tcPr>
                    <a:solidFill>
                      <a:srgbClr val="0082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Arial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0082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Arial"/>
                        </a:rPr>
                        <a:t>Венозное</a:t>
                      </a:r>
                    </a:p>
                  </a:txBody>
                  <a:tcPr>
                    <a:solidFill>
                      <a:srgbClr val="0082B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Arial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0082B9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Цвет крови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2828"/>
                          </a:solidFill>
                          <a:latin typeface="Arial"/>
                        </a:rPr>
                        <a:t>Алый, яркий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Тёмный, вишнёвый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Красный</a:t>
                      </a:r>
                    </a:p>
                  </a:txBody>
                  <a:tcPr/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Характер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C02828"/>
                          </a:solidFill>
                          <a:latin typeface="Arial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Сочится по поверхности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Скорость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Очень быстрая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Умеренная / быстрая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Медленная</a:t>
                      </a:r>
                    </a:p>
                  </a:txBody>
                  <a:tcPr/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Опасность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Высокая при крупных венах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900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Приоритет помощи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Немедленно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Быстро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C2C2C"/>
                          </a:solidFill>
                          <a:latin typeface="Arial"/>
                        </a:rPr>
                        <a:t>По ситуации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ПРИЗНАКИ ОСТРОЙ КРОВОПОТЕРИ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Резкая общая слабость, жажда, головокружение.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Мелькание «мушек» перед глазами; обморок (часто при попытке встать).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Бледная, влажная, холодная кожа.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Учащённое сердцебиение и частое дыхание.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Тревога, возбуждение → затем апатия (при нарастании кровопотери).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Снижение наполнения пульса; при тяжёлой кровопотере — нитевидный пульс.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ОЦЕНКА ОБЪЁМА КРОВОПОТЕРИ И СОСТОЯНИЕ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Ориентир для взрослого (объём циркулирующей крови ≈ 5 л):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До ~500 мл (≈10%) — обычно компенсируется, возможны слабость и жажда.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500–1000 мл (≈10–20%) — выраженная слабость, бледность, тахикардия.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1000–1500 мл (≈20–30%) — головокружение, холодный пот, обмороки.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C02828"/>
                </a:solidFill>
                <a:latin typeface="Arial"/>
              </a:rPr>
              <a:t>•  Более 1500–2000 мл (&gt;30%) — угроза жизни, шок, потеря сознания.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На месте происшествия ориентируйтесь на признаки, а не на точный подсчёт мл.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Любое продолжающееся наружное кровотечение останавливайте немедленно.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2200000"/>
            <a:ext cx="20500000" cy="8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6F6F6F"/>
                </a:solidFill>
                <a:latin typeface="Arial"/>
              </a:rPr>
              <a:t>Ориентиры условные; у детей и пожилых критический порог ниже.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ПРИЗНАКИ СКРЫТОГО (ВНУТРЕННЕГО) КРОВОТЕЧЕНИЯ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000" y="2000000"/>
            <a:ext cx="20500000" cy="7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Кратко для контекста: кровь изливается в полости тела, снаружи может не быть видно.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Бледность, холодный пот, нарастающая слабость, жажда.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Учащённый слабый пульс, частое дыхание, беспокойство или заторможенность.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Боль и напряжение живота, увеличение живота (при кровотечении в брюшную полость).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При травме груди — одышка, слабость, бледность (подозрение на гемоторакс).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2C2C2C"/>
                </a:solidFill>
                <a:latin typeface="Arial"/>
              </a:rPr>
              <a:t>•  Действия: вызвать СМП, придать оптимальное положение, холод на живот (при закрытой травме), не кормить и не поить, контролировать состояние.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" y="10500000"/>
            <a:ext cx="20500000" cy="1800000"/>
          </a:xfrm>
          <a:prstGeom prst="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10800000"/>
            <a:ext cx="20000000" cy="14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C02828"/>
                </a:solidFill>
                <a:latin typeface="Arial"/>
              </a:rPr>
              <a:t>Внутреннее кровотечение самостоятельно не «останавливают» на месте — нужна скорая помощь.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600000"/>
            <a:ext cx="700000" cy="7000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5680000"/>
            <a:ext cx="700000" cy="55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500000"/>
            <a:ext cx="21000000" cy="9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2C2C2C"/>
                </a:solidFill>
                <a:latin typeface="Arial"/>
              </a:rPr>
              <a:t>КРАТКОЕ РЕЗЮМЕ</a:t>
            </a:r>
          </a:p>
        </p:txBody>
      </p:sp>
      <p:sp>
        <p:nvSpPr>
          <p:cNvPr id="7" name="Rectangle 6"/>
          <p:cNvSpPr/>
          <p:nvPr/>
        </p:nvSpPr>
        <p:spPr>
          <a:xfrm>
            <a:off x="900000" y="1350000"/>
            <a:ext cx="20000000" cy="25000"/>
          </a:xfrm>
          <a:prstGeom prst="rect">
            <a:avLst/>
          </a:prstGeom>
          <a:solidFill>
            <a:srgbClr val="B8B8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0000" y="1450000"/>
            <a:ext cx="20000000" cy="3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6F6F6F"/>
                </a:solidFill>
                <a:latin typeface="Arial"/>
              </a:rPr>
              <a:t>Оказание первой помощи при наружных кровотечениях</a:t>
            </a:r>
          </a:p>
        </p:txBody>
      </p:sp>
      <p:sp>
        <p:nvSpPr>
          <p:cNvPr id="9" name="Rectangle 8"/>
          <p:cNvSpPr/>
          <p:nvPr/>
        </p:nvSpPr>
        <p:spPr>
          <a:xfrm>
            <a:off x="900000" y="20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0000" y="20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00000" y="23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Артериальное — алая кровь пульсирующей струёй; венозное — тёмная струя; капиллярное — сочение.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36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0000" y="36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00000" y="40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Признаки кровопотери: слабость, жажда, бледность, холодный пот, тахикардия, частое дыхание.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30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000" y="530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0000" y="565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Потеря &gt;30% ОЦК угрожает жизни; у детей порог ниже.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" y="6950000"/>
            <a:ext cx="20500000" cy="1400000"/>
          </a:xfrm>
          <a:prstGeom prst="rect">
            <a:avLst/>
          </a:prstGeom>
          <a:solidFill>
            <a:srgbClr val="FFFFFF"/>
          </a:solidFill>
          <a:ln>
            <a:solidFill>
              <a:srgbClr val="B8B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0000" y="6950000"/>
            <a:ext cx="120000" cy="1400000"/>
          </a:xfrm>
          <a:prstGeom prst="rect">
            <a:avLst/>
          </a:prstGeom>
          <a:solidFill>
            <a:srgbClr val="0082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00000" y="7300000"/>
            <a:ext cx="19000000" cy="8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600" b="0">
                <a:solidFill>
                  <a:srgbClr val="2C2C2C"/>
                </a:solidFill>
                <a:latin typeface="Arial"/>
              </a:rPr>
              <a:t>При подозрении на внутреннее кровотечение — срочный вызов СМП и щадящий режим.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5200000"/>
            <a:ext cx="20000000" cy="10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>
                <a:solidFill>
                  <a:srgbClr val="2C2C2C"/>
                </a:solidFill>
                <a:latin typeface="Arial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900000" y="6400000"/>
            <a:ext cx="10000000" cy="2500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6700000"/>
            <a:ext cx="20000000" cy="50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F6F6F"/>
                </a:solidFill>
                <a:latin typeface="Arial"/>
              </a:rPr>
              <a:t>Тема 2 · Оказание первой помощи при наружных кровотечениях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