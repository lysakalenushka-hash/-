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4800000"/>
            <a:ext cx="23664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НАРУЖНОГО КРОВОТЕЧЕНИЯ И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66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6900000"/>
            <a:ext cx="23664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Теоретический модуль · п.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8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60000" y="20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60000" y="20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0000" y="20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2360000" y="34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000" y="34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000" y="34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1" name="Oval 10"/>
          <p:cNvSpPr/>
          <p:nvPr/>
        </p:nvSpPr>
        <p:spPr>
          <a:xfrm>
            <a:off x="2360000" y="48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000" y="48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000" y="48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 и объём</a:t>
            </a:r>
          </a:p>
        </p:txBody>
      </p:sp>
      <p:sp>
        <p:nvSpPr>
          <p:cNvPr id="14" name="Oval 13"/>
          <p:cNvSpPr/>
          <p:nvPr/>
        </p:nvSpPr>
        <p:spPr>
          <a:xfrm>
            <a:off x="2360000" y="62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60000" y="62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000" y="62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00000" y="1600000"/>
            <a:ext cx="80000" cy="9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1" y="2000000"/>
            <a:ext cx="598499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
Алая кровь, пульсирующая струя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3482" y="2000000"/>
            <a:ext cx="6257035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
Тёмная кровь, равномерная струя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4815" y="2000000"/>
            <a:ext cx="6257035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
Сочится по поверхности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Сравнение видов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192000" y="2000000"/>
          <a:ext cx="20000000" cy="5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5000000"/>
                <a:gridCol w="5000000"/>
                <a:gridCol w="5000000"/>
              </a:tblGrid>
              <a:tr h="110000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9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0000" y="19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Слабость, жажда, головокружение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5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35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0000" y="35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«Мушки», обморок при попытке встать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51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51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0000" y="51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Бледная холодная влажная кожа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67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67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0000" y="67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Тахикардия и частое дыхание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Объём кровопотери и состояние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192000" y="2000000"/>
          <a:ext cx="20000000" cy="5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6666"/>
                <a:gridCol w="6666666"/>
                <a:gridCol w="6666668"/>
              </a:tblGrid>
              <a:tr h="110000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&gt;1500–2000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Снаружи крови может не быть видно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слабость, жажда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учащённый пульс, частое дыхание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СМП, положение, холод, не поить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останавливают — нужна СМП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60000" y="21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60000" y="21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0000" y="20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</a:t>
            </a:r>
          </a:p>
        </p:txBody>
      </p:sp>
      <p:sp>
        <p:nvSpPr>
          <p:cNvPr id="8" name="Oval 7"/>
          <p:cNvSpPr/>
          <p:nvPr/>
        </p:nvSpPr>
        <p:spPr>
          <a:xfrm>
            <a:off x="1860000" y="37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0000" y="37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0000" y="36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 — тёмная струя; капиллярное — сочение</a:t>
            </a:r>
          </a:p>
        </p:txBody>
      </p:sp>
      <p:sp>
        <p:nvSpPr>
          <p:cNvPr id="11" name="Oval 10"/>
          <p:cNvSpPr/>
          <p:nvPr/>
        </p:nvSpPr>
        <p:spPr>
          <a:xfrm>
            <a:off x="1860000" y="53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0000" y="53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0000" y="52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</a:t>
            </a:r>
          </a:p>
        </p:txBody>
      </p:sp>
      <p:sp>
        <p:nvSpPr>
          <p:cNvPr id="14" name="Oval 13"/>
          <p:cNvSpPr/>
          <p:nvPr/>
        </p:nvSpPr>
        <p:spPr>
          <a:xfrm>
            <a:off x="1860000" y="69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0000" y="69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0000" y="68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— срочный вызов СМП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112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Ориентируйтесь на признаки, а не на подсчёт миллилитров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0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74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