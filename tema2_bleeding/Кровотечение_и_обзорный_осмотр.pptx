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2438400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00000"/>
            <a:ext cx="24384000" cy="280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0000" y="4600000"/>
            <a:ext cx="228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КРОВОТЕЧЕНИЕ И ОБЗОРНЫЙ ОСМОТР ПОСТРАДАВШЕГО</a:t>
            </a:r>
          </a:p>
        </p:txBody>
      </p:sp>
      <p:sp>
        <p:nvSpPr>
          <p:cNvPr id="6" name="Rectangle 5"/>
          <p:cNvSpPr/>
          <p:nvPr/>
        </p:nvSpPr>
        <p:spPr>
          <a:xfrm>
            <a:off x="800000" y="6200000"/>
            <a:ext cx="12000000" cy="2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000" y="6500000"/>
            <a:ext cx="22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>
                <a:solidFill>
                  <a:srgbClr val="0055AA"/>
                </a:solidFill>
                <a:latin typeface="Open Sans"/>
                <a:ea typeface="Open Sans"/>
                <a:cs typeface="Open Sans"/>
              </a:rPr>
              <a:t>Теоретический модуль · п. 2.1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7200000"/>
            <a:ext cx="22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Тема 2 · Оказание первой помощи при наружных кровотечениях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Содержание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00000" y="1950000"/>
            <a:ext cx="900000" cy="9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000" y="1950000"/>
            <a:ext cx="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1900000" y="1950000"/>
            <a:ext cx="20500000" cy="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00000" y="1950000"/>
            <a:ext cx="195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Определение кровотечения и признаки кровопотери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000" y="3150000"/>
            <a:ext cx="900000" cy="9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000" y="3150000"/>
            <a:ext cx="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00000" y="3150000"/>
            <a:ext cx="20500000" cy="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0000" y="3150000"/>
            <a:ext cx="195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Цель и порядок обзорного осмотра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000" y="4350000"/>
            <a:ext cx="900000" cy="9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0000" y="4350000"/>
            <a:ext cx="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00000" y="4350000"/>
            <a:ext cx="20500000" cy="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00000" y="4350000"/>
            <a:ext cx="195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Обзорный и подробный осмотр: различия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000" y="5550000"/>
            <a:ext cx="900000" cy="9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000" y="5550000"/>
            <a:ext cx="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00000" y="5550000"/>
            <a:ext cx="20500000" cy="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00000" y="5550000"/>
            <a:ext cx="195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Когда обзорный осмотр критически важен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Понятие «кровотечение»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1950000"/>
            <a:ext cx="22800000" cy="8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Кровотечение — выход крови из сосудистого русла.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Приводит к острой кровопотере и угрозе жизни.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Наружное кровотечение видно снаружи (рана, истечение крови).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Требует немедленной временной остановки.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Основные признаки острой кровопотери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050000"/>
            <a:ext cx="7000000" cy="32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0000" y="2450000"/>
            <a:ext cx="900000" cy="9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0000" y="2450000"/>
            <a:ext cx="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0000" y="3650000"/>
            <a:ext cx="6500000" cy="1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Слабость, жажда, головокружение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00000" y="2050000"/>
            <a:ext cx="7000000" cy="32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50000" y="2450000"/>
            <a:ext cx="900000" cy="9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50000" y="2450000"/>
            <a:ext cx="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50000" y="3650000"/>
            <a:ext cx="6500000" cy="1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«Мушки» перед глазами, обморок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6200000" y="2050000"/>
            <a:ext cx="7000000" cy="32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6450000" y="2450000"/>
            <a:ext cx="900000" cy="9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450000" y="2450000"/>
            <a:ext cx="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0000" y="3650000"/>
            <a:ext cx="6500000" cy="1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Бледная, влажная, холодная кожа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0000" y="5950000"/>
            <a:ext cx="7000000" cy="32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0000" y="6350000"/>
            <a:ext cx="900000" cy="9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0000" y="6350000"/>
            <a:ext cx="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0000" y="7550000"/>
            <a:ext cx="6500000" cy="1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Учащённое сердцебиение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00000" y="5950000"/>
            <a:ext cx="7000000" cy="32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750000" y="6350000"/>
            <a:ext cx="900000" cy="9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50000" y="6350000"/>
            <a:ext cx="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50000" y="7550000"/>
            <a:ext cx="6500000" cy="1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Частое дыхание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6200000" y="5950000"/>
            <a:ext cx="7000000" cy="32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6450000" y="6350000"/>
            <a:ext cx="900000" cy="9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6450000" y="6350000"/>
            <a:ext cx="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50000" y="7550000"/>
            <a:ext cx="6500000" cy="1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Возбуждение → апатия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Что такое обзорный осмотр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1950000"/>
            <a:ext cx="12000000" cy="6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Быстрая визуальная оценка с головы до ног.</a:t>
            </a:r>
          </a:p>
          <a:p>
            <a:pPr algn="l">
              <a:spcAft>
                <a:spcPts val="1000"/>
              </a:spcAft>
            </a:pPr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Цель — выявить наружное кровотечение.</a:t>
            </a:r>
          </a:p>
          <a:p>
            <a:pPr algn="l">
              <a:spcAft>
                <a:spcPts val="1000"/>
              </a:spcAft>
            </a:pPr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Сразу после оценки обстановки и безопасности.</a:t>
            </a:r>
          </a:p>
          <a:p>
            <a:pPr algn="l">
              <a:spcAft>
                <a:spcPts val="1000"/>
              </a:spcAft>
            </a:pPr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Длительность: около 1–2 секунд.</a:t>
            </a:r>
          </a:p>
          <a:p>
            <a:pPr algn="l">
              <a:spcAft>
                <a:spcPts val="1000"/>
              </a:spcAft>
            </a:pPr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 кровотечении — немедленно начать остановку.</a:t>
            </a:r>
          </a:p>
          <a:p>
            <a:pPr algn="l">
              <a:spcAft>
                <a:spcPts val="1000"/>
              </a:spcAft>
            </a:pPr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По Приказу № 220н — до подробного осмотра.</a:t>
            </a:r>
          </a:p>
        </p:txBody>
      </p:sp>
      <p:sp>
        <p:nvSpPr>
          <p:cNvPr id="7" name="Rectangle 6"/>
          <p:cNvSpPr/>
          <p:nvPr/>
        </p:nvSpPr>
        <p:spPr>
          <a:xfrm>
            <a:off x="13500000" y="1950000"/>
            <a:ext cx="10000000" cy="8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overview_ex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50000" y="2371053"/>
            <a:ext cx="9700000" cy="765789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00000" y="11200000"/>
            <a:ext cx="22800000" cy="1600000"/>
          </a:xfrm>
          <a:prstGeom prst="round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0000" y="11200000"/>
            <a:ext cx="120000" cy="160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00000" y="11400000"/>
            <a:ext cx="21800000" cy="12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Приоритет: сначала угрожающее жизни кровотечение.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Порядок обзорного осмотра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1950000"/>
            <a:ext cx="22800000" cy="8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Убедиться в собственной безопасности (перчатки / СИЗ).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Быстро осмотреть пострадавшего с головы до ног.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Искать кровь на одежде, лужи крови, пульсирующую струю.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 нескольких пострадавших — осмотреть всех.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Приоритет — детям и пострадавшим с массивным кровотечением.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После остановки крови — оценка сознания / дыхания и подробный осмотр.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Обзорный и подробный осмотр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50000"/>
            <a:ext cx="10800000" cy="9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800000" y="1950000"/>
            <a:ext cx="10800000" cy="9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0000" y="1950000"/>
            <a:ext cx="10800000" cy="9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800000" y="1950000"/>
            <a:ext cx="10800000" cy="90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100000"/>
            <a:ext cx="100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Обзорный осмотр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00000" y="2100000"/>
            <a:ext cx="100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Подробный осмотр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0000" y="3150000"/>
            <a:ext cx="10000000" cy="8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Цель: найти наружное кровотечение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Время: 1–2 секунды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Объём: быстрый взгляд с головы до ног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Когда: сразу после оценки обстановки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Результат: останавливать кровь или нет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000000" y="3150000"/>
            <a:ext cx="10000000" cy="8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Цель: выявить травмы и другие угрозы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Время: несколько минут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Объём: голова → шея → грудь → … → руки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Когда: после остановки кровотечения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Результат: повязки, иммобилизация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Когда обзорный осмотр критически важен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1950000"/>
            <a:ext cx="22800000" cy="8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ДТП — раны под одеждой, кровотечение из конечностей.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Падение с высоты — множественные повреждения.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Производственные травмы — риск артериального кровотечения.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ЧС с несколькими пострадавшими — быстрая сортировка.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Огнестрельные и колото-резаные ранения.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Правило: видна кровь или одежда пропитана — действуйте сразу.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Краткое резюме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50000"/>
            <a:ext cx="228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0000" y="195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000" y="2250000"/>
            <a:ext cx="21800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Кровотечение — выход крови из сосудов с риском острой кровопотери.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000" y="3850000"/>
            <a:ext cx="228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0000" y="385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00000" y="4150000"/>
            <a:ext cx="21800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Обзорный осмотр — быстрый поиск кровотечения с головы до ног (1–2 с).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000" y="5750000"/>
            <a:ext cx="228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0000" y="575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0000" y="6050000"/>
            <a:ext cx="21800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Сначала останавливаем кровь, затем проводим подробный осмотр.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7650000"/>
            <a:ext cx="228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765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00000" y="7950000"/>
            <a:ext cx="21800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Особенно важен при ДТП, падении с высоты и множественных пострадавших.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5500000"/>
            <a:ext cx="22800000" cy="1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Спасибо за внимание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6900000"/>
            <a:ext cx="10000000" cy="2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7200000"/>
            <a:ext cx="22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Тема 2 · Оказание первой помощи при наружных кровотечениях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