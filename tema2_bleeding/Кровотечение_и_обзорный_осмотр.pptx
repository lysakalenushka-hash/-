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0000" y="20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0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900000" y="20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00000" y="20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Определение кровотечения и признаки кровопотери</a:t>
            </a:r>
          </a:p>
        </p:txBody>
      </p:sp>
      <p:sp>
        <p:nvSpPr>
          <p:cNvPr id="9" name="Oval 8"/>
          <p:cNvSpPr/>
          <p:nvPr/>
        </p:nvSpPr>
        <p:spPr>
          <a:xfrm>
            <a:off x="800000" y="34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000" y="34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0000" y="34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00000" y="34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Цель и порядок обзорного осмотра</a:t>
            </a:r>
          </a:p>
        </p:txBody>
      </p:sp>
      <p:sp>
        <p:nvSpPr>
          <p:cNvPr id="13" name="Oval 12"/>
          <p:cNvSpPr/>
          <p:nvPr/>
        </p:nvSpPr>
        <p:spPr>
          <a:xfrm>
            <a:off x="800000" y="48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48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00000" y="48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00000" y="48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и подробный осмотр: различия</a:t>
            </a:r>
          </a:p>
        </p:txBody>
      </p:sp>
      <p:sp>
        <p:nvSpPr>
          <p:cNvPr id="17" name="Oval 16"/>
          <p:cNvSpPr/>
          <p:nvPr/>
        </p:nvSpPr>
        <p:spPr>
          <a:xfrm>
            <a:off x="800000" y="62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62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00000" y="62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00000" y="62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Когда обзорный осмотр критически важен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Что такое обзорный осмотр и зачем он нужен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000" y="1900000"/>
            <a:ext cx="22800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Быстрая визуальная оценка пострадавшего с головы до ног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Цель — выявить продолжающееся наружное кровотечение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Выполняется сразу после оценки обстановки и безопасности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кровотечении — немедленно начать временную остановку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 Приказу Минздрава № 220н — до подробного осмотра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000" y="11000000"/>
            <a:ext cx="22800000" cy="16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0000" y="110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000" y="11200000"/>
            <a:ext cx="218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Приоритет: сначала угрожающее жизни кровотечение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и подробный осмотр — различия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800000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0000" y="1900000"/>
            <a:ext cx="10800000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0000" y="1900000"/>
            <a:ext cx="10800000" cy="10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00000" y="1900000"/>
            <a:ext cx="10800000" cy="10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050000"/>
            <a:ext cx="104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Обзорный осмотр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00000" y="2050000"/>
            <a:ext cx="104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Подробный осмотр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000" y="3200000"/>
            <a:ext cx="10000000" cy="7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Цель: найти наружное кровотечение</a:t>
            </a:r>
          </a:p>
          <a:p>
            <a:pPr algn="l">
              <a:spcAft>
                <a:spcPts val="12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Время: около 1–2 секунд</a:t>
            </a:r>
          </a:p>
          <a:p>
            <a:pPr algn="l">
              <a:spcAft>
                <a:spcPts val="12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Объём: быстрый взгляд с головы до ног</a:t>
            </a:r>
          </a:p>
          <a:p>
            <a:pPr algn="l">
              <a:spcAft>
                <a:spcPts val="12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Когда: сразу после оценки обстановки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00000" y="3200000"/>
            <a:ext cx="10000000" cy="7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Цель: выявить травмы и другие угрозы</a:t>
            </a:r>
          </a:p>
          <a:p>
            <a:pPr algn="l">
              <a:spcAft>
                <a:spcPts val="12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Время: несколько минут</a:t>
            </a:r>
          </a:p>
          <a:p>
            <a:pPr algn="l">
              <a:spcAft>
                <a:spcPts val="12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Объём: голова → шея → грудь → … → руки</a:t>
            </a:r>
          </a:p>
          <a:p>
            <a:pPr algn="l">
              <a:spcAft>
                <a:spcPts val="12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Когда: после остановки кровотечения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Когда обзорный осмотр критически важен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000" y="1900000"/>
            <a:ext cx="228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ДТП — раны под одеждой, кровотечение из конечностей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Падение с высоты — множественные повреждения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Производственные травмы — риск артериального кровотечения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ЧС с несколькими пострадавшими — быстрая сортировка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Огнестрельные и колото-резаные ранения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Главное запомнить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0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00000" y="2350000"/>
            <a:ext cx="21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Кровотечение — выход крови из сосудов с риском кровопотери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000" y="390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0000" y="39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00000" y="4250000"/>
            <a:ext cx="21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осмотр — быстрый поиск кровотечения (1–2 с)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580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0000" y="58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00000" y="6150000"/>
            <a:ext cx="21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Сначала останавливаем кровь, затем подробный осмотр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000" y="770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000" y="77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00000" y="8050000"/>
            <a:ext cx="21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Особенно важен при ДТП и падении с высоты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000" y="115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Время — критический фактор!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