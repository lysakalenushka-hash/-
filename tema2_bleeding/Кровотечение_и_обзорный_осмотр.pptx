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4800000"/>
            <a:ext cx="23664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 И ОБЗОРНЫЙ ОСМОТР ПОСТРАДАВШЕГО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0" y="6600000"/>
            <a:ext cx="10000000" cy="25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000" y="6900000"/>
            <a:ext cx="23664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Теоретический модуль · п. 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800000"/>
            <a:ext cx="23664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360000" y="2000000"/>
            <a:ext cx="700000" cy="7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60000" y="2000000"/>
            <a:ext cx="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60000" y="2000000"/>
            <a:ext cx="14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Определение кровотечения и признаки кровопотери</a:t>
            </a:r>
          </a:p>
        </p:txBody>
      </p:sp>
      <p:sp>
        <p:nvSpPr>
          <p:cNvPr id="8" name="Oval 7"/>
          <p:cNvSpPr/>
          <p:nvPr/>
        </p:nvSpPr>
        <p:spPr>
          <a:xfrm>
            <a:off x="2360000" y="3400000"/>
            <a:ext cx="700000" cy="7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60000" y="3400000"/>
            <a:ext cx="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0000" y="3400000"/>
            <a:ext cx="14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Цель и порядок обзорного осмотра</a:t>
            </a:r>
          </a:p>
        </p:txBody>
      </p:sp>
      <p:sp>
        <p:nvSpPr>
          <p:cNvPr id="11" name="Oval 10"/>
          <p:cNvSpPr/>
          <p:nvPr/>
        </p:nvSpPr>
        <p:spPr>
          <a:xfrm>
            <a:off x="2360000" y="4800000"/>
            <a:ext cx="700000" cy="7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0000" y="4800000"/>
            <a:ext cx="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000" y="4800000"/>
            <a:ext cx="14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и подробный осмотр: различия</a:t>
            </a:r>
          </a:p>
        </p:txBody>
      </p:sp>
      <p:sp>
        <p:nvSpPr>
          <p:cNvPr id="14" name="Oval 13"/>
          <p:cNvSpPr/>
          <p:nvPr/>
        </p:nvSpPr>
        <p:spPr>
          <a:xfrm>
            <a:off x="2360000" y="6200000"/>
            <a:ext cx="700000" cy="7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60000" y="6200000"/>
            <a:ext cx="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000" y="6200000"/>
            <a:ext cx="14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обзорный осмотр критически важен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000000" y="1600000"/>
            <a:ext cx="80000" cy="90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Понятие «кровотечение»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000" y="19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9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60000" y="19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Выход крови из сосудистого русла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35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0" y="35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0000" y="35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Приводит к острой кровопотере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0000" y="51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51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0000" y="51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Наружное — видно снаружи (рана)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000" y="67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000" y="67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0000" y="67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Требует немедленной остановки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острой кровопотери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000" y="19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9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60000" y="19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Слабость, жажда, головокружение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35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0" y="35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0000" y="35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«Мушки» перед глазами, обморок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0000" y="51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51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0000" y="51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Бледная, влажная, холодная кожа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000" y="67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000" y="67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0000" y="67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Учащённое сердцебиение и дыхание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000" y="1900000"/>
            <a:ext cx="13015200" cy="6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Быстрая оценка с головы до ног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 — найти наружное кровотечение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Длительность: около 1–2 секунд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Сразу после оценки безопасности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крови — сразу начать остановку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75200" y="1900000"/>
            <a:ext cx="9465600" cy="68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verview_ex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8000" y="2000000"/>
            <a:ext cx="8360000" cy="6600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1200000"/>
            <a:ext cx="23664000" cy="15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1200000"/>
            <a:ext cx="120000" cy="15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0000" y="11400000"/>
            <a:ext cx="23064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Приоритет: сначала угрожающее жизни кровотечение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Порядок обзорного осмотра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60000" y="1800000"/>
            <a:ext cx="19000000" cy="14000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60000" y="2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60000" y="2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0000" y="2000000"/>
            <a:ext cx="170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Безопасность себе и пострадавшему</a:t>
            </a:r>
          </a:p>
        </p:txBody>
      </p:sp>
      <p:sp>
        <p:nvSpPr>
          <p:cNvPr id="9" name="Down Arrow 8"/>
          <p:cNvSpPr/>
          <p:nvPr/>
        </p:nvSpPr>
        <p:spPr>
          <a:xfrm>
            <a:off x="11360000" y="3220000"/>
            <a:ext cx="350000" cy="180000"/>
          </a:xfrm>
          <a:prstGeom prst="down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860000" y="3450000"/>
            <a:ext cx="19000000" cy="14000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60000" y="37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60000" y="37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0000" y="3650000"/>
            <a:ext cx="170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Осмотр с головы до ног (1–2 с)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1360000" y="4870000"/>
            <a:ext cx="350000" cy="180000"/>
          </a:xfrm>
          <a:prstGeom prst="down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60000" y="5100000"/>
            <a:ext cx="19000000" cy="14000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60000" y="54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60000" y="54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0000" y="5300000"/>
            <a:ext cx="170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Искать кровь, лужи, пульсирующую струю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11360000" y="6520000"/>
            <a:ext cx="350000" cy="180000"/>
          </a:xfrm>
          <a:prstGeom prst="down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860000" y="6750000"/>
            <a:ext cx="19000000" cy="14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160000" y="7050000"/>
            <a:ext cx="800000" cy="8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60000" y="70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60000" y="6950000"/>
            <a:ext cx="170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Остановить кровотечение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11360000" y="8170000"/>
            <a:ext cx="350000" cy="180000"/>
          </a:xfrm>
          <a:prstGeom prst="down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860000" y="8400000"/>
            <a:ext cx="19000000" cy="14000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160000" y="87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60000" y="87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0000" y="8600000"/>
            <a:ext cx="170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Затем — сознание, дыхание, подробный осмотр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и подробный осмотр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000" y="1900000"/>
            <a:ext cx="10800000" cy="90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160000" y="1900000"/>
            <a:ext cx="10800000" cy="90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0000" y="1900000"/>
            <a:ext cx="10800000" cy="10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160000" y="1900000"/>
            <a:ext cx="10800000" cy="10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0000" y="2050000"/>
            <a:ext cx="104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Обзорный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60000" y="2050000"/>
            <a:ext cx="104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0000" y="3200000"/>
            <a:ext cx="100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Найти наружное кровотечение</a:t>
            </a:r>
          </a:p>
          <a:p>
            <a:pPr algn="l">
              <a:spcAft>
                <a:spcPts val="14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1–2 секунды</a:t>
            </a:r>
          </a:p>
          <a:p>
            <a:pPr algn="l">
              <a:spcAft>
                <a:spcPts val="14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 головы до ног</a:t>
            </a:r>
          </a:p>
          <a:p>
            <a:pPr algn="l">
              <a:spcAft>
                <a:spcPts val="14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Сразу после оценки обстановки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60000" y="3200000"/>
            <a:ext cx="100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Выявить травмы и угрозы</a:t>
            </a:r>
          </a:p>
          <a:p>
            <a:pPr algn="l">
              <a:spcAft>
                <a:spcPts val="14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Несколько минут</a:t>
            </a:r>
          </a:p>
          <a:p>
            <a:pPr algn="l">
              <a:spcAft>
                <a:spcPts val="14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Голова → шея → грудь → …</a:t>
            </a:r>
          </a:p>
          <a:p>
            <a:pPr algn="l">
              <a:spcAft>
                <a:spcPts val="14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После остановки кровотечения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осмотр критически важен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000" y="19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9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60000" y="19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ДТП — раны под одеждой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35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0" y="35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0000" y="35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Падение с высоты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0000" y="51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51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0000" y="51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Производственные травмы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000" y="67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000" y="67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0000" y="67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Несколько пострадавших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60000" y="2150000"/>
            <a:ext cx="600000" cy="6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60000" y="2150000"/>
            <a:ext cx="6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0000" y="2000000"/>
            <a:ext cx="18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 — выход крови с риском острой кровопотери</a:t>
            </a:r>
          </a:p>
        </p:txBody>
      </p:sp>
      <p:sp>
        <p:nvSpPr>
          <p:cNvPr id="8" name="Oval 7"/>
          <p:cNvSpPr/>
          <p:nvPr/>
        </p:nvSpPr>
        <p:spPr>
          <a:xfrm>
            <a:off x="1860000" y="3750000"/>
            <a:ext cx="600000" cy="6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60000" y="3750000"/>
            <a:ext cx="6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60000" y="3600000"/>
            <a:ext cx="18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 — быстрый поиск кровотечения (1–2 с)</a:t>
            </a:r>
          </a:p>
        </p:txBody>
      </p:sp>
      <p:sp>
        <p:nvSpPr>
          <p:cNvPr id="11" name="Oval 10"/>
          <p:cNvSpPr/>
          <p:nvPr/>
        </p:nvSpPr>
        <p:spPr>
          <a:xfrm>
            <a:off x="1860000" y="5350000"/>
            <a:ext cx="600000" cy="6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60000" y="5350000"/>
            <a:ext cx="6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0000" y="5200000"/>
            <a:ext cx="18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Сначала останавливаем кровь, затем подробный осмотр</a:t>
            </a:r>
          </a:p>
        </p:txBody>
      </p:sp>
      <p:sp>
        <p:nvSpPr>
          <p:cNvPr id="14" name="Oval 13"/>
          <p:cNvSpPr/>
          <p:nvPr/>
        </p:nvSpPr>
        <p:spPr>
          <a:xfrm>
            <a:off x="1860000" y="6950000"/>
            <a:ext cx="600000" cy="6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60000" y="6950000"/>
            <a:ext cx="6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0000" y="6800000"/>
            <a:ext cx="18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Особенно важен при ДТП и падении с высоты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11200000"/>
            <a:ext cx="23664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Время — критический фактор!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500000"/>
            <a:ext cx="23664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0" y="7000000"/>
            <a:ext cx="10000000" cy="25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000" y="7400000"/>
            <a:ext cx="23664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