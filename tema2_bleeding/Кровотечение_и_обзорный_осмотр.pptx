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0000"/>
            <a:ext cx="4000000" cy="28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4800000"/>
            <a:ext cx="21000000" cy="1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
КРОВОТЕЧЕНИЯХ И ТРАВМАХ</a:t>
            </a:r>
          </a:p>
        </p:txBody>
      </p:sp>
      <p:sp>
        <p:nvSpPr>
          <p:cNvPr id="6" name="Rectangle 5"/>
          <p:cNvSpPr/>
          <p:nvPr/>
        </p:nvSpPr>
        <p:spPr>
          <a:xfrm>
            <a:off x="700000" y="6800000"/>
            <a:ext cx="14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00000" y="19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19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800000" y="19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100000" y="19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Определение кровотечения и признаки кровопотери</a:t>
            </a:r>
          </a:p>
        </p:txBody>
      </p:sp>
      <p:sp>
        <p:nvSpPr>
          <p:cNvPr id="9" name="Oval 8"/>
          <p:cNvSpPr/>
          <p:nvPr/>
        </p:nvSpPr>
        <p:spPr>
          <a:xfrm>
            <a:off x="700000" y="33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33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00000" y="33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00000" y="33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Цель и порядок обзорного осмотра</a:t>
            </a:r>
          </a:p>
        </p:txBody>
      </p:sp>
      <p:sp>
        <p:nvSpPr>
          <p:cNvPr id="13" name="Oval 12"/>
          <p:cNvSpPr/>
          <p:nvPr/>
        </p:nvSpPr>
        <p:spPr>
          <a:xfrm>
            <a:off x="700000" y="47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0000" y="47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00000" y="47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00000" y="47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осмотр: различия</a:t>
            </a:r>
          </a:p>
        </p:txBody>
      </p:sp>
      <p:sp>
        <p:nvSpPr>
          <p:cNvPr id="17" name="Oval 16"/>
          <p:cNvSpPr/>
          <p:nvPr/>
        </p:nvSpPr>
        <p:spPr>
          <a:xfrm>
            <a:off x="700000" y="61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0000" y="61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00000" y="61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00000" y="61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ПОНЯТИЕ «КРОВОТЕЧЕНИЕ»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2000000"/>
            <a:ext cx="10000000" cy="4500000"/>
          </a:xfrm>
          <a:prstGeom prst="roundRect">
            <a:avLst/>
          </a:prstGeom>
          <a:solidFill>
            <a:srgbClr val="F5F0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300000"/>
            <a:ext cx="9200000" cy="3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 кровотечением понимают ситуацию, когда кровь по разным причинам покидает сосудистое русло, что приводит к острой кровопотере.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700000" y="2000000"/>
            <a:ext cx="110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Основные признаки острой кровопотери: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0000" y="2700000"/>
            <a:ext cx="11000000" cy="8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резкая общая слабость;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чувство жажды;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головокружение;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мелькание «мушек» перед глазами;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обморок, чаще при попытке встать;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бледная, влажная и холодная кожа;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учащённое сердцебиение;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☑  частое дыхание.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20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ПОСТРАДАВШЕГО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250000"/>
            <a:ext cx="22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350000"/>
            <a:ext cx="22000000" cy="4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666666"/>
                </a:solidFill>
                <a:latin typeface="Open Sans"/>
                <a:ea typeface="Open Sans"/>
                <a:cs typeface="Open Sans"/>
              </a:rPr>
              <a:t>Оказание первой помощи при наружных кровотечениях и травмах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2200000"/>
            <a:ext cx="110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производится очень быстро, в течение 1-2 секунд, с головы до ног</a:t>
            </a:r>
          </a:p>
        </p:txBody>
      </p:sp>
      <p:sp>
        <p:nvSpPr>
          <p:cNvPr id="7" name="Rectangle 6"/>
          <p:cNvSpPr/>
          <p:nvPr/>
        </p:nvSpPr>
        <p:spPr>
          <a:xfrm>
            <a:off x="12700000" y="2000000"/>
            <a:ext cx="100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overview_ex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0000" y="2960526"/>
            <a:ext cx="9600000" cy="75789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Что такое обзорный осмотр и зачем он нужен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Быстрая визуальная оценка пострадавшего с головы до ног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 — выявить продолжающееся наружное кровотечение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Выполняется сразу после оценки обстановки и безопасности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 кровотечении — немедленно начать временную остановку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По Приказу Минздрава № 220н — до подробного осмотра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00000" y="11000000"/>
            <a:ext cx="230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11200000"/>
            <a:ext cx="220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Приоритет: сначала угрожающее жизни кровотечение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и подробный осмотр — различия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110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500000" y="1900000"/>
            <a:ext cx="11000000" cy="95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0000" y="1900000"/>
            <a:ext cx="11000000" cy="10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2500000" y="1900000"/>
            <a:ext cx="11000000" cy="1000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205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Обзорный осмотр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700000" y="205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Подробный осмотр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000" y="3200000"/>
            <a:ext cx="10000000" cy="7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найти наружное кровотечение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около 1–2 секунд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быстрый взгляд с головы до ног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сразу после оценки обстановки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00000" y="3200000"/>
            <a:ext cx="10000000" cy="7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Цель: выявить травмы и другие угрозы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Время: несколько минут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Объём: голова → шея → грудь → … → руки</a:t>
            </a:r>
          </a:p>
          <a:p>
            <a:pPr algn="l">
              <a:spcAft>
                <a:spcPts val="1000"/>
              </a:spcAft>
            </a:pPr>
            <a:r>
              <a:rPr sz="26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Когда: после остановки кровотечения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обзорный осмотр критически важен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00000" y="1900000"/>
            <a:ext cx="230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ДТП — раны под одеждой, кровотечение из конечностей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Падение с высоты — множественные повреждения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Производственные травмы — риск артериального кровотечения</a:t>
            </a:r>
          </a:p>
          <a:p>
            <a:pPr algn="l">
              <a:spcAft>
                <a:spcPts val="10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ЧС с несколькими пострадавшими — быстрая сортировка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0000" y="300000"/>
            <a:ext cx="230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700000" y="1500000"/>
            <a:ext cx="230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00000" y="19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0000" y="1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22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Кровотечение — выход крови из сосудов с риском кровопотери</a:t>
            </a:r>
          </a:p>
        </p:txBody>
      </p:sp>
      <p:sp>
        <p:nvSpPr>
          <p:cNvPr id="8" name="Rectangle 7"/>
          <p:cNvSpPr/>
          <p:nvPr/>
        </p:nvSpPr>
        <p:spPr>
          <a:xfrm>
            <a:off x="700000" y="37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00000" y="37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41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Обзорный осмотр — быстрый поиск кровотечения (1–2 с)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0000" y="560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0000" y="56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595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Сначала останавливаем кровь, затем подробный осмотр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0000" y="7450000"/>
            <a:ext cx="230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0000" y="745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0000" y="7800000"/>
            <a:ext cx="220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Особенно важен при ДТП и падении с высоты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000" y="11500000"/>
            <a:ext cx="230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Время — критический фактор!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3000000" y="0"/>
            <a:ext cx="1384000" cy="137160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5500000"/>
            <a:ext cx="21000000" cy="1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0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БЛАГОДАРИМ ЗА ВНИМАНИЕ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6900000"/>
            <a:ext cx="10000000" cy="25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