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3" r:id="rId13"/>
    <p:sldId id="291" r:id="rId14"/>
    <p:sldId id="292" r:id="rId15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emf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СОВРЕМЕННЫЕ НАБОРЫ СРЕДСТВ И УСТРОЙСТВ, ИСПОЛЬЗУЮЩИЕСЯ ДЛЯ ОКАЗАНИЯ ПЕРВОЙ ПОМОЩИ. ОСНОВНЫЕ КОМПОНЕНТЫ, ИХ НАЗНАЧЕНИЕ.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600000"/>
            <a:ext cx="2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ТЕРМИНОЛОГИЯ: УКЛАДКИ, НАБОРЫ, КОМПЛЕКТЫ И АПТЕЧКИ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5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700000"/>
            <a:ext cx="16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п. 1.2  Укладки, наборы, комплекты и аптечки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600000"/>
            <a:ext cx="20000000" cy="85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900000"/>
            <a:ext cx="19000000" cy="7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В новой программе (Прил. 2 к Порядку № 2464) используется терминология: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аптечки первой помощи — готовые комплекты по назначению (автомобильная; для работников);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укладки и наборы — оснащение для оказания первой помощи по видам деятельности;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комплекты медицинских изделий — средства и устройства по приказу Минздрава РФ.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Типовой состав (ориентир): средства остановки кровотечения, перевязочный материал,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средства индивидуальной защиты оказывающего помощь, устройства для проведения ИВЛ,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покрывала/термоодеяла и иные изделия по утверждённым требованиям к аптечкам.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Важно: применять только изделия из аптечки/укладки по инструкции; лекарственные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препараты в аптечки первой помощи для работников/автомобильные не входят.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000" y="12400000"/>
            <a:ext cx="2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Дополнено: в исходнике не было отдельного слайда по новой терминологии.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НАБОРЫ СРЕДСТВ И УСТРОЙСТВ, ИСПОЛЬЗУЮЩИЕСЯ ДЛЯ ОКАЗАНИЯ ПЕРВОЙ ПОМОЩИ</a:t>
            </a:r>
            <a:b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30040" y="9326559"/>
            <a:ext cx="4762500" cy="4762500"/>
          </a:xfrm>
          <a:prstGeom prst="rect">
            <a:avLst/>
          </a:prstGeom>
          <a:noFill/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751476" y="5788474"/>
            <a:ext cx="4762500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58375" y="5575795"/>
            <a:ext cx="6772790" cy="6776571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127672" y="3746180"/>
            <a:ext cx="3165981" cy="3165981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-10790" y="3202995"/>
            <a:ext cx="3609865" cy="3609865"/>
          </a:xfrm>
          <a:prstGeom prst="rect">
            <a:avLst/>
          </a:prstGeom>
          <a:noFill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4520841" y="5165182"/>
            <a:ext cx="5698347" cy="3798898"/>
          </a:xfrm>
          <a:prstGeom prst="rect">
            <a:avLst/>
          </a:prstGeom>
          <a:noFill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356514" y="7152318"/>
            <a:ext cx="3122407" cy="3122407"/>
          </a:xfrm>
          <a:prstGeom prst="rect">
            <a:avLst/>
          </a:prstGeom>
          <a:noFill/>
        </p:spPr>
      </p:pic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18958345" y="2586736"/>
            <a:ext cx="5543550" cy="5543550"/>
          </a:xfrm>
          <a:prstGeom prst="rect">
            <a:avLst/>
          </a:prstGeom>
          <a:noFill/>
        </p:spPr>
      </p:pic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5894951" y="9945950"/>
            <a:ext cx="6181725" cy="3409950"/>
          </a:xfrm>
          <a:prstGeom prst="rect">
            <a:avLst/>
          </a:prstGeom>
          <a:noFill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9680143" y="7135801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003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НАБОРЫ СРЕДСТВ И УСТРОЙСТВ, ИСПОЛЬЗУЮЩИЕСЯ ДЛЯ ОКАЗАНИЯ ПЕРВОЙ ПОМОЩИ</a:t>
            </a:r>
            <a:b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847408" y="8524569"/>
            <a:ext cx="10011312" cy="6257070"/>
          </a:xfrm>
          <a:prstGeom prst="rect">
            <a:avLst/>
          </a:prstGeom>
          <a:noFill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464705" y="5308721"/>
            <a:ext cx="7620000" cy="76200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 bwMode="auto">
          <a:xfrm>
            <a:off x="8797696" y="4076364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работникам</a:t>
            </a:r>
            <a:endParaRPr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605832" y="5863443"/>
            <a:ext cx="4762500" cy="4762500"/>
          </a:xfrm>
          <a:prstGeom prst="rect">
            <a:avLst/>
          </a:prstGeom>
          <a:noFill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3848" y="5450051"/>
            <a:ext cx="4762500" cy="47625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3362076" y="3054111"/>
            <a:ext cx="3165981" cy="3165981"/>
          </a:xfrm>
          <a:prstGeom prst="rect">
            <a:avLst/>
          </a:prstGeom>
          <a:noFill/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-439165" y="2708246"/>
            <a:ext cx="3609865" cy="3609865"/>
          </a:xfrm>
          <a:prstGeom prst="rect">
            <a:avLst/>
          </a:prstGeom>
          <a:noFill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14622918" y="2947093"/>
            <a:ext cx="5698347" cy="3798898"/>
          </a:xfrm>
          <a:prstGeom prst="rect">
            <a:avLst/>
          </a:prstGeom>
          <a:noFill/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527943" y="3208438"/>
            <a:ext cx="3122407" cy="3122407"/>
          </a:xfrm>
          <a:prstGeom prst="rect">
            <a:avLst/>
          </a:prstGeom>
          <a:noFill/>
        </p:spPr>
      </p:pic>
      <p:pic>
        <p:nvPicPr>
          <p:cNvPr id="31" name="Picture 16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4700316" y="4629355"/>
            <a:ext cx="5543550" cy="5543550"/>
          </a:xfrm>
          <a:prstGeom prst="rect">
            <a:avLst/>
          </a:prstGeom>
          <a:noFill/>
        </p:spPr>
      </p:pic>
      <p:pic>
        <p:nvPicPr>
          <p:cNvPr id="32" name="Picture 18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4954319" y="9718454"/>
            <a:ext cx="6181725" cy="3409950"/>
          </a:xfrm>
          <a:prstGeom prst="rect">
            <a:avLst/>
          </a:prstGeom>
          <a:noFill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5859215" y="9172943"/>
            <a:ext cx="4215945" cy="4215945"/>
          </a:xfrm>
          <a:prstGeom prst="rect">
            <a:avLst/>
          </a:prstGeom>
          <a:noFill/>
        </p:spPr>
      </p:pic>
      <p:pic>
        <p:nvPicPr>
          <p:cNvPr id="34" name="Picture 8"/>
          <p:cNvPicPr>
            <a:picLocks noChangeAspect="1" noChangeArrowheads="1"/>
          </p:cNvPicPr>
          <p:nvPr/>
        </p:nvPicPr>
        <p:blipFill>
          <a:blip r:embed="rId13"/>
          <a:srcRect b="11260"/>
          <a:stretch/>
        </p:blipFill>
        <p:spPr bwMode="auto">
          <a:xfrm>
            <a:off x="20005658" y="3461332"/>
            <a:ext cx="3871062" cy="6115387"/>
          </a:xfrm>
          <a:prstGeom prst="rect">
            <a:avLst/>
          </a:prstGeom>
          <a:noFill/>
        </p:spPr>
      </p:pic>
      <p:pic>
        <p:nvPicPr>
          <p:cNvPr id="35" name="Picture 22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20213459" y="9540360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72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