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28"/>
  </p:notesMasterIdLst>
  <p:sldIdLst>
    <p:sldId id="280" r:id="rId4"/>
    <p:sldId id="293" r:id="rId16"/>
    <p:sldId id="294" r:id="rId17"/>
    <p:sldId id="295" r:id="rId18"/>
    <p:sldId id="296" r:id="rId19"/>
    <p:sldId id="282" r:id="rId2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>
        <p:scale>
          <a:sx n="33" d="100"/>
          <a:sy n="33" d="100"/>
        </p:scale>
        <p:origin x="1056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1.3. ПОРЯДОК И ПРИОРИТЕТНОСТЬ ОКАЗАНИЯ ПЕРВОЙ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096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1.3  Порядок и приоритетность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10916237" y="5096980"/>
            <a:ext cx="12192000" cy="72509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Оценка обстановки и обеспечение безопасных условий для оказания первой помощи:</a:t>
            </a:r>
            <a:endParaRPr/>
          </a:p>
          <a:p>
            <a:pPr>
              <a:defRPr/>
            </a:pPr>
            <a:endParaRPr lang="ru-RU" sz="2800"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угрожающие факторы для собственной жизни и здоровья;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угрожающие факторы для жизни и здоровья пострадавшего;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устранить угрожающие факторы для жизни и здоровья;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прекратить действие повреждающих факторов на пострадавшего;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при необходимости, оценить количество пострадавших;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извлечь пострадавшего из транспортного средства или других труднодоступных мест (при необходимости);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переместить пострадавшего (при необходимости).</a:t>
            </a:r>
          </a:p>
        </p:txBody>
      </p:sp>
      <p:pic>
        <p:nvPicPr>
          <p:cNvPr id="8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44161" y="3469895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3800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096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1.3  Порядок и приоритетность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0962721" y="5135324"/>
            <a:ext cx="12192000" cy="595829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Восстановление проходимости дыхательных путей и определение признаков жизни: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запрокинуть голову с подъемом подбородка;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выдвинуть нижнюю челюсть (при необходимости);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наличие нормального дыхания с помощью слуха, зрения и осязания;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наличие кровообращения путем проверки пульса на магистральных артериях (одновременно с определением дыхания и при наличии соответствующей подготовки). </a:t>
            </a:r>
            <a:endParaRPr/>
          </a:p>
        </p:txBody>
      </p:sp>
      <p:pic>
        <p:nvPicPr>
          <p:cNvPr id="10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90645" y="3508239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493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4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096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1.3  Порядок и приоритетность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1543928" y="3435665"/>
            <a:ext cx="12192000" cy="9534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Проведение сердечно-легочной реанимации путем чередования: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давления руками на грудину пострадавшего;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искусственного дыхания «Рот ко рту», «Рот к носу», с использованием устройств для искусственного дыхания. 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>
              <a:defRPr/>
            </a:pPr>
            <a:r>
              <a:rPr lang="ru-RU" sz="2800" b="1" dirty="0"/>
              <a:t>Поддержание проходимости дыхательных путей: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придать устойчивое боковое положение;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запрокинуть голову с подъемом подбородка;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выдвинуть нижнюю челюсть.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b="1" dirty="0"/>
              <a:t>Остановка наружного кровотечения: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наложением давящей повязки;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пальцевым прижатием артерии;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прямым давлением на рану;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максимальным сгибанием конечности в суставе;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наложением жгута.</a:t>
            </a:r>
            <a:endParaRPr dirty="0"/>
          </a:p>
          <a:p>
            <a:pPr>
              <a:defRPr/>
            </a:pPr>
            <a:endParaRPr lang="ru-RU" sz="2800" dirty="0"/>
          </a:p>
        </p:txBody>
      </p:sp>
      <p:pic>
        <p:nvPicPr>
          <p:cNvPr id="11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852173" y="3411579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671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5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096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1.3  Порядок и приоритетность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0716136" y="4457055"/>
            <a:ext cx="12192000" cy="858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Провести подробный осмотр пострадавшего и выполнить мероприятия по оказанию первой помощи: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головы;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шеи;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груди;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спины;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живота и таза;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осмотр конечностей;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наложить повязки при травмах различных областей тела;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иммобилизацию;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зафиксировать шейный отдел позвоночника;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прекратить воздействие опасных химических веществ на пострадавшего;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местное охлаждение при травмах, термических ожогах и иных воздействиях высоких температур или теплового излучения;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термоизоляцию при отморожениях и других эффектах воздействия низких температур.</a:t>
            </a:r>
            <a:endParaRPr/>
          </a:p>
        </p:txBody>
      </p:sp>
      <p:pic>
        <p:nvPicPr>
          <p:cNvPr id="13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40713" y="3466075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703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1181</TotalTime>
  <Words>1563</Words>
  <Application>Microsoft Office PowerPoint</Application>
  <DocSecurity>0</DocSecurity>
  <PresentationFormat>Произвольный</PresentationFormat>
  <Paragraphs>219</Paragraphs>
  <Slides>24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Calibri</vt:lpstr>
      <vt:lpstr>Montserrat Semi Bold</vt:lpstr>
      <vt:lpstr>Open Sans</vt:lpstr>
      <vt:lpstr>Open Sans Light</vt:lpstr>
      <vt:lpstr>PFDinDisplayPro-Regular</vt:lpstr>
      <vt:lpstr>Stem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Учетная запись Майкрософт</cp:lastModifiedBy>
  <cp:revision>128</cp:revision>
  <dcterms:modified xsi:type="dcterms:W3CDTF">2024-07-02T03:54:12Z</dcterms:modified>
  <cp:category/>
  <dc:identifier/>
  <cp:contentStatus/>
  <dc:language/>
  <cp:version/>
</cp:coreProperties>
</file>