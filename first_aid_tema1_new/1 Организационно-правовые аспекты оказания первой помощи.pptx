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28"/>
  </p:notesMasterIdLst>
  <p:sldIdLst>
    <p:sldId id="280" r:id="rId4"/>
    <p:sldId id="304" r:id="rId33"/>
    <p:sldId id="281" r:id="rId5"/>
    <p:sldId id="283" r:id="rId6"/>
    <p:sldId id="284" r:id="rId7"/>
    <p:sldId id="285" r:id="rId8"/>
    <p:sldId id="286" r:id="rId9"/>
    <p:sldId id="287" r:id="rId10"/>
    <p:sldId id="305" r:id="rId34"/>
    <p:sldId id="291" r:id="rId14"/>
    <p:sldId id="292" r:id="rId15"/>
    <p:sldId id="306" r:id="rId35"/>
    <p:sldId id="293" r:id="rId16"/>
    <p:sldId id="294" r:id="rId17"/>
    <p:sldId id="295" r:id="rId18"/>
    <p:sldId id="296" r:id="rId19"/>
    <p:sldId id="307" r:id="rId36"/>
    <p:sldId id="288" r:id="rId11"/>
    <p:sldId id="289" r:id="rId12"/>
    <p:sldId id="290" r:id="rId13"/>
    <p:sldId id="308" r:id="rId37"/>
    <p:sldId id="297" r:id="rId20"/>
    <p:sldId id="302" r:id="rId25"/>
    <p:sldId id="309" r:id="rId38"/>
    <p:sldId id="298" r:id="rId21"/>
    <p:sldId id="299" r:id="rId22"/>
    <p:sldId id="300" r:id="rId23"/>
    <p:sldId id="301" r:id="rId24"/>
    <p:sldId id="310" r:id="rId39"/>
    <p:sldId id="303" r:id="rId26"/>
    <p:sldId id="282" r:id="rId2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>
        <p:scale>
          <a:sx n="33" d="100"/>
          <a:sy n="33" d="100"/>
        </p:scale>
        <p:origin x="1056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18.xml"/><Relationship Id="rId12" Type="http://schemas.openxmlformats.org/officeDocument/2006/relationships/slide" Target="slides/slide19.xml"/><Relationship Id="rId13" Type="http://schemas.openxmlformats.org/officeDocument/2006/relationships/slide" Target="slides/slide20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22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23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.xml"/><Relationship Id="rId34" Type="http://schemas.openxmlformats.org/officeDocument/2006/relationships/slide" Target="slides/slide9.xml"/><Relationship Id="rId35" Type="http://schemas.openxmlformats.org/officeDocument/2006/relationships/slide" Target="slides/slide12.xml"/><Relationship Id="rId36" Type="http://schemas.openxmlformats.org/officeDocument/2006/relationships/slide" Target="slides/slide17.xml"/><Relationship Id="rId37" Type="http://schemas.openxmlformats.org/officeDocument/2006/relationships/slide" Target="slides/slide21.xml"/><Relationship Id="rId38" Type="http://schemas.openxmlformats.org/officeDocument/2006/relationships/slide" Target="slides/slide24.xml"/><Relationship Id="rId39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</a:p>
          <a:p>
            <a:pPr lvl="1">
              <a:defRPr/>
            </a:pPr>
            <a:r>
              <a:rPr/>
              <a:t>Уровень текста 2</a:t>
            </a:r>
          </a:p>
          <a:p>
            <a:pPr lvl="2">
              <a:defRPr/>
            </a:pPr>
            <a:r>
              <a:rPr/>
              <a:t>Уровень текста 3</a:t>
            </a:r>
          </a:p>
          <a:p>
            <a:pPr lvl="3">
              <a:defRPr/>
            </a:pPr>
            <a:r>
              <a:rPr/>
              <a:t>Уровень текста 4</a:t>
            </a:r>
          </a:p>
          <a:p>
            <a:pPr lvl="4">
              <a:defRPr/>
            </a:pPr>
            <a:r>
              <a:rPr/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emf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9.png"/><Relationship Id="rId3" Type="http://schemas.openxmlformats.org/officeDocument/2006/relationships/image" Target="../media/image30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jpg"/><Relationship Id="rId11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4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49.png"/><Relationship Id="rId6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5.jpg"/><Relationship Id="rId3" Type="http://schemas.openxmlformats.org/officeDocument/2006/relationships/image" Target="../media/image36.jpg"/><Relationship Id="rId4" Type="http://schemas.openxmlformats.org/officeDocument/2006/relationships/image" Target="../media/image37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8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Relationship Id="rId4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50.e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ТЕМА 1. ОРГАНИЗАЦИОННО-ПРАВОВЫЕ АСПЕКТЫ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1.1. НОРМАТИВНО-ПРАВОВАЯ БАЗА И ОРГАНИЗАЦИЯ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Теоретическое занятие · Тема 1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 rtl="0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  <a:sym typeface="Open Sans"/>
              </a:rPr>
              <a:pPr algn="ctr" defTabSz="1828434" rtl="0">
                <a:lnSpc>
                  <a:spcPct val="100000"/>
                </a:lnSpc>
                <a:defRPr/>
              </a:pPr>
              <a:t/>
            </a:fld>
            <a:r>
              <a:t>3</a:t>
            </a:r>
            <a:endParaRPr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 В РОССИЙСКОЙ ФЕДЕРАЦИИ</a:t>
            </a:r>
            <a:endParaRPr lang="ru-RU" sz="4600" dirty="0"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1" y="2604670"/>
            <a:ext cx="135355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12912080" y="4265712"/>
            <a:ext cx="10384021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На сегодняшний день система оказания первой помощи в Российской Федерации состоит из трех основных компонентов:</a:t>
            </a:r>
            <a:endParaRPr/>
          </a:p>
          <a:p>
            <a:pPr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Нормативно-правовое обеспечение (федеральные законы и прочие нормативные акты и документы, определяющие обязанности и права участников оказания первой помощи, их оснащение, объем первой помощи и т.д.).</a:t>
            </a:r>
            <a:endParaRPr/>
          </a:p>
          <a:p>
            <a:pPr marL="514350" indent="-514350">
              <a:buAutoNum type="arabicPeriod"/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Обучение участников оказания первой помощи правилам и навыкам ее оказания.</a:t>
            </a:r>
            <a:endParaRPr/>
          </a:p>
          <a:p>
            <a:pPr marL="514350" indent="-514350">
              <a:buAutoNum type="arabicPeriod"/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>Оснащение участников оказания первой помощи средствами для ее оказания (аптечками и укладками).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79" t="32809" r="5668" b="7649"/>
          <a:stretch/>
        </p:blipFill>
        <p:spPr bwMode="auto">
          <a:xfrm>
            <a:off x="844359" y="4158732"/>
            <a:ext cx="11756204" cy="801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1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 В РОССИЙСКОЙ ФЕДЕРАЦИИ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1" y="2604670"/>
            <a:ext cx="135355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78832" y="9450288"/>
            <a:ext cx="213949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Участники оказания первой помощи </a:t>
            </a:r>
            <a:r>
              <a:rPr lang="ru-RU" sz="2800"/>
              <a:t>могут иметь различную подготовку к ее оказанию и оснащение. Также они могут быть </a:t>
            </a:r>
            <a:r>
              <a:rPr lang="ru-RU" sz="2800" b="1"/>
              <a:t>обязанными оказывать первую помощь</a:t>
            </a:r>
            <a:r>
              <a:rPr lang="ru-RU" sz="2800"/>
              <a:t>, либо </a:t>
            </a:r>
            <a:r>
              <a:rPr lang="ru-RU" sz="2800" b="1"/>
              <a:t>иметь право ее оказывать</a:t>
            </a:r>
            <a:r>
              <a:rPr lang="ru-RU" sz="2800"/>
              <a:t>. </a:t>
            </a:r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В большинстве случаев первая помощь должна заканчиваться передачей пострадавших прибывшей </a:t>
            </a:r>
            <a:r>
              <a:rPr lang="ru-RU" sz="2800" b="1"/>
              <a:t>бригаде скорой медицинской помощи</a:t>
            </a:r>
            <a:r>
              <a:rPr lang="ru-RU" sz="2800"/>
              <a:t>, которая, продолжая оказание помощи в пути, доставляет пострадавшего в лечебное учреждение.</a:t>
            </a:r>
            <a:endParaRPr/>
          </a:p>
        </p:txBody>
      </p:sp>
      <p:pic>
        <p:nvPicPr>
          <p:cNvPr id="9" name="Picture 7" descr="для доклада1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132955" y="3918224"/>
            <a:ext cx="18486735" cy="54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63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9455696" y="4283457"/>
            <a:ext cx="13667579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Федеральный закон от 21.11.2011 №323-ФЗ </a:t>
            </a:r>
            <a:r>
              <a:rPr lang="ru-RU" sz="2800" b="1"/>
              <a:t>«Об основах охраны здоровья граждан Российской Федерации»</a:t>
            </a:r>
            <a:r>
              <a:rPr lang="ru-RU" sz="2800"/>
              <a:t>: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 b="1"/>
              <a:t>Статья 31. Первая помощь: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«1. Первая помощь до оказания медицинской помощи оказывается гражданам при несчастных случаях, травмах, отравлениях и других состояниях и заболеваниях, угрожающих их жизни и здоровью…»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« 4. Водители транспортных средств и другие лица вправе оказывать первую помощь при наличии соответствующей подготовки и (или) навыков.»</a:t>
            </a:r>
          </a:p>
          <a:p>
            <a:pPr>
              <a:defRPr/>
            </a:pPr>
            <a:endParaRPr lang="ru-RU" sz="2800"/>
          </a:p>
        </p:txBody>
      </p:sp>
      <p:pic>
        <p:nvPicPr>
          <p:cNvPr id="11" name="Picture 2" descr="Федеральный закон &quot;Об основах охраны здоровья граждан в Российской Федерации&quot; текст с изменениями и дополнениями на 2022 год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220612" y="3986987"/>
            <a:ext cx="5312275" cy="87496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120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6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51413" y="3694094"/>
            <a:ext cx="21630492" cy="456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/>
              <a:t>Законодательство разного уровня устанавливает обязанность по оказанию первой помощи для лиц, которые </a:t>
            </a:r>
            <a:r>
              <a:rPr lang="ru-RU" b="1"/>
              <a:t>в силу профессиональных обязанностей первыми оказываются на месте происшествия </a:t>
            </a:r>
            <a:r>
              <a:rPr lang="ru-RU"/>
              <a:t>с пострадавшими.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Обязанность </a:t>
            </a:r>
            <a:r>
              <a:rPr lang="ru-RU" b="1"/>
              <a:t>«…принять меры для оказания первой помощи…» </a:t>
            </a:r>
            <a:r>
              <a:rPr lang="ru-RU"/>
              <a:t>возникает у водителей, причастных к ДТП (п. 2.6 ПДД РФ). Принятие мер к оказанию первой помощи относится к обязанностям водителя в связи с ДТП, за невыполнение которых водителю грозит </a:t>
            </a:r>
            <a:r>
              <a:rPr lang="ru-RU" b="1"/>
              <a:t>привлечение к административной ответственности и наказание в виде административного штрафа </a:t>
            </a:r>
            <a:r>
              <a:rPr lang="ru-RU"/>
              <a:t>(ч. 1 ст. 12.27 КоАП). В том случае, если гражданин </a:t>
            </a:r>
            <a:r>
              <a:rPr lang="ru-RU" b="1"/>
              <a:t>заведомо оставил пострадавшего</a:t>
            </a:r>
            <a:r>
              <a:rPr lang="ru-RU"/>
              <a:t>, находящегося в беспомощном состоянии без возможности получения помощи, </a:t>
            </a:r>
            <a:r>
              <a:rPr lang="ru-RU" b="1"/>
              <a:t>он может быть привлечен к уголовной ответственности </a:t>
            </a:r>
            <a:r>
              <a:rPr lang="ru-RU"/>
              <a:t>(ст. 125 «Оставление в опасности» УК РФ). </a:t>
            </a:r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том случае, если водитель не причастен к ДТП, но стал его свидетелем, согласно ч. 4 ст. 31 Федерального закона № 323-ФЗ «Об основах охраны здоровья граждан в Российской Федерации», </a:t>
            </a:r>
            <a:r>
              <a:rPr lang="ru-RU" b="1"/>
              <a:t>водитель вправе добровольно оказать первую помощь</a:t>
            </a:r>
            <a:r>
              <a:rPr lang="ru-RU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6935416" y="7264941"/>
            <a:ext cx="12207176" cy="647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7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7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9113535" y="4049688"/>
            <a:ext cx="14282202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Статья 228 Трудового кодекса Российской Федерации предусматривает обязанность работодателя при несчастном случае на производстве </a:t>
            </a:r>
            <a:r>
              <a:rPr lang="ru-RU" sz="2800" b="1" dirty="0"/>
              <a:t>«немедленно организовать первую помощь пострадавшему и при необходимости доставку его в медицинскую организацию»</a:t>
            </a:r>
            <a:r>
              <a:rPr lang="ru-RU" sz="2800" dirty="0"/>
              <a:t>. </a:t>
            </a:r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Для организации оказания первой помощи при несчастном случае на производстве силами работников на работодателя возложена обязанность </a:t>
            </a:r>
            <a:r>
              <a:rPr lang="ru-RU" sz="2800" b="1" dirty="0"/>
              <a:t>организовывать обучение первой помощи </a:t>
            </a:r>
            <a:r>
              <a:rPr lang="ru-RU" sz="2800" dirty="0"/>
              <a:t>для всех поступающих на работу лиц, а также для работников, переводимых на другую работу (ст. 214, 219 ТК РФ). 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Для работника ТК РФ предусматривает обязанность </a:t>
            </a:r>
            <a:r>
              <a:rPr lang="ru-RU" sz="2800" b="1" dirty="0"/>
              <a:t>«проходить обучение по оказанию первой помощи пострадавшим на производстве» </a:t>
            </a:r>
            <a:r>
              <a:rPr lang="ru-RU" sz="2800" dirty="0"/>
              <a:t>(ст. 215 ТК РФ).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22829" y="4049687"/>
            <a:ext cx="5445571" cy="856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8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8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1.1  НПА и организация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0031760" y="2969568"/>
            <a:ext cx="13880883" cy="909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Освобождение от ответственности: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 b="1"/>
              <a:t>УК РФ ст. 39. Крайняя необходимость: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/>
              <a:t>«Не является преступлением причинение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 b="1"/>
              <a:t>КоАП РФ ст. 2.7. Крайняя необходимость: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/>
              <a:t>«Не является административным правонарушением причинение лицом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В случае решения в суде вопроса о привлечении лица к ответственности за причинение вреда жизни или здоровью, оказание первой помощи пострадавшему учитывается как </a:t>
            </a:r>
            <a:r>
              <a:rPr lang="ru-RU" sz="2800" b="1"/>
              <a:t>обстоятельство, смягчающее наказание </a:t>
            </a:r>
            <a:r>
              <a:rPr lang="ru-RU" sz="2800"/>
              <a:t>(п. 2 ч. 1 ст. 4.2 Кодекса Российской Федерации об административных правонарушениях; п. «к» ч. 1 ст. 61 Уголовного Кодекса Российской Федерации).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05668" y="5240698"/>
            <a:ext cx="8325949" cy="62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4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1.2. УКЛАДКИ, НАБОРЫ, КОМПЛЕКТЫ И АПТЕЧКИ ДЛЯ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Основные компоненты и их назначение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10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102242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УКЛАДКИ, НАБОРЫ, КОМПЛЕКТЫ И АПТЕЧКИ ДЛЯ ОКАЗАНИЯ ПЕРВОЙ ПОМОЩИ</a:t>
            </a:r>
            <a:b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</a:b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1.2  Укладки, наборы, комплекты и аптечки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330040" y="9326559"/>
            <a:ext cx="4762500" cy="4762500"/>
          </a:xfrm>
          <a:prstGeom prst="rect">
            <a:avLst/>
          </a:prstGeom>
          <a:noFill/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751476" y="5788474"/>
            <a:ext cx="4762500" cy="4762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 bwMode="auto">
          <a:xfrm>
            <a:off x="8595538" y="3611405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(автомобильная) 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758375" y="5575795"/>
            <a:ext cx="6772790" cy="6776571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4127672" y="3746180"/>
            <a:ext cx="3165981" cy="3165981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-10790" y="3202995"/>
            <a:ext cx="3609865" cy="3609865"/>
          </a:xfrm>
          <a:prstGeom prst="rect">
            <a:avLst/>
          </a:prstGeom>
          <a:noFill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14520841" y="5165182"/>
            <a:ext cx="5698347" cy="3798898"/>
          </a:xfrm>
          <a:prstGeom prst="rect">
            <a:avLst/>
          </a:prstGeom>
          <a:noFill/>
        </p:spPr>
      </p:pic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356514" y="7152318"/>
            <a:ext cx="3122407" cy="3122407"/>
          </a:xfrm>
          <a:prstGeom prst="rect">
            <a:avLst/>
          </a:prstGeom>
          <a:noFill/>
        </p:spPr>
      </p:pic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18958345" y="2586736"/>
            <a:ext cx="5543550" cy="5543550"/>
          </a:xfrm>
          <a:prstGeom prst="rect">
            <a:avLst/>
          </a:prstGeom>
          <a:noFill/>
        </p:spPr>
      </p:pic>
      <p:pic>
        <p:nvPicPr>
          <p:cNvPr id="18" name="Picture 18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5894951" y="9945950"/>
            <a:ext cx="6181725" cy="3409950"/>
          </a:xfrm>
          <a:prstGeom prst="rect">
            <a:avLst/>
          </a:prstGeom>
          <a:noFill/>
        </p:spPr>
      </p:pic>
      <p:pic>
        <p:nvPicPr>
          <p:cNvPr id="19" name="Picture 22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9680143" y="7135801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5003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11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102242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УКЛАДКИ, НАБОРЫ, КОМПЛЕКТЫ И АПТЕЧКИ ДЛЯ ОКАЗАНИЯ ПЕРВОЙ ПОМОЩИ</a:t>
            </a:r>
            <a:b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</a:b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4" y="2604670"/>
            <a:ext cx="1638421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1.2  Укладки, наборы, комплекты и аптечки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5" name="AutoShape 12"/>
          <p:cNvSpPr>
            <a:spLocks noChangeAspect="1" noChangeArrowheads="1"/>
          </p:cNvSpPr>
          <p:nvPr/>
        </p:nvSpPr>
        <p:spPr bwMode="auto">
          <a:xfrm>
            <a:off x="12104812" y="75395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6" name="AutoShape 14"/>
          <p:cNvSpPr>
            <a:spLocks noChangeAspect="1" noChangeArrowheads="1"/>
          </p:cNvSpPr>
          <p:nvPr/>
        </p:nvSpPr>
        <p:spPr bwMode="auto">
          <a:xfrm>
            <a:off x="12257212" y="7691943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0" cap="none" spc="0" normalizeH="0" baseline="0" noProof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-1847408" y="8524569"/>
            <a:ext cx="10011312" cy="6257070"/>
          </a:xfrm>
          <a:prstGeom prst="rect">
            <a:avLst/>
          </a:prstGeom>
          <a:noFill/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464705" y="5308721"/>
            <a:ext cx="7620000" cy="7620000"/>
          </a:xfrm>
          <a:prstGeom prst="rect">
            <a:avLst/>
          </a:prstGeom>
          <a:noFill/>
        </p:spPr>
      </p:pic>
      <p:sp>
        <p:nvSpPr>
          <p:cNvPr id="23" name="TextBox 22"/>
          <p:cNvSpPr txBox="1"/>
          <p:nvPr/>
        </p:nvSpPr>
        <p:spPr bwMode="auto">
          <a:xfrm>
            <a:off x="8797696" y="4076364"/>
            <a:ext cx="7512908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Аптечка первой помощи работникам</a:t>
            </a:r>
            <a:endParaRPr/>
          </a:p>
        </p:txBody>
      </p:sp>
      <p:pic>
        <p:nvPicPr>
          <p:cNvPr id="24" name="Picture 10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4605832" y="5863443"/>
            <a:ext cx="4762500" cy="4762500"/>
          </a:xfrm>
          <a:prstGeom prst="rect">
            <a:avLst/>
          </a:prstGeom>
          <a:noFill/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63848" y="5450051"/>
            <a:ext cx="4762500" cy="4762500"/>
          </a:xfrm>
          <a:prstGeom prst="rect">
            <a:avLst/>
          </a:prstGeom>
          <a:noFill/>
        </p:spPr>
      </p:pic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3362076" y="3054111"/>
            <a:ext cx="3165981" cy="3165981"/>
          </a:xfrm>
          <a:prstGeom prst="rect">
            <a:avLst/>
          </a:prstGeom>
          <a:noFill/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7"/>
          <a:stretch/>
        </p:blipFill>
        <p:spPr bwMode="auto">
          <a:xfrm>
            <a:off x="-439165" y="2708246"/>
            <a:ext cx="3609865" cy="3609865"/>
          </a:xfrm>
          <a:prstGeom prst="rect">
            <a:avLst/>
          </a:prstGeom>
          <a:noFill/>
        </p:spPr>
      </p:pic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8"/>
          <a:stretch/>
        </p:blipFill>
        <p:spPr bwMode="auto">
          <a:xfrm>
            <a:off x="14622918" y="2947093"/>
            <a:ext cx="5698347" cy="3798898"/>
          </a:xfrm>
          <a:prstGeom prst="rect">
            <a:avLst/>
          </a:prstGeom>
          <a:noFill/>
        </p:spPr>
      </p:pic>
      <p:pic>
        <p:nvPicPr>
          <p:cNvPr id="30" name="Picture 6"/>
          <p:cNvPicPr>
            <a:picLocks noChangeAspect="1" noChangeArrowheads="1"/>
          </p:cNvPicPr>
          <p:nvPr/>
        </p:nvPicPr>
        <p:blipFill>
          <a:blip r:embed="rId9"/>
          <a:stretch/>
        </p:blipFill>
        <p:spPr bwMode="auto">
          <a:xfrm>
            <a:off x="6527943" y="3208438"/>
            <a:ext cx="3122407" cy="3122407"/>
          </a:xfrm>
          <a:prstGeom prst="rect">
            <a:avLst/>
          </a:prstGeom>
          <a:noFill/>
        </p:spPr>
      </p:pic>
      <p:pic>
        <p:nvPicPr>
          <p:cNvPr id="31" name="Picture 16"/>
          <p:cNvPicPr>
            <a:picLocks noChangeAspect="1" noChangeArrowheads="1"/>
          </p:cNvPicPr>
          <p:nvPr/>
        </p:nvPicPr>
        <p:blipFill>
          <a:blip r:embed="rId10"/>
          <a:stretch/>
        </p:blipFill>
        <p:spPr bwMode="auto">
          <a:xfrm>
            <a:off x="14700316" y="4629355"/>
            <a:ext cx="5543550" cy="5543550"/>
          </a:xfrm>
          <a:prstGeom prst="rect">
            <a:avLst/>
          </a:prstGeom>
          <a:noFill/>
        </p:spPr>
      </p:pic>
      <p:pic>
        <p:nvPicPr>
          <p:cNvPr id="32" name="Picture 18"/>
          <p:cNvPicPr>
            <a:picLocks noChangeAspect="1" noChangeArrowheads="1"/>
          </p:cNvPicPr>
          <p:nvPr/>
        </p:nvPicPr>
        <p:blipFill>
          <a:blip r:embed="rId11"/>
          <a:stretch/>
        </p:blipFill>
        <p:spPr bwMode="auto">
          <a:xfrm>
            <a:off x="14954319" y="9718454"/>
            <a:ext cx="6181725" cy="3409950"/>
          </a:xfrm>
          <a:prstGeom prst="rect">
            <a:avLst/>
          </a:prstGeom>
          <a:noFill/>
        </p:spPr>
      </p:pic>
      <p:pic>
        <p:nvPicPr>
          <p:cNvPr id="33" name="Picture 6"/>
          <p:cNvPicPr>
            <a:picLocks noChangeAspect="1" noChangeArrowheads="1"/>
          </p:cNvPicPr>
          <p:nvPr/>
        </p:nvPicPr>
        <p:blipFill>
          <a:blip r:embed="rId12"/>
          <a:stretch/>
        </p:blipFill>
        <p:spPr bwMode="auto">
          <a:xfrm>
            <a:off x="5859215" y="9172943"/>
            <a:ext cx="4215945" cy="4215945"/>
          </a:xfrm>
          <a:prstGeom prst="rect">
            <a:avLst/>
          </a:prstGeom>
          <a:noFill/>
        </p:spPr>
      </p:pic>
      <p:pic>
        <p:nvPicPr>
          <p:cNvPr id="34" name="Picture 8"/>
          <p:cNvPicPr>
            <a:picLocks noChangeAspect="1" noChangeArrowheads="1"/>
          </p:cNvPicPr>
          <p:nvPr/>
        </p:nvPicPr>
        <p:blipFill>
          <a:blip r:embed="rId13"/>
          <a:srcRect b="11260"/>
          <a:stretch/>
        </p:blipFill>
        <p:spPr bwMode="auto">
          <a:xfrm>
            <a:off x="20005658" y="3461332"/>
            <a:ext cx="3871062" cy="6115387"/>
          </a:xfrm>
          <a:prstGeom prst="rect">
            <a:avLst/>
          </a:prstGeom>
          <a:noFill/>
        </p:spPr>
      </p:pic>
      <p:pic>
        <p:nvPicPr>
          <p:cNvPr id="35" name="Picture 22"/>
          <p:cNvPicPr>
            <a:picLocks noChangeAspect="1" noChangeArrowheads="1"/>
          </p:cNvPicPr>
          <p:nvPr/>
        </p:nvPicPr>
        <p:blipFill>
          <a:blip r:embed="rId14"/>
          <a:stretch/>
        </p:blipFill>
        <p:spPr bwMode="auto">
          <a:xfrm>
            <a:off x="20213459" y="9540360"/>
            <a:ext cx="4024889" cy="402488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3729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1.3. ПОРЯДОК И ПРИОРИТЕТНОСТЬ ОКАЗАНИЯ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Теоретическое занятие · Тема 1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0916237" y="5096980"/>
            <a:ext cx="12192000" cy="7250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Оценка обстановки и обеспечение безопасных условий для оказания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собственной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жизни и здоровья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устранить угрожающие факторы для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прекратить действие повреждающих факторов на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при необходимости, оценить количество пострадавших;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извлечь пострадавшего из транспортного средства или других труднодоступных мест (при необходимости);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переместить пострадавшего (при необходимости).</a:t>
            </a:r>
          </a:p>
        </p:txBody>
      </p:sp>
      <p:pic>
        <p:nvPicPr>
          <p:cNvPr id="8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4161" y="346989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380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0962721" y="5135324"/>
            <a:ext cx="12192000" cy="595829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Восстановление проходимости дыхательных путей и определение признаков жизни: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запрокинуть голову с подъемом подбородка;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выдвинуть нижнюю челюсть (при необходимости);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нормального дыхания с помощью слуха, зрения и осязания;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кровообращения путем проверки пульса на магистральных артериях (одновременно с определением дыхания и при наличии соответствующей подготовки). </a:t>
            </a:r>
            <a:endParaRPr/>
          </a:p>
        </p:txBody>
      </p:sp>
      <p:pic>
        <p:nvPicPr>
          <p:cNvPr id="10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90645" y="350823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493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1543928" y="3435665"/>
            <a:ext cx="12192000" cy="9534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Проведение сердечно-легочной реанимации путем чередования: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давления руками на грудину пострадавшего;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искусственного дыхания «Рот ко рту», «Рот к носу», с использованием устройств для искусственного дыхания. 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>
              <a:defRPr/>
            </a:pPr>
            <a:r>
              <a:rPr lang="ru-RU" sz="2800" b="1" dirty="0"/>
              <a:t>Поддержание проходимости дыхательных путей: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придать устойчивое боковое положение;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запрокинуть голову с подъемом подбородка;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выдвинуть нижнюю челюсть.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b="1" dirty="0"/>
              <a:t>Остановка наружного кровотечения: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давящей повязки;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пальцевым прижатием артерии;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прямым давлением на рану;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максимальным сгибанием конечности в суставе;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жгута.</a:t>
            </a:r>
            <a:endParaRPr dirty="0"/>
          </a:p>
          <a:p>
            <a:pPr>
              <a:defRPr/>
            </a:pPr>
            <a:endParaRPr lang="ru-RU" sz="2800" dirty="0"/>
          </a:p>
        </p:txBody>
      </p:sp>
      <p:pic>
        <p:nvPicPr>
          <p:cNvPr id="11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852173" y="341157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671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16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096565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/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1.3  Порядок и приоритетность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0716136" y="4457055"/>
            <a:ext cx="12192000" cy="858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Провести подробный осмотр пострадавшего и выполнить мероприятия по оказанию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головы;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шеи;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груди;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спины;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живота и таза;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осмотр конечностей;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наложить повязки при травмах различных областей тела;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иммобилизацию;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зафиксировать шейный отдел позвоночника;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прекратить воздействие опасных химических веществ на пострадавшего;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местное охлаждение при травмах, термических ожогах и иных воздействиях высоких температур или теплового излучения;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термоизоляцию при отморожениях и других эффектах воздействия низких температур.</a:t>
            </a:r>
            <a:endParaRPr/>
          </a:p>
        </p:txBody>
      </p:sp>
      <p:pic>
        <p:nvPicPr>
          <p:cNvPr id="13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0713" y="346607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03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1.4. ПЕРЕЧЕНЬ СОСТОЯНИЙ И МЕРОПРИЯТИЙ ПЕРВОЙ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Последовательность выполнения мероприятий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18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СОСТОЯНИЙ И МЕРОПРИЯТИЙ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7" y="2604670"/>
            <a:ext cx="859688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/>
          <a:srcRect t="11351"/>
          <a:stretch/>
        </p:blipFill>
        <p:spPr bwMode="auto">
          <a:xfrm>
            <a:off x="1833400" y="7232301"/>
            <a:ext cx="2727075" cy="580880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Овальная выноска 4"/>
          <p:cNvSpPr/>
          <p:nvPr/>
        </p:nvSpPr>
        <p:spPr bwMode="auto">
          <a:xfrm>
            <a:off x="3875077" y="3861097"/>
            <a:ext cx="7589738" cy="4258672"/>
          </a:xfrm>
          <a:prstGeom prst="wedgeEllipseCallout">
            <a:avLst>
              <a:gd name="adj1" fmla="val -53192"/>
              <a:gd name="adj2" fmla="val 46931"/>
            </a:avLst>
          </a:prstGeom>
          <a:solidFill>
            <a:srgbClr val="FFC000">
              <a:lumMod val="20000"/>
              <a:lumOff val="80000"/>
            </a:srgbClr>
          </a:solidFill>
          <a:ln w="25400" cap="flat" cmpd="sng" algn="ctr">
            <a:solidFill>
              <a:srgbClr val="FFC000">
                <a:lumMod val="20000"/>
                <a:lumOff val="80000"/>
              </a:srgbClr>
            </a:solidFill>
            <a:prstDash val="solid"/>
          </a:ln>
          <a:effectLst/>
        </p:spPr>
        <p:txBody>
          <a:bodyPr rot="0" spcFirstLastPara="1" vertOverflow="overflow" horzOverflow="overflow" vert="horz" wrap="square" lIns="91439" tIns="91439" rIns="91439" bIns="91439" numCol="1" spcCol="38100" rtlCol="0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cs typeface="Calibri"/>
              </a:rPr>
              <a:t>Первая помощь </a:t>
            </a: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cs typeface="Calibri"/>
              </a:rPr>
              <a:t>- комплекс мероприятий, направленных на поддержание жизни и здоровья, оказываемых до оказания медицинской помощи пострадавшим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2912080" y="5345832"/>
            <a:ext cx="10176530" cy="67747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1138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19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596810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СОСТОЯНИЙ, ПРИ КОТОРЫХ ОКАЗЫВАЕТСЯ ПЕРВАЯ ПОМОЩЬ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55993" y="1559411"/>
            <a:ext cx="1865012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903341" y="1793793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903341" y="2600100"/>
            <a:ext cx="22037612" cy="1514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В соответствии с </a:t>
            </a:r>
            <a:r>
              <a:rPr lang="ru-RU" sz="2800" dirty="0" smtClean="0"/>
              <a:t>приказом Министерства Здравоохранения Российской Федерации от 03.05.2024 г. № 220н "Об утверждении порядка оказания первой помощи", </a:t>
            </a:r>
            <a:r>
              <a:rPr lang="ru-RU" sz="2800" dirty="0"/>
              <a:t>первая помощь оказывается при следующих состояниях: </a:t>
            </a:r>
            <a:endParaRPr dirty="0"/>
          </a:p>
          <a:p>
            <a:pPr>
              <a:defRPr/>
            </a:pPr>
            <a:endParaRPr lang="ru-RU" sz="2800" dirty="0"/>
          </a:p>
        </p:txBody>
      </p:sp>
      <p:grpSp>
        <p:nvGrpSpPr>
          <p:cNvPr id="13" name="Группа 12"/>
          <p:cNvGrpSpPr/>
          <p:nvPr/>
        </p:nvGrpSpPr>
        <p:grpSpPr bwMode="auto">
          <a:xfrm>
            <a:off x="814736" y="4099717"/>
            <a:ext cx="20984570" cy="6634972"/>
            <a:chOff x="1699716" y="4952937"/>
            <a:chExt cx="20984570" cy="6634972"/>
          </a:xfrm>
        </p:grpSpPr>
        <p:grpSp>
          <p:nvGrpSpPr>
            <p:cNvPr id="14" name="Группа 13"/>
            <p:cNvGrpSpPr/>
            <p:nvPr/>
          </p:nvGrpSpPr>
          <p:grpSpPr bwMode="auto">
            <a:xfrm>
              <a:off x="1699716" y="4952937"/>
              <a:ext cx="20984569" cy="3467667"/>
              <a:chOff x="1699716" y="4952937"/>
              <a:chExt cx="20984569" cy="3467667"/>
            </a:xfrm>
          </p:grpSpPr>
          <p:sp>
            <p:nvSpPr>
              <p:cNvPr id="26" name="Полилиния 25"/>
              <p:cNvSpPr/>
              <p:nvPr/>
            </p:nvSpPr>
            <p:spPr bwMode="auto">
              <a:xfrm>
                <a:off x="169971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Отсутствие сознания</a:t>
                </a:r>
              </a:p>
            </p:txBody>
          </p:sp>
          <p:sp>
            <p:nvSpPr>
              <p:cNvPr id="27" name="Полилиния 26"/>
              <p:cNvSpPr/>
              <p:nvPr/>
            </p:nvSpPr>
            <p:spPr bwMode="auto">
              <a:xfrm>
                <a:off x="7067909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Остановка дыхания и кровообращения</a:t>
                </a:r>
              </a:p>
            </p:txBody>
          </p:sp>
          <p:sp>
            <p:nvSpPr>
              <p:cNvPr id="28" name="Полилиния 27"/>
              <p:cNvSpPr/>
              <p:nvPr/>
            </p:nvSpPr>
            <p:spPr bwMode="auto">
              <a:xfrm>
                <a:off x="12436102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>
                    <a:solidFill>
                      <a:schemeClr val="accent6"/>
                    </a:solidFill>
                    <a:latin typeface="Open Sans"/>
                  </a:rPr>
                  <a:t>Наружные кровотечения</a:t>
                </a:r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7804296" y="6610128"/>
                <a:ext cx="4879989" cy="1810476"/>
              </a:xfrm>
              <a:custGeom>
                <a:avLst/>
                <a:gdLst>
                  <a:gd name="connsiteX0" fmla="*/ 0 w 4879989"/>
                  <a:gd name="connsiteY0" fmla="*/ 0 h 1810476"/>
                  <a:gd name="connsiteX1" fmla="*/ 4879989 w 4879989"/>
                  <a:gd name="connsiteY1" fmla="*/ 0 h 1810476"/>
                  <a:gd name="connsiteX2" fmla="*/ 4879989 w 4879989"/>
                  <a:gd name="connsiteY2" fmla="*/ 1810476 h 1810476"/>
                  <a:gd name="connsiteX3" fmla="*/ 0 w 4879989"/>
                  <a:gd name="connsiteY3" fmla="*/ 1810476 h 1810476"/>
                  <a:gd name="connsiteX4" fmla="*/ 0 w 4879989"/>
                  <a:gd name="connsiteY4" fmla="*/ 0 h 1810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79989" h="1810476" extrusionOk="0">
                    <a:moveTo>
                      <a:pt x="0" y="0"/>
                    </a:moveTo>
                    <a:lnTo>
                      <a:pt x="4879989" y="0"/>
                    </a:lnTo>
                    <a:lnTo>
                      <a:pt x="4879989" y="1810476"/>
                    </a:lnTo>
                    <a:lnTo>
                      <a:pt x="0" y="181047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99136" tIns="199136" rIns="199136" bIns="0" numCol="1" spcCol="1270" anchor="t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ru-RU" dirty="0">
                    <a:solidFill>
                      <a:schemeClr val="accent6"/>
                    </a:solidFill>
                    <a:latin typeface="Open Sans"/>
                  </a:rPr>
                  <a:t>Инородные тела верхних дыхательных путей</a:t>
                </a:r>
              </a:p>
            </p:txBody>
          </p:sp>
          <p:pic>
            <p:nvPicPr>
              <p:cNvPr id="31" name="Рисунок 30"/>
              <p:cNvPicPr>
                <a:picLocks noChangeAspect="1"/>
              </p:cNvPicPr>
              <p:nvPr/>
            </p:nvPicPr>
            <p:blipFill>
              <a:blip r:embed="rId2"/>
              <a:stretch/>
            </p:blipFill>
            <p:spPr bwMode="auto">
              <a:xfrm>
                <a:off x="8457903" y="4952937"/>
                <a:ext cx="2100000" cy="1800000"/>
              </a:xfrm>
              <a:prstGeom prst="rect">
                <a:avLst/>
              </a:prstGeom>
            </p:spPr>
          </p:pic>
          <p:pic>
            <p:nvPicPr>
              <p:cNvPr id="32" name="Рисунок 31"/>
              <p:cNvPicPr>
                <a:picLocks noChangeAspect="1"/>
              </p:cNvPicPr>
              <p:nvPr/>
            </p:nvPicPr>
            <p:blipFill>
              <a:blip r:embed="rId3"/>
              <a:stretch/>
            </p:blipFill>
            <p:spPr bwMode="auto">
              <a:xfrm>
                <a:off x="2970249" y="4952937"/>
                <a:ext cx="2338922" cy="1800000"/>
              </a:xfrm>
              <a:prstGeom prst="rect">
                <a:avLst/>
              </a:prstGeom>
            </p:spPr>
          </p:pic>
          <p:pic>
            <p:nvPicPr>
              <p:cNvPr id="33" name="Рисунок 32"/>
              <p:cNvPicPr>
                <a:picLocks noChangeAspect="1"/>
              </p:cNvPicPr>
              <p:nvPr/>
            </p:nvPicPr>
            <p:blipFill>
              <a:blip r:embed="rId4"/>
              <a:stretch/>
            </p:blipFill>
            <p:spPr bwMode="auto">
              <a:xfrm>
                <a:off x="13289765" y="4952937"/>
                <a:ext cx="3172661" cy="1800000"/>
              </a:xfrm>
              <a:prstGeom prst="rect">
                <a:avLst/>
              </a:prstGeom>
            </p:spPr>
          </p:pic>
          <p:pic>
            <p:nvPicPr>
              <p:cNvPr id="34" name="Рисунок 33"/>
              <p:cNvPicPr>
                <a:picLocks noChangeAspect="1"/>
              </p:cNvPicPr>
              <p:nvPr/>
            </p:nvPicPr>
            <p:blipFill>
              <a:blip r:embed="rId5"/>
              <a:stretch/>
            </p:blipFill>
            <p:spPr bwMode="auto">
              <a:xfrm>
                <a:off x="19384588" y="4952937"/>
                <a:ext cx="1719403" cy="1800000"/>
              </a:xfrm>
              <a:prstGeom prst="rect">
                <a:avLst/>
              </a:prstGeom>
            </p:spPr>
          </p:pic>
        </p:grpSp>
        <p:grpSp>
          <p:nvGrpSpPr>
            <p:cNvPr id="15" name="Группа 14"/>
            <p:cNvGrpSpPr/>
            <p:nvPr/>
          </p:nvGrpSpPr>
          <p:grpSpPr bwMode="auto">
            <a:xfrm>
              <a:off x="1803098" y="8053107"/>
              <a:ext cx="20881188" cy="3534802"/>
              <a:chOff x="1803098" y="8053107"/>
              <a:chExt cx="20881188" cy="3534802"/>
            </a:xfrm>
          </p:grpSpPr>
          <p:grpSp>
            <p:nvGrpSpPr>
              <p:cNvPr id="16" name="Группа 15"/>
              <p:cNvGrpSpPr/>
              <p:nvPr/>
            </p:nvGrpSpPr>
            <p:grpSpPr bwMode="auto">
              <a:xfrm>
                <a:off x="1803098" y="9777433"/>
                <a:ext cx="20881188" cy="1810476"/>
                <a:chOff x="1926463" y="12869102"/>
                <a:chExt cx="20881188" cy="1810476"/>
              </a:xfrm>
            </p:grpSpPr>
            <p:sp>
              <p:nvSpPr>
                <p:cNvPr id="21" name="Полилиния 20"/>
                <p:cNvSpPr/>
                <p:nvPr/>
              </p:nvSpPr>
              <p:spPr bwMode="auto">
                <a:xfrm>
                  <a:off x="1926463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>
                      <a:solidFill>
                        <a:schemeClr val="accent6"/>
                      </a:solidFill>
                      <a:latin typeface="Open Sans"/>
                    </a:rPr>
                    <a:t>Травмы различных областей тела</a:t>
                  </a:r>
                </a:p>
              </p:txBody>
            </p:sp>
            <p:sp>
              <p:nvSpPr>
                <p:cNvPr id="23" name="Полилиния 22"/>
                <p:cNvSpPr/>
                <p:nvPr/>
              </p:nvSpPr>
              <p:spPr bwMode="auto">
                <a:xfrm>
                  <a:off x="7294657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defRPr/>
                  </a:pP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Укусы или </a:t>
                  </a:r>
                  <a:r>
                    <a:rPr lang="ru-RU" dirty="0" err="1">
                      <a:solidFill>
                        <a:schemeClr val="accent6"/>
                      </a:solidFill>
                      <a:latin typeface="Open Sans"/>
                    </a:rPr>
                    <a:t>ужаливания</a:t>
                  </a: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 ядовитых животных</a:t>
                  </a:r>
                  <a:endParaRPr lang="ru-RU" dirty="0">
                    <a:solidFill>
                      <a:schemeClr val="accent6"/>
                    </a:solidFill>
                    <a:latin typeface="Open Sans"/>
                  </a:endParaRPr>
                </a:p>
              </p:txBody>
            </p:sp>
            <p:sp>
              <p:nvSpPr>
                <p:cNvPr id="24" name="Полилиния 23"/>
                <p:cNvSpPr/>
                <p:nvPr/>
              </p:nvSpPr>
              <p:spPr bwMode="auto">
                <a:xfrm>
                  <a:off x="12559468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 dirty="0">
                      <a:solidFill>
                        <a:schemeClr val="accent6"/>
                      </a:solidFill>
                      <a:latin typeface="Open Sans"/>
                    </a:rPr>
                    <a:t>Отморожение и другие эффекты воздействия низких температур</a:t>
                  </a:r>
                </a:p>
              </p:txBody>
            </p:sp>
            <p:sp>
              <p:nvSpPr>
                <p:cNvPr id="25" name="Полилиния 24"/>
                <p:cNvSpPr/>
                <p:nvPr/>
              </p:nvSpPr>
              <p:spPr bwMode="auto">
                <a:xfrm>
                  <a:off x="17927662" y="12869102"/>
                  <a:ext cx="4879989" cy="1810476"/>
                </a:xfrm>
                <a:custGeom>
                  <a:avLst/>
                  <a:gdLst>
                    <a:gd name="connsiteX0" fmla="*/ 0 w 4879989"/>
                    <a:gd name="connsiteY0" fmla="*/ 0 h 1810476"/>
                    <a:gd name="connsiteX1" fmla="*/ 4879989 w 4879989"/>
                    <a:gd name="connsiteY1" fmla="*/ 0 h 1810476"/>
                    <a:gd name="connsiteX2" fmla="*/ 4879989 w 4879989"/>
                    <a:gd name="connsiteY2" fmla="*/ 1810476 h 1810476"/>
                    <a:gd name="connsiteX3" fmla="*/ 0 w 4879989"/>
                    <a:gd name="connsiteY3" fmla="*/ 1810476 h 1810476"/>
                    <a:gd name="connsiteX4" fmla="*/ 0 w 4879989"/>
                    <a:gd name="connsiteY4" fmla="*/ 0 h 181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9989" h="1810476" extrusionOk="0">
                      <a:moveTo>
                        <a:pt x="0" y="0"/>
                      </a:moveTo>
                      <a:lnTo>
                        <a:pt x="4879989" y="0"/>
                      </a:lnTo>
                      <a:lnTo>
                        <a:pt x="4879989" y="1810476"/>
                      </a:lnTo>
                      <a:lnTo>
                        <a:pt x="0" y="18104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99136" tIns="199136" rIns="199136" bIns="0" numCol="1" spcCol="1270" anchor="t" anchorCtr="0">
                  <a:noAutofit/>
                </a:bodyPr>
                <a:lstStyle/>
                <a:p>
                  <a:pPr lvl="0" algn="ctr" defTabSz="1244600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ru-RU">
                      <a:solidFill>
                        <a:schemeClr val="accent6"/>
                      </a:solidFill>
                      <a:latin typeface="Open Sans"/>
                    </a:rPr>
                    <a:t>Отравления</a:t>
                  </a:r>
                </a:p>
              </p:txBody>
            </p:sp>
          </p:grpSp>
          <p:pic>
            <p:nvPicPr>
              <p:cNvPr id="17" name="Рисунок 16"/>
              <p:cNvPicPr>
                <a:picLocks noChangeAspect="1"/>
              </p:cNvPicPr>
              <p:nvPr/>
            </p:nvPicPr>
            <p:blipFill>
              <a:blip r:embed="rId6"/>
              <a:stretch/>
            </p:blipFill>
            <p:spPr bwMode="auto">
              <a:xfrm>
                <a:off x="3373043" y="8053107"/>
                <a:ext cx="1533333" cy="1800000"/>
              </a:xfrm>
              <a:prstGeom prst="rect">
                <a:avLst/>
              </a:prstGeom>
            </p:spPr>
          </p:pic>
          <p:pic>
            <p:nvPicPr>
              <p:cNvPr id="18" name="Рисунок 17"/>
              <p:cNvPicPr>
                <a:picLocks noChangeAspect="1"/>
              </p:cNvPicPr>
              <p:nvPr/>
            </p:nvPicPr>
            <p:blipFill>
              <a:blip r:embed="rId7"/>
              <a:stretch/>
            </p:blipFill>
            <p:spPr bwMode="auto">
              <a:xfrm>
                <a:off x="8692977" y="8053107"/>
                <a:ext cx="1629851" cy="1800000"/>
              </a:xfrm>
              <a:prstGeom prst="rect">
                <a:avLst/>
              </a:prstGeom>
            </p:spPr>
          </p:pic>
          <p:pic>
            <p:nvPicPr>
              <p:cNvPr id="19" name="Рисунок 18"/>
              <p:cNvPicPr>
                <a:picLocks noChangeAspect="1"/>
              </p:cNvPicPr>
              <p:nvPr/>
            </p:nvPicPr>
            <p:blipFill>
              <a:blip r:embed="rId8"/>
              <a:stretch/>
            </p:blipFill>
            <p:spPr bwMode="auto">
              <a:xfrm>
                <a:off x="14109429" y="8053107"/>
                <a:ext cx="1646897" cy="1800000"/>
              </a:xfrm>
              <a:prstGeom prst="rect">
                <a:avLst/>
              </a:prstGeom>
            </p:spPr>
          </p:pic>
          <p:pic>
            <p:nvPicPr>
              <p:cNvPr id="20" name="Рисунок 19"/>
              <p:cNvPicPr>
                <a:picLocks noChangeAspect="1"/>
              </p:cNvPicPr>
              <p:nvPr/>
            </p:nvPicPr>
            <p:blipFill>
              <a:blip r:embed="rId9"/>
              <a:stretch/>
            </p:blipFill>
            <p:spPr bwMode="auto">
              <a:xfrm>
                <a:off x="19455842" y="8053107"/>
                <a:ext cx="1582979" cy="1800000"/>
              </a:xfrm>
              <a:prstGeom prst="rect">
                <a:avLst/>
              </a:prstGeom>
            </p:spPr>
          </p:pic>
        </p:grpSp>
      </p:grpSp>
      <p:sp>
        <p:nvSpPr>
          <p:cNvPr id="3" name="Прямоугольник 2"/>
          <p:cNvSpPr/>
          <p:nvPr/>
        </p:nvSpPr>
        <p:spPr>
          <a:xfrm>
            <a:off x="4717814" y="11088414"/>
            <a:ext cx="5710218" cy="8733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6"/>
                </a:solidFill>
              </a:rPr>
              <a:t>Судорожный приступ, </a:t>
            </a:r>
            <a:endParaRPr lang="ru-RU" dirty="0" smtClean="0">
              <a:solidFill>
                <a:schemeClr val="accent6"/>
              </a:solidFill>
            </a:endParaRPr>
          </a:p>
          <a:p>
            <a:r>
              <a:rPr lang="ru-RU" dirty="0" smtClean="0">
                <a:solidFill>
                  <a:schemeClr val="accent6"/>
                </a:solidFill>
              </a:rPr>
              <a:t>сопровождающийся </a:t>
            </a:r>
            <a:r>
              <a:rPr lang="ru-RU" dirty="0">
                <a:solidFill>
                  <a:schemeClr val="accent6"/>
                </a:solidFill>
              </a:rPr>
              <a:t>потерей сознания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993" y="10631141"/>
            <a:ext cx="2467440" cy="154906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6956" y="10688390"/>
            <a:ext cx="2701882" cy="211451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5936416" y="11408722"/>
            <a:ext cx="6494085" cy="49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6"/>
                </a:solidFill>
              </a:rPr>
              <a:t>Острые психологические реакции на стресс</a:t>
            </a:r>
          </a:p>
        </p:txBody>
      </p:sp>
    </p:spTree>
    <p:extLst>
      <p:ext uri="{BB962C8B-B14F-4D97-AF65-F5344CB8AC3E}">
        <p14:creationId xmlns:p14="http://schemas.microsoft.com/office/powerpoint/2010/main" val="169513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20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ПЕРЕЧЕНЬ МЕРОПРИЯТИЙ И ПОСЛЕДОВАТЕЛЬНОСТЬ ИХ ВЫПОЛНЕНИЯ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811422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1.4  Состояния и мероприятия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36" name="Прямоугольник 35"/>
          <p:cNvSpPr/>
          <p:nvPr/>
        </p:nvSpPr>
        <p:spPr bwMode="auto">
          <a:xfrm>
            <a:off x="1750840" y="3833664"/>
            <a:ext cx="22037612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В соответствии с </a:t>
            </a:r>
            <a:r>
              <a:rPr lang="ru-RU" sz="2800" b="1" dirty="0"/>
              <a:t>приказом Министерства Здравоохранения Российской Федерации от 03.05.2024 г. № 220н "Об утверждении порядка оказания первой помощи</a:t>
            </a:r>
            <a:r>
              <a:rPr lang="ru-RU" sz="2800" dirty="0"/>
              <a:t>", </a:t>
            </a:r>
            <a:r>
              <a:rPr lang="ru-RU" sz="2800" dirty="0"/>
              <a:t>при указанных состояниях выполняются следующие мероприятия: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оценке обстановки и обеспечению безопасных условий для оказания первой помощи.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Вызов скорой медицинской помощи, других специальных служб.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Определение наличия сознания у пострадавшего.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восстановлению проходимости дыхательных путей и определению признаков жизни у пострадавшего.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проведению сердечно-легочной реанимации до появления признаков жизни.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поддержанию проходимости дыхательных путей.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обзорному осмотру пострадавшего и временной остановке наружного кровотечения.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Мероприятия по подробному осмотру пострадавшего в целях выявления признаков травм, отравлений и других состояний, угрожающих его жизни и здоровью, и по оказанию первой помощи в случае выявления указанных состояний.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Придание пострадавшему оптимального положения тела.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Контроль состояния пострадавшего (сознание, дыхание, кровообращение) и оказание психологической поддержки.</a:t>
            </a:r>
            <a:endParaRPr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Передача пострадавшего бригаде скорой медицинской помощи, другим специальным службам.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235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1.5. БЕЗОПАСНЫЕ УСЛОВИЯ И ПРОФИЛАКТИКА ИНФЕКЦИЙ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Теоретическое занятие · Тема 1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ОБЕСПЕЧЕНИЕ БЕЗОПАСНЫХ УСЛОВИЙ ДЛЯ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30" y="2604670"/>
            <a:ext cx="1190031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1.5  Безопасные условия и профилактика инфекций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079929" y="4074218"/>
            <a:ext cx="12090975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Перед началом действий на месте происшествия следует обеспечить </a:t>
            </a:r>
            <a:r>
              <a:rPr lang="ru-RU" sz="2800" b="1"/>
              <a:t>безопасные условия </a:t>
            </a:r>
            <a:r>
              <a:rPr lang="ru-RU" sz="2800"/>
              <a:t>для оказания первой помощи. </a:t>
            </a:r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Для снижения риска поражения необходимо, например: 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выключить электричество,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перекрыть бытовой газ,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установить знаки аварийной остановки,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перегородить проезжую часть автомобилем,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попытаться потушить пожар,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сообщить собравшимся людям, что сейчас будет оказываться первая помощь. 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Не следует пытаться оказывать первую помощь в </a:t>
            </a:r>
            <a:r>
              <a:rPr lang="ru-RU" sz="2800" b="1"/>
              <a:t>неблагоприятных условиях</a:t>
            </a:r>
            <a:r>
              <a:rPr lang="ru-RU" sz="2800"/>
              <a:t>. 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967612" y="3584853"/>
            <a:ext cx="6851342" cy="89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9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838" y="1842729"/>
            <a:ext cx="21204690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ПРОФИЛАКТИКА ИНФЕКЦИОННЫХ ЗАБОЛЕВАНИЙ ПРИ ОКАЗАНИИ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198" y="2604670"/>
            <a:ext cx="2103829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1.5  Безопасные условия и профилактика инфекций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628941" y="3965739"/>
            <a:ext cx="8395569" cy="5597046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265661" y="6675490"/>
            <a:ext cx="5500656" cy="5500656"/>
          </a:xfrm>
          <a:prstGeom prst="rect">
            <a:avLst/>
          </a:prstGeom>
          <a:noFill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565046" y="4191681"/>
            <a:ext cx="4752815" cy="4752815"/>
          </a:xfrm>
          <a:prstGeom prst="rect">
            <a:avLst/>
          </a:prstGeom>
          <a:noFill/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6583422" y="6072431"/>
            <a:ext cx="6033370" cy="6033370"/>
          </a:xfrm>
          <a:prstGeom prst="rect">
            <a:avLst/>
          </a:prstGeom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039872" y="8730208"/>
            <a:ext cx="5543550" cy="5543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349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1.6. ИЗВЛЕЧЕНИЕ И ПЕРЕМЕЩЕНИЕ ПОСТРАДАВШИХ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В безопасное место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562282" y="4890177"/>
            <a:ext cx="7085602" cy="82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Прямоугольник 10"/>
          <p:cNvSpPr/>
          <p:nvPr/>
        </p:nvSpPr>
        <p:spPr bwMode="auto">
          <a:xfrm>
            <a:off x="1878928" y="3861695"/>
            <a:ext cx="5915402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в сознании)</a:t>
            </a:r>
            <a:endParaRPr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984951" y="3861696"/>
            <a:ext cx="6195928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без сознания)</a:t>
            </a:r>
            <a:endParaRPr/>
          </a:p>
        </p:txBody>
      </p:sp>
      <p:pic>
        <p:nvPicPr>
          <p:cNvPr id="13" name="Рисунок 3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592296" y="5677536"/>
            <a:ext cx="7478451" cy="7096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65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944528" y="4625752"/>
            <a:ext cx="5899061" cy="850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Прямоугольник 14"/>
          <p:cNvSpPr/>
          <p:nvPr/>
        </p:nvSpPr>
        <p:spPr bwMode="auto">
          <a:xfrm>
            <a:off x="16350677" y="3756982"/>
            <a:ext cx="649291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с поддержкой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38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26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66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366357" y="4690191"/>
            <a:ext cx="6062306" cy="862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69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509197" y="4749193"/>
            <a:ext cx="5277914" cy="745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68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591581" y="4769848"/>
            <a:ext cx="5356241" cy="79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Прямоугольник 18"/>
          <p:cNvSpPr/>
          <p:nvPr/>
        </p:nvSpPr>
        <p:spPr bwMode="auto">
          <a:xfrm>
            <a:off x="2020175" y="3556997"/>
            <a:ext cx="640848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волоком </a:t>
            </a:r>
          </a:p>
        </p:txBody>
      </p:sp>
      <p:sp>
        <p:nvSpPr>
          <p:cNvPr id="20" name="Прямоугольник 19"/>
          <p:cNvSpPr/>
          <p:nvPr/>
        </p:nvSpPr>
        <p:spPr bwMode="auto">
          <a:xfrm>
            <a:off x="9509197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спине </a:t>
            </a: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16336314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на руках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381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27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2" name="Рисунок 7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8074931" y="4732576"/>
            <a:ext cx="6289969" cy="872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67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04649" y="4523499"/>
            <a:ext cx="5850179" cy="8114764"/>
          </a:xfrm>
          <a:prstGeom prst="rect">
            <a:avLst/>
          </a:prstGeom>
          <a:noFill/>
        </p:spPr>
      </p:pic>
      <p:pic>
        <p:nvPicPr>
          <p:cNvPr id="14" name="Рисунок 71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7335351" y="4571040"/>
            <a:ext cx="5137895" cy="848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72"/>
          <p:cNvPicPr>
            <a:picLocks noChangeAspect="1" noChangeArrowheads="1"/>
          </p:cNvPicPr>
          <p:nvPr/>
        </p:nvPicPr>
        <p:blipFill>
          <a:blip r:embed="rId5"/>
          <a:srcRect l="14296" r="12385"/>
          <a:stretch/>
        </p:blipFill>
        <p:spPr bwMode="auto">
          <a:xfrm>
            <a:off x="14794913" y="7894084"/>
            <a:ext cx="4316032" cy="501883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Прямоугольник 22"/>
          <p:cNvSpPr/>
          <p:nvPr/>
        </p:nvSpPr>
        <p:spPr bwMode="auto">
          <a:xfrm>
            <a:off x="1373521" y="3599381"/>
            <a:ext cx="561882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плече </a:t>
            </a: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7942121" y="3588251"/>
            <a:ext cx="6766239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четырех рук </a:t>
            </a: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15377860" y="3626514"/>
            <a:ext cx="8856710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трех рук с поддержкой под спину</a:t>
            </a:r>
          </a:p>
        </p:txBody>
      </p:sp>
      <p:pic>
        <p:nvPicPr>
          <p:cNvPr id="26" name="Рисунок 70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975540" y="4821865"/>
            <a:ext cx="3078163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403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28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 smtClean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1.6  Извлечение и перемещение пострадавших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75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303568" y="4258395"/>
            <a:ext cx="10234224" cy="8472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7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008099" y="5058726"/>
            <a:ext cx="7499619" cy="728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Прямоугольник 17"/>
          <p:cNvSpPr/>
          <p:nvPr/>
        </p:nvSpPr>
        <p:spPr bwMode="auto">
          <a:xfrm>
            <a:off x="1852626" y="3433811"/>
            <a:ext cx="562276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за руки и ноги </a:t>
            </a:r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9387659" y="3576588"/>
            <a:ext cx="13851869" cy="591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/>
              <a:t>Переноска пострадавшего с подозрением на травму позвоночника</a:t>
            </a:r>
          </a:p>
        </p:txBody>
      </p:sp>
      <p:pic>
        <p:nvPicPr>
          <p:cNvPr id="20" name="Рисунок 76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7028172" y="7601336"/>
            <a:ext cx="8065534" cy="6826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926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 smtClean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1.7. ПРАВИЛА ВЫЗОВА СКОРОЙ МЕДИЦИНСКОЙ ПОМОЩИ</a:t>
            </a: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r>
              <a:t>И других специальных служб</a:t>
            </a: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30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838" y="1842729"/>
            <a:ext cx="21204690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smtClean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ПРАВИЛА ВЫЗОВА СКОРОЙ МЕДИЦИНСКОЙ ПОМОЩИ И ДРУГИХ СПЕЦИАЛЬНЫХ СЛУЖБ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2" y="2604670"/>
            <a:ext cx="16201906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1.7  Вызов скорой медицинской помощи и спецслужб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55138" y="4306967"/>
            <a:ext cx="9772145" cy="8358000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 bwMode="auto">
          <a:xfrm>
            <a:off x="11975976" y="5993904"/>
            <a:ext cx="11926682" cy="3372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При вызове скорой медицинской помощи необходимо обязательно сообщить диспетчеру следующую информацию: 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место происшествия, что произошло;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число пострадавших и тяжесть их состояния; 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Ø"/>
              <a:defRPr/>
            </a:pPr>
            <a:r>
              <a:rPr lang="ru-RU" sz="2800"/>
              <a:t>какая помощь оказывается.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931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1181</TotalTime>
  <Words>1563</Words>
  <Application>Microsoft Office PowerPoint</Application>
  <DocSecurity>0</DocSecurity>
  <PresentationFormat>Произвольный</PresentationFormat>
  <Paragraphs>219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Calibri</vt:lpstr>
      <vt:lpstr>Montserrat Semi Bold</vt:lpstr>
      <vt:lpstr>Open Sans</vt:lpstr>
      <vt:lpstr>Open Sans Light</vt:lpstr>
      <vt:lpstr>PFDinDisplayPro-Regular</vt:lpstr>
      <vt:lpstr>Stem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Учетная запись Майкрософт</cp:lastModifiedBy>
  <cp:revision>128</cp:revision>
  <dcterms:modified xsi:type="dcterms:W3CDTF">2024-07-02T03:54:12Z</dcterms:modified>
  <cp:category/>
  <dc:identifier/>
  <cp:contentStatus/>
  <dc:language/>
  <cp:version/>
</cp:coreProperties>
</file>