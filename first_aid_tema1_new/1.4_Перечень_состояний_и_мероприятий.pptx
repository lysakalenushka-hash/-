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88" r:id="rId11"/>
    <p:sldId id="289" r:id="rId12"/>
    <p:sldId id="290" r:id="rId13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1.4. ПЕРЕЧЕНЬ СОСТОЯНИЙ И МЕРОПРИЯТИЙ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 И МЕРОПРИЯТИЙ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7" y="2604670"/>
            <a:ext cx="85968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1"/>
            <a:ext cx="2727075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7" y="3861097"/>
            <a:ext cx="7589738" cy="4258672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Первая помощь 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0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596810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55993" y="1559411"/>
            <a:ext cx="1865012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903341" y="1793793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903341" y="2600100"/>
            <a:ext cx="22037612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dirty="0" smtClean="0"/>
              <a:t>приказом Министерства Здравоохранения Российской Федерации от 03.05.2024 г. № 220н "Об утверждении порядка оказания первой помощи", </a:t>
            </a:r>
            <a:r>
              <a:rPr lang="ru-RU" sz="2800" dirty="0"/>
              <a:t>первая помощь оказывается при следующих состояниях: 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814736" y="4099717"/>
            <a:ext cx="20984570" cy="6634972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 dirty="0">
                    <a:solidFill>
                      <a:schemeClr val="accent6"/>
                    </a:solidFill>
                    <a:latin typeface="Open Sans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Укусы или </a:t>
                  </a:r>
                  <a:r>
                    <a:rPr lang="ru-RU" dirty="0" err="1">
                      <a:solidFill>
                        <a:schemeClr val="accent6"/>
                      </a:solidFill>
                      <a:latin typeface="Open Sans"/>
                    </a:rPr>
                    <a:t>ужаливания</a:t>
                  </a: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 ядовитых животных</a:t>
                  </a:r>
                  <a:endParaRPr lang="ru-RU" dirty="0">
                    <a:solidFill>
                      <a:schemeClr val="accent6"/>
                    </a:solidFill>
                    <a:latin typeface="Open Sans"/>
                  </a:endParaRP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4717814" y="11088414"/>
            <a:ext cx="5710218" cy="873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Судорожный приступ, </a:t>
            </a:r>
            <a:endParaRPr lang="ru-RU" dirty="0" smtClean="0">
              <a:solidFill>
                <a:schemeClr val="accent6"/>
              </a:solidFill>
            </a:endParaRPr>
          </a:p>
          <a:p>
            <a:r>
              <a:rPr lang="ru-RU" dirty="0" smtClean="0">
                <a:solidFill>
                  <a:schemeClr val="accent6"/>
                </a:solidFill>
              </a:rPr>
              <a:t>сопровождающийся </a:t>
            </a:r>
            <a:r>
              <a:rPr lang="ru-RU" dirty="0">
                <a:solidFill>
                  <a:schemeClr val="accent6"/>
                </a:solidFill>
              </a:rPr>
              <a:t>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93" y="10631141"/>
            <a:ext cx="2467440" cy="15490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6956" y="10688390"/>
            <a:ext cx="2701882" cy="211451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5936416" y="11408722"/>
            <a:ext cx="6494085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И ПОСЛЕДОВАТЕЛЬНОСТЬ ИХ ВЫПОЛНЕНИЯ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1750840" y="3833664"/>
            <a:ext cx="2203761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b="1" dirty="0"/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2800" dirty="0"/>
              <a:t>", </a:t>
            </a:r>
            <a:r>
              <a:rPr lang="ru-RU" sz="2800" dirty="0"/>
              <a:t>при указанных состояниях выполняются следующие мероприятия: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оценке обстановки и обеспечению безопасных условий для оказания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Вызов скорой медицинской помощи, других специальных служб.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Определение наличия сознания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восстановлению проходимости дыхательных путей и определению признаков жизни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проведению сердечно-легочной реанимации до появления признаков жизни.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поддержанию проходимости дыхательных путей.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обзорному осмотру пострадавшего и временной остановке наружного кровотечения.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Придание пострадавшему оптимального положения тела.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Контроль состояния пострадавшего (сознание, дыхание, кровообращение) и оказание психологической поддержки.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Передача пострадавшего бригаде скорой медицинской помощи, другим специальным службам.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