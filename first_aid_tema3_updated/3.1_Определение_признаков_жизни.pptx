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1" r:id="rId4"/>
    <p:sldId id="274" r:id="rId5"/>
    <p:sldId id="273" r:id="rId6"/>
    <p:sldId id="258" r:id="rId7"/>
    <p:sldId id="270" r:id="rId8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pos="7680">
          <p15:clr>
            <a:srgbClr val="A4A3A4"/>
          </p15:clr>
        </p15:guide>
        <p15:guide id="2" orient="horz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14" y="120"/>
      </p:cViewPr>
      <p:guideLst>
        <p:guide pos="7680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ОПРЕДЕЛЕНИЕ ПРИЗНАКОВ ЖИЗНИ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2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ОПРЕДЕЛЕНИЕ ПРИЗНАКОВ ЖИЗНИ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1632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3.1  Определение признаков жизни  ·  ред. № 805 с 01.09.2026</a:t>
            </a:r>
            <a:endParaRPr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171035" y="3530721"/>
            <a:ext cx="8106833" cy="9541119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2975050" y="4516532"/>
            <a:ext cx="1060470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535353"/>
                </a:solidFill>
                <a:latin typeface="Open Sans"/>
              </a:rPr>
              <a:t>По новой редакции Прил. № 2 (№ 805): теория — «Определение признаков жизни».</a:t>
            </a:r>
            <a:endParaRPr/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/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535353"/>
                </a:solidFill>
                <a:latin typeface="Open Sans"/>
              </a:rPr>
              <a:t>Признаки жизни для решения о СЛР: наличие сознания и нормального дыхания.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Проверка пульса на магистральных артериях для решения о СЛР не рекомендуется (недостаточная точность).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/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Внезапная смерть может быть вызвана заболеваниями (инфаркт, нарушения ритма) или внешним воздействием (травма, электротравма, утопление и др.). Алгоритм СЛР единый.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КОНТЕКСТ: ПРИЧИНЫ ОСТАНОВКИ ДЫХАНИЯ И КРОВООБРАЩЕНИЯ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73583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>4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ОПРЕДЕЛЕНИЕ ПРИЗНАКОВ ЖИЗНИ</a:t>
            </a:r>
            <a:endParaRPr lang="ru-RU" sz="4600" b="0" i="0" u="none" strike="noStrike" cap="none" spc="0" dirty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1632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3.1  Определение признаков жизни  ·  ред. № 805 с 01.09.2026</a:t>
            </a:r>
            <a:endParaRPr/>
          </a:p>
        </p:txBody>
      </p:sp>
      <p:sp>
        <p:nvSpPr>
          <p:cNvPr id="17" name="Прямоугольник 16"/>
          <p:cNvSpPr/>
          <p:nvPr/>
        </p:nvSpPr>
        <p:spPr bwMode="auto">
          <a:xfrm>
            <a:off x="12627050" y="4757430"/>
            <a:ext cx="1060470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535353"/>
                </a:solidFill>
                <a:latin typeface="Open Sans"/>
              </a:rPr>
              <a:t>Заболевания: инфаркт миокарда, нарушения ритма сердца и др.</a:t>
            </a:r>
            <a:endParaRPr sz="24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Внешние воздействия: травма, поражение электрическим током, утопление и др.</a:t>
            </a:r>
          </a:p>
          <a:p>
            <a:pPr>
              <a:spcAft>
                <a:spcPts val="8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/>
            </a:r>
          </a:p>
          <a:p>
            <a:pPr>
              <a:spcAft>
                <a:spcPts val="800"/>
              </a:spcAft>
            </a:pPr>
            <a:r>
              <a:rPr sz="2800" b="1">
                <a:solidFill>
                  <a:srgbClr val="535353"/>
                </a:solidFill>
                <a:latin typeface="Open Sans"/>
              </a:rPr>
              <a:t>Вне зависимости от причины — сердечно-легочная реанимация проводится по единому алгоритму (пособие Минздрава).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252" y="4468638"/>
            <a:ext cx="10246366" cy="550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94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sz="4400" b="1">
                <a:solidFill>
                  <a:srgbClr val="4D4D4D"/>
                </a:solidFill>
                <a:latin typeface="Montserrat Semi Bold"/>
              </a:rPr>
              <a:t>СПОСОБЫ ПРОВЕРКИ СОЗНАНИЯ И ДЫХАНИЯ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135757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6</a:t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ОПРЕДЕЛЕНИЕ ПРИЗНАКОВ ЖИЗНИ: ПОРЯДОК ПРОВЕРКИ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п. 3.1  Определение признаков жизни  ·  ред. № 805 с 01.09.2026</a:t>
            </a:r>
            <a:endParaRPr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90349" y="6399134"/>
            <a:ext cx="7207971" cy="56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 bwMode="auto">
          <a:xfrm>
            <a:off x="1732785" y="4564183"/>
            <a:ext cx="5283781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1. Сознание: тормошение за плечи + «Что с вами? Нужна ли вам помощь?»</a:t>
            </a:r>
            <a:endParaRPr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/>
        </p:blipFill>
        <p:spPr bwMode="auto">
          <a:xfrm>
            <a:off x="7455063" y="5791722"/>
            <a:ext cx="8864792" cy="6902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8940756" y="4595560"/>
            <a:ext cx="5893406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2. Открытие дыхательных путей: запрокинуть голову, поднять подбородок</a:t>
            </a:r>
            <a:endParaRPr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/>
        </p:blipFill>
        <p:spPr bwMode="auto">
          <a:xfrm>
            <a:off x="15595832" y="6035246"/>
            <a:ext cx="8489090" cy="6962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16604171" y="4564183"/>
            <a:ext cx="5893406" cy="726351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3200" b="1">
                <a:solidFill>
                  <a:srgbClr val="535353"/>
                </a:solidFill>
                <a:latin typeface="Open Sans"/>
              </a:rPr>
              <a:t>Шаг 3. Дыхание ≤ 10 с (видеть, слышать, чувствовать). Нет / агональное → СМП + СЛР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187</Words>
  <Application>Microsoft Office PowerPoint</Application>
  <DocSecurity>0</DocSecurity>
  <PresentationFormat>Произвольный</PresentationFormat>
  <Paragraphs>25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Calibri</vt:lpstr>
      <vt:lpstr>Montserrat Semi Bold</vt:lpstr>
      <vt:lpstr>Open Sans</vt:lpstr>
      <vt:lpstr>Open Sans Light</vt:lpstr>
      <vt:lpstr>PFDinDisplayPro-Regular</vt:lpstr>
      <vt:lpstr>6_Office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Valera Plocka</cp:lastModifiedBy>
  <cp:revision>124</cp:revision>
  <dcterms:modified xsi:type="dcterms:W3CDTF">2026-08-03T19:55:24Z</dcterms:modified>
  <cp:category/>
  <dc:identifier/>
  <cp:contentStatus/>
  <dc:language/>
  <cp:version/>
</cp:coreProperties>
</file>