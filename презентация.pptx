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64592" cy="164592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КУРС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Проектирование и эксплуатация газопроводов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30613"/>
                </a:solidFill>
                <a:latin typeface="Inter"/>
              </a:rPr>
              <a:t>Проектирование и эксплуатация газопроводов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Нормативные требования, технические решения, безопасная эксплуатация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76072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8978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Газопроводы · ФНП · Промышленная безопасность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Модуль 2. Тема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Нормативная база проектирования газопроводов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Технический регламент и своды правил, обязательные при проектировании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11535" cy="2514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Inter"/>
              </a:rPr>
              <a:t>Проектирование сетей газораспределения и газопотребления осуществляется в соответствии со следующими нормативными документами: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Технический регламент о безопасности сетей газораспределения и газопотребления (ПП РФ № 870) — устанавливает обязательные требования к безопасности сетей газораспределения и газопотребления.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ФНП № 531 — федеральные нормы и правила в области промышленной безопасности, регулирующие требования к проектированию, строительству и эксплуатации газопроводов.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СП 42-101 — свод правил, регламентирующий общие положения по проектированию и строительству газораспределительных систем из металлических и полиэтиленовых труб.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СП 42-102 — свод правил по проектированию и строительству стальных газопроводов.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СП 42-103 — свод правил по проектированию и строительству газопроводов из полиэтиленовых труб и реконструкции изношенных газопроводов.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СП 62.13330 — актуализированная редакция СНиП 42-01, устанавливающая требования к газораспределительным системам.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Выбор технических и технологических устройств, материала и конструкции труб и соединительных деталей, защитных покрытий, вида и способа прокладки газопроводов осуществляется с учётом требуемых по условиям эксплуатации параметров давления и температуры природного газа, гидрогеологических данных, природных условий и техногенных воздействий.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5212080"/>
            <a:ext cx="548639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53492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Все перечисленные нормативные документы применяются в совокупности. Несоблюдение требований ПП РФ № 870, ФНП № 531, СП 42-101, СП 42-102, СП 42-103 и СП 62.13330 при проектировании газопроводов не допускается.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Модуль 2. Тема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Нормативная база и ключевые требования к проектированию газопроводов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Технический регламент (ПП РФ № 870), ФНП № 531, СП 42-101, СП 42-102, СП 42-103, СП 62.13330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85465"/>
            <a:ext cx="5227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Материалы и конструкция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905506"/>
            <a:ext cx="5227167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3042665"/>
            <a:ext cx="522716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Выбор материалов и устройств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1265"/>
            <a:ext cx="5227167" cy="1028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Выбор технических и технологических устройств, материала и конструкции труб и соединительных деталей, защитных покрытий, вида и способа прокладки газопроводов осуществляется с учётом давления и температуры природного газа, гидрогеологических данных, природных условий и техногенных воздействий.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73702"/>
            <a:ext cx="522716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Расчёты на прочность и пропускную способность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2302"/>
            <a:ext cx="522716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При проектировании выполняются расчёты на прочность, устойчивость и пропускную способность. Толщина стенок труб и соединительных деталей определяется расчётом с учётом давления газа, внешних воздействий, коэффициентов надёжности и материала труб.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2791206"/>
            <a:ext cx="5227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Трассы и способ прокладки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24447" y="3111246"/>
            <a:ext cx="5227168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4447" y="3248406"/>
            <a:ext cx="522716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Выбор трассы (СП 42-103, СП 62.13330)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3477006"/>
            <a:ext cx="5227167" cy="1028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Вид и способ прокладки наружных газопроводов, расстояния по горизонтали и вертикали от газопроводов до смежных зданий, сооружений, естественных и искусственных преград выбираются с учётом давления в газопроводе, плотности застройки и уровня ответственности зданий.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4679442"/>
            <a:ext cx="522716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Цель требований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4908042"/>
            <a:ext cx="52271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Выбор трассы и параметров прокладки осуществляется таким образом, чтобы обеспечить безопасность транспортирования природного газа.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8978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30613"/>
                </a:solidFill>
                <a:latin typeface="Inter"/>
              </a:rPr>
              <a:t>Все требования к выбору материалов, расчётам и прокладке трасс устанавливаются в соответствии с ПП РФ № 870, ФНП № 531, СП 42-101, СП 42-102, СП 42-103 и СП 62.13330. Отступление от нормативных параметров не допускается.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Модуль 2. Тема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Нормативная база и ключевые требования к проектированию газопроводов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23844"/>
            <a:ext cx="5227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Материалы и конструкция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3643884"/>
            <a:ext cx="5227167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781044"/>
            <a:ext cx="522716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Защита от коррозии (СП 42-101, СП 42-102)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09644"/>
            <a:ext cx="522716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При проектировании предусматриваются методы и средства защиты от коррозии стальных подземных и надземных газопроводов, а также стальных вставок полиэтиленовых газопроводов. Защитные покрытия предусматриваются в местах входа и выхода из земли, пересечений с коллекторами, тоннелями, дорогами, железнодорожными путями, нефтепроводами и теплотрассами.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3632453"/>
            <a:ext cx="52271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Трассы и способ прокладки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24447" y="3952494"/>
            <a:ext cx="5227168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24447" y="4089654"/>
            <a:ext cx="522716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Применяемые нормативные документы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4318254"/>
            <a:ext cx="5227167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ПП РФ № 870 (Технический регламент о безопасности сетей газораспределения и газопотребления), ФНП № 531, СП 42-101, СП 42-102, СП 42-103, СП 62.13330.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64592" cy="164592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МОДУЛЬ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Проектирование и эксплуатация газопроводов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30613"/>
                </a:solidFill>
                <a:latin typeface="Inter"/>
              </a:rPr>
              <a:t>Подземная прокладка газопроводов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Требования к проектированию, монтажу и эксплуатации подземных газопроводов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76072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8978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Подземная прокладка · Изоляция · Глубина заложения · Пересечения коммуникаций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Проектирование подземных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Факторы выбора глубины прокладки газопровода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Климатические, гидрогеологические условия и внешние воздействия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1153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Inter"/>
              </a:rPr>
              <a:t>Глубина прокладки подземных газопроводов принимается с учётом климатических и гидрогеологических условий и внешних воздействий.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На оползневых и подверженных эрозии участках подземный газопровод проектируется на 0,5 м ниже плоскости скольжения оползня или границы прогнозируемого размыва.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В сейсмических районах и на территориях подземных горных разработок предусматриваются технологические решения по снижению деформаций и напряжений: компенсаторы, надземная прокладка и иные технические меры.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Количество, места размещения и вид запорной арматуры на наружных газопроводах должны обеспечивать отключение участков для локализации аварий и проведения ремонтных работ.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• Конструкции зданий ГРП должны обеспечивать взрывоустойчивость: строительные конструкции здания ГРП — I и II степени огнестойкости, класс С0; ГРПБ и пунктов учёта газа — III–V степени огнестойкости, класс С0.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4837176"/>
            <a:ext cx="548639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4974336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Технологические устройства ГРП, ГРПБ и пунктов учёта газа оснащаются молниезащитой, заземлением и вентиляцией; после первого отключающего устройства устанавливаются продувочные газопроводы; предохранительные сбросные клапаны — со сбросными газопроводами.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Климатические и гидрогеологические условия прокладки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Глубина прокладки подземных газопроводов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Определяется с учётом климатических и гидрогеологических условий и внешних воздействий. На оползневых и подверженных эрозии участках газопровод проектируется ниже плоскости скольжения оползня или границы прогнозируемого размыва. В сейсмических районах предусматриваются компенсаторы и иные технические решения. Количество, места размещения и вид запорной арматуры обеспечивают отключение участков для локализации аварий. Конструкции зданий ГРП — I и II степени огнестойкости (класс С0); технологические устройства оснащаются молниезащитой, заземлением и вентиляцией.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23006"/>
            <a:ext cx="4572000" cy="2011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800" b="1">
                <a:solidFill>
                  <a:srgbClr val="E30613"/>
                </a:solidFill>
                <a:latin typeface="Inter"/>
              </a:rPr>
              <a:t>0,5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9432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7280"/>
                </a:solidFill>
                <a:latin typeface="Inter"/>
              </a:rPr>
              <a:t>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65215" y="3470046"/>
            <a:ext cx="502920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65215" y="3607206"/>
            <a:ext cx="502920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Минимальное заглубление газопровода ниже плоскости скольжения оползня или границы прогнозируемого размыва на оползневых и подверженных эрозии участках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418327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Inter"/>
              </a:rPr>
              <a:t>Охранная зона наружных газопроводов — 2 м с каждой стороны; вокруг отдельно стоящих ГРП — 10 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Итоги модуля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Нормы глубины прокладки газопроводов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Ключевые положения, рассмотренные в модуле</a:t>
            </a:r>
          </a:p>
        </p:txBody>
      </p:sp>
      <p:pic>
        <p:nvPicPr>
          <p:cNvPr id="6" name="Picture 5" descr="list-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128016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622041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Минимальная глубина прокладки подземных газопроводов устанавливается в зависимости от категории газопровода, давления газа и характера застройки территории.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22041"/>
            <a:ext cx="7071055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Inter"/>
              </a:rPr>
              <a:t>Глубина до верха трубы — не менее 0,8 м (для территорий с возможным движением транспорта — не менее 1,0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9242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В местах пересечения с автомобильными и железными дорогами глубина прокладки увеличивается в соответствии с требованиями к защитным футлярам и охранным зонам.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392424"/>
            <a:ext cx="7071055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Inter"/>
              </a:rPr>
              <a:t>Футляр выводится на расстояние не менее 2 м от края проезжей части или подошвы насыпи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280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При прокладке в скальных, вечномёрзлых и просадочных грунтах глубина определяется расчётом с учётом нормативных требований к устойчивости и защите трубопровода.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162806"/>
            <a:ext cx="70710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Inter"/>
              </a:rPr>
              <a:t>Дополнительно предусматривается защитный слой или обсыпка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8459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Отклонение от установленных норм глубины допускается только при соответствующем техническом обосновании и компенсирующих защитных мерах.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5333238"/>
            <a:ext cx="10911535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5516118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Inter"/>
              </a:rPr>
              <a:t>Следующий модуль посвящён требованиям к материалам и соединениям газопроводов.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64592" cy="164592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МОДУЛЬ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Проектирование и эксплуатация газопроводов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30613"/>
                </a:solidFill>
                <a:latin typeface="Inter"/>
              </a:rPr>
              <a:t>ГРП и взрывоустойчивость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Газорегуляторные пункты: конструктивные требования, взрывозащита, безопасная эксплуатация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76072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8978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ГРП · взрывоустойчивость · газоснабжение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Взрывоустойчивость помещений ГРП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Легкосбрасываемые конструкции в помещениях линий редуцирования ГРП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Требования к площади и отделению помещений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1153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Inter"/>
              </a:rPr>
              <a:t>Для обеспечения взрывоустойчивости помещений линий редуцирования ГРП и технологических помещений пунктов учёта предусматриваются легкосбрасываемые конструкции площадью не менее 0,05 м² на 1 м³ свободного объёма помещения. Помещение линий редуцирования отделяется противопожарной стеной 2-го типа или перегородкой 1-го типа.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Давление природного газа на входе в газорегуляторную установку не должно превышать 0,6 МПа. Давление газа во внутренних газопроводах должно соответствовать параметрам изготовителя оборудования, но не превышать значений, установленных техническим регламентом.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Газорегуляторные установки (ГРУ) разрешается размещать в помещениях с газоиспользующим оборудованием или в смежных помещениях с открытыми проёмами. Не допускается проектировать размещение ГРУ в помещениях категорий А и Б по взрывопожарной опасности. Не допускается проектирование внутренних газопроводов в помещениях категорий А и Б, во взрывоопасных зонах, в подвалах и цокольных этажах (кроме случаев, обусловленных технологией).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4837176"/>
            <a:ext cx="548639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4974336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При прокладке внутренних газопроводов в подвальных и цокольных этажах (если прокладка обусловлена технологией) автоматика безопасности должна прекращать подачу газа при нарушении вентиляции; помещения оборудуются системой контроля загазованности с автоматическим отключением подачи газа.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Взрывоустойчивость помещений ГРП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Легкосбрасываемые конструкции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Помещения линий редуцирования ГРП и технологические помещения пунктов учёта газа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23006"/>
            <a:ext cx="4572000" cy="2011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800" b="1">
                <a:solidFill>
                  <a:srgbClr val="E30613"/>
                </a:solidFill>
                <a:latin typeface="Inter"/>
              </a:rPr>
              <a:t>0,05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9432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B7280"/>
                </a:solidFill>
                <a:latin typeface="Inter"/>
              </a:rPr>
              <a:t>м² / м³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65215" y="3470046"/>
            <a:ext cx="502920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65215" y="360720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Минимальная площадь легкосбрасываемых конструкций на 1 м³ свободного объёма помещения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4064406"/>
            <a:ext cx="50292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Inter"/>
              </a:rPr>
              <a:t>Требование распространяется на внутренние газорегуляторные установки и ГРП всех видов. Давление природного газа на входе в ГРУ не должно превышать 0,6 МПа. Помещение линий редуцирования отделяется противопожарной стеной 2-го типа или перегородкой 1-го типа.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Взрывоустойчивость помещений ГРП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Легкосбрасываемые конструкции (ЛСК): наличие и отсутствие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Внутренние газопроводы и газорегуляторные помещения — требования к давлению и конструктивной защите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14600"/>
            <a:ext cx="5318607" cy="140314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87752"/>
            <a:ext cx="495284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30613"/>
                </a:solidFill>
                <a:latin typeface="Inter"/>
              </a:rPr>
              <a:t>ОШИБКА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4952847" cy="10099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Помещение линии редуцирования ГРП проектируется без легкосбрасываемых конструкций. При аварийном повышении давления природного газа взрывная волна разрушает несущие стены и перекрытия здания.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514600"/>
            <a:ext cx="5318607" cy="1403146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2587752"/>
            <a:ext cx="495284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30613"/>
                </a:solidFill>
                <a:latin typeface="Inter"/>
              </a:rPr>
              <a:t>ПРАВИЛЬНО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834640"/>
            <a:ext cx="4952847" cy="10099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Для обеспечения взрывоустойчивости помещений линий редуцирования ГРП и технологических помещений пунктов учёта предусматриваются легкосбрасываемые конструкции (ЛСК) площадью не менее 0,05 м² на 1 м³ свободного объёма помещения. При взрыве ЛСК сбрасывают давление наружу, предотвращая разрушение несущих конструкций. Помещение линий редуцирования дополнительно отделяется противопожарной стеной 2-го типа или перегородкой 1-го типа.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90898"/>
            <a:ext cx="10911535" cy="7143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Inter"/>
              </a:rPr>
              <a:t>Отсутствие ЛСК во внутренних газорегуляторных помещениях недопустимо: нормативная площадь ЛСК — не менее 0,05 м² на каждый 1 м³ свободного объёма помещения. Давление природного газа на входе в газорегуляторную установку не должно превышать 0,6 МПа. Давление газа во внутренних газопроводах не должно превышать значений, установленных техническим регламентом и параметрами изготовителя оборудования.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Итоги модуля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Ключевые требования к газорегуляторным пунктам (ГРП)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Основные нормативные положения, изученные в модуле</a:t>
            </a:r>
          </a:p>
        </p:txBody>
      </p:sp>
      <p:pic>
        <p:nvPicPr>
          <p:cNvPr id="6" name="Picture 5" descr="list-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128016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58444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Назначение ГРП — редуцирование давления газа и поддержание его на заданном уровне; размещение оборудования осуществляется в соответствии с требованиями проектной документации и действующих ФНП.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Здания и помещения ГРП относятся к категории взрывопожароопасных объектов; строительные решения, вентиляция и электрооборудование выбираются с учётом данной классификации.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2803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Оборудование ГРП (предохранительные клапаны, регуляторы давления, фильтры) подлежит периодическому техническому обслуживанию и проверке в сроки, установленные эксплуатационной документацией и ФНП в области промышленной безопасности.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Итоги модуля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Ключевые требования к газорегуляторным пунктам (ГРП)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Доступ в ГРП посторонних лиц запрещается; работы внутри помещения выполняются не менее чем двумя работниками с соблюдением нарядно-допускной системы.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033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Параметры настройки предохранительно-запорных и предохранительно-сбросных клапанов фиксируются в паспорте оборудования и проверяются в ходе каждого технического обслуживания.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251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Эксплуатирующая организация обязана вести эксплуатационную документацию ГРП: журналы технического обслуживания, паспорта оборудования, схемы трубопроводов.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4873752"/>
            <a:ext cx="10911535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056632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Inter"/>
              </a:rPr>
              <a:t>Следующий модуль посвящён требованиям к испытаниям и приёмке газопроводов в эксплуатацию.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64592" cy="164592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МОДУЛЬ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Проектирование и эксплуатация газопроводов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30613"/>
                </a:solidFill>
                <a:latin typeface="Inter"/>
              </a:rPr>
              <a:t>Продувка и вентиляция газопроводов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Требования к организации продувки, контролю загазованности и вентиляции при эксплуатации газовых систем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76072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8978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Продувка · Вентиляция · Безопасность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Внутренние газопроводы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Продувочные газопроводы: назначение и размещение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Вентиляция, контроль загазованности и технологическая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11535" cy="166420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Inter"/>
              </a:rPr>
              <a:t>На внутренних газопроводах предусматриваются продувочные газопроводы на удалённых участках и на ответвлениях к оборудованию.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При проектировании технологических устройств предусматривается оснащение молниезащитой, заземлением и вентиляцией.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Помещения с газоиспользующим оборудованием проектируются с системами контроля загазованности (по метану и оксиду углерода) с выводом сигнала на пульт управления. Вентиляция таких помещений должна обеспечивать воздухообмен не менее трёхкратного в час — для котельных с постоянным присутствием персонала и встраиваемых котельных.</a:t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Bef>
                <a:spcPts val="525"/>
              </a:spcBef>
            </a:pPr>
            <a:r>
              <a:rPr sz="1500" b="0" i="0">
                <a:solidFill>
                  <a:srgbClr val="6B7280"/>
                </a:solidFill>
                <a:latin typeface="Inter"/>
              </a:rPr>
              <a:t>Технологические схемы газопроводов вывешиваются в помещениях пунктов редуцирования газа и щитов управления или воспроизводятся на экране систем автоматического управления.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4361688"/>
            <a:ext cx="548639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4498848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Inter"/>
              </a:rPr>
              <a:t>На каждый газопровод (наружный и внутренний) и технологическое устройство (пункт редуцирования газа, ГРУ, котёл) составляются паспорта, содержащие основные данные об объекте, технических устройствах и контрольно-измерительных приборах, а также сведения о техническом обслуживании, диагностировании и ремонте.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Внутренние газопроводы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Продувочные газопроводы и вентиляция на ответвлениях к оборудованию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Inter"/>
              </a:rPr>
              <a:t>Требования к проектированию внутренних газопроводов и помещений с газоиспользующим оборудованием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91727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Обязательные проектные решения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711767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84892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48927"/>
            <a:ext cx="10454335" cy="4457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Inter"/>
              </a:rPr>
              <a:t>На внутренних газопроводах предусматриваются продувочные газопроводы на удалённых участках и на ответвлениях к оборудованию.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271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22713"/>
            <a:ext cx="10454335" cy="4457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Inter"/>
              </a:rPr>
              <a:t>При проектировании технологических устройств предусматривается оснащение молниезащитой, заземлением и вентиляцией.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96499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96499"/>
            <a:ext cx="10454335" cy="4457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Inter"/>
              </a:rPr>
              <a:t>Помещения с газоиспользующим оборудованием проектируются с системами контроля загазованности по метану и оксиду углерода с выводом сигнала на пульт управления.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0285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570285"/>
            <a:ext cx="10454335" cy="4457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Inter"/>
              </a:rPr>
              <a:t>Вентиляция помещений с газоиспользующим оборудованием обеспечивает воздухообмен не менее трёхкратного в час — для котельных с постоянным присутствием персонала и встраиваемых котельных.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4071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144071"/>
            <a:ext cx="10454335" cy="668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Inter"/>
              </a:rPr>
              <a:t>На каждый газопровод и каждое технологическое устройство (пункт редуцирования газа, ГРУ, котёл) составляются паспорта с данными об объекте, технических устройствах, КИП, а также сведениями о техническом обслуживании, диагностировании и ремонте.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4074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0613"/>
                </a:solidFill>
                <a:latin typeface="Inter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940742"/>
            <a:ext cx="10454335" cy="4457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Inter"/>
              </a:rPr>
              <a:t>Технологические схемы газопроводов вывешиваются в помещениях пунктов редуцирования газа и щитов управления или воспроизводятся на экране систем автоматического управления.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Итоговый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30613"/>
                </a:solidFill>
                <a:latin typeface="Inter"/>
              </a:rPr>
              <a:t>Проектирование и эксплуатация газопроводов: ключевые выводы курса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Inter"/>
              </a:rPr>
              <a:t>Нормативная 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286000"/>
            <a:ext cx="7253935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Проектирование и эксплуатация газопроводов регулируются Федеральным законом № 116-ФЗ «О промышленной безопасности опасных производственных объектов», Техническим регламентом о безопасности сетей газораспределения и газопотребления (Постановление Правительства РФ № 870), а также федеральными нормами и правилами в области промышленной безопасности.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73043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Inter"/>
              </a:rPr>
              <a:t>Классификация газопроводов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3773043"/>
            <a:ext cx="7253935" cy="1028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Inter"/>
              </a:rPr>
              <a:t>Газопроводы классифицируются по давлению (низкое, среднее, высокое), назначению (межпоселковые, распределительные, вводы, импульсные, продувочные) и материалу (стальные, полиэтиленовые). Категория газопровода определяет требования к проектированию, материалам, строительству и эксплуатации.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4801743"/>
            <a:ext cx="7253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Inter"/>
              </a:rPr>
              <a:t>… ещё 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576072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Inter"/>
              </a:rPr>
              <a:t>Все требования применяются в редакциях, действующих на дату проведения работ. При изменении нормативной базы надлежит руководствоваться актуальными версиями документов.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6355080"/>
            <a:ext cx="1091153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E30613"/>
                </a:solidFill>
                <a:latin typeface="Inter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