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73" r:id="rId24"/>
    <p:sldId id="274" r:id="rId25"/>
    <p:sldId id="275" r:id="rId26"/>
    <p:sldId id="276" r:id="rId27"/>
    <p:sldId id="277" r:id="rId28"/>
    <p:sldId id="278" r:id="rId29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Введение в модуль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Техническое обслуживание и нормы износа грузоподъёмного оборудования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Цели и структура модуля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Модуль охватывает три ключевых направления:
1. Нормативная база — требования к техническому обслуживанию грузоподъёмных машин и механизмов, установленные действующими НПА и отраслевыми стандартами.
2. Нормы износа — критерии предельного состояния узлов и деталей: количественные показатели износа, при достижении которых эксплуатация оборудования не допускается.
3. Порядок технического обслуживания — периодичность, объём и документирование плановых технических осмотров, ревизий и ремонтов.
По завершении модуля специалист умеет определять степень износа грузоподъёмных элементов, соотносить фактическое состояние оборудования с нормативными предельными значениями и правильно оформлять результаты технического контроля.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97433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Каждое утверждение модуля подкреплено ссылкой на нормативный документ или технический норматив.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Требования к эксплуатации ПС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Запрет эксплуатации ПС с нарушениями требований по установке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Пункт е) требований к эксплуатирующей организации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16642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Эксплуатирующая организация обязана не эксплуатировать подъёмные сооружения (ПС) с нарушениями требований по их установке.
Данное требование действует в совокупности с иными запретами:
• не эксплуатировать ПС с неработоспособными ограничителями, указателями и регистраторами (в том числе системами автоматического контроля);
• не допускать эксплуатацию ПС, если выявлены дефекты узлов, механизмов или конструкций;
• не допускать движение ПС при нарушениях требований установки;
• соблюдать требования Госкорпорации (регулятора в сфере промышленной безопасности) и руководства (инструкции) по эксплуатации ПС.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361688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498848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Если требования по установке ПС не соблюдены — эксплуатация недопустима до устранения нарушений. Источник: a7d826cd_4.docx, Раздел 1, пункт е).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Раздел 1. Требования к эксплуатирующей организации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Общий порядок проведения технического обслуживания ПС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Эксплуатирующая организация обязана выполнять следующие требования (а–е)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Обязательные требования к эксплуатации ПС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б) Не нарушать паспортные режимы эксплуатации ПС: грузоподъёмность, грузовой момент, группу классификации режима.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в) Не допускать к применению неработоспособные грузозахватные приспособления и тару, не соответствующие технологии выполняемых работ.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г) Не эксплуатировать ПС с неработоспособными ограничителями, указателями и регистраторами. Автоматическое срабатывание ограничителей — обязательное условие безопасной работы.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05  д) Не эксплуатировать ПС на неработоспособных рельсовых путях.  06  е) Не эксплуатировать ПС с нарушениями требований по установке.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Эксплуатация ПС при наличии нарушений требований по установке — запрещена. Дефекты, выявленные при техническом обслуживании, устраняются до возобновления работы.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Требования к эксплуатации ПС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Запрет эксплуатации ПС с нарушениями требований по установке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Пункт «е» обязательных требований эксплуатирующей организации (Раздел 1, a7d826cd_4.docx)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8640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Требование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158680"/>
            <a:ext cx="531860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295840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е) Нарушения при установке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4440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Не эксплуатировать ПС с нарушениями требований по их установке.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86771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Автоматическое отключение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5371"/>
            <a:ext cx="5318607" cy="3771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Если ограничители, указатели или регистраторы неработоспособны — автоматическое продолжение эксплуатации недопустимо; ПС подлежит останову.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66297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Движение ПС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94897"/>
            <a:ext cx="5318607" cy="3771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Движение ПС разрешается только при соблюдении всех требований, предъявляемых к его установке и конфигурации на объекте.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2555748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Контекст и последствия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24447" y="2875788"/>
            <a:ext cx="531860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24447" y="3012948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Дефекты установки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3241548"/>
            <a:ext cx="5318607" cy="5657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Если в ходе осмотра выявлены дефекты монтажа или отступления от проектной документации — эксплуатация ПС незамедлительно прекращается до устранения нарушений.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3981069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Госкорпорации и ОПО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4209669"/>
            <a:ext cx="5318607" cy="3771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Требование распространяется на все организации (включая структуры Госкорпораций), эксплуатирующие ОПО с подъёмными сооружениями.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4760595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Если нарушение обнаружено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4989195"/>
            <a:ext cx="5318607" cy="5657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Если установлено несоответствие условий установки ПС паспортным или проектным данным — эксплуатация запрещена до получения разрешения уполномоченного специалиста.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8978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Эксплуатация ПС с нарушениями требований по установке запрещена. Дефекты устраняются до возобновления движения.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Требования к эксплуатации ПС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Нарушения при установке ПС: как нельзя и как должно быть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Пункт е) требований к эксплуатирующим организациям ОПО с ПС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514600"/>
            <a:ext cx="5410047" cy="1242212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87752"/>
            <a:ext cx="504428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Inter"/>
              </a:rPr>
              <a:t>ОШИБКА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5044287" cy="8490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ПС эксплуатируется с нарушениями требований по его установке. Движение и работа под нагрузкой продолжаются, даже если выявлены дефекты монтажа или отступления от проектной документации. Автоматическое отключение защит игнорируется. Госкорпорации и иные организации допускают эксплуатацию без устранения нарушений.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2514600"/>
            <a:ext cx="5410047" cy="1242212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5887" y="2587752"/>
            <a:ext cx="504428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Inter"/>
              </a:rPr>
              <a:t>ПРАВИЛЬНО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887" y="2834640"/>
            <a:ext cx="5044287" cy="8490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Не эксплуатировать ПС с нарушениями требований по их установке. Если в ходе проверки выявлены дефекты монтажа, несоответствие установки проектной или конструкторской документации — движение и работа ПС должны быть немедленно прекращены до устранения нарушений. Автоматическое отключение защитных устройств при нарушениях установки не должно обходиться.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29964"/>
            <a:ext cx="11094415" cy="632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Inter"/>
              </a:rPr>
              <a:t>Эксплуатация ПС с нарушениями требований по установке недопустима. Если выявлены дефекты или отступления от регламентированных условий монтажа — движение ПС прекращается. Это требование распространяется на все организации, включая Госкорпорации, эксплуатирующие ОПО с ПС.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Итоги модуля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Ключевые запреты и обязанности эксплуатирующей организации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Что должен обеспечить владелец ОПО с ПС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1094415" cy="19019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1. ОБЯЗАТЕЛЬНО назначить ответственных ИТР за производственный контроль, содержание ПС и безопасное производство работ.
2. ОБЯЗАТЕЛЬНО организовать порядок допуска к самостоятельной работе, проверку знаний и выдачу удостоверений.
3. ОБЯЗАТЕЛЬНО обеспечить ППР, ТК, схемы строповки, журналы, инструкции и контроль технологического процесса.
4. ОБЯЗАТЕЛЬНО ограждать опасные зоны и исключать нахождение людей под грузом.
5. ОБЯЗАТЕЛЬНО прекращать эксплуатацию ПС при угрозе аварии и при несоответствии технологическому процессу.
6. ЗАПРЕЩАЕТСЯ допускать в работу ПС при неисправностях, отсутствии документов, ППР/ТК или неаттестованном персонале.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416552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553712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Inter"/>
              </a:rPr>
              <a:t>Соблюдение обязанностей эксплуатирующей организации — базовое условие безопасной эксплуатации ПС на ОПО.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Модуль: Нормы износа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Нормы износа грузоподъёмного оборудования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Граница между допустимым и опасным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11887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Норма износа — это предельно допустимое значение изменения геометрических параметров, механических характеристик или массы элемента оборудования, при достижении которого дальнейшая эксплуатация запрещена. Контроль износа — обязательная часть технического обслуживания: превышение нормы означает потерю расчётного запаса прочности и прямую угрозу безопасности персонала и груза. Именно нормы износа определяют сроки замены крюков, канатов, тормозных колодок, блоков и несущих элементов конструкции.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886200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Эксплуатация оборудования с износом сверх нормативного — нарушение требований промышленной безопасности.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13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Выбраковка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Критерии выбраковки ходовых колес и блоков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Износ — основание для вывода оборудования из эксплуатации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95827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30613"/>
                </a:solidFill>
                <a:latin typeface="Inter"/>
              </a:rPr>
              <a:t>0,5%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156655" y="3642867"/>
            <a:ext cx="502920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56655" y="3780027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Разность диаметров колес, связанных кинематически, более 0,5 % — критерий выбраковки. Для блоков — износ ручья более 40 % от первоначального радиуса.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56655" y="423722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Источник: таблица браковки элементов ПС из 4.docx (ходовые колеса, блоки).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14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Выбраковка кинематических элементов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Трещины любых размеров — безусловный признак выбраковки барабана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Барабаны: критерии износа и недопустимые дефекты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7132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Барабаны подлежат выбраковке при обнаружении трещин любых размеров — независимо от их расположения и протяжённости. Дополнительным критерием выбраковки для блоков служит износ ручья более 40% от первоначального радиуса ручья блока. Контроль износа барабанов и блоков проводится в рамках технического обслуживания грузоподъёмного оборудования.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410712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547872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Источник: a7d826cd_4.docx, блок 2. Наличие трещины на барабане не допускает дальнейшей эксплуатации оборудования вне зависимости от размера дефекта.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15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Износ барабана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Критерий выбраковки барабанов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Износ ручья барабана по профилю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23006"/>
            <a:ext cx="4572000" cy="2011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800" b="1">
                <a:solidFill>
                  <a:srgbClr val="E30613"/>
                </a:solidFill>
                <a:latin typeface="Inter"/>
              </a:rPr>
              <a:t>&gt;2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9432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6B7280"/>
                </a:solidFill>
                <a:latin typeface="Inter"/>
              </a:rPr>
              <a:t>мм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56655" y="3470046"/>
            <a:ext cx="502920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156655" y="360720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Inter"/>
              </a:rPr>
              <a:t>Предельный износ ручья барабана по профилю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6655" y="406440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Трещины любых размеров — безусловное основание для выбраковки барабана.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16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Итог модуля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Ключевые пороговые значения для контроля износа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Параметры, превышение которых требует вывода оборудования из эксплуатации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36304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Крюки и грузозахватные органы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756344"/>
            <a:ext cx="531860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93504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Износ зева крюка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22104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Допуск не более 10% от исходной высоты сечения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84435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Остаточная деформация (скручивание)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13035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Не допускается; крюк подлежит замене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75366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Трещины и надрывы на теле крюка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03966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Не допускаются — немедленный вывод из эксплуатации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6297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Износ резьбы хвостовика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94897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Не более 10% от номинального профиля резьбы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57228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Зазор в замке крюка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85828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Не должен допускать самопроизвольного открытия; предохранитель исправен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2377440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Канаты, цепи, тормоза и металлоконструкции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24447" y="2697480"/>
            <a:ext cx="531860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24447" y="2834640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Обрывы проволок каната (на длине 6d)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3063240"/>
            <a:ext cx="5318607" cy="3771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Выбраковка согласно нормам: от 6 до 16 обрывов в зависимости от конструкции каната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3614166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Поверхностный износ / коррозия проволок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3842766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Выбраковка при износе ≥ 40% диаметра проволок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447" y="4205097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Износ звена пластинчатой цепи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4447" y="4433697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Не более 10% от исходного размера сечения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4447" y="4796028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Отход тормозной накладки от шкива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4447" y="5024628"/>
            <a:ext cx="5318607" cy="3771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Равномерный; суммарный износ накладки — не более 50% от первоначальной толщины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4447" y="5429250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Ходовые колеса и блоки: трещины любых размеров, износ реборды колеса &gt; 50 %, износ ручья блока &gt; 40 % — основания для выбраковки.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8978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Все пороговые значения применяются только при наличии актуального паспорта оборудования и записей в журнале технических осмотров. Эксплуатация оборудования с превышенными показателями износа запрещена до устранения нарушений.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17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Контроль состояния грузозахватных органов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Износ крюков и ходовых колёс: почему это критично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Предотвращение отказов начинается с измерений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95097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Крюки и ходовые колёса — элементы, на которые приходится наибольшая нагрузка при каждом цикле подъёма и перемещения груза. Износ этих деталей сверх допустимых пределов ведёт к потере несущей способности, деформации, а в критических случаях — к обрыву груза или сходу крана с рельсов. Своевременный контроль позволяет зафиксировать фактическое состояние детали, сравнить его с нормативным значением и принять решение о замене до наступления аварийной ситуации.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64845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78561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Плановые замеры — обязательная часть технического обслуживания грузоподъёмного оборудования.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18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Нормы износа крюков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Inter"/>
              </a:rPr>
              <a:t>Износ зева крюка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Критерий выбраковки по вертикальному сечению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23006"/>
            <a:ext cx="4572000" cy="2011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800" b="1">
                <a:solidFill>
                  <a:srgbClr val="E30613"/>
                </a:solidFill>
                <a:latin typeface="Inter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9432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6B7280"/>
                </a:solidFill>
                <a:latin typeface="Inter"/>
              </a:rPr>
              <a:t>%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56655" y="3470046"/>
            <a:ext cx="502920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156655" y="360720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Inter"/>
              </a:rPr>
              <a:t>Предельно допустимый износ зева крюка от первоначальной высоты вертикального сечения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6655" y="406440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Inter"/>
              </a:rPr>
              <a:t>Трещины и обломы, выходящие на рабочие и посадочные поверхности, — безусловное основание для выбраковки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19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Крюки — критерии выбраковки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Трещины и обломы крюка: допустимо / недопустимо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Оценка технического состояния крюка по наличию трещин и обломов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514600"/>
            <a:ext cx="5410047" cy="784555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87752"/>
            <a:ext cx="504428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Inter"/>
              </a:rPr>
              <a:t>ОШИБКА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5044287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Трещины и обломы, выходящие на рабочие и посадочные поверхности крюка — эксплуатация продолжается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2514600"/>
            <a:ext cx="5410047" cy="784555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5887" y="2587752"/>
            <a:ext cx="504428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Inter"/>
              </a:rPr>
              <a:t>ПРАВИЛЬНО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887" y="2834640"/>
            <a:ext cx="5044287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Крюк с трещинами или обломами, выходящими на рабочие и посадочные поверхности, подлежит немедленной выбраковке и замене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72307"/>
            <a:ext cx="11094415" cy="3994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Inter"/>
              </a:rPr>
              <a:t>Трещины и обломы на рабочих и посадочных поверхностях являются недопустимым дефектом. Такой крюк не может эксплуатироваться — требуется вывод из работы и замена.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20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Нормы износа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Inter"/>
              </a:rPr>
              <a:t>Обод колеса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Предельно допустимый износ рабочей поверхности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23006"/>
            <a:ext cx="4572000" cy="2011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800" b="1">
                <a:solidFill>
                  <a:srgbClr val="E30613"/>
                </a:solidFill>
                <a:latin typeface="Inter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9432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6B7280"/>
                </a:solidFill>
                <a:latin typeface="Inter"/>
              </a:rPr>
              <a:t>%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56655" y="3470046"/>
            <a:ext cx="502920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156655" y="360720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Inter"/>
              </a:rPr>
              <a:t>Максимально допустимый износ рабочей поверхности обода от первоначальной толщины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6655" y="406440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Inter"/>
              </a:rPr>
              <a:t>Тормозные накладки: трещины и обломы, подходящие к отверстиям под заклёпки, не допускаются (критерий 1)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21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Итог модуля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Ключевые нормы и порядок браковки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Убедитесь, что освоены все требования модуля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88336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Обязательные требования к техническому обслуживанию и браковке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008376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14553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45536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Эксплуатирующая организация обязана назначить ответственных ИТР, организовать производственный контроль и порядок допуска персонала к самостоятельной работе.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5361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5361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ППР и ТК должны быть выданы на участок до начала работ; при работе нескольких ПС и при подаче грузов в проемы применяются специальные меры безопасности.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6168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6168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При диагностировании обязательно проверяются ограничители, указатели, регистраторы, блокировки, защита от приближения к ЛЭП и иные устройства безопасности.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6976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69764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ПС не допускается в работу при неисправностях, отсутствии документов, ППР/ТК, неаттестованном персонале и неисполненных предписаниях надзора.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Inter"/>
              </a:rPr>
              <a:t>Нарушения требований промышленной безопасности — основание для немедленного останова ПС.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22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Итог модуля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Ключевые нормы и порядок браковки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22675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Обязательные требования к техническому обслуживанию и браковке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3442715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3579875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79875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Выбраковка элементов ПС выполняется по фактическим дефектам и установленным порогам износа: колеса, блоки, барабаны, крюки, тормозные шкивы и накладки.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8795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8795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Критические пороги: износ зева крюка &gt; 10 %, разность диаметров колес &gt; 0,5 %, износ обода тормозного шкива &gt; 25 %, тормозной накладки &gt; 50 %.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9028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9028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Результаты технического обслуживания, освидетельствования и проверки устройств безопасности фиксируются в паспорте ПС, журнале осмотров и актах.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19836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198364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Если ПС невозможно привести в соответствие требованиям безопасной эксплуатации и технологического процесса, эксплуатация должна быть остановлена.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23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Требования к эксплуатации ПС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Ответственные лица и допуск персонала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Кого обязана назначить эксплуатирующая организация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Обязательные организационные меры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Назначить внутренним распорядительным актом ответственных ИТР: за производственный контроль, за содержание ПС в работоспособном состоянии, за безопасное производство работ.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Установить порядок допуска к самостоятельной работе на ПС и контролировать его соблюдение.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Обеспечить выдачу удостоверений на право самостоятельной работы и периодическую проверку знаний персонала.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Назначить машинистов, крановщиков, стропальщиков, электромонтеров, слесарей, рабочих люльки и наладчиков.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05  д) Не эксплуатировать ПС на неработоспособных рельсовых путях.  06  е) Не эксплуатировать ПС с нарушениями требований по установке.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Inter"/>
              </a:rPr>
              <a:t>Если хотя бы один обязательный ответственный не назначен — допуск ПС к работе запрещается.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07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Организация безопасной эксплуатации ПС в составе ОПО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Производственный контроль и обслуживание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Что обязана организовать эксплуатирующая организация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16642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Эксплуатирующая организация обязана обеспечить содержание ПС в работоспособном состоянии и безопасные условия их работы путем организации надлежащего надзора, обслуживания, технического освидетельствования и ремонта. Для этого устанавливаются порядок периодических осмотров, технического обслуживания и ремонтов, ведутся журналы, графики ППР, программы, схемы строповки и складирования, а персонал обеспечивается производственными инструкциями под подпись.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361688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498848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Inter"/>
              </a:rPr>
              <a:t>Если ПС невозможно привести в соответствие требованиям промышленной безопасности технологического процесса, его эксплуатация должна быть остановлена.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08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Организация безопасного производства работ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Что обязательно включают ППР и ТК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Раздел по безопасному производству работ с применением ПС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Обязательное содержание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Условия совместной работы двух и более ПС, совместного подъема груза и применения координатной защиты.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Условия перемещения ПС с грузом, подачи грузов в проемы перекрытий и установки ПС над подземными коммуникациями.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Выписку из паспорта ПС о предельной силе ветра, требования к эксплуатации тары и порядок работы кранов с грейфером или магнитом.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Мероприятия при движении транспорта и пешеходов вблизи опасной зоны, а также требования пунктов 98–134 ФНП.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05  д) Не эксплуатировать ПС на неработоспособных рельсовых путях.  06  е) Не эксплуатировать ПС с нарушениями требований по установке.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Inter"/>
              </a:rPr>
              <a:t>ППР и ТК должны быть выданы на участок до начала работ, а работники — ознакомлены с ними под подпись.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09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Организация безопасного производства работ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Совместная работа нескольких ПС и подача грузов в проемы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Ключевые безопасные расстояния и условия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Критически важные требования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При совместной работе нескольких ПС расстояние по горизонтали между ними, стрелами и грузами должно быть не менее 5 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Для башенных кранов при пересечении зон обслуживания стрелы и противовесные консоли должны быть на разных уровнях; разность уровней — не менее 1 м.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При подаче грузов в проемы перекрытий расстояние между краем проема и грузом (или крюковой обоймой) должно быть не менее 0,5 м.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Если стропальщик вне видимости крановщика, требуется двусторонняя радио- или телефонная связь либо назначенные сигнальщики.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05  д) Не эксплуатировать ПС на неработоспособных рельсовых путях.  06  е) Не эксплуатировать ПС с нарушениями требований по установке.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Inter"/>
              </a:rPr>
              <a:t>В местах подачи грузов в проемы обязательны световая сигнализация и знаки, запрещающие нахождение людей под грузом.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10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Оценка соответствия и проверка устройств безопасности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Что проверяют при техническом диагностировании ПС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Проверки работоспособности ограничителей, указателей и защит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Основные проверяемые устройства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Световые и звуковые указатели, ограничитель грузоподъемности, ограничитель грузового момента, ограничители верхнего и нижнего положения.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Защиту от опасного приближения к ЛЭП, координатную защиту, блокировки, средства автоматической остановки и регистратор параметров.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Для подъемников — ловители, аварийные остановы, ограничители скорости, устройство аварийного опускания люльки, кнопки «Стоп».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Противоугонные захваты, тупиковые упоры, указатель угла наклона, сигнализатор предельной скорости ветра.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05  д) Не эксплуатировать ПС на неработоспособных рельсовых путях.  06  е) Не эксплуатировать ПС с нарушениями требований по установке.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Inter"/>
              </a:rPr>
              <a:t>После положительных результатов проверки устройств безопасности выполняют статические и динамические испытания.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11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Запрет эксплуатации ПС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Нарушения, при которых ПС не допускается в работу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Основания для немедленного запрета эксплуатации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Обслуживание ведется неаттестованным персоналом или не назначены обязательные ответственные ИТР.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Не проведены техническое освидетельствование, экспертиза промышленной безопасности либо не исполнены предписания надзора.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Выявлены неисправности: трещины и деформации металлоконструкций, неработоспособность заземления, ограничителей, тормозов, рельсового пути, тупиковых упоров.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Отсутствуют исправные грузозахватные приспособления, паспорт ПС, руководство по эксплуатации, ППР, ТК или наряды-допуски.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г) Не эксплуатировать ПС с неработоспособными ограничителями, указателями и регистраторами. Автоматическое срабатывание ограничителей — обязательное условие безопасной работы.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05  д) Не эксплуатировать ПС на неработоспособных рельсовых путях.  06  е) Не эксплуатировать ПС с нарушениями требований по установке.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Inter"/>
              </a:rPr>
              <a:t>Продолжение работ при выявленных нарушениях ФНП, ППР, ТК и инструкций запрещено.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12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