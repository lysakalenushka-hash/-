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7" r:id="rId37"/>
    <p:sldId id="288" r:id="rId38"/>
    <p:sldId id="289" r:id="rId39"/>
    <p:sldId id="290" r:id="rId40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7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45720" cy="5029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731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КУРС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188720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Inter"/>
              </a:rPr>
              <a:t>Федеральные нормы и правила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Inter"/>
              </a:rPr>
              <a:t>в области промышленной безопасности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49039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Inter"/>
              </a:rPr>
              <a:t>ФНП № 531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59" y="4480560"/>
            <a:ext cx="3657601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59" y="4572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к эксплуатации, техническому обслуживанию и ремонту объектов сетей газораспределения и газопотребления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11887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Inter"/>
              </a:rPr>
              <a:t>УТВЕРЖДЕНО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5455" y="1417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None    None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Промышленная безопасность · Газораспределение · Газопотребление · ФНП № 531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01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Область действия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На что распространяется ФНП № 531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Приказ Ростехнадзора № 531 от 15 декабря 2020 года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237744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ФНП № 531 распространяются на опасные производственные объекты (ОПО) сетей газораспределения и газопотребления при следующих видах деятельности: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эксплуатация: техническое обслуживание (ТО), диагностирование, текущий и капитальный ремонт, техническое перевооружение (ТПВ);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реконструкция, консервация и ликвидация объектов.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Требования обязательны для всех организаций, ведущих указанную деятельность, независимо от организационно-правовой формы (ОПФ).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Исключения — ФНП № 531 не применяются к: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оборудованию с давлением до 1,2 МПа на площадках магистральных газопроводов;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автомобильным газонаполнительным компрессорным станциям (АГНКС);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технологическим трубопроводам объектов военно-промышленного комплекса и металлургии.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9204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02920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Источник: приказ Ростехнадзора № 531 от 15 декабря 2020 года, раздел «Область применения».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02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Область действия ФНП № 531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На что распространяется приказ Ростехнадзора № 531 от 15 декабря 2020 года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ФНП применяются всеми организациями, ведущими указанную деятельность, независимо от организационно-правовой 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36304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Распространяется на ОПО при: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56344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93504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22104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Техническое обслуживание сетей газораспределения и газопотребления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8443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Диагностирование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13035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Техническое диагностирование оборудования и трубопроводов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7536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Текущий и капитальный ремонт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03966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Плановые и внеплановые ремонтные работы на ОПО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6297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ТПВ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4897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Техническое перевооружение объектов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22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Реконструкция, консервация, ликвидация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582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Все этапы жизненного цикла ОПО сетей газораспределения и газопотребления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2932938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НЕ распространяется на: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24447" y="3252978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24447" y="339013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Оборудование до 1,2 МПа на площадках магистральных газопроводов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61873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Объекты, входящие в состав магистральных газопроводов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98106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АГНКС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209669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Автомобильные газонаполнительные компрессорные станции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57200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Технологические трубопроводы ВПО и металлургии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480060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Взрывопожароопасные производственные объекты и металлургические производства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Основание: приказ Ростехнадзора № 531 от 15 декабря 2020 года. Требования обязательны для всех организаций независимо от ОПФ.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03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1097280"/>
            <a:ext cx="164592" cy="16459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МОДУЛЬ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Безопасная эксплуатация сетей газораспределения и газопотребления (ФНП № 531)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7315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Inter"/>
              </a:rPr>
              <a:t>Обязанности эксплуатирующей организации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ФНП № 531 к организации безопасной эксплуатации объектов газораспределения и газопотребления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Эксплуатация · Ответственность · ФНП № 531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08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Обязанности эксплуатирующей организации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Эксплуатирующая организация: ключевые обязанности по ФНП № 531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Основания: 116-ФЗ, ПП РФ № 870, ФНП № 531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514600"/>
          </a:xfrm>
          <a:prstGeom prst="rect">
            <a:avLst/>
          </a:prstGeom>
          <a:noFill/>
        </p:spPr>
        <p:txBody>
          <a:bodyPr wrap="square" lIns="0" tIns="0" rIns="0" bIns="0">
            <a:normAutofit fontScale="70000" lnSpcReduction="20000"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1. Назначение ответственных лиц. Из числа аттестованных руководителей и ИТР назначаются лица, ответственные за безопасную эксплуатацию ОПО в целом и по каждому участку сети.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2. Обеспечение безопасного состояния сетей. Организация обеспечивает мониторинг, техническое обслуживание, ремонт и аварийно-диспетчерское обеспечение — так чтобы сети оставались в исправном и безопасном состоянии.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3. Техническое диагностирование. Проводится по достижении предельных сроков эксплуатации, установленных проектом.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4. Хранение документации. Проектная и исполнительная документация хранится весь срок эксплуатации ОПО вплоть до его ликвидации; порядок хранения устанавливается приказом руководителя организации.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5. Привлечение подрядчика. При отсутствии собственной газовой службы организация вправе привлекать подрядчика для выполнения работ по техническому обслуживанию и ремонту.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6. Нормативная база. Вся деятельность ведётся в соответствии с Федеральным законом № 116-ФЗ «О промышленной безопасности», техническим регламентом (ПП РФ № 870) и ФНП № 531.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21208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Источник: секция «Требования к организации, эксплуатирующей сети газораспределения и газопотребления» (116-ФЗ, ПП РФ № 870, ФНП № 531).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09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Обязанности эксплуатирующей организации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Аттестация ИТР, АДС и привлечение подрядчиков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ФНП № 531, 116-ФЗ, ПП РФ № 870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55748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Персонал и ответственность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75788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1294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Ответственные лица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1548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Из числа аттестованных руководителей и ИТР назначаются ответственные за безопасную эксплуатацию ОПО — как в целом, так и по каждому участку сети (ФНП № 531)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8106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Аварийно-диспетчерское обеспечение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9669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Организация обязана обеспечить непрерывное аварийно-диспетчерское обеспечение (АДС) сетей газораспределения и газопотребления (ФНП № 531, 116-ФЗ)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6059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Привлечение подрядчика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9195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При отсутствии собственной газовой службы допускается привлекать подрядную организацию для выполнения технического обслуживания и ремонта сетей (ФНП № 531)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555748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Техническое обеспечение и документация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2875788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301294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Мониторинг и ТО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241548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Обеспечивается мониторинг технического состояния, техническое обслуживание и ремонт — для поддержания сетей в исправном и безопасном состоянии (ФНП № 531, ПП РФ № 870)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98106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Техническое диагностирование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209669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 достижении предельных сроков эксплуатации, установленных проектом, проводится техническое диагностирование сети (ФНП № 531)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76059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Хранение документации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989195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Проектная и исполнительная документация хранится весь срок эксплуатации ОПО вплоть до его ликвидации; порядок хранения утверждается приказом руководителя организации (ФНП № 531)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Деятельность ведётся в соответствии с Федеральным законом № 116-ФЗ «О промышленной безопасности», Техническим регламентом (ПП РФ № 870) и Федеральными нормами и правилами ФНП № 531.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10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Назначение ответственного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Порядок назначения ответственного за безопасную эксплуатацию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Ответственное лицо назначается из числа аттестованных специалистов. На тепловых электростанциях (ТЭС) дополнительно назначается заместитель.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99815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документы и условия назначения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1985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55701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57015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Распоряжение о назначении ответственного лица (и заместителя — для ТЭС)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593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935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Подтверждённая аттестация: ответственное лицо должно быть аттестовано в установленном порядке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Должностная инструкция с чётко закреплёнными обязанностями по безопасной эксплуатации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6402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64023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Проектная, рабочая и исполнительная документация на газовые сети и оборудование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Приступать к исполнению обязанностей без наличия всех перечисленных документов не допускается.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11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Назначение ответственного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Порядок назначения ответственного за безопасную эксплуатацию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28415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документы и условия назначения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64845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78561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85615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Акт приёмки объекта в эксплуатацию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87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8795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Технологические схемы газораспределения и газопотребления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02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9028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План мероприятий по локализации и ликвидации последствий аварий (ПМЛА)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9262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92623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Копии аттестаций обслуживающего персонала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12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Организация безопасной эксплуатации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Ответственное лицо за безопасную эксплуатацию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Порядок назначения и обязательный пакет документов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37744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Ответственное лицо назначается из числа аттестованных работников. На тепловых электростанциях (ТЭС) дополнительно назначается заместитель ответственного лица.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Лицо, ответственное за безопасную эксплуатацию, должно располагать следующими документами: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Распоряжение о назначении на должность;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Должностная инструкция;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Проектная, рабочая и исполнительная документация на объект;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Акт приёмки объекта в эксплуатацию;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Технологические схемы газового оборудования;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План мероприятий по локализации и ликвидации аварий (ПМЛА);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• Копии удостоверений об аттестации персонала.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07492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Наличие полного пакета документов — обязательное условие допуска к самостоятельному исполнению обязанностей ответственного лица.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13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1097280"/>
            <a:ext cx="164592" cy="16459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МОДУЛЬ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Безопасная эксплуатация сетей газораспределения и газопотребления (ФНП № 531)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7315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Inter"/>
              </a:rPr>
              <a:t>Документация и ремонт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к технической документации, порядок проведения ремонтных работ на объектах газораспределения и газопотребления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Документация · Ремонт · ФНП № 531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14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Документация и учёт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Паспорта оборудования, учёт ремонтов и сроки эксплуатации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к ведению документации на объектах газораспределения и газопотребления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требования к документации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На каждый газопровод, ПРГ, ГРУ и котёл оформляется паспорт — с данными об объекте, техническом обслуживании, ремонте и диагностировании.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Сведения о проведённом капитальном ремонте газопровода или технического устройства вносятся в паспорт соответствующего объекта.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Сроки эксплуатации газопроводов и устройств определяются расчётом и фиксируются в проектной документации.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До пуска оборудования в эксплуатацию разрабатываются производственные инструкции, инструкции по газоопасным и огневым работам, инструкции по охране труда, а также должностные инструкции.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Паспорт оборудования — основной документ учёта: без актуальных записей о ТО, ремонте и диагностике эксплуатация объекта не допускается.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15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 выглядит как в помещении, человек, работа, Тех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73C1B5E-098B-381F-F56A-CCF61C074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Документация на объектах газораспределения и газопотребления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Паспорт, учёт ремонтов и инструкции до пуска ПРГ и ГРУ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Обязательные требования к ведению документации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На каждый газопровод, ПРГ и ГРУ оформляется паспорт, содержащий данные об объекте, техническом обслуживании, ремонте и диагностировании. Сведения о капитальном ремонте в обязательном порядке заносятся в паспорт газопровода или технического устройства.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Сроки эксплуатации газопроводов и устройств определяются расчётом и указываются в проектной документации.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До пуска оборудования в эксплуатацию разрабатываются: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— производственные инструкции;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— инструкции по газоопасным и огневым работам;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— инструкции по охране труда;</a:t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— должностные инструкции.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Отсутствие паспорта или незаполненные сведения о капитальном ремонте являются нарушением требований к документационному обеспечению эксплуатации объекта.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16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Ремонт газового оборудования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Порядок отключения и установки заглушек перед ремонтом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Последовательность обязательных шагов при проведении текущего ремонта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требования к организации ремонта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Текущий ремонт проводится только на отключённом оборудовании — работа на действующем газопроводе не допускается.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Перед началом ремонта оборудование отключается от действующих газопроводов с помощью запорной арматуры.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После запорной арматуры на границах отключаемого участка устанавливаются заглушки — для надёжного разобщения ремонтируемого участка от газовой среды.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После завершения ремонта проводятся испытания в соответствии с проектной документацией; при отсутствии требований в проекте — по СП для газовых сетей.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Установка заглушек после запорной арматуры — обязательное условие безопасного ремонта. Проведение работ без заглушек на границах участка не допускается.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17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Ремонт газового оборудования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Порядок отключения и установки заглушек перед ремонтом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980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требования к организации ремонта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33984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47700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700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Если в ходе ремонта нарушалась целостность оборудования (без сварки) — проводится испытание на герметичность.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508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85081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Если в ходе ремонта выполнялась сварка — проводятся испытания на прочность и на герметичность.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741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741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Ремонт выполняется по графикам, утверждённым техническим руководителем организации, и составляется на основании результатов технического обслуживания и диагностирования.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9549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9549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После завершения ремонтных работ проводятся наладочные работы для подтверждения работоспособности оборудования.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18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Ремонт газового оборудования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Ремонт ведётся на действующем оборудовании без отключения от газопровода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Порядок отключения, установки заглушек и проведения испытаний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39"/>
            <a:ext cx="5410047" cy="1901952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Inter"/>
              </a:rPr>
              <a:t>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Ремонт ведётся на действующем оборудовании без отключения от газопровода — заглушки не устанавливаются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3291839"/>
            <a:ext cx="5410047" cy="190195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5887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Inter"/>
              </a:rPr>
              <a:t>ПРАВИЛЬНО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Текущий ремонт проводится только на отключённом оборудовании. На границах отключаемого участка устанавливаются заглушки после запорной арматуры.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66944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Отключение от действующих газопроводов и установка заглушек после запорной арматуры — обязательные условия перед началом любого ремонта.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19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Ремонт газового оборудования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После любого ремонтного вмешательства достаточно одного испытания на…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Порядок отключения, установки заглушек и проведения испытаний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39"/>
            <a:ext cx="5410047" cy="1901952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Inter"/>
              </a:rPr>
              <a:t>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После любого ремонтного вмешательства достаточно одного испытания на герметичность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3291839"/>
            <a:ext cx="5410047" cy="190195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5887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Inter"/>
              </a:rPr>
              <a:t>ПРАВИЛЬНО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После работ с нарушением целостности — испытание на герметичность. После сварочных работ — испытание на прочность И на герметичность.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66944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Вид испытания определяется характером выполненных работ: сварка требует двух видов испытаний — на прочность и на герметичность.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20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Ремонт газового оборудования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Испытания после ремонта проводятся по усмотрению исполнителя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Порядок отключения, установки заглушек и проведения испытаний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39"/>
            <a:ext cx="5410047" cy="1901952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Inter"/>
              </a:rPr>
              <a:t>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Испытания после ремонта проводятся по усмотрению исполнителя, нормативы не применяются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3291839"/>
            <a:ext cx="5410047" cy="190195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5887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Inter"/>
              </a:rPr>
              <a:t>ПРАВИЛЬНО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Испытания проводятся по требованиям проекта; при отсутствии требований в проекте — по СП для газовых сетей. После ремонта выполняются наладочные работы.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66944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График ремонтов утверждается техническим руководителем по результатам технического обслуживания и диагностирования.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21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Ремонт газового оборудования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Графики ремонтов: утверждение и наладка оборудования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Условия отключения, установки заглушек, виды испытаний после ремонта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37472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Подготовка к ремонту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957512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9467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Текущий ремонт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3272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Проводится только на отключённом оборудовании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560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Заглушка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14203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Устанавливается на границах отключаемого участка после запорной арматуры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76534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Запорная арматура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05134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Служит первичным средством отключения — заглушка ставится за ней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6746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График ремонта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96065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Утверждается техническим руководителем организации по результатам технического обслуживания и диагностирования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448877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Испытания и наладка после ремонта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4447" y="2768917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447" y="2906077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Испытание на герметичность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134677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Обязательно после любых работ, связанных с нарушением целостности оборудования или газопровода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68560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Испытание на прочность и герметичность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914203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Проводится после сварочных работ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276534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Основание для испытаний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505134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Требования проекта; при отсутствии проектных требований — по СП для газовых сетей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505606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Наладочные работы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528466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Выполняются после завершения ремонта перед вводом оборудования в эксплуатацию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Перед ремонтом — обязательное отключение от действующих газопроводов и установка заглушек за запорной арматурой на границах участка.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22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1097280"/>
            <a:ext cx="164592" cy="16459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МОДУЛЬ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Безопасная эксплуатация сетей газораспределения и газопотребления (ФНП № 531)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7315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Inter"/>
              </a:rPr>
              <a:t>Газоопасные работы и контроль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Организация, допуск, меры безопасности при проведении газоопасных работ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Газоопасные работы · Наряд-допуск · Контроль воздушной среды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23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 descr="Изображение выглядит как человек, одежда, спецодежда, Синий воротничо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EB4F2F9-727F-6FE1-4F59-832DDC80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84"/>
            <a:ext cx="12192000" cy="68370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Газоопасные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Алгоритм консервации и расконсервации газового оборудования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Последовательность выполнения работ при выводе оборудования в консервацию и возврате в эксплуатацию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8833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Порядок действий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0837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4553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4553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ВЫВОД В КОНСЕРВАЦИЮ / РЕМОНТ: закрыть все отключающие устройства на участке оборудования (газопровод, ПРГ, ГРУ)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53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361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ПРОДУВКА: выполнить продувку воздухом или инертным газом для вытеснения природного газа из полости оборудования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6168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АНАЛИЗ ГАЗА: провести анализ на содержание газа — установить заглушки только после подтверждения безопасной концентрации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976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6976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УСТАНОВКА ЗАГЛУШЕК: установить заглушки на всех точках отключения после продувки и положительного результата анализа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Ликвидация и консервация газопроводов, ПРГ и ГРУ при выводе из эксплуатации относятся к газоопасным работам и должны выполняться в соответствии с установленными требованиями к организации и проведению таких работ.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24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Газоопасные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Алгоритм консервации и расконсервации газового оборудования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980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Порядок действий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33984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47700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700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РАСКОНСЕРВАЦИЯ — ПОДГОТОВКА: выполнить обход, техническое обслуживание и испытания оборудования перед снятием заглушек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508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85081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РАСКОНСЕРВАЦИЯ ПОСЛЕ СВАРКИ: если выполнялись сварочные работы — перед снятием заглушек обязательно провести испытание на прочность и герметичность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9315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СНЯТИЕ ЗАГЛУШЕК: снять заглушки только после выполнения всех предусмотренных проверок и испытаний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9549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9549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ВВОД В РАБОТУ: открыть отключающие устройства, выполнить продувку газом, убедиться в герметичности соединений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25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Консервация, расконсервация, ликвидация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Установить заглушку сразу после закрытия отключающих устройств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Газоопасные работы: классификация и порядок действий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39"/>
            <a:ext cx="5410047" cy="1901952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Inter"/>
              </a:rPr>
              <a:t>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Установить заглушку сразу после закрытия отключающих устройств — без продувки и проверки газа.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3291839"/>
            <a:ext cx="5410047" cy="190195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5887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Inter"/>
              </a:rPr>
              <a:t>ПРАВИЛЬНО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Заглушка устанавливается только после продувки воздухом или инертным газом и анализа на содержание газа в трубопроводе.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66944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Продувка и анализ — обязательный предшествующий шаг. Установка заглушки без продувки создаёт риск взрыва при остаточном газе.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26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Консервация, расконсервация, ликвидация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После ремонта со сваркой снять заглушку и сразу подать газ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Газоопасные работы: классификация и порядок действий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39"/>
            <a:ext cx="5410047" cy="1901952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Inter"/>
              </a:rPr>
              <a:t>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После ремонта со сваркой снять заглушку и сразу подать газ, не проводя испытаний.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3291839"/>
            <a:ext cx="5410047" cy="190195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5887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Inter"/>
              </a:rPr>
              <a:t>ПРАВИЛЬНО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После сварочных работ заглушка снимается только после проведения испытания на прочность и герметичность трубопровода.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66944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Испытание на прочность и герметичность после сварки — обязательное условие перед расконсервацией и подачей газа.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27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Консервация, расконсервация, ликвидация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Снятие заглушек после консервации — рутинная операция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Газоопасные работы: классификация и порядок действий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39"/>
            <a:ext cx="5410047" cy="1901952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Inter"/>
              </a:rPr>
              <a:t>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Снятие заглушек после консервации — рутинная операция, не требующая предварительных проверок.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3291839"/>
            <a:ext cx="5410047" cy="190195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5887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Inter"/>
              </a:rPr>
              <a:t>ПРАВИЛЬНО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Перед снятием заглушек после консервации обязательны обход, техническое обслуживание и испытания оборудования.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66944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Расконсервация — это восстановление работоспособности оборудования с подтверждением его готовности через полный цикл проверок.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28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Консервация, расконсервация, ликвидация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Ликвидация газопровода или ГРУ — обычная плановая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Газоопасные работы: классификация и порядок действий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39"/>
            <a:ext cx="5410047" cy="1901952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Inter"/>
              </a:rPr>
              <a:t>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Ликвидация газопровода или ГРУ — обычная плановая работа, выполняется без особых мер безопасности.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3291839"/>
            <a:ext cx="5410047" cy="1901952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5887" y="3364991"/>
            <a:ext cx="50442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Inter"/>
              </a:rPr>
              <a:t>ПРАВИЛЬНО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3611879"/>
            <a:ext cx="5044287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Ликвидация и консервация газопроводов, ПРГ, ГРУ при выводе из эксплуатации относятся к газоопасным работам.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66944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Газоопасные работы выполняются по специальному наряду-допуску с соблюдением требований к составу бригады и средствам защиты.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29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Организация газоопасных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Газоопасные работы выполняются только по наряду-допуску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Перечень утверждается руководителем организации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188720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20000"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К газоопасным работам относятся: врезка в действующий газопровод, пуск газа, снятие и установка заглушек, сварка и газовая резка на действующих газопроводах, проверка охранных зон.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До начала и в процессе выполнения работ обязателен контроль загазованности. При превышении ПДК работы продолжаются только в противогазах.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Ремонт в цепях защит и блокировок на действующем оборудовании без наряда-допуска запрещён.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88620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Наряд-допуск — обязательный документ для любой газоопасной работы. Работа без наряда-допуска на цепях защит и блокировок недопустима.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30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 descr="Изображение выглядит как человек, Каска, одежда, Инженер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2CA0D91-6305-205D-30FD-59F46A038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Газоопасные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Контроль загазованности и запрет ремонта защит без наряда-допуска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Выполняются по наряду-допуску; перечень утверждается руководителем организации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36304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Виды газоопасных работ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56344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93504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Врезка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22104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Присоединение к действующему газопроводу — выполняется по наряду-допуску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8443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Пуск газа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13035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Первичное заполнение газопровода газом — выполняется по наряду-допуску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7536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Снятие / установка заглушек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03966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На действующих газопроводах — только по наряду-допуску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6297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Сварка и газовая резка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4897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На действующих газопроводах — выполняются по наряду-допуску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22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Проверка охранных зон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582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Работы в охранной зоне газопровода — по наряду-допуску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2448877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Требования к организации и контролю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24447" y="2768917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24447" y="2906077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Наряд-допуск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134677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Обязателен для всех газоопасных работ; перечень таких работ утверждает руководитель организации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68560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Контроль загазованности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3914203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Проводится до начала и непрерывно в процессе выполнения газоопасных работ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276534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Превышение ПДК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4505134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При превышении предельно допустимой концентрации газа работы продолжаются только в противогазах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505606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Ремонт цепей защит и блокировок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528466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Ремонт в цепях защит и блокировок на действующем оборудовании без наряда-допуска ЗАПРЕЩЁН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Ремонт в цепях защит и блокировок на действующем оборудовании без наряда-допуска запрещён.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31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Эксплуатационный контроль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Периодичность обходов и проверок газопроводов и оборудования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При отсутствии эксплуатационной документации применяются следующие минимальные нормы периодичности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773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Вид контроля и периодичность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47772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8493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493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Обход газопроводов ПРГ и внутренних газопроводов — не реже 1 раза в смену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8726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8726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Обход надземных газопроводов — не реже 1 раза в месяц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8960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8960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Проверка ПЗК (предохранительных запорных клапанов) в ПРГ — не реже 1 раза в 6 месяцев и после каждого ремонта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9193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91939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Проверка ПСК (предохранительных сбросных клапанов) в ПРГ — не реже 1 раза в 6 месяцев и после каждого ремонта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942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94276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Проверка герметичности соединений газопроводов и оборудования — не реже 1 раза в 6 месяцев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66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30613"/>
                </a:solidFill>
                <a:latin typeface="Inter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96612"/>
            <a:ext cx="1063721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Контроль загазованности в ПРГ и котельной: постоянно — стационарной автоматикой; не реже 1 раза в смену — переносным прибором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3610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30613"/>
                </a:solidFill>
                <a:latin typeface="Inter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36108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Техническое обслуживание газопроводов — не реже 1 раза в 6 месяцев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При наличии утверждённой эксплуатационной документации периодичность устанавливается ею. Указанные нормы — минимально допустимые при её отсутствии.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32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Эксплуатационный контроль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Периодичность контроля газопроводов, ПРГ и котельных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Нормативные интервалы обходов, проверок и замеров загазованности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Обход газопроводов — по эксплуатационной документации. При её отсутствии: ПРГ и внутренние газопроводы — не реже 1 раза в смену; надземные газопроводы — не реже 1 раза в месяц.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Проверка ПЗК и ПСК в ПРГ — не реже 1 раза в 6 месяцев, а также после каждого ремонта.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Проверка герметичности соединений — не реже 1 раза в 6 месяцев.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Контроль загазованности в ПРГ и котельной — постоянно средствами автоматики и не реже 1 раза в смену переносным прибором.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>Техническое обслуживание газопроводов — не реже 1 раза в 6 месяцев.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Источник: Тема 1.2, секция «Эксплуатационный контроль газопроводов и оборудования».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33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Итоги курса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Ключевые требования безопасной эксплуатации сетей газораспределения и газопотребления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ФНП № 531 — основа правил безопасности на каждом этапе работы с газовыми сетями</a:t>
            </a:r>
          </a:p>
        </p:txBody>
      </p:sp>
      <p:pic>
        <p:nvPicPr>
          <p:cNvPr id="6" name="Picture 5" descr="list-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280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052953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Допуск к работам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052953"/>
            <a:ext cx="725393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К эксплуатации сетей допускаются только работники, прошедшие аттестацию по промышленной безопасности и имеющие соответствующую квалификацию. Все работы на газопроводах — по наряду-допуску.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9075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Техническое обслуживание и проверки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029075"/>
            <a:ext cx="725393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Плановое техническое обслуживание, проверка герметичности и контроль технического состояния — в сроки, установленные ФНП № 531 и эксплуатационной документацией. Нарушение периодичности недопустимо.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05197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Локализация и ликвидация аварий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005197"/>
            <a:ext cx="725393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 обнаружении утечки газа — немедленное оповещение, эвакуация, вентиляция помещений. Устранение аварии — только силами аварийно-диспетчерской службы с соблюдением требований безопасности.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34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Итоги курса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Ключевые требования безопасной эксплуатации сетей газораспределения и газопотребления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50033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Защитные зоны и ограничения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550033"/>
            <a:ext cx="725393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Охранные зоны газопроводов устанавливаются в соответствии с нормами. Проведение земляных и строительных работ в охранной зоне — только по согласованию с эксплуатирующей организацией.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615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Документация и учёт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526154"/>
            <a:ext cx="725393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Эксплуатирующая организация обязана вести исполнительную документацию, паспорта оборудования, журналы обходов и технического обслуживания в актуальном состоянии.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02277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Производственный контроль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502277"/>
            <a:ext cx="725393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Организация обязана осуществлять производственный контроль за соблюдением требований промышленной безопасности согласно ФНП № 531 и Федеральному закону № 116-ФЗ.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405247"/>
            <a:ext cx="1109441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588127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Знание и соблюдение этих требований — основа безопасной работы с газовыми сетями и защиты жизни людей.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35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ТЕМА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Контрольно-надзорная и разрешительная деятельность Ростехнадзора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Оценка соответствия, материалы идентификации, разрешение на строительство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Государственный контроль (надзор) при проектировании, строительстве, эксплуатации, реконструкции, капремонте, монтаже, консервации и ликвидации сетей газораспределения и газопотребления осуществляет Ростехнадзор.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30613"/>
                </a:solidFill>
                <a:latin typeface="Inter"/>
              </a:rPr>
              <a:t>Надзор · Экспертиза · Идентификация · Разрешение на строительство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978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ПП РФ № 870 · Технический регламент (§ 12–13) · Область аттестации Б.7.5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55080"/>
            <a:ext cx="1109441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04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</a:rPr>
              <a:t>ТЕМА 1.2 · ПУНКТ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Материалы идентификации объектов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Перечень документов для идентификации сетей газораспределения и газопотребления (технический регламент)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11094315" cy="2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572000"/>
                <a:gridCol w="5882235"/>
              </a:tblGrid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№</a:t>
                      </a:r>
                    </a:p>
                  </a:txBody>
                  <a:tcPr anchor="ctr"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Материал</a:t>
                      </a:r>
                    </a:p>
                  </a:txBody>
                  <a:tcPr anchor="ctr"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Назначение</a:t>
                      </a:r>
                    </a:p>
                  </a:txBody>
                  <a:tcPr anchor="ctr">
                    <a:solidFill>
                      <a:srgbClr val="E30613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30613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Проектная документация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Идентификация объекта и принятых технических решений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30613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Заключение экспертизы проектной документации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Подтверждение соответствия при проектировании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30613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Заключение экспертизы промышленной безопасности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Для проектов на консервацию и ликвидацию сетей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30613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Разрешение на строительство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Правовое основание начала строительно-монтажных работ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30613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Исполнительная документация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Подтверждение фактически выполненных работ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30613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Акт приёмки сетей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Подтверждение соответствия после строительства или реконструкции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30613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Разрешение на ввод в эксплуатацию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B7280"/>
                          </a:solidFill>
                          <a:latin typeface="Inter"/>
                        </a:rPr>
                        <a:t>Основание для начала эксплуатации объекта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978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К материалам идентификации относятся только документы из перечня технического регламента.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05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</a:rPr>
              <a:t>ТЕМА 1.2 · ПУНКТ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Запрет на иные материалы идентификации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Использование иных материалов в качестве материалов для идентификации не допускается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4415" cy="146304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00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0000"/>
            <a:ext cx="10400000" cy="9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Для идентификации сети газораспределения можно использовать акт технического осмотра, договор подряда, паспорт организации или справку об отсутствии замечаний.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11094415" cy="1550000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200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Inter"/>
              </a:rPr>
              <a:t>ПРАВИЛЬНО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57120"/>
            <a:ext cx="10400000" cy="10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Идентификация объекта технического регулирования выполняется только по документам, прямо перечисленным в техническом регламенте. Любые иные документы использовать нельзя.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На экзамене: перечислите 7 материалов и укажите запрет на любые «другие» документы.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55080"/>
            <a:ext cx="1109441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06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</a:rPr>
              <a:t>ТЕМА 1.2 · ПУНКТ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Связь экспертизы и разрешения на строительство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Порядок перехода от проекта к началу работ на объекте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0000" cy="195000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640" y="2057400"/>
            <a:ext cx="416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Inter"/>
              </a:rPr>
              <a:t>Экспертиза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424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При проектировании оценка соответствия осуществляется в форме экспертизы проектной документации и результатов инженерных изысканий.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920240"/>
            <a:ext cx="5300000" cy="195000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0574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4447" y="2057400"/>
            <a:ext cx="416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Inter"/>
              </a:rPr>
              <a:t>Заключение экспертизы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560320"/>
            <a:ext cx="493424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Положительное заключение экспертизы включается в состав доказательственных материалов при получении разрешения на строительство.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0240"/>
            <a:ext cx="5300000" cy="19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574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640" y="4157400"/>
            <a:ext cx="416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Inter"/>
              </a:rPr>
              <a:t>Разрешение на строительство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0320"/>
            <a:ext cx="493424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Без заключения экспертизы и комплекта идентификационных материалов разрешение на строительство сети не выдаётся.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4020240"/>
            <a:ext cx="5300000" cy="19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7327" y="41574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4447" y="4157400"/>
            <a:ext cx="416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Inter"/>
              </a:rPr>
              <a:t>Приёмка и ввод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4660320"/>
            <a:ext cx="493424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После завершения строительства или реконструкции — приёмка комиссией, акт приёмки и разрешение на ввод в эксплуатацию.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780000" y="2700000"/>
            <a:ext cx="400000" cy="20000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780000" y="4800000"/>
            <a:ext cx="400000" cy="200000"/>
          </a:xfrm>
          <a:prstGeom prst="rightArrow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>Цепочка: проект → экспертиза → разрешение на строительство → СМР → приёмка → ввод.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55080"/>
            <a:ext cx="1109441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E30613"/>
                </a:solidFill>
                <a:latin typeface="Inter"/>
              </a:rPr>
              <a:t>07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3182</Words>
  <Application>Microsoft Macintosh PowerPoint</Application>
  <PresentationFormat>Широкоэкранный</PresentationFormat>
  <Paragraphs>392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Inter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машрум. ^_^</cp:lastModifiedBy>
  <cp:revision>2</cp:revision>
  <dcterms:created xsi:type="dcterms:W3CDTF">2013-01-27T09:14:16Z</dcterms:created>
  <dcterms:modified xsi:type="dcterms:W3CDTF">2026-08-31T10:55:17Z</dcterms:modified>
  <cp:category/>
</cp:coreProperties>
</file>