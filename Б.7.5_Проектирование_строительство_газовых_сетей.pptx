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5"/>
    <p:sldId id="268" r:id="rId4"/>
    <p:sldId id="269" r:id="rId3"/>
    <p:sldId id="270" r:id="rId2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КУРС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Требования промышленной безопасности на объектах газораспределения и газопотребления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Inter"/>
              </a:rPr>
              <a:t>Б.7.5. Проектирование, строительство, реконструкция, техническое перевооружение и капитальный ремонт сетей газораспределения и газопотребления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Программа повышения квалификации · 24 академических часа · 4 модуля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Газораспределение · Газопотребление · Промышленная безопасность · ФНП № 531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Б.7.5. Область аттестации и цель программы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30613"/>
                </a:solidFill>
                <a:latin typeface="Inter"/>
              </a:rPr>
              <a:t>Подготовка к аттестации в Ростехнадзоре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Назначение программы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52700"/>
            <a:ext cx="7772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Программа предназначена для подготовки руководителей и специалистов организаций, осуществляющих проектирование, строительство, реконструкцию, техническое перевооружение и капитальный ремонт сетей газораспределения и газопотребления, к аттестации по области Б.7.5.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Нормативная база: 116-ФЗ; ФНП № 531; ТР о безопасности сетей газораспределения и газопотребления; СП 62.13330, СП 42-101, СП 42-102, СП 42-103 и иные документы по стандартизации.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Общие требования промышленной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Правовые основы и производственный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116-ФЗ, полномочия Ростехнадзора, производственный контроль, общие требования к объектам газоснабжения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Промышленная безопасность · 116-ФЗ · Производственный контроль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Правовое регулирование промышленной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116-ФЗ — правовые основы ПБ ОПО; аттестация по Б.7.5 (ПП РФ № 2168, № 978) не реже 1 раза в 5 лет (ст. 14.1).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Ростехнадзор — государственный контроль (надзор) при СМР, реконструкции, капремонте (ПП РФ № 870, п. 2, 88).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Производственный контроль: программа, ответственные лица, хранение документации (ФНП № 531, п. 5–6).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ФНП № 531 — требования на всех этапах жизненного цикла сетей газораспределения и газопотребления.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Производственный контроль и надзор на объектах газоснабжения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Производственный контроль и назначение ответственных лиц (ФНП № 531, п. 5–6).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Идентификация объектов: проект, экспертиза, разрешение на строительство, акт приёмки (ТР п. 12–13).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Экспертиза промышленной безопасности; регистрация ОПО в государственном реестре.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Общие требования ФНП № 531 к организациям на объектах газораспределения и газопотребления.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Проектирование сетей газораспределения и газопотребления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Проектные решения и нормативные ограничения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Классификация сетей, выбор материалов, прокладка, здания ГРП/ГРУ, вентиляция и контрольно-измерительные приборы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Проектирование · Газопровод · ГРП · СП 42-102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Общие требования к проектированию газовых сетей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В проектной документации указываются границы охранных зон (ТР п. 18); маркировка трасс — опознавательные знаки (ТР п. 17).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Расстояния от газопроводов до зданий и сооружений — с учётом давления и плотности застройки (ТР п. 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Запрет прокладки по помещениям кат. А и Б, по горючим мостам (ТР п. 28).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Охранные зоны: 2 м от наружных газопроводов, 10 м от отдельно стоящих ГРП (ПП РФ № 878, п. 7).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Проектирование ГРП, ГРУ и внутренних газопроводов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Ключевые проектные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Пункты редуцирования газа и установки учёта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5270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Конструкции зданий ГРП должны обеспечивать взрывоустойчивость, I–II степень огнестойкости, класс С0; оснащение молниезащитой, заземлением и вентиляцией (ТР п. 35). Давление газа на входе в ГРУ — не более 0,6 МПа; размещение в помещениях кат. А и Б запрещено (ТР п. 42–43). Внутренние газопроводы — не в подвалах, не через лифтовые шахты (ТР п. 46).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Inter"/>
              </a:rPr>
              <a:t>На каждый газопровод, ПРГ, ГРУ оформляется паспорт (ФНП № 531, п. 16). Экспертиза проекта обязательна (ТР п. 88–91).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Документация и экспертиза проектной документации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Состав проектной и рабочей документации на объекты газоснабжения.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Требования к разделам «Технологические решения», «Пожарная безопасность», «Мероприятия по ПБ».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Государственная и негосударственная экспертиза; учёт заключений при строительстве.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Изменения в проектной документации в процессе строительства — порядок согласования.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Строительство, реконструкция и технический надзор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Организация СМР и контроль качества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Прокладка газопроводов, строительный контроль, реконструкция, капремонт, консервация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Строительство · Реконструкция · Технический надзор · Охранные зоны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Строительство и реконструкция газопроводов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СМР — по проекту и технологическим картам; при отступлениях работы приостанавливаются (ТР п. 56–57).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Сварка при СМР: герметичность, запрет швов в стенах, НК аттестованным контролёром (ТР п. 58–60).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Газоопасные работы: врезка, пуск газа, снятие заглушек, сварка на действующих газопроводах (ФНП № 531, п. 129).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Охранные зоны: запрет обработки почвы &gt; 0,3 м без разрешения эксплуатационной организации (ПП РФ № 878, п. 14, 16).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Капитальный ремонт и техническое перевооружение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Работы без нарушения безопасной эксплуатации действующих сетей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Организация ремонтных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5270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Перед ремонтом оборудование отключается от действующих газопроводов с установкой заглушки после запорной арматуры (ФНП № 531, п. 40). После ремонта — испытания по проекту (ФНП № 531, п. 41). Консервация — по проекту с уведомлением Ростехнадзора (ТР п. 81–85). Снятие заглушек — после испытаний на прочность и герметичность (ФНП № 531, п. 50).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Inter"/>
              </a:rPr>
              <a:t>Ввод в эксплуатацию без испытаний и исполнительной документации не допускается (ТР п. 61).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Газоопасные работы и охрана газопроводов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Газоопасные работы — по наряду-допуску; перечень утверждается руководителем (ФНП № 531, п. 129, 132–133).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Наряд-допуск: срок действия, инструктаж, анализ газовоздушной смеси в колодцах и ПРГ (ФНП № 531, п. 140, 146).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Охранные зоны: 2 м от наружных газопроводов; ограничения на строительство и земляные работы (ПП РФ № 878, п. 7, 14).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 повреждении газопровода — аварийно-восстановительные работы по ПМЛА (ФНП № 531, п. 139).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Сварка, испытания, пуск газа и приёмка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Контроль качества и ввод в эксплуатацию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Сварочные работы, неразрушающий контроль, опрессовка, врезка, продувка, приёмка объекта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Сварка · Испытания · Пуск газа · Приёмка · 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Сварочные работы и контроль качества соединений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Сварка — по ПТД, аттестованные сварщики, допускные швы на объекте (ФНП № 519, п. 9, 18, 32).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НК сварных соединений — входной, операционный, приемочный контроль (ФНП № 519, п. 34–38).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На действующих газопроводах — сварка при 0,0004–0,002 МПа; без отключения и заглушек в колодцах запрещено (ФНП № 531, п. 155–156).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Сварные швы в стенах и перекрытиях при СМР запрещены (ТР п. 59).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Испытания газопроводов на прочность и герметичность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После сварки — испытания на прочность и герметичность; после ремонта — на герметичность (ФНП № 531, п. 29).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Контрольная опрессовка: наружные газопроводы — 0,02 МПа; ГРП/ГРУ — 0,01 МПа (ФНП № 531, п. 151).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ПЭ-трубы: испытания не ранее чем через 24 ч после сварки последнего стыка (ТР п. 62).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Пуск газа — только после положительных испытаний и записи в наряд-допуске.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Врезка, продувка, пуск газа и приёмка объекта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Завершающий этап строительства и реконструкции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Ввод в эксплуатацию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5270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Присоединение вновь построенных газопроводов — только перед пуском газа; перед присоединением — осмотр и контрольная опрессовка (ФНП № 531, п. 150). Продувка газом до вытеснения воздуха; окончание — анализ и сжигание проб (ФНП № 531, п. 165). Приёмка — комиссией с представителем Ростехнадзора (ТР п. 93).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Inter"/>
              </a:rPr>
              <a:t>Ввод без паспортов, исполнительной документации, протоколов испытаний и актов приёмки не допускается.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Итоги курса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Inter"/>
              </a:rPr>
              <a:t>Ключевые положения программы Б.7.5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Правовые основы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286000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116-ФЗ, аттестация по Б.7.5, производственный контроль и надзор Ростехнадзора.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47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Проектирование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314700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ФНП № 531, СП; выбор трасс, материалов, ГРП/ГРУ; экспертиза проектной документации.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Строительство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343400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СМР, реконструкция, капремонт, газоопасные работы, охранные зоны.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721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Контроль качества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372100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Сварка, НК, испытания на прочность и герметичность, пуск газа, приёмка.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Итоги курса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Inter"/>
              </a:rPr>
              <a:t>Ключевые положения программы Б.7.5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Итоговая аттестация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286000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Проверка знаний в Едином портале тестирования Ростехнадзора по области Б.7.5.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47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Документ об обучении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314700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Удостоверение о повышении квалификации; срок действия аттестации — 5 лет.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Периодичность обучения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343400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Не реже одного раза в 5 лет (ч. 1 ст. 14.1 116-ФЗ).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21224"/>
            <a:ext cx="109115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Соблюдение требований ФНП № 531 на этапах проектирования, строительства и ремонта обеспечивает безопасность сетей газораспределения и газопотребления.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1720</Words>
  <Application>Microsoft Office PowerPoint</Application>
  <PresentationFormat>Широкоэкранный</PresentationFormat>
  <Paragraphs>153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2026-08-27T13:55:34Z</dcterms:modified>
  <cp:category/>
</cp:coreProperties>
</file>