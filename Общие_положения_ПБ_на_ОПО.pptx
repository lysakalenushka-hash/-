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126" y="1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53600" y="-457200"/>
            <a:ext cx="2743200" cy="274320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30613"/>
                </a:solidFill>
                <a:latin typeface="Inter"/>
              </a:rPr>
              <a:t>КУРС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Промышленная безопасность опасных производственных объектов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1153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Inter"/>
              </a:rPr>
              <a:t>Основы правового регулирования в соответствии с Федеральным законом от 21.07.1997 № 116-ФЗ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1091153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Inter"/>
              </a:rPr>
              <a:t>116-ФЗ · Промышленная безопасность · ОПО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486400"/>
            <a:ext cx="109115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116-ФЗ · ОПО · Промышленная безопасность · Аттестация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01 / 34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Федеральный закон № 116-ФЗ: основа промышленной безопасности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5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5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Принят — 21 июля 1997 года. Основной нормативный правовой акт в области промышленной безопасности ОПО.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1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1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Цели закона — Предупреждение аварий на ОПО
Обеспечение готовности к локализации и ликвидации последствий аварий
Определение правовых, экономических и социальных основ безопасной эксплуатации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7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7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Закон распространяется на все организации независимо от организационно-правовой формы и формы собственности, осуществляющие деятельность на территории РФ и иных территориях под юрисдикцией России.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02 / 34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Ключевые понятия: промышленная безопасность и авария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5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5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Промышленная безопасность — Состояние защищённости жизненно важных интересов личности и общества от аварий на ОПО и последствий таких аварий.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1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1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Авария — Разрушение сооружений и (или) технических устройств, применяемых на ОПО, неконтролируемые взрыв и (или) выброс опасных веществ.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7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7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Инцидент — Отказ или повреждение технических устройств на ОПО, отклонение от установленного режима технологического процесса.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03 / 34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Ключевые понятия: технические устройства и документация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5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5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Технические устройства — Машины, оборудование, системы машин, агрегаты, аппаратура, механизмы, применяемые при эксплуатации ОПО.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1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1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Обоснование безопасности ОПО — Документ с результатами оценки риска аварии, условиями безопасной эксплуатации, требованиями к ремонту, консервации и ликвидации ОПО.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7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7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Система управления ПБ — Комплекс взаимосвязанных организационных и технических мероприятий для предупреждения аварий и инцидентов на ОПО.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04 / 34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Ключевые понятия: экспертиза и техническое перевооружение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5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5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Техническое перевооружение ОПО — Внедрение новой технологии, автоматизация ОПО или его частей, модернизация или замена технических устройств, приводящие к изменению технологического процесса.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1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1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Экспертиза промышленной безопасности — Определение соответствия объектов экспертизы требованиям промышленной безопасности (ст. 13 ФЗ № 116-ФЗ).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7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7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Эксперт в области ПБ — Физическое лицо, аттестованное в установленном порядке, обладающее специальными знаниями в области промышленной безопасности.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05 / 34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Виды деятельности в области промышленной безопасности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115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Inter"/>
              </a:rPr>
              <a:t>Все три группы видов деятельности регулируются ст. 6 Федерального закона № 116-ФЗ и требуют соблюдения установленных требований промышленной безопасности.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92024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Проектирование, изготовление, монтаж, наладка, обслуживание, ремонт, консервация и ликвидация технических устройств, применяемых на ОПО.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0024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70024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Эксплуатация опасных производственных объектов.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8024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48024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Проведение экспертизы промышленной безопасности.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6024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26024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Подготовка и аттестация работников в области промышленной безопасности.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4024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04024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Разработка декларации промышленной безопасности и обоснования безопасности ОПО.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06 / 34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Что такое опасный производственный объект?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Основные положения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11535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К ОПО относятся предприятия, цехи, участки, площадки и иные производственные объекты, на которых осуществляются определённые виды деятельности с опасными веществами или оборудованием.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07 / 34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ОПО: признаки по опасным веществам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5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5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Воспламеняющиеся — газы с температурой кипения ≤20°C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3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43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Взрывчатые — быстрое химическое превращение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1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1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Окисляющие — поддерживают горение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9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99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Токсичные — смертельная доза 15–200 мг/кг — Опасные для окружающей среды — острая токсичность в водной среде ≤10 мг/л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7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77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Горючие — жидкости и газы, способные самовозгораться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5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55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Высокотоксичные — смертельная доза ≤15 мг/кг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08 / 34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ОПО: иные признаки отнесения объектов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5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5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Оборудование под давлением — Пар, газ, вода (&gt;115°C) или иные жидкости при давлении более 0,07 МПа.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3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43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Грузоподъёмные механизмы — Стационарные грузоподъёмники, эскалаторы в метро, канатные дороги, фуникулёры.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1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1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Расплавы металлов — Получение, транспортировка, использование расплавов чёрных и цветных металлов при объёме оборудования ≥ 500 кг.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9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99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Горные работы — Ведение горных работ и работ по обогащению полезных ископаемых (кроме открытой добычи без взрывных работ).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7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77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Растительное сырьё — Хранение и переработка с образованием взрывоопасных пылевоздушных смесей; хранение зерна, склонного к самовозгоранию.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09 / 34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Классы опасности ОПО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Основные положения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11535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Класс опасности присваивается при регистрации ОПО в государственном реестре и определяется по количеству опасных веществ согласно таблицам Приложения 2 к ФЗ № 116-ФЗ.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10 / 34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Требования к эксплуатации ОПО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5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5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Обязанности организаций, эксплуатирующих опасные производственные объекты, установлены Федеральным законом № 116-ФЗ и охватывают широкий спектр организационных, технических и правовых мер.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1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1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Требования промышленной безопасности — условия, запреты, ограничения и другие обязательные требования, содержащиеся в ФЗ № 116-ФЗ, других федеральных законах, нормативных правовых актах Президента и Правительства РФ, а также федеральных нормах и правилах в области промышленной безопасности.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11 / 34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Обязанности организации: лицензирование и персонал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5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5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Лицензия: Иметь лицензию на конкретный вид деятельности в области ПБ, подлежащий лицензированию.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1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1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Уведомление: Уведомлять федеральный орган исполнительной власти о начале осуществления деятельности.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7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7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Персонал: Обеспечивать укомплектованность штата; допускать к работе лиц с нужной квалификацией и без медицинских противопоказаний.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3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3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Подготовка и аттестация: Обеспечивать проведение подготовки и аттестации работников в области промышленной безопасности.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12 / 34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Обязанности организации: контроль и документация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5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5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Нормативная база — Иметь на ОПО нормативные правовые акты и правила ведения работ.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1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1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Производственный контроль — Организовывать и осуществлять производственный контроль за соблюдением требований ПБ.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7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7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СУПБ — Создать систему управления промышленной безопасностью и обеспечивать её функционирование в установленных случаях.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3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3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Приборы контроля — Обеспечивать наличие и функционирование необходимых приборов и систем контроля за производственными процессами.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13 / 34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Обязанности организации: экспертиза и безопасность объекта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5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5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Экспертиза и диагностика — Проводить экспертизу промышленной безопасности зданий, сооружений и технических устройств; диагностику, испытания, освидетельствование в установленные сроки.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1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1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Физическая безопасность — Предотвращать проникновение посторонних лиц на ОПО.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7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7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Хранение опасных веществ — Обеспечивать выполнение требований ПБ к хранению опасных веществ.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3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3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Декларация ПБ — Разрабатывать декларацию промышленной безопасности в установленных случаях.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14 / 34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Обязанности организации: страхование и надзор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5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5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Обязательное страхование — Заключать договор обязательного страхования гражданской ответственности владельца опасного объекта за причинение вреда в результате аварии.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1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1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Исполнение предписаний — Выполнять указания, распоряжения и предписания федерального органа исполнительной власти в области ПБ и его территориальных органов.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7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7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Приостановка эксплуатации — Приостанавливать эксплуатацию ОПО самостоятельно или по решению суда при аварии, инциденте или вновь открывшихся обстоятельствах.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15 / 34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Обязанности организации: действия при авариях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5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5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Немедленно информировать федеральный орган исполнительной власти в области промышленной безопасности и иные органы о каждой аварии на ОПО.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3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43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Принимать меры по локализации и ликвидации последствий аварии.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1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1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Оказывать содействие государственным органам в расследовании причин аварии.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9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99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Принимать меры по устранению причин аварии и профилактике подобных аварий.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7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77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Не допускать сокрытия информации об авариях и инцидентах на ОПО.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16 / 34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Обязанности работников ОПО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5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5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Соблюдение требований — Соблюдать нормативные правовые акты, правила ведения работ и порядок действий при аварии или инциденте.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3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43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Подготовка и аттестация — Проходить подготовку и аттестацию в области промышленной безопасности.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1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1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Оповещение — Незамедлительно ставить в известность руководителя об аварии или инциденте на ОПО.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9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99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Приостановка работы — В установленном порядке приостанавливать работу при аварии или инциденте.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7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77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Участие в локализации — В установленном порядке участвовать в проведении работ по локализации аварии на ОПО.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17 / 34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Требования зависят от класса опасности ОПО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5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5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I КЛАСС ОПАСНОСТИ — Лицензирование
Проверки ежегодно
Декларация ПБ
План локализации и ликвидации аварий
Горноспасательные команды
СУПБ
Постоянный госнадзор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1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1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III КЛАСС ОПАСНОСТИ — Лицензирование
Проверки раз в 3 года
План локализации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7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7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II КЛАСС ОПАСНОСТИ — Лицензирование
Проверки ежегодно
Декларация ПБ
План локализации и ликвидации аварий
Горноспасательные команды
СУПБ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3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3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IV КЛАСС ОПАСНОСТИ — Без плановых проверок
План локализации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18 / 34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Требования для ОПО I класса опасности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5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5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Лицензирование — Эксплуатация взрывопожароопасных и химически опасных ОПО I класса подлежит лицензированию.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3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43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Плановые проверки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1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1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Не чаще одного раза в год.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9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99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Декларация ПБ — Обязательна для ОПО I класса с опасными веществами в количествах по Приложению 2 к ФЗ № 116-ФЗ.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7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77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Постоянный госнадзор — Устанавливается режим постоянного государственного надзора в соответствии с ФЗ № 294-ФЗ.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19 / 34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Дополнительные требования для ОПО I класса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5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5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План локализации аварий — Для ОПО I класса, предусмотренных пп. 1, 4, 5, 6 Приложения 1 к ФЗ № 116-ФЗ, разрабатываются и утверждаются планы мероприятий  по локализации и ликвидации последствий аварий.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1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1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Горноспасательные команды — На ОПО I класса, где ведутся горные работы, создаются вспомогательные горноспасательные команды.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7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7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СУПБ — Организации, эксплуатирующие ОПО I класса, обязаны создать системы управления промышленной безопасностью и обеспечивать их функционирование.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20 / 34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Требования для ОПО II класса опасности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5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5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Лицензирование: Эксплуатация взрывопожароопасных и химически опасных ОПО II класса подлежит лицензированию (ФЗ № 99-ФЗ; Постановление Правительства № 1661 от 12.10.2020).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1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1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Плановые проверки: Не чаще одного раза в год.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7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7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Декларация ПБ: Обязательна для ОПО II класса с опасными веществами в количествах по Приложению 2 к ФЗ № 116-ФЗ.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3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3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СУПБ и горноспасатели: Обязательное создание СУПБ; вспомогательные горноспасательные команды на объектах с горными работами.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21 / 34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Требования для ОПО III и IV классов опасности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5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5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III класс опасности — Лицензирование взрывопожароопасных и химически опасных ОПО (ФЗ № 99-ФЗ; Постановление № 1661)
Плановые проверки — не чаще одного раза в три года
Разработка и утверждение планов локализации и ликвидации последствий аварий (пп. 1, 4, 5, 6 Приложения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1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1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IV класс опасности — Плановые проверки не проводятся
Планировать и осуществлять мероприятия по локализации и ликвидации последствий аварий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7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7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IV класс — минимальные требования надзора, но обязанность по планированию аварийных мероприятий сохраняется.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22 / 34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Производственный контроль на ОПО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Основные положения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11535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Организация обязана организовывать и осуществлять производственный контроль за соблюдением требований промышленной безопасности. Это один из ключевых инструментов предупреждения аварий и инцидентов.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23 / 34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Система управления промышленной безопасностью (СУПБ)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5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5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Предупреждение мероприятия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1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1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Технические мероприятия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7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7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Организационные мероприятия — СУПБ — комплекс взаимосвязанных организационных и технических мероприятий, направленных на предупреждение аварий, локализацию и ликвидацию их последствий. Обязательна для ОПО I и II классов опасности.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24 / 34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Декларация промышленной безопасности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5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5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Что это? — Документ, в котором организация оценивает риски аварий, определяет условия безопасной эксплуатации и меры по предупреждению аварий на ОПО.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1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1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Для кого обязательна? — Для ОПО I и II классов опасности, на которых получаются, используются, перерабатываются, хранятся, транспортируются или уничтожаются опасные вещества в количествах, указанных в Приложении 2 к ФЗ № 116-ФЗ.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7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7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Исключение: использование взрывчатых веществ при проведении взрывных работ.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25 / 34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Экспертиза промышленной безопасности: ключевые аспекты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5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5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Цель экспертизы — Определение соответствия объектов экспертизы требованиям промышленной безопасности (ст. 13 ФЗ № 116-ФЗ).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1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1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Кто проводит — Эксперт в области ПБ — физическое лицо, аттестованное в порядке, установленном Правительством РФ, обладающее специальными знаниями.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7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7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Объекты экспертизы — Здания, сооружения и технические устройства, применяемые на ОПО; диагностика, испытания, освидетельствование в установленные сроки.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26 / 34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Обоснование безопасности ОПО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5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5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Оценка риска — Сведения о результатах оценки риска аварии и связанной с ней угрозы для жизни и здоровья людей.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1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1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Условия эксплуатации — Условия безопасной эксплуатации опасного производственного объекта.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7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7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Требования к жизненному циклу — Требования к эксплуатации, капитальному ремонту, консервации и ликвидации ОПО.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27 / 34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Техническое перевооружение ОПО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Сущность технического перевооружения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11535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Техническое перевооружение требует соблюдения требований промышленной безопасности и может потребовать обновления обоснования безопасности ОПО.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9E0B"/>
                </a:solidFill>
                <a:latin typeface="Inter"/>
              </a:rPr>
              <a:t>При техническом перевоorужении может потребоваться обновление обоснования безопасности ОПО и экспертиза промышленной безопасности.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28 / 34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Регистрация ОПО в государственном реестре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5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5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Зачем нужна регистрация? — При регистрации ОПО в государственном реестре присваивается класс опасности. Это определяет весь объём требований, которым должна соответствовать эксплуатирующая организация.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1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1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Что определяет класс? — Для объектов с опасными веществами — количество вещества, одновременно находящегося на ОПО, согласно таблицам 1 и 2 Приложения 2 к ФЗ № 116-ФЗ.
Для иных ОПО — критерии Приложения 2 к Закону о промышленной безопасности.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29 / 34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Локализация и ликвидация последствий аварий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Основные положения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11535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Организация обязана осуществлять мероприятия по локализации и ликвидации последствий аварий, оказывать содействие государственным органам в расследовании причин, принимать меры по устранению причин и профилактике подобных аварий.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30 / 34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Планы мероприятий по локализации аварий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5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5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I класс: Обязательная разработка и утверждение планов для ОПО по пп. 1, 4, 5, 6 Приложения 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3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43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II класс: Обязательная разработка и утверждение планов для ОПО по пп. 1, 4, 5, 6 Приложения 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1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1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III класс: Обязательная разработка и утверждение планов для ОПО по пп. 1, 4, 5, 6 Приложения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9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99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IV класс: Планировать и осуществлять мероприятия по локализации и ликвидации последствий аварий.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7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77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Планы локализации аварий обязательны для всех четырёх классов опасности ОПО.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31 / 34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Учёт и отчётность по авариям и инцидентам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5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5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Ведение учёта — Организация обязана вести учёт всех аварий и инцидентов на ОПО.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1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1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Анализ инцидентов — Анализировать причины возникновения инцидентов, принимать меры по устранению причин и профилактике подобных инцидентов.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7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7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Представление информации — Представлять в федеральный орган исполнительной власти в области ПБ информацию о количестве аварий и инцидентов, причинах и принятых мерах.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32 / 34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Ответственность за нарушение требований ПБ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5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5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Организация — Несёт ответственность за соблюдение всех требований ФЗ № 116-ФЗ, нормативных актов Президента и Правительства РФ, федеральных норм и правил в области ПБ.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1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1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Работники — Обязаны соблюдать требования ПБ, проходить аттестацию, незамедлительно сообщать об авариях и инцидентах, участвовать в локализации аварий.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7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70720"/>
            <a:ext cx="95399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Нарушение требований промышленной безопасности влечёт административную и уголовную ответственность в соответствии с законодательством РФ.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33 / 34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Итоги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Inter"/>
              </a:rPr>
              <a:t>Ключевые выводы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Inter"/>
              </a:rPr>
              <a:t>Правовая основа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2103120"/>
            <a:ext cx="77111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ФЗ № 116-ФЗ от 21.07.1997 — главный нормативный акт в области промышленной безопасности ОПО.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1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Inter"/>
              </a:rPr>
              <a:t>Классификация ОПО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3063120"/>
            <a:ext cx="77111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Четыре класса опасности (I–IV) определяют объём требований к эксплуатирующей организации.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1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Inter"/>
              </a:rPr>
              <a:t>Обязанности организаций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4023120"/>
            <a:ext cx="77111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Лицензирование, СУПБ, декларация ПБ, экспертиза, производственный контроль, страхование, учёт аварий.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831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Inter"/>
              </a:rPr>
              <a:t>Обязанности работников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4983120"/>
            <a:ext cx="77111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Соблюдение требований, аттестация, оповещение, приостановка работы, участие в локализации аварий.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486400"/>
            <a:ext cx="1091153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Соблюдение требований ФЗ № 116-ФЗ — основа безопасной эксплуатации ОПО.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34 / 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1023</Words>
  <Application>Microsoft Office PowerPoint</Application>
  <PresentationFormat>Широкоэкранный</PresentationFormat>
  <Paragraphs>123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Inter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smarta3@outlook.com</cp:lastModifiedBy>
  <cp:revision>6</cp:revision>
  <dcterms:created xsi:type="dcterms:W3CDTF">2013-01-27T09:14:16Z</dcterms:created>
  <dcterms:modified xsi:type="dcterms:W3CDTF">2026-08-26T14:22:44Z</dcterms:modified>
  <cp:category/>
</cp:coreProperties>
</file>