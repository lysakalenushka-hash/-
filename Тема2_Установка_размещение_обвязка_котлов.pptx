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0" r:id="rId23"/>
    <p:sldId id="258" r:id="rId4"/>
    <p:sldId id="260" r:id="rId5"/>
    <p:sldId id="281" r:id="rId24"/>
    <p:sldId id="261" r:id="rId6"/>
    <p:sldId id="282" r:id="rId25"/>
    <p:sldId id="262" r:id="rId7"/>
    <p:sldId id="283" r:id="rId26"/>
    <p:sldId id="263" r:id="rId8"/>
    <p:sldId id="284" r:id="rId27"/>
    <p:sldId id="264" r:id="rId9"/>
    <p:sldId id="265" r:id="rId10"/>
    <p:sldId id="285" r:id="rId28"/>
    <p:sldId id="269" r:id="rId11"/>
    <p:sldId id="270" r:id="rId12"/>
    <p:sldId id="271" r:id="rId13"/>
    <p:sldId id="286" r:id="rId29"/>
    <p:sldId id="272" r:id="rId14"/>
    <p:sldId id="273" r:id="rId15"/>
    <p:sldId id="277" r:id="rId16"/>
    <p:sldId id="287" r:id="rId30"/>
    <p:sldId id="278" r:id="rId17"/>
    <p:sldId id="288" r:id="rId31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505670"/>
            <a:ext cx="10637215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4000" b="1" dirty="0">
                <a:solidFill>
                  <a:srgbClr val="1A1A1A"/>
                </a:solidFill>
                <a:latin typeface="Inter"/>
              </a:rPr>
              <a:t>Установка, размещение, обвязка котлов и вспомогательного оборудования котельной установки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480560"/>
            <a:ext cx="36576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4572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Федеральные нормы и правила в области промышленной безопасности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576072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Нормативные требования к котельным установкам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Стационарные котлы: условия размещения и устройства помещений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514600"/>
          </a:xfrm>
          <a:prstGeom prst="rect">
            <a:avLst/>
          </a:prstGeom>
          <a:noFill/>
        </p:spPr>
        <p:txBody>
          <a:bodyPr wrap="square" lIns="0" tIns="0" rIns="0" bIns="0">
            <a:normAutofit fontScale="62500" lnSpcReduction="20000"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Стационарные котлы устанавливаются в зданиях и помещениях, конструкция которых должна соответствовать требованиям проекта, технических регламентов и законодательства Российской Федерации о градостроительной деятельности, а также обеспечивать безопасную эксплуатацию котлов согласно требованиям законодательства Российской Федерации в области промышленной безопасности и ФНП № 536.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Устройство помещений и чердачных перекрытий над котлами не допускается. Исключение — котлы, устанавливаемые внутри производственных помещений, если это предусмотрено и обосновано проектной документацией с учётом возможных рисков.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Внутри производственных помещений допускается установка: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прямоточных котлов паропроизводительностью каждого не более 4 т/ч;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паровых котлов (включая электрокотлы), кроме прямоточных, удовлетворяющих условию (t − 100) × V ≤ 100 для каждого котла, где t — температура насыщенного пара при рабочем давлении (°С), V — вместимость котла (м³);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водогрейных котлов теплопроизводительностью каждого не более 10,5 ГДж/ч (2,5 Гкал/ч), не имеющих барабанов;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водогрейных электрокотлов электрической мощностью каждого не более 2,5 МВт;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котлов-утилизаторов — без ограничений.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Двери для выхода из помещения, в котором установлены котлы, должны открываться наружу. Двери служебных, бытовых и вспомогательных производственных помещений в котельную должны открываться в сторону котельной.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21208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34924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Установка котлов вне помещения допускается, если проектной (конструкторской) и технической документацией котла предусмотрена возможность его работы на открытом воздухе в заданных климатических условиях района установки (ФНП № 536).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Отделение места установки котлов от остальной части производственного помещения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3639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Общие требования к отделению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456432"/>
            <a:ext cx="522716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40080" y="36667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3593591"/>
            <a:ext cx="50625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Место установки котлов и вспомогательного оборудования должно быть отделено от остальной части помещения несгораемыми перегородками по всей высоте котла, но не ниже 2 м.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239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4050791"/>
            <a:ext cx="50625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Двери для выхода из помещения с котлами открываются наружу; двери служебных и вспомогательных помещений в котельную — в сторону котельной.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811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4507992"/>
            <a:ext cx="50625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В зданиях ТЭС/котельных не разрешается размещать бытовые и служебные помещения, не предназначенные для персонала, обслуживающего котлы.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3364991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Допускается и ограничения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24447" y="3685031"/>
            <a:ext cx="522716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24447" y="38953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9039" y="3822191"/>
            <a:ext cx="50625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Котлы-утилизаторы допускается отделять вместе с печами/агрегатами, с которыми они связаны технологическим процессом.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43525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9039" y="4279392"/>
            <a:ext cx="50625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Для электрокотлов — несгораемые перегородки (сетка ≤25×25 мм или сплошные с остеклением), высота ≥2 м, двери с блокировкой включения.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При неисправной блокировке ограждения электрокотла или открывании двери котёл должен автоматически отключаться от питающей электросети.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к площадке установки котла и освещению котельного помещения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Устройство приямков, естественное и аварийное освещение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514600"/>
          </a:xfrm>
          <a:prstGeom prst="rect">
            <a:avLst/>
          </a:prstGeom>
          <a:noFill/>
        </p:spPr>
        <p:txBody>
          <a:bodyPr wrap="square" lIns="0" tIns="0" rIns="0" bIns="0">
            <a:normAutofit fontScale="70000" lnSpcReduction="20000"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Площадка для установки котла не должна быть ниже планировочной отметки прилегающей территории. Устройство приямков в котельных не допускается (исключения — по проекту: дробеочистка, узлы теплотрасс, сепараторы, расширители).
Помещения с котлами — естественный свет, ночью электрическое освещение. Обязательно аварийное освещение:
фронт и проходы котлов; щиты и пульты; водоуказательные и измерительные приборы; зольные, вентиляторные и дымососные площадки; баки и деаэраторы; водоподготовка; площадки и лестницы котлов; насосное оборудование.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21208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34924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Конкретные зоны аварийного освещения определяются проектной документацией с учётом особенностей конструкции и компоновки оборудования на каждой отдельной площадке.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05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C2837F7-6B1F-4F08-8BD1-7746A63D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Минимальные</a:t>
            </a:r>
            <a:r>
              <a:rPr sz="3000" b="1" i="0" dirty="0">
                <a:solidFill>
                  <a:srgbClr val="1A1A1A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расстояния</a:t>
            </a:r>
            <a:r>
              <a:rPr sz="3000" b="1" i="0" dirty="0">
                <a:solidFill>
                  <a:srgbClr val="1A1A1A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</a:t>
            </a:r>
            <a:r>
              <a:rPr sz="3000" b="1" i="0" dirty="0">
                <a:solidFill>
                  <a:srgbClr val="1A1A1A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горелок</a:t>
            </a:r>
            <a:r>
              <a:rPr sz="3000" b="1" i="0" dirty="0">
                <a:solidFill>
                  <a:srgbClr val="1A1A1A"/>
                </a:solidFill>
                <a:latin typeface="Inter"/>
                <a:ea typeface="Inter"/>
                <a:cs typeface="Inter"/>
              </a:rPr>
              <a:t> и </a:t>
            </a:r>
            <a:r>
              <a:rPr sz="3000" b="1" i="0" dirty="0" err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топок</a:t>
            </a:r>
            <a:r>
              <a:rPr sz="3000" b="1" i="0" dirty="0">
                <a:solidFill>
                  <a:srgbClr val="1A1A1A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до</a:t>
            </a:r>
            <a:r>
              <a:rPr sz="3000" b="1" i="0" dirty="0">
                <a:solidFill>
                  <a:srgbClr val="1A1A1A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стен</a:t>
            </a:r>
            <a:endParaRPr sz="3000" b="1" i="0" dirty="0">
              <a:solidFill>
                <a:srgbClr val="1A1A1A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Котлы на газообразном или жидком топливе / котлы с механизированными топками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2907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39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65215" y="357611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65215" y="3713276"/>
            <a:ext cx="5029200" cy="7437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Минимальное расстояние от выступающих частей горелочных устройств до стены котельного помещения — не менее 1 м (для котлов на газообразном или жидком топливе); от выступающих частей механизированных топок до стены — не менее 2 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445698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Источник: ФНП «Установка, размещение, обвязка котлов и вспомогательного оборудования котельной установки», Раздел. Часть 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07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62C8AE5-D0E3-411E-81A4-8943C8E2A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4" cy="6858000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F84B651-264C-43B7-A8E4-2788D8E35707}"/>
              </a:ext>
            </a:extLst>
          </p:cNvPr>
          <p:cNvSpPr/>
          <p:nvPr/>
        </p:nvSpPr>
        <p:spPr>
          <a:xfrm>
            <a:off x="457200" y="923192"/>
            <a:ext cx="11185855" cy="48215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Ширина</a:t>
            </a:r>
            <a:r>
              <a:rPr sz="30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проходов</a:t>
            </a:r>
            <a:r>
              <a:rPr sz="30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вдоль</a:t>
            </a:r>
            <a:r>
              <a:rPr sz="30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фронта</a:t>
            </a:r>
            <a:r>
              <a:rPr sz="30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котлов</a:t>
            </a:r>
            <a:endParaRPr sz="3000" b="1" i="0" dirty="0">
              <a:solidFill>
                <a:schemeClr val="bg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При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установке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вспомогательного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оборудования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и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щитов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управления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перед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фронтом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котлов</a:t>
            </a:r>
            <a:endParaRPr sz="1700" b="0" i="0" dirty="0">
              <a:solidFill>
                <a:schemeClr val="bg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02300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≥ 1,5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94326"/>
            <a:ext cx="4572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65215" y="347004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65215" y="3607206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Минимальная</a:t>
            </a:r>
            <a:r>
              <a:rPr sz="11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1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ширина</a:t>
            </a:r>
            <a:r>
              <a:rPr sz="11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1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свободного</a:t>
            </a:r>
            <a:r>
              <a:rPr sz="11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1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прохода</a:t>
            </a:r>
            <a:r>
              <a:rPr sz="11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1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вдоль</a:t>
            </a:r>
            <a:r>
              <a:rPr sz="11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1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фронта</a:t>
            </a:r>
            <a:r>
              <a:rPr sz="11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1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котлов</a:t>
            </a:r>
            <a:endParaRPr sz="1100" b="1" i="0" dirty="0">
              <a:solidFill>
                <a:schemeClr val="bg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5215" y="4064406"/>
            <a:ext cx="50292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Установленное</a:t>
            </a:r>
            <a:r>
              <a:rPr sz="9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9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оборудование</a:t>
            </a:r>
            <a:r>
              <a:rPr sz="9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9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не</a:t>
            </a:r>
            <a:r>
              <a:rPr sz="9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9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должно</a:t>
            </a:r>
            <a:r>
              <a:rPr sz="9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9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препятствовать</a:t>
            </a:r>
            <a:r>
              <a:rPr sz="9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9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обслуживанию</a:t>
            </a:r>
            <a:r>
              <a:rPr sz="9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9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котлов</a:t>
            </a:r>
            <a:r>
              <a:rPr sz="9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09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Свободная высота проходов и запреты размещения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Нормируемые расстояния в котельном помещении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377440"/>
          </a:xfrm>
          <a:prstGeom prst="rect">
            <a:avLst/>
          </a:prstGeom>
          <a:noFill/>
        </p:spPr>
        <p:txBody>
          <a:bodyPr wrap="square" lIns="0" tIns="0" rIns="0" bIns="0">
            <a:normAutofit fontScale="62500" lnSpcReduction="20000"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Проходы в котельном помещении должны иметь свободную высоту не менее 2 метров. Расстояние от площадок обслуживания котла, его арматуры, контрольно-измерительных приборов и иного оборудования до потолочного перекрытия или выступающих конструктивных элементов здания, элементов котла и металлоконструкций каркаса — не менее 2 метров.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отсутствии необходимости перехода через котел, барабан, сухопарник или экономайзер расстояние от них до нижних конструктивных частей покрытия котельного помещения — не менее 0,7 метра.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Расстояние по вертикали от площадки обслуживания водоуказательных приборов до середины водоуказательного стекла (шкалы) — не менее 1 метра и не более 1,5 метра. При диаметрах барабанов менее 1,2 метра и более 2 метров — от 0,6 до 1,8 метра.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Размещение котлов и вспомогательного оборудования в блок-контейнерах, передвижных и транспортабельных установках осуществляется в соответствии с проектом.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Запрещается установка в одном помещении с котлами и экономайзерами оборудования, не имеющего отношения к обслуживанию и ремонту котлов или к технологии получения пара и (или) горячей воды.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07492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21208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Котлы электростанций допускается устанавливать в общем помещении с турбоагрегатами или в смежных помещениях без разделительных стен между котельным и машинным залом.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11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Подъёмные устройства при высоте котлов более 20 м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оснащению котельных помещений при превышении высоты 20 м от нулевой отметки до верхней площадки котлов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91168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811208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94836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48368"/>
            <a:ext cx="10454335" cy="77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Если расстояние от нулевой отметки котельного помещения до верхней площадки котлов превышает 20 метров — устанавливаются подъёмные устройства грузоподъёмностью не менее 1000 кг (с учётом совместного подъёма людей и грузов).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790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7909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Использование лифта, предназначенного только для подъёма людей, в целях подъёма грузов (арматуры, деталей и элементов оборудования) не допускается.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9027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90275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Количество, тип, характеристики и места установки подъёмных устройств определяются проектом.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3264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32641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Проектом размещения котлов предусматривается система трубопроводов продувки котла и спуска воды при остановке котла, а также продувки пароперегревателя и паропровода.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Не допускается использование лифта для людей в целях подъёма грузов. Количество подъёмных устройств и их характеристики — только по проекту.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13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Подъёмные устройства при высоте котлов более 20 м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32378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требования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352418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48957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89578"/>
            <a:ext cx="10454335" cy="77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Количество и точки присоединения продувочных, спускных, дренажных и воздушных трубопроводов выбираются так, чтобы обеспечить удаление воды, конденсата и осадков из нижних частей котла, воздуха — из верхних.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1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19"/>
            <a:ext cx="10454335" cy="77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невозможности удаления рабочей среды самотёком предусматривается принудительное удаление — продувкой паром, сжатым воздухом, азотом или иными способами согласно руководству по эксплуатации.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8866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88661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Продувочный трубопровод должен отводить воду в ёмкость, работающую без давления.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14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Схемы отвода продувочных вод и пара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Конструктивные, дренажные и предохранительные требования к системам продувки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Продувка и дренаж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Отвод в ёмкость под давлением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Допускается направлять продувочные воды в ёмкость, работающую под давлением, при условии подтверждения надёжности и эффективности продувки соответствующими расчётами.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370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Дренажи паропроводов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02302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На всех участках паропровода, отключаемых запорной арматурой, в нижних точках устраиваются дренажи для отвода конденсата.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2894076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Предохранительные клапаны и запорная арматура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3214116"/>
            <a:ext cx="522716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335127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Предохранительные клапаны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579876"/>
            <a:ext cx="522716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Предохранительные клапаны должны иметь отводящие трубопроводы для обеспечения безопасности обслуживающего персонала. Трубопроводы защищаются от замерзания и оборудуются дренажами для удаления скапливающегося конденсата.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57657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Установка запорной арматуры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805172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Установка запорной арматуры на отводящих трубопроводах предохранительных клапанов и их дренажах — запрещается.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Установка запорной арматуры на отводящих трубопроводах предохранительных клапанов и их дренажах запрещается.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16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Схемы отвода продувочных вод и пара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9805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Продувка и дренаж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339845"/>
            <a:ext cx="522716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477005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Конструктивные решения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5605"/>
            <a:ext cx="522716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Конструктивные и компоновочные решения систем продувок, опорожнения, дренажа, ввода реагента должны обеспечить надёжность эксплуатации котла на всех режимах, включая аварийные, а также надёжную консервацию при простоях.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230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Водоуказательные приборы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0902"/>
            <a:ext cx="5227167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Для спуска воды при продувке водоуказательных приборов предусматриваются воронки с защитным приспособлением и отводной трубой для свободного слива.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2814065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Предохранительные клапаны и запорная арматура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4447" y="3134106"/>
            <a:ext cx="522716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24447" y="3271265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Водоотводящая труба (водогрейный котёл)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499865"/>
            <a:ext cx="5227167" cy="1028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Водоотводящая труба от предохранительных клапанов водогрейного котла и экономайзера присоединяется к линии свободного слива воды. Ни на ней, ни на сливной линии не допускается наличие запорных органов. Система водоотводящих труб должна исключать возможность ожога людей.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470230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Питательный трубопровод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930902"/>
            <a:ext cx="522716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На питательном трубопроводе котла устанавливаются обратный клапан и запорный орган — до неотключаемого по воде экономайзера. У отключаемого по воде экономайзера обратный клапан и запорный орган устанавливаются также после экономайзера.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17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Запорная арматура на продувочных и дренажных трубопроводах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количеству и типу запорных устройств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1664208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20000"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На каждом продувочном, дренажном трубопроводе, а также на трубопроводе отбора проб воды (пара) котлов с рабочим давлением более 0,8 МПа устанавливается не менее двух запорных устройств либо одно запорное устройство и одно регулирующее устройство.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Для котлов с рабочим давлением более 10 МПа на указанных трубопроводах дополнительно допускается установка дроссельных шайб.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Условный проход продувочных трубопроводов и установленной на них арматуры должен составлять: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не менее 20 мм — для котлов с рабочим давлением менее 14 МПа;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не менее 10 мм — для котлов с рабочим давлением 14 МПа и более.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361688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498848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В случаях, предусмотренных руководством (инструкцией) по эксплуатации, допускается для продувки камер пароперегревателей установка одного запорного устройства.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18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к запорным органам питательных насосов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При наличии общих всасывающих и нагнетательных трубопроводов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88336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условия установки и эксплуатации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008376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45536"/>
            <a:ext cx="1045433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Запорные органы на всасывании: при установке нескольких питательных насосов с общими всасывающими трубопроводами у каждого насоса на стороне всасывания должны быть установлены запорные органы.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53612"/>
            <a:ext cx="1045433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Запорные органы на нагнетании: у каждого насоса на стороне нагнетания также должны быть установлены запорные органы.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61688"/>
            <a:ext cx="1045433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Обратный клапан: на стороне нагнетания каждого центробежного насоса до запорного органа должен быть установлен обратный клапан.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69764"/>
            <a:ext cx="1045433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Питание котлов: осуществляется либо по групповой схеме (общий питательный трубопровод для нескольких котлов), либо по индивидуальной схеме (отдельный питательный трубопровод для каждого котла).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Применяемые питательные устройства:</a:t>
            </a:r>
          </a:p>
          <a:p>
            <a:pPr algn="l">
              <a:spcBef>
                <a:spcPts val="525"/>
              </a:spcBef>
            </a:pPr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— центробежные, поршневые и плунжерные насосы с электрическим или паровым приводом</a:t>
            </a:r>
          </a:p>
          <a:p>
            <a:pPr algn="l">
              <a:spcBef>
                <a:spcPts val="525"/>
              </a:spcBef>
            </a:pPr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— паровые инжекторы</a:t>
            </a:r>
          </a:p>
          <a:p>
            <a:pPr algn="l">
              <a:spcBef>
                <a:spcPts val="525"/>
              </a:spcBef>
            </a:pPr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— насосы с ручным приводом</a:t>
            </a:r>
          </a:p>
          <a:p>
            <a:pPr algn="l">
              <a:spcBef>
                <a:spcPts val="525"/>
              </a:spcBef>
            </a:pPr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— водопроводная сеть при превышении её давления над расчётным давлением в котле не менее чем на 0,15 МПа.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20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к запорным органам питательных насосов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40951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условия установки и эксплуатации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360991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49815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98151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Включение котлов в одну группу по питанию: допускается только при условии, что разница рабочих давлений в разных котлах не превышает 15%.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4051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40517"/>
            <a:ext cx="10454335" cy="514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Питательные насосы при групповом питании: насосы, присоединяемые к общей магистрали, должны иметь характеристики, допускающие параллельную работу.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8288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82883"/>
            <a:ext cx="10454335" cy="771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Выбор способа питания и типа питательного устройства: осуществляется разработчиком проектной документации ОПО на основании указаний организации-изготовителя в руководстве по эксплуатации котла.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21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Условия применения одного питательного насоса с электроприводом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Паропроизводительность не более 4 т/ч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514600"/>
          </a:xfrm>
          <a:prstGeom prst="rect">
            <a:avLst/>
          </a:prstGeom>
          <a:noFill/>
        </p:spPr>
        <p:txBody>
          <a:bodyPr wrap="square" lIns="0" tIns="0" rIns="0" bIns="0">
            <a:normAutofit fontScale="77500" lnSpcReduction="20000"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Допускается работа котла паропроизводительностью не более 4 т/ч с одним питательным насосом с электроприводом, если котел оснащён автоматикой безопасности, исключающей возможность недопустимого понижения уровня воды в котле с естественной или многократной принудительной циркуляцией или недопустимого уменьшения расхода воды через прямоточный котел, а также исключающей возможность недопустимого повышения давления.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Напор, создаваемый насосом, должен обеспечивать питание котла водой при рабочем давлении за котлом с учётом гидростатической высоты и потерь давления в тракте котла, регулирующем устройстве и в тракте питательной воды. При групповом питании котлов напор насоса выбирается исходя из условия обеспечения питания котла с наибольшим рабочим давлением или с наибольшей потерей напора в питательном трубопроводе.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Характеристика насоса должна обеспечивать отсутствие перерывов в питании котла при срабатывании предохранительных клапанов с учётом наибольшего повышения давления при их полном открывании. Тип, характеристику, количество и схему включения питательных устройств определяют в целях обеспечения надёжной и безопасной эксплуатации котла на всех режимах, включая аварийные остановки.</a:t>
            </a:r>
          </a:p>
          <a:p>
            <a:pPr algn="l">
              <a:spcBef>
                <a:spcPts val="525"/>
              </a:spcBef>
            </a:pPr>
            <a:endParaRPr sz="1500" b="0" i="0">
              <a:solidFill>
                <a:srgbClr val="1A1A1A"/>
              </a:solidFill>
              <a:latin typeface="Inter"/>
              <a:ea typeface="Inter"/>
              <a:cs typeface="Inter"/>
            </a:endParaRP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Подача питательных устройств определяется по номинальной паропроизводительности котлов с учётом расхода воды на непрерывную или периодическую продувку, пароохлаждение, редукционно-охладительные и охладительные устройства, потери воды или пара.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21208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34924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Напор и расход воды, создаваемый циркуляционными и подпиточными насосами, должны исключать возможность вскипания воды в водогрейном котле и системе теплоснабжения. Минимальный напор и расход воды устанавливаются проектом.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22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CE67D3F-6F2F-485C-B25C-23E4CE2B8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6B56709-CF4D-4614-941D-4B4A48D7F56E}"/>
              </a:ext>
            </a:extLst>
          </p:cNvPr>
          <p:cNvSpPr/>
          <p:nvPr/>
        </p:nvSpPr>
        <p:spPr>
          <a:xfrm>
            <a:off x="457200" y="923192"/>
            <a:ext cx="11185855" cy="48215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Оснащение</a:t>
            </a:r>
            <a:r>
              <a:rPr sz="30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экономайзеров</a:t>
            </a:r>
            <a:r>
              <a:rPr sz="3000" b="1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КИП и </a:t>
            </a:r>
            <a:r>
              <a:rPr sz="3000" b="1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арматурой</a:t>
            </a:r>
            <a:endParaRPr sz="3000" b="1" i="0" dirty="0">
              <a:solidFill>
                <a:schemeClr val="bg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Требования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к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установке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,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подключению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и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оснащению</a:t>
            </a:r>
            <a:r>
              <a:rPr sz="17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7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экономайзеров</a:t>
            </a:r>
            <a:endParaRPr sz="1700" b="0" i="0" dirty="0">
              <a:solidFill>
                <a:schemeClr val="bg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236851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требования при установке и подключении экономайзеров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56891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9405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94051"/>
            <a:ext cx="1045433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Установка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подключение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экономайзеров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к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котлам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осуществляются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соответствии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с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требованиями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проектной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документации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руководств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инструкций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по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эксплуатации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с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учётом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рекомендуемых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них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схем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включения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экономайзеров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4215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42157"/>
            <a:ext cx="1045433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Оснащение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экономайзеров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контрольно-измерительными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приборами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запорной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регулирующей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арматурой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предохранительными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устройствами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осуществляется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соответствии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с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требованиями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проектной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документации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руководств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инструкций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по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эксплуатации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9026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90263"/>
            <a:ext cx="1045433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Принятые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проектом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решения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по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выбору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экономайзера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схеме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его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включения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должны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обеспечивать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возможность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эксплуатации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с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параметрами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рабочей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среды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давление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температура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не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более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значений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установленных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расчётом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на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прочность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3836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38369"/>
            <a:ext cx="1045433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Предельные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значения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параметров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рабочей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среды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давление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температура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указываются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организацией-изготовителем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паспорте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экономайзера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превышение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этих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значений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не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  <a:ea typeface="Inter"/>
                <a:cs typeface="Inter"/>
              </a:rPr>
              <a:t>допускается</a:t>
            </a:r>
            <a:r>
              <a:rPr sz="1400" b="0" i="0" dirty="0">
                <a:solidFill>
                  <a:schemeClr val="bg1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Параметры рабочей среды при эксплуатации экономайзера не должны превышать значений, установленных расчётом на прочность и указанных изготовителем в паспорте.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24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к подаче и подготовке топлива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Определяются индивидуально для каждого вида топлива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Что определяется проектной документацией и руководством по эксплуатации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522716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51760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Подвод топлива к горелкам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схеме подвода топлива к горелочным устройствам устанавливаются с учётом физико-химических свойств топлива.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Запорная, регулирующая и отсечная (предохранительная) арматура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94176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составу и характеристикам арматуры определяются для каждого вида топлива отдельно.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9392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Перечень защит и блокировок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07992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Необходимые защиты и блокировки определяются исходя из вида топлива и условий эксплуатации.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93207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Приготовление и подача топлива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21807"/>
            <a:ext cx="522716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подготовке топлива устанавливаются с учётом его физико-химических свойств.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292858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Предохранительные взрывные клапаны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4447" y="2612898"/>
            <a:ext cx="522716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447" y="2750058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Область применения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978658"/>
            <a:ext cx="5227167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Устанавливаются (в случаях, предусмотренных проектом) на топках котлов, экономайзерах и газоходах, отводящих продукты сгорания к дымовой трубе.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769613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Защитные сбросные устройства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998213"/>
            <a:ext cx="5227167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На каждом взрывном клапане предусматриваются кожухи или патрубки, обеспечивающие сброс избыточного давления при взрывах и хлопках в топке и газоходах в безопасное для персонала направление.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789170"/>
            <a:ext cx="522716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Требование к конструкции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017770"/>
            <a:ext cx="5227167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Конструкция сбросного устройства должна обеспечивать возможность контроля состояния и герметичности (плотности) взрывного клапана в процессе его эксплуатации.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Все требования к топливной системе определяются требованиями проектной документации и руководства (инструкции) по эксплуатации котла для каждого вида топлива.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26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00000"/>
            <a:ext cx="109115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Установка котлов внутри производственных помещений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000"/>
            <a:ext cx="1091153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Допускается установка следующих видов котлов (ФНП № 536):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0000"/>
            <a:ext cx="104963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Прямоточные котлы паропроизводительностью каждого не более 4 т/ч.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0000"/>
            <a:ext cx="104963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Паровые котлы (включая электрокотлы), кроме прямоточных, при условии (t − 100) × V ≤ 100 (для каждого котла), где t — температура насыщенного пара при рабочем давлении, °C; V — вместимость котла, м³.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6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60000"/>
            <a:ext cx="104963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Водогрейные котлы теплопроизводительностью каждого не более 10,5 ГДж/ч (2,5 Гкал/ч), не имеющие барабанов.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4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40000"/>
            <a:ext cx="104963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Водогрейные электрокотлы электрической мощностью каждого не более 2,5 МВт.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2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20000"/>
            <a:ext cx="104963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Котлы-утилизаторы — без ограничений.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50000"/>
            <a:ext cx="1091153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Расстояние от фронта котлов до противоположной стены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0000"/>
            <a:ext cx="1091153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Базовое требование — не менее 3 м; исключения и уточнения по типу котла: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00000"/>
            <a:ext cx="10496335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Газ/жидкое топливо: от выступающих частей горелок до стены — не менее 1 м; с механизированными топками — не менее 2 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50000"/>
            <a:ext cx="10496335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Паропроизводительность ≤ 2,5 т/ч: расстояние от фронта/топок до стены может быть сокращено до 2 м (ручная топка ≤1 м; без обслуживания с фронта; газ/жидкое топливо при сохранении ≥1 м до горелок).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00000"/>
            <a:ext cx="10496335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Электрокотлы: от фронта до стены — не менее 2 м; при мощности ≤ 1 МВт — допускается до 1 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06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00000"/>
            <a:ext cx="109115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Расстояние между фронтами котлов друг против друга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00000"/>
            <a:ext cx="1091153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Нормы для котлов, расположенных друг против друга (кроме электрокотлов — отдельная норма):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00000"/>
            <a:ext cx="522716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Механизированные топки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00000"/>
            <a:ext cx="5227167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Не менее 4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200000"/>
            <a:ext cx="522716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Газ / жидкое топливо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2500000"/>
            <a:ext cx="5227167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Не менее 4 м; между горелочными устройствами — не менее 2 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00000"/>
            <a:ext cx="522716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Ручная загрузка твёрдого топлива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0000"/>
            <a:ext cx="5227167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Не менее 5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3900000"/>
            <a:ext cx="522716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Электрокотлы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4200000"/>
            <a:ext cx="5227167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Между фронтами — не менее 3 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08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00000"/>
            <a:ext cx="1091153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Боковые проходы и обслуживание топки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5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необходимости бокового обслуживания топки/котла (шуровка, обдувка, очистка газоходов, барабанов, коллекторов, выемка пакетов и т.п.) ширина бокового прохода: ≥ 1,5 м при паропроизводительности &lt; 4 т/ч; ≥ 2 м при ≥ 4 т/ч.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Если боковое обслуживание не требуется — обязательны проходы между крайними котлами и стенами, а также между котлами и задней стеной помещения.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5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Ширина бокового прохода и прохода между электрокотлами и задней стеной — не менее 1 м. По проекту допускается установка электрокотла у стены, если это не мешает обслуживанию.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5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Ширина прохода между выступающими из обмуровки частями котлов, а также между ними и выступающими частями здания — не менее 0,7 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10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00000"/>
            <a:ext cx="1091153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Дополнительные требования к размещению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0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Для котлов с электродной группой на съёмной крышке вертикальный зазор до перекрытия должен позволять извлечение электродной группы из корпуса.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8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Расстояние между котлами / стенками электрокотельной должно быть достаточным для извлечения съёмного блока электронагревательных элементов.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6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6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Запрещается установка в одном помещении с котлами и экономайзерами оборудования, не имеющего отношения к обслуживанию/ремонту котлов или к технологии получения пара (горячей воды).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4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4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Размещение котлов и вспомогательного оборудования в блок-контейнерах, передвижных и транспортабельных установках — по проекту.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2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Высота площадки обслуживания водоуказательных приборов до середины стекла (шкалы): не менее 1 м и не более 1,5 м (при диаметре барабана &lt; 1,2 м и более — по проекту).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50000"/>
            <a:ext cx="109115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Системы трубопроводов для безопасной эксплуатации котлов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1153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Проектом размещения котлов должны быть предусмотрены трубопроводы: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50000"/>
            <a:ext cx="5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Основные линии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750000"/>
            <a:ext cx="5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Дополнительно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50000"/>
            <a:ext cx="5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подвода питательной или сетевой воды;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70000"/>
            <a:ext cx="5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продувки котла и спуска воды при остановке;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90000"/>
            <a:ext cx="5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удаления воздуха при заполнении и растопке;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10000"/>
            <a:ext cx="5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продувки пароперегревателя и паропровода;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30000"/>
            <a:ext cx="5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отбора проб воды и пара;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950000"/>
            <a:ext cx="5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ввода корректирующих реагентов в котловую воду;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470000"/>
            <a:ext cx="5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отвода воды или пара при розжиге и останове;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990000"/>
            <a:ext cx="5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прогрева паропроводов;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510000"/>
            <a:ext cx="5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иные трубопроводы, предусмотренные проектом и руководством по эксплуатации.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15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50000"/>
            <a:ext cx="109115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Арматура на питательных и паровых линиях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На входе воды в водогрейный котёл и на выходе воды из котла — по запорному органу.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8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8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Главные парозапорные органы паровых котлов производительностью &gt; 4 т/ч — с дистанционным управлением с рабочего места персонала.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6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6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На питательных линиях каждого котла — регулирующая арматура; при автоматическом регулировании питания — дистанционное управление с рабочего места.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4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4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На питательных линиях котлов ≤ 2,5 т/ч регулирующая арматура не устанавливается, если проектом предусмотрено автоматическое регулирование уровня включением/выключением насоса.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2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20000"/>
            <a:ext cx="104963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отводе среды в сборный бак (сепаратор, расширитель) с меньшим давлением бак должен быть защищён от превышения давления выше расчётного.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19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00000"/>
            <a:ext cx="1091153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Циркуляционные и питательные насосы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5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 котельных с водогрейными котлами — не менее двух взаимозаменяемых циркуляционных сетевых насосов; при отказе одного должна обеспечиваться работа системы.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Подача питательных устройств определяется по номинальной паропроизводительности с учётом расходов на продувку, пароохлаждение, РОУ и др. потери.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5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Тип, характеристика, количество и схема включения питательных устройств — для надёжной и безопасной эксплуатации на всех режимах, включая аварийные остановки.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5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Между запорным устройством и поршневым/плунжерным насосом без предохранительного клапана, если напор насоса превышает расчётное давление трубопровода, должен быть установлен предохранительный клапан.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23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50000"/>
            <a:ext cx="109115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Подача топлива и золошлакоудаление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000"/>
            <a:ext cx="10496335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Для котлов ≥ 2,5 т/ч на твёрдом топливе — механизированная подача топлива в котельную и топку. При общем выходе шлака и золы от всех котлов ≥ 150 кг/ч (или по норме проекта) — механизированное золошлакоудаление.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50000"/>
            <a:ext cx="10496335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ручном золоудалении шлаковые и золовые бункеры снабжаются устройствами для заливки водой золы и шлака в бункерах или вагонетках; под бункером — изолированные камеры для установки вагонеток.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00000"/>
            <a:ext cx="10496335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Если зола и шлак удаляются из топки непосредственно на рабочую площадку — над местом удаления и заливки устраивается вытяжная вентиляция.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50000"/>
            <a:ext cx="10496335" cy="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шахтных топках с ручной загрузкой древесного топлива или торфа — загрузочные бункера с крышкой и откидным дном.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25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2423</Words>
  <Application>Microsoft Office PowerPoint</Application>
  <PresentationFormat>Широкоэкранный</PresentationFormat>
  <Paragraphs>195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4</cp:revision>
  <dcterms:created xsi:type="dcterms:W3CDTF">2013-01-27T09:14:16Z</dcterms:created>
  <dcterms:modified xsi:type="dcterms:W3CDTF">2026-08-27T07:16:24Z</dcterms:modified>
  <cp:category/>
</cp:coreProperties>
</file>