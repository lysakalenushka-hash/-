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373" r:id="rId2"/>
    <p:sldId id="374" r:id="rId4"/>
    <p:sldId id="375" r:id="rId3"/>
    <p:sldId id="376" r:id="rId10"/>
    <p:sldId id="377" r:id="rId11"/>
    <p:sldId id="378" r:id="rId12"/>
    <p:sldId id="379" r:id="rId13"/>
    <p:sldId id="380" r:id="rId1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9" d="100"/>
          <a:sy n="149" d="100"/>
        </p:scale>
        <p:origin x="61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F59C47-52C2-4F1D-B07D-8C21AA980934}" type="datetimeFigureOut">
              <a:rPr lang="ru-RU" smtClean="0"/>
              <a:t>16.07.2026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14842B-E69D-4239-BD62-24A6E3241D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17634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5141212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4BE3C1-1E5F-46B6-9F39-ACDC0E025F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DBCE80F-4974-48B4-9BA4-1A00361B04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2701022-B540-40F7-B85C-5B49A3BD7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A1AC7-BD75-4248-9451-73BFAA05E567}" type="datetimeFigureOut">
              <a:rPr lang="ru-RU" smtClean="0"/>
              <a:t>16.07.2026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1016F8F-89D9-47D9-8103-AB7500E83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B033374-0A10-4803-B511-6F46AFDC6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5A1C4-0AE9-4A91-AFCA-7EE7F87049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38240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0A732B-C153-41EF-A44B-6C2E7B430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43EA41E-0056-4DEB-B57E-F21C6C7F81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F3B6D44-D131-4549-B01C-7E85834C9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A1AC7-BD75-4248-9451-73BFAA05E567}" type="datetimeFigureOut">
              <a:rPr lang="ru-RU" smtClean="0"/>
              <a:t>16.07.2026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6895DDE-BBCB-4DC6-9284-744E4F1B9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8C0EB90-33B9-4609-A661-102F8616E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5A1C4-0AE9-4A91-AFCA-7EE7F87049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77224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916958C-1D5B-4D06-9B14-D590AE025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1FDD698-FD10-425C-B555-178FB7A068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1C69F82-C865-40AF-955A-74B4E153F7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A1AC7-BD75-4248-9451-73BFAA05E567}" type="datetimeFigureOut">
              <a:rPr lang="ru-RU" smtClean="0"/>
              <a:t>16.07.2026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756728B-E886-4D6E-89C6-94439E877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37EB803-ACB0-4AC7-B25B-07B0A78A8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5A1C4-0AE9-4A91-AFCA-7EE7F87049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98918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F1AF566-FC9E-43CD-92F2-0B94E45DC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7539833-9484-4D50-B31C-B1FF1162D8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19C15AF-C578-40E4-96C0-AFDE28DEDD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32EB265-B6E0-4A54-9181-F7FBF11B7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A1AC7-BD75-4248-9451-73BFAA05E567}" type="datetimeFigureOut">
              <a:rPr lang="ru-RU" smtClean="0"/>
              <a:t>16.07.2026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2735A26-EB77-4265-A12D-09B9CA4D3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E1C95AD-7886-4359-B40B-7CE1E0A7D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5A1C4-0AE9-4A91-AFCA-7EE7F87049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51145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7F8EE6-C651-48E5-B075-C21C6FAC85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1D54DAD-47A9-406A-95D5-F6665A7F7C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08DBDAB-DDE9-4887-998E-96B5226048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0900F53-AC2F-45B8-8A19-674CBD5C1C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2AD7A20-7FE6-4DC8-A79D-E5720A30D3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F57587B2-5C85-41F4-A3CE-C845F0CA18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A1AC7-BD75-4248-9451-73BFAA05E567}" type="datetimeFigureOut">
              <a:rPr lang="ru-RU" smtClean="0"/>
              <a:t>16.07.2026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BC5E41C2-E507-4282-9F0F-32EBFC88F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B4B46D0-C637-405D-8943-3355CDACF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5A1C4-0AE9-4A91-AFCA-7EE7F87049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7592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3D67A3-4361-4BF6-83DA-EB74520EB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1A2E57A7-77EF-44BB-A648-7C612AE1BA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A1AC7-BD75-4248-9451-73BFAA05E567}" type="datetimeFigureOut">
              <a:rPr lang="ru-RU" smtClean="0"/>
              <a:t>16.07.2026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E51E8149-09EA-40E4-B89A-2A5EF5D17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45E58E2-CA3C-4DDC-99C8-F1757F6A15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5A1C4-0AE9-4A91-AFCA-7EE7F87049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7637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24B226D7-AACE-4D16-9825-C9DDB9F39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A1AC7-BD75-4248-9451-73BFAA05E567}" type="datetimeFigureOut">
              <a:rPr lang="ru-RU" smtClean="0"/>
              <a:t>16.07.2026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CBDB12BA-B785-43A8-AD4A-001D11ACD5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0DA0875-974B-4C7E-855B-A6DA92C64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5A1C4-0AE9-4A91-AFCA-7EE7F87049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23369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D9A82E7-EC5A-46FB-85BF-F8057B1F8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C73826-12DF-4612-8F42-CE1266083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83D077D-D4DE-4E74-9EE3-1DD192BAC0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9015384-BDE7-419F-A6C8-E27D5C945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A1AC7-BD75-4248-9451-73BFAA05E567}" type="datetimeFigureOut">
              <a:rPr lang="ru-RU" smtClean="0"/>
              <a:t>16.07.2026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CB7BF1B-CDFA-420C-AD3B-7101267D9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D700627-77BD-4F3A-A61F-58B111541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5A1C4-0AE9-4A91-AFCA-7EE7F87049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38940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543BAF0-12CF-494F-B873-3622913CF4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4B3F7D89-AB1E-4CD9-B0C9-FD38FB46FB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5E118B5-B804-4A6B-9EB5-2FD839144B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0C44D9A-287E-4190-8BFB-F1EAB11DD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A1AC7-BD75-4248-9451-73BFAA05E567}" type="datetimeFigureOut">
              <a:rPr lang="ru-RU" smtClean="0"/>
              <a:t>16.07.2026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309FEA0-340F-4E94-9C01-563CC08CD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5D3D113-98BA-44CF-95C2-73AD7CF61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5A1C4-0AE9-4A91-AFCA-7EE7F87049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39288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258E4A-F776-4751-A568-A17A9B722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7CC357D-4B69-4B98-B473-1AED62CC22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F1D29C-FA71-4041-A1FC-C57DDEC6F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A1AC7-BD75-4248-9451-73BFAA05E567}" type="datetimeFigureOut">
              <a:rPr lang="ru-RU" smtClean="0"/>
              <a:t>16.07.2026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67A52C4-1BEC-4E5A-8FE5-3E7139355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BA43DE4-5C1B-49FB-B253-5B292043D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5A1C4-0AE9-4A91-AFCA-7EE7F87049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21505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9C2C1DC-DAE6-4249-B9BE-FE53E99772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749CEC2-BB02-4AF2-A7C9-EAB2599F8F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354B100-CECE-4092-9522-73B8A4700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A1AC7-BD75-4248-9451-73BFAA05E567}" type="datetimeFigureOut">
              <a:rPr lang="ru-RU" smtClean="0"/>
              <a:t>16.07.2026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8BBEE2B-7879-4D0C-B566-B8B92FF72B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563542D-1BC2-418E-8469-0E15A74AA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5A1C4-0AE9-4A91-AFCA-7EE7F87049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98562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Титульный слайд копия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bg_transp1.png" descr="bg_transp1.png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-1"/>
            <a:ext cx="12192001" cy="68580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01" name="smarta_BACKGROUND.png" descr="smarta_BACKGROUND.png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074657" y="362533"/>
            <a:ext cx="8117343" cy="509869"/>
          </a:xfrm>
          <a:prstGeom prst="rect">
            <a:avLst/>
          </a:prstGeom>
          <a:ln w="12700">
            <a:miter lim="400000"/>
          </a:ln>
        </p:spPr>
      </p:pic>
      <p:pic>
        <p:nvPicPr>
          <p:cNvPr id="102" name="smarta_BACKGROUND.png" descr="smarta_BACKGROUND.png"/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-2" y="6411473"/>
            <a:ext cx="947042" cy="284759"/>
          </a:xfrm>
          <a:prstGeom prst="rect">
            <a:avLst/>
          </a:prstGeom>
          <a:ln w="12700">
            <a:miter lim="400000"/>
          </a:ln>
        </p:spPr>
      </p:pic>
      <p:sp>
        <p:nvSpPr>
          <p:cNvPr id="103" name="Прямоугольник"/>
          <p:cNvSpPr/>
          <p:nvPr userDrawn="1"/>
        </p:nvSpPr>
        <p:spPr>
          <a:xfrm>
            <a:off x="518463" y="6411473"/>
            <a:ext cx="317501" cy="284759"/>
          </a:xfrm>
          <a:prstGeom prst="rect">
            <a:avLst/>
          </a:prstGeom>
          <a:solidFill>
            <a:srgbClr val="535353">
              <a:alpha val="54842"/>
            </a:srgbClr>
          </a:solidFill>
          <a:ln w="3175">
            <a:miter lim="400000"/>
          </a:ln>
        </p:spPr>
        <p:txBody>
          <a:bodyPr lIns="45719" tIns="45719" rIns="45719" bIns="45719" anchor="ctr"/>
          <a:lstStyle/>
          <a:p>
            <a:pPr>
              <a:lnSpc>
                <a:spcPct val="110000"/>
              </a:lnSpc>
              <a:defRPr sz="2400">
                <a:solidFill>
                  <a:srgbClr val="535353"/>
                </a:solidFill>
              </a:defRPr>
            </a:pPr>
            <a:endParaRPr sz="1200" dirty="0"/>
          </a:p>
        </p:txBody>
      </p:sp>
      <p:pic>
        <p:nvPicPr>
          <p:cNvPr id="105" name="Изображение" descr="Изображение"/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0072" y="378408"/>
            <a:ext cx="2106382" cy="804597"/>
          </a:xfrm>
          <a:prstGeom prst="rect">
            <a:avLst/>
          </a:prstGeom>
          <a:ln w="12700">
            <a:miter lim="400000"/>
          </a:ln>
        </p:spPr>
      </p:pic>
      <p:sp>
        <p:nvSpPr>
          <p:cNvPr id="106" name="Прямоугольник"/>
          <p:cNvSpPr/>
          <p:nvPr userDrawn="1"/>
        </p:nvSpPr>
        <p:spPr>
          <a:xfrm>
            <a:off x="11957108" y="362534"/>
            <a:ext cx="234893" cy="509787"/>
          </a:xfrm>
          <a:prstGeom prst="rect">
            <a:avLst/>
          </a:prstGeom>
          <a:solidFill>
            <a:srgbClr val="21518D"/>
          </a:solidFill>
          <a:ln w="3175">
            <a:miter lim="400000"/>
          </a:ln>
        </p:spPr>
        <p:txBody>
          <a:bodyPr lIns="45719" tIns="45719" rIns="45719" bIns="45719" anchor="ctr"/>
          <a:lstStyle/>
          <a:p>
            <a:pPr>
              <a:lnSpc>
                <a:spcPct val="110000"/>
              </a:lnSpc>
              <a:defRPr sz="2400">
                <a:solidFill>
                  <a:srgbClr val="535353"/>
                </a:solidFill>
              </a:defRPr>
            </a:pPr>
            <a:endParaRPr sz="1200" dirty="0"/>
          </a:p>
        </p:txBody>
      </p:sp>
      <p:sp>
        <p:nvSpPr>
          <p:cNvPr id="110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4074657" y="362533"/>
            <a:ext cx="7882451" cy="509869"/>
          </a:xfrm>
          <a:prstGeom prst="rect">
            <a:avLst/>
          </a:prstGeom>
          <a:effectLst>
            <a:outerShdw blurRad="50800" dir="5400000" rotWithShape="0">
              <a:srgbClr val="000000">
                <a:alpha val="50000"/>
              </a:srgbClr>
            </a:outerShdw>
          </a:effectLst>
        </p:spPr>
        <p:txBody>
          <a:bodyPr lIns="164995" tIns="164995" rIns="164995" bIns="164995"/>
          <a:lstStyle>
            <a:lvl1pPr marR="269393" indent="279400" algn="r">
              <a:lnSpc>
                <a:spcPct val="230000"/>
              </a:lnSpc>
              <a:spcBef>
                <a:spcPts val="1150"/>
              </a:spcBef>
              <a:defRPr sz="1600" cap="all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112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554663" y="6416087"/>
            <a:ext cx="253331" cy="275531"/>
          </a:xfrm>
          <a:prstGeom prst="rect">
            <a:avLst/>
          </a:prstGeom>
        </p:spPr>
        <p:txBody>
          <a:bodyPr lIns="91380" tIns="91380" rIns="91380" bIns="91380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88272632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0D78D4A-4357-44DD-A58B-DDCEC91D1D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09FB7CA-1558-40E3-8AAA-18FF5F9F6B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DFC3289-809A-445A-BB26-A3304445A3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2A1AC7-BD75-4248-9451-73BFAA05E567}" type="datetimeFigureOut">
              <a:rPr lang="ru-RU" smtClean="0"/>
              <a:t>16.07.2026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FCD311E-E054-4D0E-A37C-11FC7FC69E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EACB8FC-7B83-41F9-83CB-5A1744A3F7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95A1C4-0AE9-4A91-AFCA-7EE7F87049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2810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Заголовок 1"/>
          <p:cNvSpPr txBox="1">
            <a:spLocks noGrp="1"/>
          </p:cNvSpPr>
          <p:nvPr>
            <p:ph type="title"/>
          </p:nvPr>
        </p:nvSpPr>
        <p:spPr>
          <a:xfrm>
            <a:off x="4074657" y="362533"/>
            <a:ext cx="7882451" cy="509869"/>
          </a:xfrm>
          <a:prstGeom prst="rect">
            <a:avLst/>
          </a:prstGeom>
        </p:spPr>
        <p:txBody>
          <a:bodyPr>
            <a:noAutofit/>
          </a:bodyPr>
          <a:lstStyle>
            <a:lvl1pPr marR="285556" indent="296163" defTabSz="969263">
              <a:spcBef>
                <a:spcPts val="1200"/>
              </a:spcBef>
              <a:defRPr sz="4133"/>
            </a:lvl1pPr>
          </a:lstStyle>
          <a:p>
            <a:pPr>
              <a:lnSpc>
                <a:spcPct val="100000"/>
              </a:lnSpc>
            </a:pPr>
            <a:r>
              <a:rPr sz="2000" b="1"/>
              <a:t>ПОЗИЦИЯ СУДОВ ПО ВОПРОСУ квалификации травмы от конфликта в бытовке как НС на производстве</a:t>
            </a:r>
            <a:endParaRPr sz="1800" dirty="0"/>
          </a:p>
        </p:txBody>
      </p:sp>
      <p:sp>
        <p:nvSpPr>
          <p:cNvPr id="150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623700" y="6416087"/>
            <a:ext cx="184294" cy="27553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</a:t>
            </a:fld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0746C4-E5A9-7CE8-C8EA-C036B924CAA7}"/>
              </a:ext>
            </a:extLst>
          </p:cNvPr>
          <p:cNvSpPr txBox="1"/>
          <p:nvPr/>
        </p:nvSpPr>
        <p:spPr>
          <a:xfrm>
            <a:off x="1003149" y="1686216"/>
            <a:ext cx="10953958" cy="584775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pPr hangingPunct="0"/>
            <a:r>
              <a:rPr sz="1200" b="0">
                <a:latin typeface="Montserrat Bold"/>
              </a:rPr>
              <a:t>СУТЬ ДЕЛА: В бытовом помещении работодателя одна работница травмировала другую. Комиссия работодателя признала случай не связанным с производством; ГИТ обязала оформить акт Н-1 и оценить риск насилия от враждебно настроенных работников</a:t>
            </a:r>
            <a:endParaRPr lang="ru-RU" sz="1600" dirty="0">
              <a:solidFill>
                <a:srgbClr val="000000"/>
              </a:solidFill>
              <a:sym typeface="Montserrat Regular"/>
            </a:endParaRP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0E005E3A-0147-2B24-CB2F-15E3C686E2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2040652"/>
              </p:ext>
            </p:extLst>
          </p:nvPr>
        </p:nvGraphicFramePr>
        <p:xfrm>
          <a:off x="309678" y="2560705"/>
          <a:ext cx="11572644" cy="181318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786322">
                  <a:extLst>
                    <a:ext uri="{9D8B030D-6E8A-4147-A177-3AD203B41FA5}">
                      <a16:colId xmlns:a16="http://schemas.microsoft.com/office/drawing/2014/main" val="3414614109"/>
                    </a:ext>
                  </a:extLst>
                </a:gridCol>
                <a:gridCol w="5786322">
                  <a:extLst>
                    <a:ext uri="{9D8B030D-6E8A-4147-A177-3AD203B41FA5}">
                      <a16:colId xmlns:a16="http://schemas.microsoft.com/office/drawing/2014/main" val="3628765330"/>
                    </a:ext>
                  </a:extLst>
                </a:gridCol>
              </a:tblGrid>
              <a:tr h="341154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b="1" sz="1200">
                          <a:solidFill>
                            <a:srgbClr val="1A1A1A"/>
                          </a:solidFill>
                        </a:rPr>
                        <a:t>Позиция ГИТ / пострадавшей</a:t>
                      </a:r>
                      <a:endParaRPr lang="ru-RU" sz="1600" kern="100" dirty="0">
                        <a:solidFill>
                          <a:schemeClr val="bg1"/>
                        </a:solidFill>
                        <a:effectLst/>
                        <a:latin typeface="Montserrat Bold" panose="00000800000000000000" pitchFamily="2" charset="-52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76200" marT="47625" marB="47625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b="1" sz="1200">
                          <a:solidFill>
                            <a:srgbClr val="1A1A1A"/>
                          </a:solidFill>
                        </a:rPr>
                        <a:t>Позиция работодателя</a:t>
                      </a:r>
                      <a:endParaRPr lang="ru-RU" sz="1600" kern="100" dirty="0">
                        <a:solidFill>
                          <a:schemeClr val="bg1"/>
                        </a:solidFill>
                        <a:effectLst/>
                        <a:latin typeface="Montserrat Bold" panose="00000800000000000000" pitchFamily="2" charset="-52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0" marR="76200" marT="47625" marB="47625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9977395"/>
                  </a:ext>
                </a:extLst>
              </a:tr>
              <a:tr h="1471994">
                <a:tc>
                  <a:txBody>
                    <a:bodyPr/>
                    <a:lstStyle/>
                    <a:p>
                      <a:pPr marL="0" marR="0" indent="0" algn="l" defTabSz="1828800" rtl="0" latinLnBrk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b="0" sz="1100">
                          <a:solidFill>
                            <a:srgbClr val="1A1A1A"/>
                          </a:solidFill>
                        </a:rPr>
                        <a:t>НС связан с производством: территория работодателя, рабочее время. Перечень оснований «не связан с производством» в ст. 229.2 ТК РФ исчерпывающий. Нужны акт Н-1 и оценка риска насилия.</a:t>
                      </a:r>
                    </a:p>
                  </a:txBody>
                  <a:tcPr marL="0" marR="76200" marT="47625" marB="47625" anchor="ctr"/>
                </a:tc>
                <a:tc>
                  <a:txBody>
                    <a:bodyPr/>
                    <a:lstStyle/>
                    <a:p>
                      <a:pPr marL="0" marR="0" indent="0" algn="l" defTabSz="1828800" rtl="0" latinLnBrk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b="0" sz="1100">
                          <a:solidFill>
                            <a:srgbClr val="1A1A1A"/>
                          </a:solidFill>
                        </a:rPr>
                        <a:t>Травма получена в конфликте, не при исполнении трудовых обязанностей. Нарушены кодекс этики и ПВТР — случай непроизводственный.</a:t>
                      </a:r>
                    </a:p>
                  </a:txBody>
                  <a:tcPr marL="76200" marR="0" marT="47625" marB="47625" anchor="ctr"/>
                </a:tc>
                <a:extLst>
                  <a:ext uri="{0D108BD9-81ED-4DB2-BD59-A6C34878D82A}">
                    <a16:rowId xmlns:a16="http://schemas.microsoft.com/office/drawing/2014/main" val="500077660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367C342-79B7-5B1E-9D19-DF6CEC463383}"/>
              </a:ext>
            </a:extLst>
          </p:cNvPr>
          <p:cNvSpPr txBox="1"/>
          <p:nvPr/>
        </p:nvSpPr>
        <p:spPr>
          <a:xfrm>
            <a:off x="1380360" y="4743278"/>
            <a:ext cx="10576747" cy="1323439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pPr hangingPunct="0"/>
            <a:r>
              <a:rPr sz="1400" b="1">
                <a:latin typeface="Montserrat Bold"/>
              </a:rPr>
              <a:t>ВЫВОД СУДА:</a:t>
            </a:r>
          </a:p>
          <a:p>
            <a:r>
              <a:rPr sz="1300" b="0">
                <a:latin typeface="Montserrat Bold"/>
              </a:rPr>
              <a:t>Предписание ГИТ законно. Обстоятельства конфликта правового значения не имеют. НС на территории организации в рабочее время при необеспечении работодателем безопасности труда квалифицируется как связанный с производством.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886DD0-FE88-2CAE-C629-928FA9E2F107}"/>
              </a:ext>
            </a:extLst>
          </p:cNvPr>
          <p:cNvSpPr txBox="1"/>
          <p:nvPr/>
        </p:nvSpPr>
        <p:spPr>
          <a:xfrm>
            <a:off x="4074657" y="920890"/>
            <a:ext cx="7882451" cy="461665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r"/>
            <a:r>
              <a:rPr sz="1200" b="0"/>
              <a:t>Определение Кемеровского областного суда</a:t>
            </a:r>
          </a:p>
          <a:p>
            <a:r>
              <a:rPr sz="1200" b="0"/>
              <a:t>от 26 апреля 2023 г. по делу № 33а-3896/2023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5333F64-5F15-55F5-A25A-B38B3CDAB6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744" y="1686216"/>
            <a:ext cx="671406" cy="67140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C8254E8-FE29-BD45-40F0-A01355EE1E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744" y="4743278"/>
            <a:ext cx="1048616" cy="1048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820384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149" name="Заголовок 1"/>
          <p:cNvSpPr txBox="1">
            <a:spLocks noGrp="1"/>
          </p:cNvSpPr>
          <p:nvPr>
            <p:ph type="title"/>
          </p:nvPr>
        </p:nvSpPr>
        <p:spPr>
          <a:xfrm>
            <a:off x="4074657" y="362533"/>
            <a:ext cx="7882451" cy="509869"/>
          </a:xfrm>
          <a:prstGeom prst="rect">
            <a:avLst/>
          </a:prstGeom>
        </p:spPr>
        <p:txBody>
          <a:bodyPr>
            <a:noAutofit/>
          </a:bodyPr>
          <a:lstStyle>
            <a:lvl1pPr marR="285556" indent="296163" defTabSz="969263">
              <a:spcBef>
                <a:spcPts val="1200"/>
              </a:spcBef>
              <a:defRPr sz="4133"/>
            </a:lvl1pPr>
          </a:lstStyle>
          <a:p>
            <a:pPr>
              <a:lnSpc>
                <a:spcPct val="100000"/>
              </a:lnSpc>
            </a:pPr>
            <a:r>
              <a:rPr sz="1800" b="1"/>
              <a:t>ПОЗИЦИЯ СУДОВ ПО ВОПРОСУ квалификации драки в гардеробной как несчастного случая на производстве</a:t>
            </a:r>
            <a:endParaRPr sz="1800" dirty="0"/>
          </a:p>
        </p:txBody>
      </p:sp>
      <p:sp>
        <p:nvSpPr>
          <p:cNvPr id="150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623700" y="6416087"/>
            <a:ext cx="184294" cy="27553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</a:t>
            </a:fld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0746C4-E5A9-7CE8-C8EA-C036B924CAA7}"/>
              </a:ext>
            </a:extLst>
          </p:cNvPr>
          <p:cNvSpPr txBox="1"/>
          <p:nvPr/>
        </p:nvSpPr>
        <p:spPr>
          <a:xfrm>
            <a:off x="1003149" y="1686216"/>
            <a:ext cx="10953958" cy="584775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pPr hangingPunct="0"/>
            <a:r>
              <a:rPr sz="1300" b="0">
                <a:latin typeface="Montserrat Bold"/>
              </a:rPr>
              <a:t>СУТЬ ДЕЛА: Работники кондитерской фабрики им. Крупской подрались в гардеробной; причинён вред здоровью средней тяжести. Работодатель выдал акт Н-1, ФСС оспорил производственную квалификацию</a:t>
            </a:r>
            <a:endParaRPr lang="ru-RU" sz="1600" dirty="0">
              <a:solidFill>
                <a:srgbClr val="000000"/>
              </a:solidFill>
              <a:sym typeface="Montserrat Regular"/>
            </a:endParaRP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0E005E3A-0147-2B24-CB2F-15E3C686E2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2040652"/>
              </p:ext>
            </p:extLst>
          </p:nvPr>
        </p:nvGraphicFramePr>
        <p:xfrm>
          <a:off x="309678" y="2560705"/>
          <a:ext cx="11572644" cy="181318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786322">
                  <a:extLst>
                    <a:ext uri="{9D8B030D-6E8A-4147-A177-3AD203B41FA5}">
                      <a16:colId xmlns:a16="http://schemas.microsoft.com/office/drawing/2014/main" val="3414614109"/>
                    </a:ext>
                  </a:extLst>
                </a:gridCol>
                <a:gridCol w="5786322">
                  <a:extLst>
                    <a:ext uri="{9D8B030D-6E8A-4147-A177-3AD203B41FA5}">
                      <a16:colId xmlns:a16="http://schemas.microsoft.com/office/drawing/2014/main" val="3628765330"/>
                    </a:ext>
                  </a:extLst>
                </a:gridCol>
              </a:tblGrid>
              <a:tr h="341154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b="1" sz="1200">
                          <a:solidFill>
                            <a:srgbClr val="1A1A1A"/>
                          </a:solidFill>
                        </a:rPr>
                        <a:t>Позиция ФСС</a:t>
                      </a:r>
                      <a:endParaRPr lang="ru-RU" sz="1600" kern="100" dirty="0">
                        <a:solidFill>
                          <a:schemeClr val="bg1"/>
                        </a:solidFill>
                        <a:effectLst/>
                        <a:latin typeface="Montserrat Bold" panose="00000800000000000000" pitchFamily="2" charset="-52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76200" marT="47625" marB="47625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b="1" sz="1200">
                          <a:solidFill>
                            <a:srgbClr val="1A1A1A"/>
                          </a:solidFill>
                        </a:rPr>
                        <a:t>Позиция работодателя</a:t>
                      </a:r>
                      <a:endParaRPr lang="ru-RU" sz="1600" kern="100" dirty="0">
                        <a:solidFill>
                          <a:schemeClr val="bg1"/>
                        </a:solidFill>
                        <a:effectLst/>
                        <a:latin typeface="Montserrat Bold" panose="00000800000000000000" pitchFamily="2" charset="-52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0" marR="76200" marT="47625" marB="47625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9977395"/>
                  </a:ext>
                </a:extLst>
              </a:tr>
              <a:tr h="1471994">
                <a:tc>
                  <a:txBody>
                    <a:bodyPr/>
                    <a:lstStyle/>
                    <a:p>
                      <a:pPr marL="0" marR="0" indent="0" algn="l" defTabSz="1828800" rtl="0" latinLnBrk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b="0" sz="1100">
                          <a:solidFill>
                            <a:srgbClr val="1A1A1A"/>
                          </a:solidFill>
                        </a:rPr>
                        <a:t>Событие произошло не при исполнении трудовых обязанностей и не по заданию администрации — акт Н-1 неправомерен.</a:t>
                      </a:r>
                    </a:p>
                  </a:txBody>
                  <a:tcPr marL="0" marR="76200" marT="47625" marB="47625" anchor="ctr"/>
                </a:tc>
                <a:tc>
                  <a:txBody>
                    <a:bodyPr/>
                    <a:lstStyle/>
                    <a:p>
                      <a:pPr marL="0" marR="0" indent="0" algn="l" defTabSz="1828800" rtl="0" latinLnBrk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b="0" sz="1100">
                          <a:solidFill>
                            <a:srgbClr val="1A1A1A"/>
                          </a:solidFill>
                        </a:rPr>
                        <a:t>НС оформлен актом Н-1: событие на территории предприятия, связанное с трудовыми отношениями.</a:t>
                      </a:r>
                    </a:p>
                  </a:txBody>
                  <a:tcPr marL="76200" marR="0" marT="47625" marB="47625" anchor="ctr"/>
                </a:tc>
                <a:extLst>
                  <a:ext uri="{0D108BD9-81ED-4DB2-BD59-A6C34878D82A}">
                    <a16:rowId xmlns:a16="http://schemas.microsoft.com/office/drawing/2014/main" val="500077660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367C342-79B7-5B1E-9D19-DF6CEC463383}"/>
              </a:ext>
            </a:extLst>
          </p:cNvPr>
          <p:cNvSpPr txBox="1"/>
          <p:nvPr/>
        </p:nvSpPr>
        <p:spPr>
          <a:xfrm>
            <a:off x="1380360" y="4743278"/>
            <a:ext cx="10576747" cy="1323439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pPr hangingPunct="0"/>
            <a:r>
              <a:rPr sz="1400" b="1">
                <a:latin typeface="Montserrat Bold"/>
              </a:rPr>
              <a:t>ВЫВОД СУДА:</a:t>
            </a:r>
          </a:p>
          <a:p>
            <a:r>
              <a:rPr sz="1300" b="0">
                <a:latin typeface="Montserrat Bold"/>
              </a:rPr>
              <a:t>По обзорам практики: травма в драке вследствие нарушения дисциплины не признана производственным НС. Практика по дракам на территории неоднородна (сравните с делом Кемерово № 33а-3896/2023).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886DD0-FE88-2CAE-C629-928FA9E2F107}"/>
              </a:ext>
            </a:extLst>
          </p:cNvPr>
          <p:cNvSpPr txBox="1"/>
          <p:nvPr/>
        </p:nvSpPr>
        <p:spPr>
          <a:xfrm>
            <a:off x="4074657" y="920890"/>
            <a:ext cx="7882451" cy="461665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r"/>
            <a:r>
              <a:rPr sz="1200" b="0"/>
              <a:t>Кассационное определение Санкт-Петербургского городского суда</a:t>
            </a:r>
          </a:p>
          <a:p>
            <a:r>
              <a:rPr sz="1200" b="0"/>
              <a:t>от 16 января 2012 г. по делу № 33-13/2012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5333F64-5F15-55F5-A25A-B38B3CDAB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744" y="1686216"/>
            <a:ext cx="671406" cy="67140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C8254E8-FE29-BD45-40F0-A01355EE1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744" y="4743278"/>
            <a:ext cx="1048616" cy="1048616"/>
          </a:xfrm>
          <a:prstGeom prst="rect">
            <a:avLst/>
          </a:prstGeom>
        </p:spPr>
      </p:pic>
      <p:grpSpPr/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149" name="Заголовок 1"/>
          <p:cNvSpPr txBox="1">
            <a:spLocks noGrp="1"/>
          </p:cNvSpPr>
          <p:nvPr>
            <p:ph type="title"/>
          </p:nvPr>
        </p:nvSpPr>
        <p:spPr>
          <a:xfrm>
            <a:off x="4074657" y="362533"/>
            <a:ext cx="7882451" cy="509869"/>
          </a:xfrm>
          <a:prstGeom prst="rect">
            <a:avLst/>
          </a:prstGeom>
        </p:spPr>
        <p:txBody>
          <a:bodyPr>
            <a:noAutofit/>
          </a:bodyPr>
          <a:lstStyle>
            <a:lvl1pPr marR="285556" indent="296163" defTabSz="969263">
              <a:spcBef>
                <a:spcPts val="1200"/>
              </a:spcBef>
              <a:defRPr sz="4133"/>
            </a:lvl1pPr>
          </a:lstStyle>
          <a:p>
            <a:pPr>
              <a:lnSpc>
                <a:spcPct val="100000"/>
              </a:lnSpc>
            </a:pPr>
            <a:r>
              <a:rPr sz="2000" b="1"/>
              <a:t>ПОЗИЦИЯ СУДОВ ПО ВОПРОСУ ответственности работодателя за ожог от офисного чайника</a:t>
            </a:r>
            <a:endParaRPr sz="1800" dirty="0"/>
          </a:p>
        </p:txBody>
      </p:sp>
      <p:sp>
        <p:nvSpPr>
          <p:cNvPr id="150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623700" y="6416087"/>
            <a:ext cx="184294" cy="27553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3</a:t>
            </a:fld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0746C4-E5A9-7CE8-C8EA-C036B924CAA7}"/>
              </a:ext>
            </a:extLst>
          </p:cNvPr>
          <p:cNvSpPr txBox="1"/>
          <p:nvPr/>
        </p:nvSpPr>
        <p:spPr>
          <a:xfrm>
            <a:off x="1003149" y="1686216"/>
            <a:ext cx="10953958" cy="584775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pPr hangingPunct="0"/>
            <a:r>
              <a:rPr sz="1300" b="0">
                <a:latin typeface="Montserrat Bold"/>
              </a:rPr>
              <a:t>СУТЬ ДЕЛА: Порыв ветра распахнул окно, чайник с подоконника опрокинулся на работницу; термические ожоги, около 3 месяцев нетрудоспособности. Работодатель указывал на личную неосторожность</a:t>
            </a:r>
            <a:endParaRPr lang="ru-RU" sz="1600" dirty="0">
              <a:solidFill>
                <a:srgbClr val="000000"/>
              </a:solidFill>
              <a:sym typeface="Montserrat Regular"/>
            </a:endParaRP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0E005E3A-0147-2B24-CB2F-15E3C686E2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2040652"/>
              </p:ext>
            </p:extLst>
          </p:nvPr>
        </p:nvGraphicFramePr>
        <p:xfrm>
          <a:off x="309678" y="2560705"/>
          <a:ext cx="11572644" cy="181318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786322">
                  <a:extLst>
                    <a:ext uri="{9D8B030D-6E8A-4147-A177-3AD203B41FA5}">
                      <a16:colId xmlns:a16="http://schemas.microsoft.com/office/drawing/2014/main" val="3414614109"/>
                    </a:ext>
                  </a:extLst>
                </a:gridCol>
                <a:gridCol w="5786322">
                  <a:extLst>
                    <a:ext uri="{9D8B030D-6E8A-4147-A177-3AD203B41FA5}">
                      <a16:colId xmlns:a16="http://schemas.microsoft.com/office/drawing/2014/main" val="3628765330"/>
                    </a:ext>
                  </a:extLst>
                </a:gridCol>
              </a:tblGrid>
              <a:tr h="341154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b="1" sz="1200">
                          <a:solidFill>
                            <a:srgbClr val="1A1A1A"/>
                          </a:solidFill>
                        </a:rPr>
                        <a:t>Позиция работницы</a:t>
                      </a:r>
                      <a:endParaRPr lang="ru-RU" sz="1600" kern="100" dirty="0">
                        <a:solidFill>
                          <a:schemeClr val="bg1"/>
                        </a:solidFill>
                        <a:effectLst/>
                        <a:latin typeface="Montserrat Bold" panose="00000800000000000000" pitchFamily="2" charset="-52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76200" marT="47625" marB="47625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b="1" sz="1200">
                          <a:solidFill>
                            <a:srgbClr val="1A1A1A"/>
                          </a:solidFill>
                        </a:rPr>
                        <a:t>Позиция работодателя</a:t>
                      </a:r>
                      <a:endParaRPr lang="ru-RU" sz="1600" kern="100" dirty="0">
                        <a:solidFill>
                          <a:schemeClr val="bg1"/>
                        </a:solidFill>
                        <a:effectLst/>
                        <a:latin typeface="Montserrat Bold" panose="00000800000000000000" pitchFamily="2" charset="-52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0" marR="76200" marT="47625" marB="47625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9977395"/>
                  </a:ext>
                </a:extLst>
              </a:tr>
              <a:tr h="1471994">
                <a:tc>
                  <a:txBody>
                    <a:bodyPr/>
                    <a:lstStyle/>
                    <a:p>
                      <a:pPr marL="0" marR="0" indent="0" algn="l" defTabSz="1828800" rtl="0" latinLnBrk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b="0" sz="1100">
                          <a:solidFill>
                            <a:srgbClr val="1A1A1A"/>
                          </a:solidFill>
                        </a:rPr>
                        <a:t>Производственная травма на рабочем месте. Работодатель не обеспечил безопасные условия труда и контроль за использованием электроприборов.</a:t>
                      </a:r>
                    </a:p>
                  </a:txBody>
                  <a:tcPr marL="0" marR="76200" marT="47625" marB="47625" anchor="ctr"/>
                </a:tc>
                <a:tc>
                  <a:txBody>
                    <a:bodyPr/>
                    <a:lstStyle/>
                    <a:p>
                      <a:pPr marL="0" marR="0" indent="0" algn="l" defTabSz="1828800" rtl="0" latinLnBrk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b="0" sz="1100">
                          <a:solidFill>
                            <a:srgbClr val="1A1A1A"/>
                          </a:solidFill>
                        </a:rPr>
                        <a:t>Причина — личная неосторожность работницы. Окно исправно, подтверждено осмотром с участием инспектора ГИТ.</a:t>
                      </a:r>
                    </a:p>
                  </a:txBody>
                  <a:tcPr marL="76200" marR="0" marT="47625" marB="47625" anchor="ctr"/>
                </a:tc>
                <a:extLst>
                  <a:ext uri="{0D108BD9-81ED-4DB2-BD59-A6C34878D82A}">
                    <a16:rowId xmlns:a16="http://schemas.microsoft.com/office/drawing/2014/main" val="500077660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367C342-79B7-5B1E-9D19-DF6CEC463383}"/>
              </a:ext>
            </a:extLst>
          </p:cNvPr>
          <p:cNvSpPr txBox="1"/>
          <p:nvPr/>
        </p:nvSpPr>
        <p:spPr>
          <a:xfrm>
            <a:off x="1380360" y="4743278"/>
            <a:ext cx="10576747" cy="1323439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pPr hangingPunct="0"/>
            <a:r>
              <a:rPr sz="1400" b="1">
                <a:latin typeface="Montserrat Bold"/>
              </a:rPr>
              <a:t>ВЫВОД СУДА:</a:t>
            </a:r>
          </a:p>
          <a:p>
            <a:r>
              <a:rPr sz="1300" b="0">
                <a:latin typeface="Montserrat Bold"/>
              </a:rPr>
              <a:t>Производственная травма подтверждена. Вина работодателя — в отсутствии контроля за использованием электроприборов, не относящихся к рабочей технике. Взыскана компенсация морального вреда 300 000 руб.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886DD0-FE88-2CAE-C629-928FA9E2F107}"/>
              </a:ext>
            </a:extLst>
          </p:cNvPr>
          <p:cNvSpPr txBox="1"/>
          <p:nvPr/>
        </p:nvSpPr>
        <p:spPr>
          <a:xfrm>
            <a:off x="4074657" y="920890"/>
            <a:ext cx="7882451" cy="461665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r"/>
            <a:r>
              <a:rPr sz="1200" b="0"/>
              <a:t>Определение Девятого кассационного суда общей юрисдикции</a:t>
            </a:r>
          </a:p>
          <a:p>
            <a:r>
              <a:rPr sz="1200" b="0"/>
              <a:t>от 23 апреля 2026 г. по делу № 8Г-3005/2026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5333F64-5F15-55F5-A25A-B38B3CDAB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744" y="1686216"/>
            <a:ext cx="671406" cy="67140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C8254E8-FE29-BD45-40F0-A01355EE1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744" y="4743278"/>
            <a:ext cx="1048616" cy="1048616"/>
          </a:xfrm>
          <a:prstGeom prst="rect">
            <a:avLst/>
          </a:prstGeom>
        </p:spPr>
      </p:pic>
      <p:grpSpPr/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149" name="Заголовок 1"/>
          <p:cNvSpPr txBox="1">
            <a:spLocks noGrp="1"/>
          </p:cNvSpPr>
          <p:nvPr>
            <p:ph type="title"/>
          </p:nvPr>
        </p:nvSpPr>
        <p:spPr>
          <a:xfrm>
            <a:off x="4074657" y="362533"/>
            <a:ext cx="7882451" cy="509869"/>
          </a:xfrm>
          <a:prstGeom prst="rect">
            <a:avLst/>
          </a:prstGeom>
        </p:spPr>
        <p:txBody>
          <a:bodyPr>
            <a:noAutofit/>
          </a:bodyPr>
          <a:lstStyle>
            <a:lvl1pPr marR="285556" indent="296163" defTabSz="969263">
              <a:spcBef>
                <a:spcPts val="1200"/>
              </a:spcBef>
              <a:defRPr sz="4133"/>
            </a:lvl1pPr>
          </a:lstStyle>
          <a:p>
            <a:pPr>
              <a:lnSpc>
                <a:spcPct val="100000"/>
              </a:lnSpc>
            </a:pPr>
            <a:r>
              <a:rPr sz="2000" b="1"/>
              <a:t>ПОЗИЦИЯ СУДОВ ПО ВОПРОСУ признания смерти от ОРВИ несчастным случаем на производстве</a:t>
            </a:r>
            <a:endParaRPr sz="1800" dirty="0"/>
          </a:p>
        </p:txBody>
      </p:sp>
      <p:sp>
        <p:nvSpPr>
          <p:cNvPr id="150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623700" y="6416087"/>
            <a:ext cx="184294" cy="27553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4</a:t>
            </a:fld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0746C4-E5A9-7CE8-C8EA-C036B924CAA7}"/>
              </a:ext>
            </a:extLst>
          </p:cNvPr>
          <p:cNvSpPr txBox="1"/>
          <p:nvPr/>
        </p:nvSpPr>
        <p:spPr>
          <a:xfrm>
            <a:off x="1003149" y="1686216"/>
            <a:ext cx="10953958" cy="584775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pPr hangingPunct="0"/>
            <a:r>
              <a:rPr sz="1200" b="0">
                <a:latin typeface="Montserrat Bold"/>
              </a:rPr>
              <a:t>СУТЬ ДЕЛА: Водитель ООО «РН-Транспорт» умер на базе после допуска к работе (ОРВИ, пневмония). Работал 35 дней без еженедельного отдыха, без периодического медосмотра. Комиссия оформила Н-1; нижестоящие суды отказали семье, опираясь на СМЭ</a:t>
            </a:r>
            <a:endParaRPr lang="ru-RU" sz="1600" dirty="0">
              <a:solidFill>
                <a:srgbClr val="000000"/>
              </a:solidFill>
              <a:sym typeface="Montserrat Regular"/>
            </a:endParaRP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0E005E3A-0147-2B24-CB2F-15E3C686E2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2040652"/>
              </p:ext>
            </p:extLst>
          </p:nvPr>
        </p:nvGraphicFramePr>
        <p:xfrm>
          <a:off x="309678" y="2560705"/>
          <a:ext cx="11572644" cy="181318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786322">
                  <a:extLst>
                    <a:ext uri="{9D8B030D-6E8A-4147-A177-3AD203B41FA5}">
                      <a16:colId xmlns:a16="http://schemas.microsoft.com/office/drawing/2014/main" val="3414614109"/>
                    </a:ext>
                  </a:extLst>
                </a:gridCol>
                <a:gridCol w="5786322">
                  <a:extLst>
                    <a:ext uri="{9D8B030D-6E8A-4147-A177-3AD203B41FA5}">
                      <a16:colId xmlns:a16="http://schemas.microsoft.com/office/drawing/2014/main" val="3628765330"/>
                    </a:ext>
                  </a:extLst>
                </a:gridCol>
              </a:tblGrid>
              <a:tr h="341154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b="1" sz="1200">
                          <a:solidFill>
                            <a:srgbClr val="1A1A1A"/>
                          </a:solidFill>
                        </a:rPr>
                        <a:t>Позиция семьи погибшего</a:t>
                      </a:r>
                      <a:endParaRPr lang="ru-RU" sz="1600" kern="100" dirty="0">
                        <a:solidFill>
                          <a:schemeClr val="bg1"/>
                        </a:solidFill>
                        <a:effectLst/>
                        <a:latin typeface="Montserrat Bold" panose="00000800000000000000" pitchFamily="2" charset="-52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76200" marT="47625" marB="47625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b="1" sz="1200">
                          <a:solidFill>
                            <a:srgbClr val="1A1A1A"/>
                          </a:solidFill>
                        </a:rPr>
                        <a:t>Позиция работодателя / нижестоящих судов</a:t>
                      </a:r>
                      <a:endParaRPr lang="ru-RU" sz="1600" kern="100" dirty="0">
                        <a:solidFill>
                          <a:schemeClr val="bg1"/>
                        </a:solidFill>
                        <a:effectLst/>
                        <a:latin typeface="Montserrat Bold" panose="00000800000000000000" pitchFamily="2" charset="-52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0" marR="76200" marT="47625" marB="47625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9977395"/>
                  </a:ext>
                </a:extLst>
              </a:tr>
              <a:tr h="1471994">
                <a:tc>
                  <a:txBody>
                    <a:bodyPr/>
                    <a:lstStyle/>
                    <a:p>
                      <a:pPr marL="0" marR="0" indent="0" algn="l" defTabSz="1828800" rtl="0" latinLnBrk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b="0" sz="1100">
                          <a:solidFill>
                            <a:srgbClr val="1A1A1A"/>
                          </a:solidFill>
                        </a:rPr>
                        <a:t>Смерть — НС на производстве: нарушения режима труда и ОТ. Требуются выплаты по колдоговору и компенсация морального вреда.</a:t>
                      </a:r>
                    </a:p>
                  </a:txBody>
                  <a:tcPr marL="0" marR="76200" marT="47625" marB="47625" anchor="ctr"/>
                </a:tc>
                <a:tc>
                  <a:txBody>
                    <a:bodyPr/>
                    <a:lstStyle/>
                    <a:p>
                      <a:pPr marL="0" marR="0" indent="0" algn="l" defTabSz="1828800" rtl="0" latinLnBrk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b="0" sz="1100">
                          <a:solidFill>
                            <a:srgbClr val="1A1A1A"/>
                          </a:solidFill>
                        </a:rPr>
                        <a:t>Смерть от общего заболевания. СМЭ не нашла связи болезни с переработками и вредностью — случай непроизводственный.</a:t>
                      </a:r>
                    </a:p>
                  </a:txBody>
                  <a:tcPr marL="76200" marR="0" marT="47625" marB="47625" anchor="ctr"/>
                </a:tc>
                <a:extLst>
                  <a:ext uri="{0D108BD9-81ED-4DB2-BD59-A6C34878D82A}">
                    <a16:rowId xmlns:a16="http://schemas.microsoft.com/office/drawing/2014/main" val="500077660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367C342-79B7-5B1E-9D19-DF6CEC463383}"/>
              </a:ext>
            </a:extLst>
          </p:cNvPr>
          <p:cNvSpPr txBox="1"/>
          <p:nvPr/>
        </p:nvSpPr>
        <p:spPr>
          <a:xfrm>
            <a:off x="1380360" y="4743278"/>
            <a:ext cx="10576747" cy="1323439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pPr hangingPunct="0"/>
            <a:r>
              <a:rPr sz="1400" b="1">
                <a:latin typeface="Montserrat Bold"/>
              </a:rPr>
              <a:t>ВЫВОД СУДА:</a:t>
            </a:r>
          </a:p>
          <a:p>
            <a:r>
              <a:rPr sz="1300" b="0">
                <a:latin typeface="Montserrat Bold"/>
              </a:rPr>
              <a:t>ВС отменил отказы и направил дело на новое рассмотрение. «Умер от болезни» не закрывает вопрос автоматически. Заключение эксперта не единственное доказательство; нужно оценить Н-1, позицию ГИТ и нарушения ОТ/режима.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886DD0-FE88-2CAE-C629-928FA9E2F107}"/>
              </a:ext>
            </a:extLst>
          </p:cNvPr>
          <p:cNvSpPr txBox="1"/>
          <p:nvPr/>
        </p:nvSpPr>
        <p:spPr>
          <a:xfrm>
            <a:off x="4074657" y="920890"/>
            <a:ext cx="7882451" cy="461665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r"/>
            <a:r>
              <a:rPr sz="1200" b="0"/>
              <a:t>Определение Верховного Суда РФ</a:t>
            </a:r>
          </a:p>
          <a:p>
            <a:r>
              <a:rPr sz="1200" b="0"/>
              <a:t>от 22 июля 2024 г. № 88-КГ24-6-К8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5333F64-5F15-55F5-A25A-B38B3CDAB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744" y="1686216"/>
            <a:ext cx="671406" cy="67140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C8254E8-FE29-BD45-40F0-A01355EE1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744" y="4743278"/>
            <a:ext cx="1048616" cy="1048616"/>
          </a:xfrm>
          <a:prstGeom prst="rect">
            <a:avLst/>
          </a:prstGeom>
        </p:spPr>
      </p:pic>
      <p:grpSpPr/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149" name="Заголовок 1"/>
          <p:cNvSpPr txBox="1">
            <a:spLocks noGrp="1"/>
          </p:cNvSpPr>
          <p:nvPr>
            <p:ph type="title"/>
          </p:nvPr>
        </p:nvSpPr>
        <p:spPr>
          <a:xfrm>
            <a:off x="4074657" y="362533"/>
            <a:ext cx="7882451" cy="509869"/>
          </a:xfrm>
          <a:prstGeom prst="rect">
            <a:avLst/>
          </a:prstGeom>
        </p:spPr>
        <p:txBody>
          <a:bodyPr>
            <a:noAutofit/>
          </a:bodyPr>
          <a:lstStyle>
            <a:lvl1pPr marR="285556" indent="296163" defTabSz="969263">
              <a:spcBef>
                <a:spcPts val="1200"/>
              </a:spcBef>
              <a:defRPr sz="4133"/>
            </a:lvl1pPr>
          </a:lstStyle>
          <a:p>
            <a:pPr>
              <a:lnSpc>
                <a:spcPct val="100000"/>
              </a:lnSpc>
            </a:pPr>
            <a:r>
              <a:rPr sz="2000" b="1"/>
              <a:t>ПОЗИЦИЯ СУДОВ ПО ВОПРОСУ ответственности работодателя за гибель до начала смены</a:t>
            </a:r>
            <a:endParaRPr sz="1800" dirty="0"/>
          </a:p>
        </p:txBody>
      </p:sp>
      <p:sp>
        <p:nvSpPr>
          <p:cNvPr id="150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623700" y="6416087"/>
            <a:ext cx="184294" cy="27553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5</a:t>
            </a:fld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0746C4-E5A9-7CE8-C8EA-C036B924CAA7}"/>
              </a:ext>
            </a:extLst>
          </p:cNvPr>
          <p:cNvSpPr txBox="1"/>
          <p:nvPr/>
        </p:nvSpPr>
        <p:spPr>
          <a:xfrm>
            <a:off x="1003149" y="1686216"/>
            <a:ext cx="10953958" cy="584775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pPr hangingPunct="0"/>
            <a:r>
              <a:rPr sz="1300" b="0">
                <a:latin typeface="Montserrat Bold"/>
              </a:rPr>
              <a:t>СУТЬ ДЕЛА: Работник АО «Металлургический завод Балаково» получил доступ к опасному участку до начала рабочего времени и погиб. Мать требовала компенсацию морального вреда</a:t>
            </a:r>
            <a:endParaRPr lang="ru-RU" sz="1600" dirty="0">
              <a:solidFill>
                <a:srgbClr val="000000"/>
              </a:solidFill>
              <a:sym typeface="Montserrat Regular"/>
            </a:endParaRP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0E005E3A-0147-2B24-CB2F-15E3C686E2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2040652"/>
              </p:ext>
            </p:extLst>
          </p:nvPr>
        </p:nvGraphicFramePr>
        <p:xfrm>
          <a:off x="309678" y="2560705"/>
          <a:ext cx="11572644" cy="181318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786322">
                  <a:extLst>
                    <a:ext uri="{9D8B030D-6E8A-4147-A177-3AD203B41FA5}">
                      <a16:colId xmlns:a16="http://schemas.microsoft.com/office/drawing/2014/main" val="3414614109"/>
                    </a:ext>
                  </a:extLst>
                </a:gridCol>
                <a:gridCol w="5786322">
                  <a:extLst>
                    <a:ext uri="{9D8B030D-6E8A-4147-A177-3AD203B41FA5}">
                      <a16:colId xmlns:a16="http://schemas.microsoft.com/office/drawing/2014/main" val="3628765330"/>
                    </a:ext>
                  </a:extLst>
                </a:gridCol>
              </a:tblGrid>
              <a:tr h="341154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b="1" sz="1200">
                          <a:solidFill>
                            <a:srgbClr val="1A1A1A"/>
                          </a:solidFill>
                        </a:rPr>
                        <a:t>Позиция семьи погибшего</a:t>
                      </a:r>
                      <a:endParaRPr lang="ru-RU" sz="1600" kern="100" dirty="0">
                        <a:solidFill>
                          <a:schemeClr val="bg1"/>
                        </a:solidFill>
                        <a:effectLst/>
                        <a:latin typeface="Montserrat Bold" panose="00000800000000000000" pitchFamily="2" charset="-52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76200" marT="47625" marB="47625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b="1" sz="1200">
                          <a:solidFill>
                            <a:srgbClr val="1A1A1A"/>
                          </a:solidFill>
                        </a:rPr>
                        <a:t>Позиция работодателя</a:t>
                      </a:r>
                      <a:endParaRPr lang="ru-RU" sz="1600" kern="100" dirty="0">
                        <a:solidFill>
                          <a:schemeClr val="bg1"/>
                        </a:solidFill>
                        <a:effectLst/>
                        <a:latin typeface="Montserrat Bold" panose="00000800000000000000" pitchFamily="2" charset="-52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0" marR="76200" marT="47625" marB="47625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9977395"/>
                  </a:ext>
                </a:extLst>
              </a:tr>
              <a:tr h="1471994">
                <a:tc>
                  <a:txBody>
                    <a:bodyPr/>
                    <a:lstStyle/>
                    <a:p>
                      <a:pPr marL="0" marR="0" indent="0" algn="l" defTabSz="1828800" rtl="0" latinLnBrk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b="0" sz="1100">
                          <a:solidFill>
                            <a:srgbClr val="1A1A1A"/>
                          </a:solidFill>
                        </a:rPr>
                        <a:t>Вина работодателя: не обеспечен контроль, не исключён свободный доступ к опасному участку до начала смены.</a:t>
                      </a:r>
                    </a:p>
                  </a:txBody>
                  <a:tcPr marL="0" marR="76200" marT="47625" marB="47625" anchor="ctr"/>
                </a:tc>
                <a:tc>
                  <a:txBody>
                    <a:bodyPr/>
                    <a:lstStyle/>
                    <a:p>
                      <a:pPr marL="0" marR="0" indent="0" algn="l" defTabSz="1828800" rtl="0" latinLnBrk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b="0" sz="1100">
                          <a:solidFill>
                            <a:srgbClr val="1A1A1A"/>
                          </a:solidFill>
                        </a:rPr>
                        <a:t>Событие произошло до начала рабочего времени; работник не должен был находиться на опасном участке.</a:t>
                      </a:r>
                    </a:p>
                  </a:txBody>
                  <a:tcPr marL="76200" marR="0" marT="47625" marB="47625" anchor="ctr"/>
                </a:tc>
                <a:extLst>
                  <a:ext uri="{0D108BD9-81ED-4DB2-BD59-A6C34878D82A}">
                    <a16:rowId xmlns:a16="http://schemas.microsoft.com/office/drawing/2014/main" val="500077660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367C342-79B7-5B1E-9D19-DF6CEC463383}"/>
              </a:ext>
            </a:extLst>
          </p:cNvPr>
          <p:cNvSpPr txBox="1"/>
          <p:nvPr/>
        </p:nvSpPr>
        <p:spPr>
          <a:xfrm>
            <a:off x="1380360" y="4743278"/>
            <a:ext cx="10576747" cy="1323439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pPr hangingPunct="0"/>
            <a:r>
              <a:rPr sz="1400" b="1">
                <a:latin typeface="Montserrat Bold"/>
              </a:rPr>
              <a:t>ВЫВОД СУДА:</a:t>
            </a:r>
          </a:p>
          <a:p>
            <a:r>
              <a:rPr sz="1300" b="0">
                <a:latin typeface="Montserrat Bold"/>
              </a:rPr>
              <a:t>ВС оставил в силе решение о компенсации морального вреда. «Ещё не начал смену» не снимает обязанность работодателя закрыть доступ к опасным зонам и обеспечить контроль.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886DD0-FE88-2CAE-C629-928FA9E2F107}"/>
              </a:ext>
            </a:extLst>
          </p:cNvPr>
          <p:cNvSpPr txBox="1"/>
          <p:nvPr/>
        </p:nvSpPr>
        <p:spPr>
          <a:xfrm>
            <a:off x="4074657" y="920890"/>
            <a:ext cx="7882451" cy="461665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r"/>
            <a:r>
              <a:rPr sz="1200" b="0"/>
              <a:t>Определение Верховного Суда РФ</a:t>
            </a:r>
          </a:p>
          <a:p>
            <a:r>
              <a:rPr sz="1200" b="0"/>
              <a:t>от 2 июня 2025 г. № 32-КГ25-7-К1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5333F64-5F15-55F5-A25A-B38B3CDAB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744" y="1686216"/>
            <a:ext cx="671406" cy="67140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C8254E8-FE29-BD45-40F0-A01355EE1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744" y="4743278"/>
            <a:ext cx="1048616" cy="1048616"/>
          </a:xfrm>
          <a:prstGeom prst="rect">
            <a:avLst/>
          </a:prstGeom>
        </p:spPr>
      </p:pic>
      <p:grpSpPr/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149" name="Заголовок 1"/>
          <p:cNvSpPr txBox="1">
            <a:spLocks noGrp="1"/>
          </p:cNvSpPr>
          <p:nvPr>
            <p:ph type="title"/>
          </p:nvPr>
        </p:nvSpPr>
        <p:spPr>
          <a:xfrm>
            <a:off x="4074657" y="362533"/>
            <a:ext cx="7882451" cy="509869"/>
          </a:xfrm>
          <a:prstGeom prst="rect">
            <a:avLst/>
          </a:prstGeom>
        </p:spPr>
        <p:txBody>
          <a:bodyPr>
            <a:noAutofit/>
          </a:bodyPr>
          <a:lstStyle>
            <a:lvl1pPr marR="285556" indent="296163" defTabSz="969263">
              <a:spcBef>
                <a:spcPts val="1200"/>
              </a:spcBef>
              <a:defRPr sz="4133"/>
            </a:lvl1pPr>
          </a:lstStyle>
          <a:p>
            <a:pPr>
              <a:lnSpc>
                <a:spcPct val="100000"/>
              </a:lnSpc>
            </a:pPr>
            <a:r>
              <a:rPr sz="2200" b="1"/>
              <a:t>ПОЗИЦИЯ СУДОВ ПО ВОПРОСУ взыскания штрафов ГИТ с аутсорсера по охране труда</a:t>
            </a:r>
            <a:endParaRPr sz="1800" dirty="0"/>
          </a:p>
        </p:txBody>
      </p:sp>
      <p:sp>
        <p:nvSpPr>
          <p:cNvPr id="150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623700" y="6416087"/>
            <a:ext cx="184294" cy="27553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6</a:t>
            </a:fld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0746C4-E5A9-7CE8-C8EA-C036B924CAA7}"/>
              </a:ext>
            </a:extLst>
          </p:cNvPr>
          <p:cNvSpPr txBox="1"/>
          <p:nvPr/>
        </p:nvSpPr>
        <p:spPr>
          <a:xfrm>
            <a:off x="1003149" y="1686216"/>
            <a:ext cx="10953958" cy="584775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pPr hangingPunct="0"/>
            <a:r>
              <a:rPr sz="1300" b="0">
                <a:latin typeface="Montserrat Bold"/>
              </a:rPr>
              <a:t>СУТЬ ДЕЛА: ЖКХ оштрафовали за допуск работников без медосмотров и невыдачу СИЗ мастеру. Организация потребовала возместить суммы штрафов у фирмы, оказывавшей услуги по охране труда</a:t>
            </a:r>
            <a:endParaRPr lang="ru-RU" sz="1600" dirty="0">
              <a:solidFill>
                <a:srgbClr val="000000"/>
              </a:solidFill>
              <a:sym typeface="Montserrat Regular"/>
            </a:endParaRP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0E005E3A-0147-2B24-CB2F-15E3C686E2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2040652"/>
              </p:ext>
            </p:extLst>
          </p:nvPr>
        </p:nvGraphicFramePr>
        <p:xfrm>
          <a:off x="309678" y="2560705"/>
          <a:ext cx="11572644" cy="181318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786322">
                  <a:extLst>
                    <a:ext uri="{9D8B030D-6E8A-4147-A177-3AD203B41FA5}">
                      <a16:colId xmlns:a16="http://schemas.microsoft.com/office/drawing/2014/main" val="3414614109"/>
                    </a:ext>
                  </a:extLst>
                </a:gridCol>
                <a:gridCol w="5786322">
                  <a:extLst>
                    <a:ext uri="{9D8B030D-6E8A-4147-A177-3AD203B41FA5}">
                      <a16:colId xmlns:a16="http://schemas.microsoft.com/office/drawing/2014/main" val="3628765330"/>
                    </a:ext>
                  </a:extLst>
                </a:gridCol>
              </a:tblGrid>
              <a:tr h="341154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b="1" sz="1200">
                          <a:solidFill>
                            <a:srgbClr val="1A1A1A"/>
                          </a:solidFill>
                        </a:rPr>
                        <a:t>Позиция заказчика (ЖКХ)</a:t>
                      </a:r>
                      <a:endParaRPr lang="ru-RU" sz="1600" kern="100" dirty="0">
                        <a:solidFill>
                          <a:schemeClr val="bg1"/>
                        </a:solidFill>
                        <a:effectLst/>
                        <a:latin typeface="Montserrat Bold" panose="00000800000000000000" pitchFamily="2" charset="-52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76200" marT="47625" marB="47625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b="1" sz="1200">
                          <a:solidFill>
                            <a:srgbClr val="1A1A1A"/>
                          </a:solidFill>
                        </a:rPr>
                        <a:t>Позиция аутсорсера ОТ</a:t>
                      </a:r>
                      <a:endParaRPr lang="ru-RU" sz="1600" kern="100" dirty="0">
                        <a:solidFill>
                          <a:schemeClr val="bg1"/>
                        </a:solidFill>
                        <a:effectLst/>
                        <a:latin typeface="Montserrat Bold" panose="00000800000000000000" pitchFamily="2" charset="-52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0" marR="76200" marT="47625" marB="47625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9977395"/>
                  </a:ext>
                </a:extLst>
              </a:tr>
              <a:tr h="1471994">
                <a:tc>
                  <a:txBody>
                    <a:bodyPr/>
                    <a:lstStyle/>
                    <a:p>
                      <a:pPr marL="0" marR="0" indent="0" algn="l" defTabSz="1828800" rtl="0" latinLnBrk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b="0" sz="1100">
                          <a:solidFill>
                            <a:srgbClr val="1A1A1A"/>
                          </a:solidFill>
                        </a:rPr>
                        <a:t>Штрафы наложены из‑за ненадлежащего исполнения договора услуг по ОТ — убытки подлежат взысканию с исполнителя.</a:t>
                      </a:r>
                    </a:p>
                  </a:txBody>
                  <a:tcPr marL="0" marR="76200" marT="47625" marB="47625" anchor="ctr"/>
                </a:tc>
                <a:tc>
                  <a:txBody>
                    <a:bodyPr/>
                    <a:lstStyle/>
                    <a:p>
                      <a:pPr marL="0" marR="0" indent="0" algn="l" defTabSz="1828800" rtl="0" latinLnBrk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b="0" sz="1100">
                          <a:solidFill>
                            <a:srgbClr val="1A1A1A"/>
                          </a:solidFill>
                        </a:rPr>
                        <a:t>По медосмотрам: заказчику неоднократно напоминали направлять работников; списки были составлены. По СИЗ — спор о составе норм выдачи.</a:t>
                      </a:r>
                    </a:p>
                  </a:txBody>
                  <a:tcPr marL="76200" marR="0" marT="47625" marB="47625" anchor="ctr"/>
                </a:tc>
                <a:extLst>
                  <a:ext uri="{0D108BD9-81ED-4DB2-BD59-A6C34878D82A}">
                    <a16:rowId xmlns:a16="http://schemas.microsoft.com/office/drawing/2014/main" val="500077660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367C342-79B7-5B1E-9D19-DF6CEC463383}"/>
              </a:ext>
            </a:extLst>
          </p:cNvPr>
          <p:cNvSpPr txBox="1"/>
          <p:nvPr/>
        </p:nvSpPr>
        <p:spPr>
          <a:xfrm>
            <a:off x="1380360" y="4743278"/>
            <a:ext cx="10576747" cy="1323439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pPr hangingPunct="0"/>
            <a:r>
              <a:rPr sz="1400" b="1">
                <a:latin typeface="Montserrat Bold"/>
              </a:rPr>
              <a:t>ВЫВОД СУДА:</a:t>
            </a:r>
          </a:p>
          <a:p>
            <a:r>
              <a:rPr sz="1300" b="0">
                <a:latin typeface="Montserrat Bold"/>
              </a:rPr>
              <a:t>По медосмотрам — отказ: вина самого работодателя. По СИЗ — штраф взыскан с аутсорсера: не включил профессию «мастер» в нормы выдачи. Аутсорсинг ОТ не снимает всю ответственность.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886DD0-FE88-2CAE-C629-928FA9E2F107}"/>
              </a:ext>
            </a:extLst>
          </p:cNvPr>
          <p:cNvSpPr txBox="1"/>
          <p:nvPr/>
        </p:nvSpPr>
        <p:spPr>
          <a:xfrm>
            <a:off x="4074657" y="920890"/>
            <a:ext cx="7882451" cy="461665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r"/>
            <a:r>
              <a:rPr sz="1200" b="0"/>
              <a:t>Постановление Арбитражного суда Уральского округа</a:t>
            </a:r>
          </a:p>
          <a:p>
            <a:r>
              <a:rPr sz="1200" b="0"/>
              <a:t>от 9 августа 2022 г. № Ф09-5362/22 по делу № А34-15160/2020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5333F64-5F15-55F5-A25A-B38B3CDAB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744" y="1686216"/>
            <a:ext cx="671406" cy="67140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C8254E8-FE29-BD45-40F0-A01355EE1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744" y="4743278"/>
            <a:ext cx="1048616" cy="1048616"/>
          </a:xfrm>
          <a:prstGeom prst="rect">
            <a:avLst/>
          </a:prstGeom>
        </p:spPr>
      </p:pic>
      <p:grpSpPr/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149" name="Заголовок 1"/>
          <p:cNvSpPr txBox="1">
            <a:spLocks noGrp="1"/>
          </p:cNvSpPr>
          <p:nvPr>
            <p:ph type="title"/>
          </p:nvPr>
        </p:nvSpPr>
        <p:spPr>
          <a:xfrm>
            <a:off x="4074657" y="362533"/>
            <a:ext cx="7882451" cy="509869"/>
          </a:xfrm>
          <a:prstGeom prst="rect">
            <a:avLst/>
          </a:prstGeom>
        </p:spPr>
        <p:txBody>
          <a:bodyPr>
            <a:noAutofit/>
          </a:bodyPr>
          <a:lstStyle>
            <a:lvl1pPr marR="285556" indent="296163" defTabSz="969263">
              <a:spcBef>
                <a:spcPts val="1200"/>
              </a:spcBef>
              <a:defRPr sz="4133"/>
            </a:lvl1pPr>
          </a:lstStyle>
          <a:p>
            <a:pPr>
              <a:lnSpc>
                <a:spcPct val="100000"/>
              </a:lnSpc>
            </a:pPr>
            <a:r>
              <a:rPr sz="2000" b="1"/>
              <a:t>ПОЗИЦИЯ СУДОВ ПО ВОПРОСУ ответственности руководителя за НС после запирания в цеху</a:t>
            </a:r>
            <a:endParaRPr sz="1800" dirty="0"/>
          </a:p>
        </p:txBody>
      </p:sp>
      <p:sp>
        <p:nvSpPr>
          <p:cNvPr id="150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623700" y="6416087"/>
            <a:ext cx="184294" cy="27553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7</a:t>
            </a:fld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0746C4-E5A9-7CE8-C8EA-C036B924CAA7}"/>
              </a:ext>
            </a:extLst>
          </p:cNvPr>
          <p:cNvSpPr txBox="1"/>
          <p:nvPr/>
        </p:nvSpPr>
        <p:spPr>
          <a:xfrm>
            <a:off x="1003149" y="1686216"/>
            <a:ext cx="10953958" cy="584775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pPr hangingPunct="0"/>
            <a:r>
              <a:rPr sz="1300" b="0">
                <a:latin typeface="Montserrat Bold"/>
              </a:rPr>
              <a:t>СУТЬ ДЕЛА: После смены работница оказалась заперта на 2-м производственном этаже цеха; обнаружена под окном женского туалета с тяжёлым вредом здоровью. В акте НС указан начальник цеха</a:t>
            </a:r>
            <a:endParaRPr lang="ru-RU" sz="1600" dirty="0">
              <a:solidFill>
                <a:srgbClr val="000000"/>
              </a:solidFill>
              <a:sym typeface="Montserrat Regular"/>
            </a:endParaRP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0E005E3A-0147-2B24-CB2F-15E3C686E2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2040652"/>
              </p:ext>
            </p:extLst>
          </p:nvPr>
        </p:nvGraphicFramePr>
        <p:xfrm>
          <a:off x="309678" y="2560705"/>
          <a:ext cx="11572644" cy="181318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786322">
                  <a:extLst>
                    <a:ext uri="{9D8B030D-6E8A-4147-A177-3AD203B41FA5}">
                      <a16:colId xmlns:a16="http://schemas.microsoft.com/office/drawing/2014/main" val="3414614109"/>
                    </a:ext>
                  </a:extLst>
                </a:gridCol>
                <a:gridCol w="5786322">
                  <a:extLst>
                    <a:ext uri="{9D8B030D-6E8A-4147-A177-3AD203B41FA5}">
                      <a16:colId xmlns:a16="http://schemas.microsoft.com/office/drawing/2014/main" val="3628765330"/>
                    </a:ext>
                  </a:extLst>
                </a:gridCol>
              </a:tblGrid>
              <a:tr h="341154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b="1" sz="1200">
                          <a:solidFill>
                            <a:srgbClr val="1A1A1A"/>
                          </a:solidFill>
                        </a:rPr>
                        <a:t>Позиция комиссии / акта НС</a:t>
                      </a:r>
                      <a:endParaRPr lang="ru-RU" sz="1600" kern="100" dirty="0">
                        <a:solidFill>
                          <a:schemeClr val="bg1"/>
                        </a:solidFill>
                        <a:effectLst/>
                        <a:latin typeface="Montserrat Bold" panose="00000800000000000000" pitchFamily="2" charset="-52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76200" marT="47625" marB="47625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b="1" sz="1200">
                          <a:solidFill>
                            <a:srgbClr val="1A1A1A"/>
                          </a:solidFill>
                        </a:rPr>
                        <a:t>Позиция начальника цеха</a:t>
                      </a:r>
                      <a:endParaRPr lang="ru-RU" sz="1600" kern="100" dirty="0">
                        <a:solidFill>
                          <a:schemeClr val="bg1"/>
                        </a:solidFill>
                        <a:effectLst/>
                        <a:latin typeface="Montserrat Bold" panose="00000800000000000000" pitchFamily="2" charset="-52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0" marR="76200" marT="47625" marB="47625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9977395"/>
                  </a:ext>
                </a:extLst>
              </a:tr>
              <a:tr h="1471994">
                <a:tc>
                  <a:txBody>
                    <a:bodyPr/>
                    <a:lstStyle/>
                    <a:p>
                      <a:pPr marL="0" marR="0" indent="0" algn="l" defTabSz="1828800" rtl="0" latinLnBrk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b="0" sz="1100">
                          <a:solidFill>
                            <a:srgbClr val="1A1A1A"/>
                          </a:solidFill>
                        </a:rPr>
                        <a:t>Причина — необеспечение контроля за соблюдением ПВТР. Начальник цеха — лицо, допустившее нарушения требований ОТ.</a:t>
                      </a:r>
                    </a:p>
                  </a:txBody>
                  <a:tcPr marL="0" marR="76200" marT="47625" marB="47625" anchor="ctr"/>
                </a:tc>
                <a:tc>
                  <a:txBody>
                    <a:bodyPr/>
                    <a:lstStyle/>
                    <a:p>
                      <a:pPr marL="0" marR="0" indent="0" algn="l" defTabSz="1828800" rtl="0" latinLnBrk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b="0" sz="1100">
                          <a:solidFill>
                            <a:srgbClr val="1A1A1A"/>
                          </a:solidFill>
                        </a:rPr>
                        <a:t>Не согласен с указанием его как виновного лица и с формулировкой причин НС в акте.</a:t>
                      </a:r>
                    </a:p>
                  </a:txBody>
                  <a:tcPr marL="76200" marR="0" marT="47625" marB="47625" anchor="ctr"/>
                </a:tc>
                <a:extLst>
                  <a:ext uri="{0D108BD9-81ED-4DB2-BD59-A6C34878D82A}">
                    <a16:rowId xmlns:a16="http://schemas.microsoft.com/office/drawing/2014/main" val="500077660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367C342-79B7-5B1E-9D19-DF6CEC463383}"/>
              </a:ext>
            </a:extLst>
          </p:cNvPr>
          <p:cNvSpPr txBox="1"/>
          <p:nvPr/>
        </p:nvSpPr>
        <p:spPr>
          <a:xfrm>
            <a:off x="1380360" y="4743278"/>
            <a:ext cx="10576747" cy="1323439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pPr hangingPunct="0"/>
            <a:r>
              <a:rPr sz="1400" b="1">
                <a:latin typeface="Montserrat Bold"/>
              </a:rPr>
              <a:t>ВЫВОД СУДА:</a:t>
            </a:r>
          </a:p>
          <a:p>
            <a:r>
              <a:rPr sz="1300" b="0">
                <a:latin typeface="Montserrat Bold"/>
              </a:rPr>
              <a:t>Иск начальника цеха отклонён. Контроль за соблюдением ПВТР не обеспечен; указание руководителя виновным лицом обоснованно. Даже «бытовой» сценарий (заперли / окно) не снимает ответственность за дисциплину и безопасность.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886DD0-FE88-2CAE-C629-928FA9E2F107}"/>
              </a:ext>
            </a:extLst>
          </p:cNvPr>
          <p:cNvSpPr txBox="1"/>
          <p:nvPr/>
        </p:nvSpPr>
        <p:spPr>
          <a:xfrm>
            <a:off x="4074657" y="920890"/>
            <a:ext cx="7882451" cy="461665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r"/>
            <a:r>
              <a:rPr sz="1200" b="0"/>
              <a:t>Обзор судебной практики EcoStandard</a:t>
            </a:r>
          </a:p>
          <a:p>
            <a:r>
              <a:rPr sz="1200" b="0"/>
              <a:t>(АО «НПЦАП»; номер дела в открытых источниках не опубликован)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5333F64-5F15-55F5-A25A-B38B3CDAB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744" y="1686216"/>
            <a:ext cx="671406" cy="67140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C8254E8-FE29-BD45-40F0-A01355EE1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744" y="4743278"/>
            <a:ext cx="1048616" cy="1048616"/>
          </a:xfrm>
          <a:prstGeom prst="rect">
            <a:avLst/>
          </a:prstGeom>
        </p:spPr>
      </p:pic>
      <p:grpSpPr/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149" name="Заголовок 1"/>
          <p:cNvSpPr txBox="1">
            <a:spLocks noGrp="1"/>
          </p:cNvSpPr>
          <p:nvPr>
            <p:ph type="title"/>
          </p:nvPr>
        </p:nvSpPr>
        <p:spPr>
          <a:xfrm>
            <a:off x="4074657" y="362533"/>
            <a:ext cx="7882451" cy="509869"/>
          </a:xfrm>
          <a:prstGeom prst="rect">
            <a:avLst/>
          </a:prstGeom>
        </p:spPr>
        <p:txBody>
          <a:bodyPr>
            <a:noAutofit/>
          </a:bodyPr>
          <a:lstStyle>
            <a:lvl1pPr marR="285556" indent="296163" defTabSz="969263">
              <a:spcBef>
                <a:spcPts val="1200"/>
              </a:spcBef>
              <a:defRPr sz="4133"/>
            </a:lvl1pPr>
          </a:lstStyle>
          <a:p>
            <a:pPr>
              <a:lnSpc>
                <a:spcPct val="100000"/>
              </a:lnSpc>
            </a:pPr>
            <a:r>
              <a:rPr sz="2200" b="1"/>
              <a:t>ПОЗИЦИЯ СУДОВ ПО ВОПРОСУ квалификации смерти на физзачёте в выходной как НС</a:t>
            </a:r>
            <a:endParaRPr sz="1800" dirty="0"/>
          </a:p>
        </p:txBody>
      </p:sp>
      <p:sp>
        <p:nvSpPr>
          <p:cNvPr id="150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623700" y="6416087"/>
            <a:ext cx="184294" cy="27553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8</a:t>
            </a:fld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0746C4-E5A9-7CE8-C8EA-C036B924CAA7}"/>
              </a:ext>
            </a:extLst>
          </p:cNvPr>
          <p:cNvSpPr txBox="1"/>
          <p:nvPr/>
        </p:nvSpPr>
        <p:spPr>
          <a:xfrm>
            <a:off x="1003149" y="1686216"/>
            <a:ext cx="10953958" cy="584775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pPr hangingPunct="0"/>
            <a:r>
              <a:rPr sz="1300" b="0">
                <a:latin typeface="Montserrat Bold"/>
              </a:rPr>
              <a:t>СУТЬ ДЕЛА: Стажёр-охранник в свой выходной приехал в спортзал на зачёт по физподготовке (спарринг), после чего впал в кому и умер. ГИТ квалифицировала случай как НС на производстве</a:t>
            </a:r>
            <a:endParaRPr lang="ru-RU" sz="1600" dirty="0">
              <a:solidFill>
                <a:srgbClr val="000000"/>
              </a:solidFill>
              <a:sym typeface="Montserrat Regular"/>
            </a:endParaRP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0E005E3A-0147-2B24-CB2F-15E3C686E2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2040652"/>
              </p:ext>
            </p:extLst>
          </p:nvPr>
        </p:nvGraphicFramePr>
        <p:xfrm>
          <a:off x="309678" y="2560705"/>
          <a:ext cx="11572644" cy="181318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786322">
                  <a:extLst>
                    <a:ext uri="{9D8B030D-6E8A-4147-A177-3AD203B41FA5}">
                      <a16:colId xmlns:a16="http://schemas.microsoft.com/office/drawing/2014/main" val="3414614109"/>
                    </a:ext>
                  </a:extLst>
                </a:gridCol>
                <a:gridCol w="5786322">
                  <a:extLst>
                    <a:ext uri="{9D8B030D-6E8A-4147-A177-3AD203B41FA5}">
                      <a16:colId xmlns:a16="http://schemas.microsoft.com/office/drawing/2014/main" val="3628765330"/>
                    </a:ext>
                  </a:extLst>
                </a:gridCol>
              </a:tblGrid>
              <a:tr h="341154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b="1" sz="1200">
                          <a:solidFill>
                            <a:srgbClr val="1A1A1A"/>
                          </a:solidFill>
                        </a:rPr>
                        <a:t>Позиция ГИТ</a:t>
                      </a:r>
                      <a:endParaRPr lang="ru-RU" sz="1600" kern="100" dirty="0">
                        <a:solidFill>
                          <a:schemeClr val="bg1"/>
                        </a:solidFill>
                        <a:effectLst/>
                        <a:latin typeface="Montserrat Bold" panose="00000800000000000000" pitchFamily="2" charset="-52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76200" marT="47625" marB="47625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b="1" sz="1200">
                          <a:solidFill>
                            <a:srgbClr val="1A1A1A"/>
                          </a:solidFill>
                        </a:rPr>
                        <a:t>Позиция работодателя</a:t>
                      </a:r>
                      <a:endParaRPr lang="ru-RU" sz="1600" kern="100" dirty="0">
                        <a:solidFill>
                          <a:schemeClr val="bg1"/>
                        </a:solidFill>
                        <a:effectLst/>
                        <a:latin typeface="Montserrat Bold" panose="00000800000000000000" pitchFamily="2" charset="-52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0" marR="76200" marT="47625" marB="47625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9977395"/>
                  </a:ext>
                </a:extLst>
              </a:tr>
              <a:tr h="1471994">
                <a:tc>
                  <a:txBody>
                    <a:bodyPr/>
                    <a:lstStyle/>
                    <a:p>
                      <a:pPr marL="0" marR="0" indent="0" algn="l" defTabSz="1828800" rtl="0" latinLnBrk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b="0" sz="1100">
                          <a:solidFill>
                            <a:srgbClr val="1A1A1A"/>
                          </a:solidFill>
                        </a:rPr>
                        <a:t>НС связан с производством: зачёт назначил руководитель, участие обусловлено трудовыми отношениями.</a:t>
                      </a:r>
                    </a:p>
                  </a:txBody>
                  <a:tcPr marL="0" marR="76200" marT="47625" marB="47625" anchor="ctr"/>
                </a:tc>
                <a:tc>
                  <a:txBody>
                    <a:bodyPr/>
                    <a:lstStyle/>
                    <a:p>
                      <a:pPr marL="0" marR="0" indent="0" algn="l" defTabSz="1828800" rtl="0" latinLnBrk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b="0" sz="1100">
                          <a:solidFill>
                            <a:srgbClr val="1A1A1A"/>
                          </a:solidFill>
                        </a:rPr>
                        <a:t>Стажёр приехал по личной инициативе в выходной; зал использовали по усмотрению сотрудников, без распоряжения работодателя.</a:t>
                      </a:r>
                    </a:p>
                  </a:txBody>
                  <a:tcPr marL="76200" marR="0" marT="47625" marB="47625" anchor="ctr"/>
                </a:tc>
                <a:extLst>
                  <a:ext uri="{0D108BD9-81ED-4DB2-BD59-A6C34878D82A}">
                    <a16:rowId xmlns:a16="http://schemas.microsoft.com/office/drawing/2014/main" val="500077660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367C342-79B7-5B1E-9D19-DF6CEC463383}"/>
              </a:ext>
            </a:extLst>
          </p:cNvPr>
          <p:cNvSpPr txBox="1"/>
          <p:nvPr/>
        </p:nvSpPr>
        <p:spPr>
          <a:xfrm>
            <a:off x="1380360" y="4743278"/>
            <a:ext cx="10576747" cy="1323439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pPr hangingPunct="0"/>
            <a:r>
              <a:rPr sz="1400" b="1">
                <a:latin typeface="Montserrat Bold"/>
              </a:rPr>
              <a:t>ВЫВОД СУДА:</a:t>
            </a:r>
          </a:p>
          <a:p>
            <a:r>
              <a:rPr sz="1300" b="0">
                <a:latin typeface="Montserrat Bold"/>
              </a:rPr>
              <a:t>Выводы ГИТ верны. Выходной и «добровольность» не исключают производственный характер, если мероприятие назначено руководителем и связано с трудовой деятельностью.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886DD0-FE88-2CAE-C629-928FA9E2F107}"/>
              </a:ext>
            </a:extLst>
          </p:cNvPr>
          <p:cNvSpPr txBox="1"/>
          <p:nvPr/>
        </p:nvSpPr>
        <p:spPr>
          <a:xfrm>
            <a:off x="4074657" y="920890"/>
            <a:ext cx="7882451" cy="461665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r"/>
            <a:r>
              <a:rPr sz="1200" b="0"/>
              <a:t>Обзор судебной практики EcoStandard</a:t>
            </a:r>
          </a:p>
          <a:p>
            <a:r>
              <a:rPr sz="1200" b="0"/>
              <a:t>(ООО «ЧОП «Дельта»; номер дела в открытых источниках не опубликован)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5333F64-5F15-55F5-A25A-B38B3CDAB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744" y="1686216"/>
            <a:ext cx="671406" cy="67140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C8254E8-FE29-BD45-40F0-A01355EE1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744" y="4743278"/>
            <a:ext cx="1048616" cy="1048616"/>
          </a:xfrm>
          <a:prstGeom prst="rect">
            <a:avLst/>
          </a:prstGeom>
        </p:spPr>
      </p:pic>
      <p:grpSpPr/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549</Words>
  <Application>Microsoft Office PowerPoint</Application>
  <PresentationFormat>Широкоэкранный</PresentationFormat>
  <Paragraphs>36</Paragraphs>
  <Slides>3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Montserrat Bold</vt:lpstr>
      <vt:lpstr>Тема Office</vt:lpstr>
      <vt:lpstr>ПОЗИЦИЯ СУДОВ ПО ВОПРОСУ сроков передачи документов в реестр</vt:lpstr>
      <vt:lpstr>ПОЗИЦИЯ СУДОВ ПО ВОПРОСУ выдачи документов об обучении без освоения программы</vt:lpstr>
      <vt:lpstr>ПОЗИЦИЯ СУДОВ ПО ВОПРОСУ отсутствия действующей аккредитации учебного центра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ПОЗИЦИЯ СУДОВ ПО ВОПРОСУ сроков передачи документов в реестр</dc:title>
  <dc:creator>Карина Смирнова</dc:creator>
  <cp:lastModifiedBy>Карина Смирнова</cp:lastModifiedBy>
  <cp:revision>5</cp:revision>
  <dcterms:created xsi:type="dcterms:W3CDTF">2026-07-16T14:28:43Z</dcterms:created>
  <dcterms:modified xsi:type="dcterms:W3CDTF">2026-07-16T15:01:59Z</dcterms:modified>
</cp:coreProperties>
</file>