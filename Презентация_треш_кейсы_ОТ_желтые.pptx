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1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59C47-52C2-4F1D-B07D-8C21AA980934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4842B-E69D-4239-BD62-24A6E3241D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76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14121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BE3C1-1E5F-46B6-9F39-ACDC0E025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BCE80F-4974-48B4-9BA4-1A00361B0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701022-B540-40F7-B85C-5B49A3BD7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016F8F-89D9-47D9-8103-AB7500E8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033374-0A10-4803-B511-6F46AFDC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82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A732B-C153-41EF-A44B-6C2E7B4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3EA41E-0056-4DEB-B57E-F21C6C7F8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3B6D44-D131-4549-B01C-7E85834C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895DDE-BBCB-4DC6-9284-744E4F1B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C0EB90-33B9-4609-A661-102F8616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722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6958C-1D5B-4D06-9B14-D590AE025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FDD698-FD10-425C-B555-178FB7A0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C69F82-C865-40AF-955A-74B4E153F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6728B-E886-4D6E-89C6-94439E87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EB803-ACB0-4AC7-B25B-07B0A78A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9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AF566-FC9E-43CD-92F2-0B94E45D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539833-9484-4D50-B31C-B1FF1162D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9C15AF-C578-40E4-96C0-AFDE28DED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2EB265-B6E0-4A54-9181-F7FBF11B7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735A26-EB77-4265-A12D-09B9CA4D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1C95AD-7886-4359-B40B-7CE1E0A7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11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F8EE6-C651-48E5-B075-C21C6FAC8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D54DAD-47A9-406A-95D5-F6665A7F7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8DBDAB-DDE9-4887-998E-96B522604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900F53-AC2F-45B8-8A19-674CBD5C1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2AD7A20-7FE6-4DC8-A79D-E5720A30D3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57587B2-5C85-41F4-A3CE-C845F0CA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C5E41C2-E507-4282-9F0F-32EBFC88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4B46D0-C637-405D-8943-3355CDAC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D67A3-4361-4BF6-83DA-EB74520E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A2E57A7-77EF-44BB-A648-7C612AE1B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1E8149-09EA-40E4-B89A-2A5EF5D1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5E58E2-CA3C-4DDC-99C8-F1757F6A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63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4B226D7-AACE-4D16-9825-C9DDB9F3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DB12BA-B785-43A8-AD4A-001D11AC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DA0875-974B-4C7E-855B-A6DA92C6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33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A82E7-EC5A-46FB-85BF-F8057B1F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C73826-12DF-4612-8F42-CE1266083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3D077D-D4DE-4E74-9EE3-1DD192BAC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015384-BDE7-419F-A6C8-E27D5C94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B7BF1B-CDFA-420C-AD3B-7101267D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700627-77BD-4F3A-A61F-58B11154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89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3BAF0-12CF-494F-B873-3622913CF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3F7D89-AB1E-4CD9-B0C9-FD38FB46F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E118B5-B804-4A6B-9EB5-2FD839144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C44D9A-287E-4190-8BFB-F1EAB11D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9FEA0-340F-4E94-9C01-563CC08C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D3D113-98BA-44CF-95C2-73AD7CF61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92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58E4A-F776-4751-A568-A17A9B722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CC357D-4B69-4B98-B473-1AED62CC2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F1D29C-FA71-4041-A1FC-C57DDEC6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7A52C4-1BEC-4E5A-8FE5-3E713935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A43DE4-5C1B-49FB-B253-5B292043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15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2C1DC-DAE6-4249-B9BE-FE53E9977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49CEC2-BB02-4AF2-A7C9-EAB2599F8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54B100-CECE-4092-9522-73B8A470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BBEE2B-7879-4D0C-B566-B8B92FF72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63542D-1BC2-418E-8469-0E15A74A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856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коп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bg_transp1.png" descr="bg_transp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smarta_BACKGROUND.png" descr="smarta_BACKGROUND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74657" y="362533"/>
            <a:ext cx="8117343" cy="5098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smarta_BACKGROUND.png" descr="smarta_BACKGROUND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" y="6411473"/>
            <a:ext cx="947042" cy="284759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Прямоугольник"/>
          <p:cNvSpPr/>
          <p:nvPr userDrawn="1"/>
        </p:nvSpPr>
        <p:spPr>
          <a:xfrm>
            <a:off x="518463" y="6411473"/>
            <a:ext cx="317501" cy="284759"/>
          </a:xfrm>
          <a:prstGeom prst="rect">
            <a:avLst/>
          </a:prstGeom>
          <a:solidFill>
            <a:srgbClr val="535353">
              <a:alpha val="54842"/>
            </a:srgbClr>
          </a:solidFill>
          <a:ln w="3175">
            <a:miter lim="400000"/>
          </a:ln>
        </p:spPr>
        <p:txBody>
          <a:bodyPr lIns="45719" tIns="45719" rIns="45719" bIns="45719" anchor="ctr"/>
          <a:lstStyle/>
          <a:p>
            <a:pPr>
              <a:lnSpc>
                <a:spcPct val="110000"/>
              </a:lnSpc>
              <a:defRPr sz="2400">
                <a:solidFill>
                  <a:srgbClr val="535353"/>
                </a:solidFill>
              </a:defRPr>
            </a:pPr>
            <a:endParaRPr sz="1200" dirty="0"/>
          </a:p>
        </p:txBody>
      </p:sp>
      <p:pic>
        <p:nvPicPr>
          <p:cNvPr id="105" name="Изображение" descr="Изображение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072" y="378408"/>
            <a:ext cx="2106382" cy="804597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Прямоугольник"/>
          <p:cNvSpPr/>
          <p:nvPr userDrawn="1"/>
        </p:nvSpPr>
        <p:spPr>
          <a:xfrm>
            <a:off x="11957108" y="362534"/>
            <a:ext cx="234893" cy="509787"/>
          </a:xfrm>
          <a:prstGeom prst="rect">
            <a:avLst/>
          </a:prstGeom>
          <a:solidFill>
            <a:srgbClr val="21518D"/>
          </a:solidFill>
          <a:ln w="3175">
            <a:miter lim="400000"/>
          </a:ln>
        </p:spPr>
        <p:txBody>
          <a:bodyPr lIns="45719" tIns="45719" rIns="45719" bIns="45719" anchor="ctr"/>
          <a:lstStyle/>
          <a:p>
            <a:pPr>
              <a:lnSpc>
                <a:spcPct val="110000"/>
              </a:lnSpc>
              <a:defRPr sz="2400">
                <a:solidFill>
                  <a:srgbClr val="535353"/>
                </a:solidFill>
              </a:defRPr>
            </a:pPr>
            <a:endParaRPr sz="1200" dirty="0"/>
          </a:p>
        </p:txBody>
      </p:sp>
      <p:sp>
        <p:nvSpPr>
          <p:cNvPr id="11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074657" y="362533"/>
            <a:ext cx="7882451" cy="509869"/>
          </a:xfrm>
          <a:prstGeom prst="rect">
            <a:avLst/>
          </a:prstGeom>
          <a:effectLst>
            <a:outerShdw blurRad="50800" dir="5400000" rotWithShape="0">
              <a:srgbClr val="000000">
                <a:alpha val="50000"/>
              </a:srgbClr>
            </a:outerShdw>
          </a:effectLst>
        </p:spPr>
        <p:txBody>
          <a:bodyPr lIns="164995" tIns="164995" rIns="164995" bIns="164995"/>
          <a:lstStyle>
            <a:lvl1pPr marR="269393" indent="279400" algn="r">
              <a:lnSpc>
                <a:spcPct val="230000"/>
              </a:lnSpc>
              <a:spcBef>
                <a:spcPts val="1150"/>
              </a:spcBef>
              <a:defRPr sz="1600" cap="all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1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554663" y="6416087"/>
            <a:ext cx="253331" cy="275531"/>
          </a:xfrm>
          <a:prstGeom prst="rect">
            <a:avLst/>
          </a:prstGeom>
        </p:spPr>
        <p:txBody>
          <a:bodyPr lIns="91380" tIns="91380" rIns="91380" bIns="9138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827263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78D4A-4357-44DD-A58B-DDCEC91D1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9FB7CA-1558-40E3-8AAA-18FF5F9F6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FC3289-809A-445A-BB26-A3304445A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A1AC7-BD75-4248-9451-73BFAA05E56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CD311E-E054-4D0E-A37C-11FC7FC69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ACB8FC-7B83-41F9-83CB-5A1744A3F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5A1C4-0AE9-4A91-AFCA-7EE7F8704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81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Заголовок 1"/>
          <p:cNvSpPr txBox="1">
            <a:spLocks noGrp="1"/>
          </p:cNvSpPr>
          <p:nvPr>
            <p:ph type="title"/>
          </p:nvPr>
        </p:nvSpPr>
        <p:spPr>
          <a:xfrm>
            <a:off x="4074657" y="362533"/>
            <a:ext cx="7882451" cy="509869"/>
          </a:xfrm>
          <a:prstGeom prst="rect">
            <a:avLst/>
          </a:prstGeom>
        </p:spPr>
        <p:txBody>
          <a:bodyPr>
            <a:noAutofit/>
          </a:bodyPr>
          <a:lstStyle>
            <a:lvl1pPr marR="285556" indent="296163" defTabSz="969263">
              <a:spcBef>
                <a:spcPts val="1200"/>
              </a:spcBef>
              <a:defRPr sz="4133"/>
            </a:lvl1pPr>
          </a:lstStyle>
          <a:p>
            <a:r>
              <a:rPr sz="2000" b="1">
                <a:solidFill>
                  <a:srgbClr val="1A1A1A"/>
                </a:solidFill>
              </a:rPr>
              <a:t>ПОЗИЦИЯ СУДОВ ПО ВОПРОСУ квалификации травмы от конфликта в бытовке как НС на производстве</a:t>
            </a:r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3700" y="6416087"/>
            <a:ext cx="184294" cy="27553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sz="1400"/>
              <a:t>1</a:t>
            </a:fld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0746C4-E5A9-7CE8-C8EA-C036B924CAA7}"/>
              </a:ext>
            </a:extLst>
          </p:cNvPr>
          <p:cNvSpPr txBox="1"/>
          <p:nvPr/>
        </p:nvSpPr>
        <p:spPr>
          <a:xfrm>
            <a:off x="1003149" y="1686216"/>
            <a:ext cx="10953958" cy="58477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СУТЬ ДЕЛА: В бытовом помещении работодателя одна работница травмировала другую. Комиссия работодателя признала случай не связанным с производством; ГИТ обязала оформить акт Н-1 и оценить риск насилия от враждебно настроенных работников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005E3A-0147-2B24-CB2F-15E3C686E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40652"/>
              </p:ext>
            </p:extLst>
          </p:nvPr>
        </p:nvGraphicFramePr>
        <p:xfrm>
          <a:off x="309678" y="2560705"/>
          <a:ext cx="11572644" cy="18131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86322">
                  <a:extLst>
                    <a:ext uri="{9D8B030D-6E8A-4147-A177-3AD203B41FA5}">
                      <a16:colId xmlns:a16="http://schemas.microsoft.com/office/drawing/2014/main" val="3414614109"/>
                    </a:ext>
                  </a:extLst>
                </a:gridCol>
                <a:gridCol w="5786322">
                  <a:extLst>
                    <a:ext uri="{9D8B030D-6E8A-4147-A177-3AD203B41FA5}">
                      <a16:colId xmlns:a16="http://schemas.microsoft.com/office/drawing/2014/main" val="3628765330"/>
                    </a:ext>
                  </a:extLst>
                </a:gridCol>
              </a:tblGrid>
              <a:tr h="3411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ГИТ / пострадавшей</a:t>
                      </a:r>
                    </a:p>
                  </a:txBody>
                  <a:tcPr marL="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работодателя</a:t>
                      </a:r>
                    </a:p>
                  </a:txBody>
                  <a:tcPr marL="7620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77395"/>
                  </a:ext>
                </a:extLst>
              </a:tr>
              <a:tr h="14719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НС связан с производством: территория работодателя, рабочее время. Перечень оснований «не связан с производством» в ст. 229.2 ТК РФ исчерпывающий. Нужны акт Н-1 и оценка риска насилия.</a:t>
                      </a:r>
                    </a:p>
                  </a:txBody>
                  <a:tcPr marL="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Травма получена в конфликте, не при исполнении трудовых обязанностей. Нарушены кодекс этики и ПВТР — случай непроизводственный.</a:t>
                      </a:r>
                    </a:p>
                  </a:txBody>
                  <a:tcPr marL="76200" marR="0" marT="47625" marB="47625" anchor="ctr"/>
                </a:tc>
                <a:extLst>
                  <a:ext uri="{0D108BD9-81ED-4DB2-BD59-A6C34878D82A}">
                    <a16:rowId xmlns:a16="http://schemas.microsoft.com/office/drawing/2014/main" val="5000776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67C342-79B7-5B1E-9D19-DF6CEC463383}"/>
              </a:ext>
            </a:extLst>
          </p:cNvPr>
          <p:cNvSpPr txBox="1"/>
          <p:nvPr/>
        </p:nvSpPr>
        <p:spPr>
          <a:xfrm>
            <a:off x="1380360" y="4743278"/>
            <a:ext cx="10576747" cy="132343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ВЫВОД СУДА:</a:t>
            </a:r>
          </a:p>
          <a:p>
            <a:r>
              <a:rPr sz="1300" b="0">
                <a:solidFill>
                  <a:srgbClr val="1A1A1A"/>
                </a:solidFill>
              </a:rPr>
              <a:t>Предписание ГИТ законно. Обстоятельства конфликта правового значения не имеют. НС на территории организации в рабочее время при необеспечении работодателем безопасности труда квалифицируется как связанный с производством.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86DD0-FE88-2CAE-C629-928FA9E2F107}"/>
              </a:ext>
            </a:extLst>
          </p:cNvPr>
          <p:cNvSpPr txBox="1"/>
          <p:nvPr/>
        </p:nvSpPr>
        <p:spPr>
          <a:xfrm>
            <a:off x="4074657" y="920890"/>
            <a:ext cx="7882451" cy="46166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Определение Кемеровского областного суда</a:t>
            </a:r>
          </a:p>
          <a:p>
            <a:r>
              <a:rPr sz="1200" b="0">
                <a:solidFill>
                  <a:srgbClr val="1A1A1A"/>
                </a:solidFill>
              </a:rPr>
              <a:t>от 26 апреля 2023 г. по делу № 33а-3896/2023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33F64-5F15-55F5-A25A-B38B3CDA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4" y="1686216"/>
            <a:ext cx="671406" cy="6714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8254E8-FE29-BD45-40F0-A01355EE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44" y="4743278"/>
            <a:ext cx="1048616" cy="104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038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Заголовок 1"/>
          <p:cNvSpPr txBox="1">
            <a:spLocks noGrp="1"/>
          </p:cNvSpPr>
          <p:nvPr>
            <p:ph type="title"/>
          </p:nvPr>
        </p:nvSpPr>
        <p:spPr>
          <a:xfrm>
            <a:off x="4074657" y="362533"/>
            <a:ext cx="7882451" cy="509869"/>
          </a:xfrm>
          <a:prstGeom prst="rect">
            <a:avLst/>
          </a:prstGeom>
        </p:spPr>
        <p:txBody>
          <a:bodyPr>
            <a:noAutofit/>
          </a:bodyPr>
          <a:lstStyle>
            <a:lvl1pPr marR="285556" indent="296163" defTabSz="969263">
              <a:spcBef>
                <a:spcPts val="1200"/>
              </a:spcBef>
              <a:defRPr sz="4133"/>
            </a:lvl1pPr>
          </a:lstStyle>
          <a:p>
            <a:r>
              <a:rPr sz="1800" b="1">
                <a:solidFill>
                  <a:srgbClr val="1A1A1A"/>
                </a:solidFill>
              </a:rPr>
              <a:t>ПОЗИЦИЯ СУДОВ ПО ВОПРОСУ квалификации драки в гардеробной как несчастного случая на производстве</a:t>
            </a:r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3700" y="6416087"/>
            <a:ext cx="184294" cy="27553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sz="1400"/>
              <a:t>2</a:t>
            </a:fld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0746C4-E5A9-7CE8-C8EA-C036B924CAA7}"/>
              </a:ext>
            </a:extLst>
          </p:cNvPr>
          <p:cNvSpPr txBox="1"/>
          <p:nvPr/>
        </p:nvSpPr>
        <p:spPr>
          <a:xfrm>
            <a:off x="1003149" y="1686216"/>
            <a:ext cx="10953958" cy="58477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СУТЬ ДЕЛА: Работники кондитерской фабрики им. Крупской подрались в гардеробной; причинён вред здоровью средней тяжести. Работодатель выдал акт Н-1, ФСС оспорил производственную квалификацию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005E3A-0147-2B24-CB2F-15E3C686E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40652"/>
              </p:ext>
            </p:extLst>
          </p:nvPr>
        </p:nvGraphicFramePr>
        <p:xfrm>
          <a:off x="309678" y="2560705"/>
          <a:ext cx="11572644" cy="18131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86322">
                  <a:extLst>
                    <a:ext uri="{9D8B030D-6E8A-4147-A177-3AD203B41FA5}">
                      <a16:colId xmlns:a16="http://schemas.microsoft.com/office/drawing/2014/main" val="3414614109"/>
                    </a:ext>
                  </a:extLst>
                </a:gridCol>
                <a:gridCol w="5786322">
                  <a:extLst>
                    <a:ext uri="{9D8B030D-6E8A-4147-A177-3AD203B41FA5}">
                      <a16:colId xmlns:a16="http://schemas.microsoft.com/office/drawing/2014/main" val="3628765330"/>
                    </a:ext>
                  </a:extLst>
                </a:gridCol>
              </a:tblGrid>
              <a:tr h="3411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ФСС</a:t>
                      </a:r>
                    </a:p>
                  </a:txBody>
                  <a:tcPr marL="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работодателя</a:t>
                      </a:r>
                    </a:p>
                  </a:txBody>
                  <a:tcPr marL="7620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77395"/>
                  </a:ext>
                </a:extLst>
              </a:tr>
              <a:tr h="14719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Событие произошло не при исполнении трудовых обязанностей и не по заданию администрации — акт Н-1 неправомерен.</a:t>
                      </a:r>
                    </a:p>
                  </a:txBody>
                  <a:tcPr marL="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НС оформлен актом Н-1: событие на территории предприятия, связанное с трудовыми отношениями.</a:t>
                      </a:r>
                    </a:p>
                  </a:txBody>
                  <a:tcPr marL="76200" marR="0" marT="47625" marB="47625" anchor="ctr"/>
                </a:tc>
                <a:extLst>
                  <a:ext uri="{0D108BD9-81ED-4DB2-BD59-A6C34878D82A}">
                    <a16:rowId xmlns:a16="http://schemas.microsoft.com/office/drawing/2014/main" val="5000776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67C342-79B7-5B1E-9D19-DF6CEC463383}"/>
              </a:ext>
            </a:extLst>
          </p:cNvPr>
          <p:cNvSpPr txBox="1"/>
          <p:nvPr/>
        </p:nvSpPr>
        <p:spPr>
          <a:xfrm>
            <a:off x="1380360" y="4743278"/>
            <a:ext cx="10576747" cy="132343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ВЫВОД СУДА:</a:t>
            </a:r>
          </a:p>
          <a:p>
            <a:r>
              <a:rPr sz="1300" b="0">
                <a:solidFill>
                  <a:srgbClr val="1A1A1A"/>
                </a:solidFill>
              </a:rPr>
              <a:t>По обзорам практики: травма в драке вследствие нарушения дисциплины не признана производственным НС. Практика по дракам на территории неоднородна (сравните с делом Кемерово № 33а-3896/2023).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86DD0-FE88-2CAE-C629-928FA9E2F107}"/>
              </a:ext>
            </a:extLst>
          </p:cNvPr>
          <p:cNvSpPr txBox="1"/>
          <p:nvPr/>
        </p:nvSpPr>
        <p:spPr>
          <a:xfrm>
            <a:off x="4074657" y="920890"/>
            <a:ext cx="7882451" cy="46166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Кассационное определение Санкт-Петербургского городского суда</a:t>
            </a:r>
          </a:p>
          <a:p>
            <a:r>
              <a:rPr sz="1200" b="0">
                <a:solidFill>
                  <a:srgbClr val="1A1A1A"/>
                </a:solidFill>
              </a:rPr>
              <a:t>от 16 января 2012 г. по делу № 33-13/2012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33F64-5F15-55F5-A25A-B38B3CDA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4" y="1686216"/>
            <a:ext cx="671406" cy="6714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8254E8-FE29-BD45-40F0-A01355EE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44" y="4743278"/>
            <a:ext cx="1048616" cy="104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038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Заголовок 1"/>
          <p:cNvSpPr txBox="1">
            <a:spLocks noGrp="1"/>
          </p:cNvSpPr>
          <p:nvPr>
            <p:ph type="title"/>
          </p:nvPr>
        </p:nvSpPr>
        <p:spPr>
          <a:xfrm>
            <a:off x="4074657" y="362533"/>
            <a:ext cx="7882451" cy="509869"/>
          </a:xfrm>
          <a:prstGeom prst="rect">
            <a:avLst/>
          </a:prstGeom>
        </p:spPr>
        <p:txBody>
          <a:bodyPr>
            <a:noAutofit/>
          </a:bodyPr>
          <a:lstStyle>
            <a:lvl1pPr marR="285556" indent="296163" defTabSz="969263">
              <a:spcBef>
                <a:spcPts val="1200"/>
              </a:spcBef>
              <a:defRPr sz="4133"/>
            </a:lvl1pPr>
          </a:lstStyle>
          <a:p>
            <a:r>
              <a:rPr sz="2000" b="1">
                <a:solidFill>
                  <a:srgbClr val="1A1A1A"/>
                </a:solidFill>
              </a:rPr>
              <a:t>ПОЗИЦИЯ СУДОВ ПО ВОПРОСУ ответственности работодателя за ожог от офисного чайника</a:t>
            </a:r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3700" y="6416087"/>
            <a:ext cx="184294" cy="27553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sz="1400"/>
              <a:t>3</a:t>
            </a:fld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0746C4-E5A9-7CE8-C8EA-C036B924CAA7}"/>
              </a:ext>
            </a:extLst>
          </p:cNvPr>
          <p:cNvSpPr txBox="1"/>
          <p:nvPr/>
        </p:nvSpPr>
        <p:spPr>
          <a:xfrm>
            <a:off x="1003149" y="1686216"/>
            <a:ext cx="10953958" cy="58477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СУТЬ ДЕЛА: Порыв ветра распахнул окно, чайник с подоконника опрокинулся на работницу; термические ожоги, около 3 месяцев нетрудоспособности. Работодатель указывал на личную неосторожность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005E3A-0147-2B24-CB2F-15E3C686E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40652"/>
              </p:ext>
            </p:extLst>
          </p:nvPr>
        </p:nvGraphicFramePr>
        <p:xfrm>
          <a:off x="309678" y="2560705"/>
          <a:ext cx="11572644" cy="18131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86322">
                  <a:extLst>
                    <a:ext uri="{9D8B030D-6E8A-4147-A177-3AD203B41FA5}">
                      <a16:colId xmlns:a16="http://schemas.microsoft.com/office/drawing/2014/main" val="3414614109"/>
                    </a:ext>
                  </a:extLst>
                </a:gridCol>
                <a:gridCol w="5786322">
                  <a:extLst>
                    <a:ext uri="{9D8B030D-6E8A-4147-A177-3AD203B41FA5}">
                      <a16:colId xmlns:a16="http://schemas.microsoft.com/office/drawing/2014/main" val="3628765330"/>
                    </a:ext>
                  </a:extLst>
                </a:gridCol>
              </a:tblGrid>
              <a:tr h="3411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работницы</a:t>
                      </a:r>
                    </a:p>
                  </a:txBody>
                  <a:tcPr marL="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работодателя</a:t>
                      </a:r>
                    </a:p>
                  </a:txBody>
                  <a:tcPr marL="7620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77395"/>
                  </a:ext>
                </a:extLst>
              </a:tr>
              <a:tr h="14719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Производственная травма на рабочем месте. Работодатель не обеспечил безопасные условия труда и контроль за использованием электроприборов.</a:t>
                      </a:r>
                    </a:p>
                  </a:txBody>
                  <a:tcPr marL="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Причина — личная неосторожность работницы. Окно исправно, подтверждено осмотром с участием инспектора ГИТ.</a:t>
                      </a:r>
                    </a:p>
                  </a:txBody>
                  <a:tcPr marL="76200" marR="0" marT="47625" marB="47625" anchor="ctr"/>
                </a:tc>
                <a:extLst>
                  <a:ext uri="{0D108BD9-81ED-4DB2-BD59-A6C34878D82A}">
                    <a16:rowId xmlns:a16="http://schemas.microsoft.com/office/drawing/2014/main" val="5000776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67C342-79B7-5B1E-9D19-DF6CEC463383}"/>
              </a:ext>
            </a:extLst>
          </p:cNvPr>
          <p:cNvSpPr txBox="1"/>
          <p:nvPr/>
        </p:nvSpPr>
        <p:spPr>
          <a:xfrm>
            <a:off x="1380360" y="4743278"/>
            <a:ext cx="10576747" cy="132343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ВЫВОД СУДА:</a:t>
            </a:r>
          </a:p>
          <a:p>
            <a:r>
              <a:rPr sz="1300" b="0">
                <a:solidFill>
                  <a:srgbClr val="1A1A1A"/>
                </a:solidFill>
              </a:rPr>
              <a:t>Производственная травма подтверждена. Вина работодателя — в отсутствии контроля за использованием электроприборов, не относящихся к рабочей технике. Взыскана компенсация морального вреда 300 000 руб.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86DD0-FE88-2CAE-C629-928FA9E2F107}"/>
              </a:ext>
            </a:extLst>
          </p:cNvPr>
          <p:cNvSpPr txBox="1"/>
          <p:nvPr/>
        </p:nvSpPr>
        <p:spPr>
          <a:xfrm>
            <a:off x="4074657" y="920890"/>
            <a:ext cx="7882451" cy="46166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Определение Девятого кассационного суда общей юрисдикции</a:t>
            </a:r>
          </a:p>
          <a:p>
            <a:r>
              <a:rPr sz="1200" b="0">
                <a:solidFill>
                  <a:srgbClr val="1A1A1A"/>
                </a:solidFill>
              </a:rPr>
              <a:t>от 23 апреля 2026 г. по делу № 8Г-3005/2026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33F64-5F15-55F5-A25A-B38B3CDA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4" y="1686216"/>
            <a:ext cx="671406" cy="6714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8254E8-FE29-BD45-40F0-A01355EE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44" y="4743278"/>
            <a:ext cx="1048616" cy="104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03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Заголовок 1"/>
          <p:cNvSpPr txBox="1">
            <a:spLocks noGrp="1"/>
          </p:cNvSpPr>
          <p:nvPr>
            <p:ph type="title"/>
          </p:nvPr>
        </p:nvSpPr>
        <p:spPr>
          <a:xfrm>
            <a:off x="4074657" y="362533"/>
            <a:ext cx="7882451" cy="509869"/>
          </a:xfrm>
          <a:prstGeom prst="rect">
            <a:avLst/>
          </a:prstGeom>
        </p:spPr>
        <p:txBody>
          <a:bodyPr>
            <a:noAutofit/>
          </a:bodyPr>
          <a:lstStyle>
            <a:lvl1pPr marR="285556" indent="296163" defTabSz="969263">
              <a:spcBef>
                <a:spcPts val="1200"/>
              </a:spcBef>
              <a:defRPr sz="4133"/>
            </a:lvl1pPr>
          </a:lstStyle>
          <a:p>
            <a:r>
              <a:rPr sz="2000" b="1">
                <a:solidFill>
                  <a:srgbClr val="1A1A1A"/>
                </a:solidFill>
              </a:rPr>
              <a:t>ПОЗИЦИЯ СУДОВ ПО ВОПРОСУ признания смерти от ОРВИ несчастным случаем на производстве</a:t>
            </a:r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3700" y="6416087"/>
            <a:ext cx="184294" cy="27553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sz="1400"/>
              <a:t>4</a:t>
            </a:fld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0746C4-E5A9-7CE8-C8EA-C036B924CAA7}"/>
              </a:ext>
            </a:extLst>
          </p:cNvPr>
          <p:cNvSpPr txBox="1"/>
          <p:nvPr/>
        </p:nvSpPr>
        <p:spPr>
          <a:xfrm>
            <a:off x="1003149" y="1686216"/>
            <a:ext cx="10953958" cy="58477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СУТЬ ДЕЛА: Водитель ООО «РН-Транспорт» умер на базе после допуска к работе (ОРВИ, пневмония). Работал 35 дней без еженедельного отдыха, без периодического медосмотра. Комиссия оформила Н-1; нижестоящие суды отказали семье, опираясь на СМЭ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005E3A-0147-2B24-CB2F-15E3C686E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40652"/>
              </p:ext>
            </p:extLst>
          </p:nvPr>
        </p:nvGraphicFramePr>
        <p:xfrm>
          <a:off x="309678" y="2560705"/>
          <a:ext cx="11572644" cy="18131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86322">
                  <a:extLst>
                    <a:ext uri="{9D8B030D-6E8A-4147-A177-3AD203B41FA5}">
                      <a16:colId xmlns:a16="http://schemas.microsoft.com/office/drawing/2014/main" val="3414614109"/>
                    </a:ext>
                  </a:extLst>
                </a:gridCol>
                <a:gridCol w="5786322">
                  <a:extLst>
                    <a:ext uri="{9D8B030D-6E8A-4147-A177-3AD203B41FA5}">
                      <a16:colId xmlns:a16="http://schemas.microsoft.com/office/drawing/2014/main" val="3628765330"/>
                    </a:ext>
                  </a:extLst>
                </a:gridCol>
              </a:tblGrid>
              <a:tr h="3411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семьи погибшего</a:t>
                      </a:r>
                    </a:p>
                  </a:txBody>
                  <a:tcPr marL="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работодателя / нижестоящих судов</a:t>
                      </a:r>
                    </a:p>
                  </a:txBody>
                  <a:tcPr marL="7620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77395"/>
                  </a:ext>
                </a:extLst>
              </a:tr>
              <a:tr h="14719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Смерть — НС на производстве: нарушения режима труда и ОТ. Требуются выплаты по колдоговору и компенсация морального вреда.</a:t>
                      </a:r>
                    </a:p>
                  </a:txBody>
                  <a:tcPr marL="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Смерть от общего заболевания. СМЭ не нашла связи болезни с переработками и вредностью — случай непроизводственный.</a:t>
                      </a:r>
                    </a:p>
                  </a:txBody>
                  <a:tcPr marL="76200" marR="0" marT="47625" marB="47625" anchor="ctr"/>
                </a:tc>
                <a:extLst>
                  <a:ext uri="{0D108BD9-81ED-4DB2-BD59-A6C34878D82A}">
                    <a16:rowId xmlns:a16="http://schemas.microsoft.com/office/drawing/2014/main" val="5000776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67C342-79B7-5B1E-9D19-DF6CEC463383}"/>
              </a:ext>
            </a:extLst>
          </p:cNvPr>
          <p:cNvSpPr txBox="1"/>
          <p:nvPr/>
        </p:nvSpPr>
        <p:spPr>
          <a:xfrm>
            <a:off x="1380360" y="4743278"/>
            <a:ext cx="10576747" cy="132343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ВЫВОД СУДА:</a:t>
            </a:r>
          </a:p>
          <a:p>
            <a:r>
              <a:rPr sz="1300" b="0">
                <a:solidFill>
                  <a:srgbClr val="1A1A1A"/>
                </a:solidFill>
              </a:rPr>
              <a:t>ВС отменил отказы и направил дело на новое рассмотрение. «Умер от болезни» не закрывает вопрос автоматически. Заключение эксперта не единственное доказательство; нужно оценить Н-1, позицию ГИТ и нарушения ОТ/режима.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86DD0-FE88-2CAE-C629-928FA9E2F107}"/>
              </a:ext>
            </a:extLst>
          </p:cNvPr>
          <p:cNvSpPr txBox="1"/>
          <p:nvPr/>
        </p:nvSpPr>
        <p:spPr>
          <a:xfrm>
            <a:off x="4074657" y="920890"/>
            <a:ext cx="7882451" cy="46166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Определение Верховного Суда РФ</a:t>
            </a:r>
          </a:p>
          <a:p>
            <a:r>
              <a:rPr sz="1200" b="0">
                <a:solidFill>
                  <a:srgbClr val="1A1A1A"/>
                </a:solidFill>
              </a:rPr>
              <a:t>от 22 июля 2024 г. № 88-КГ24-6-К8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33F64-5F15-55F5-A25A-B38B3CDA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4" y="1686216"/>
            <a:ext cx="671406" cy="6714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8254E8-FE29-BD45-40F0-A01355EE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44" y="4743278"/>
            <a:ext cx="1048616" cy="104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038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Заголовок 1"/>
          <p:cNvSpPr txBox="1">
            <a:spLocks noGrp="1"/>
          </p:cNvSpPr>
          <p:nvPr>
            <p:ph type="title"/>
          </p:nvPr>
        </p:nvSpPr>
        <p:spPr>
          <a:xfrm>
            <a:off x="4074657" y="362533"/>
            <a:ext cx="7882451" cy="509869"/>
          </a:xfrm>
          <a:prstGeom prst="rect">
            <a:avLst/>
          </a:prstGeom>
        </p:spPr>
        <p:txBody>
          <a:bodyPr>
            <a:noAutofit/>
          </a:bodyPr>
          <a:lstStyle>
            <a:lvl1pPr marR="285556" indent="296163" defTabSz="969263">
              <a:spcBef>
                <a:spcPts val="1200"/>
              </a:spcBef>
              <a:defRPr sz="4133"/>
            </a:lvl1pPr>
          </a:lstStyle>
          <a:p>
            <a:r>
              <a:rPr sz="2000" b="1">
                <a:solidFill>
                  <a:srgbClr val="1A1A1A"/>
                </a:solidFill>
              </a:rPr>
              <a:t>ПОЗИЦИЯ СУДОВ ПО ВОПРОСУ ответственности работодателя за гибель до начала смены</a:t>
            </a:r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3700" y="6416087"/>
            <a:ext cx="184294" cy="27553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sz="1400"/>
              <a:t>5</a:t>
            </a:fld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0746C4-E5A9-7CE8-C8EA-C036B924CAA7}"/>
              </a:ext>
            </a:extLst>
          </p:cNvPr>
          <p:cNvSpPr txBox="1"/>
          <p:nvPr/>
        </p:nvSpPr>
        <p:spPr>
          <a:xfrm>
            <a:off x="1003149" y="1686216"/>
            <a:ext cx="10953958" cy="58477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СУТЬ ДЕЛА: Работник АО «Металлургический завод Балаково» получил доступ к опасному участку до начала рабочего времени и погиб. Мать требовала компенсацию морального вреда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005E3A-0147-2B24-CB2F-15E3C686E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40652"/>
              </p:ext>
            </p:extLst>
          </p:nvPr>
        </p:nvGraphicFramePr>
        <p:xfrm>
          <a:off x="309678" y="2560705"/>
          <a:ext cx="11572644" cy="18131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86322">
                  <a:extLst>
                    <a:ext uri="{9D8B030D-6E8A-4147-A177-3AD203B41FA5}">
                      <a16:colId xmlns:a16="http://schemas.microsoft.com/office/drawing/2014/main" val="3414614109"/>
                    </a:ext>
                  </a:extLst>
                </a:gridCol>
                <a:gridCol w="5786322">
                  <a:extLst>
                    <a:ext uri="{9D8B030D-6E8A-4147-A177-3AD203B41FA5}">
                      <a16:colId xmlns:a16="http://schemas.microsoft.com/office/drawing/2014/main" val="3628765330"/>
                    </a:ext>
                  </a:extLst>
                </a:gridCol>
              </a:tblGrid>
              <a:tr h="3411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семьи погибшего</a:t>
                      </a:r>
                    </a:p>
                  </a:txBody>
                  <a:tcPr marL="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работодателя</a:t>
                      </a:r>
                    </a:p>
                  </a:txBody>
                  <a:tcPr marL="7620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77395"/>
                  </a:ext>
                </a:extLst>
              </a:tr>
              <a:tr h="14719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Вина работодателя: не обеспечен контроль, не исключён свободный доступ к опасному участку до начала смены.</a:t>
                      </a:r>
                    </a:p>
                  </a:txBody>
                  <a:tcPr marL="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Событие произошло до начала рабочего времени; работник не должен был находиться на опасном участке.</a:t>
                      </a:r>
                    </a:p>
                  </a:txBody>
                  <a:tcPr marL="76200" marR="0" marT="47625" marB="47625" anchor="ctr"/>
                </a:tc>
                <a:extLst>
                  <a:ext uri="{0D108BD9-81ED-4DB2-BD59-A6C34878D82A}">
                    <a16:rowId xmlns:a16="http://schemas.microsoft.com/office/drawing/2014/main" val="5000776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67C342-79B7-5B1E-9D19-DF6CEC463383}"/>
              </a:ext>
            </a:extLst>
          </p:cNvPr>
          <p:cNvSpPr txBox="1"/>
          <p:nvPr/>
        </p:nvSpPr>
        <p:spPr>
          <a:xfrm>
            <a:off x="1380360" y="4743278"/>
            <a:ext cx="10576747" cy="132343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ВЫВОД СУДА:</a:t>
            </a:r>
          </a:p>
          <a:p>
            <a:r>
              <a:rPr sz="1300" b="0">
                <a:solidFill>
                  <a:srgbClr val="1A1A1A"/>
                </a:solidFill>
              </a:rPr>
              <a:t>ВС оставил в силе решение о компенсации морального вреда. «Ещё не начал смену» не снимает обязанность работодателя закрыть доступ к опасным зонам и обеспечить контроль.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86DD0-FE88-2CAE-C629-928FA9E2F107}"/>
              </a:ext>
            </a:extLst>
          </p:cNvPr>
          <p:cNvSpPr txBox="1"/>
          <p:nvPr/>
        </p:nvSpPr>
        <p:spPr>
          <a:xfrm>
            <a:off x="4074657" y="920890"/>
            <a:ext cx="7882451" cy="46166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Определение Верховного Суда РФ</a:t>
            </a:r>
          </a:p>
          <a:p>
            <a:r>
              <a:rPr sz="1200" b="0">
                <a:solidFill>
                  <a:srgbClr val="1A1A1A"/>
                </a:solidFill>
              </a:rPr>
              <a:t>от 2 июня 2025 г. № 32-КГ25-7-К1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33F64-5F15-55F5-A25A-B38B3CDA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4" y="1686216"/>
            <a:ext cx="671406" cy="6714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8254E8-FE29-BD45-40F0-A01355EE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44" y="4743278"/>
            <a:ext cx="1048616" cy="104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038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Заголовок 1"/>
          <p:cNvSpPr txBox="1">
            <a:spLocks noGrp="1"/>
          </p:cNvSpPr>
          <p:nvPr>
            <p:ph type="title"/>
          </p:nvPr>
        </p:nvSpPr>
        <p:spPr>
          <a:xfrm>
            <a:off x="4074657" y="362533"/>
            <a:ext cx="7882451" cy="509869"/>
          </a:xfrm>
          <a:prstGeom prst="rect">
            <a:avLst/>
          </a:prstGeom>
        </p:spPr>
        <p:txBody>
          <a:bodyPr>
            <a:noAutofit/>
          </a:bodyPr>
          <a:lstStyle>
            <a:lvl1pPr marR="285556" indent="296163" defTabSz="969263">
              <a:spcBef>
                <a:spcPts val="1200"/>
              </a:spcBef>
              <a:defRPr sz="4133"/>
            </a:lvl1pPr>
          </a:lstStyle>
          <a:p>
            <a:r>
              <a:rPr sz="2200" b="1">
                <a:solidFill>
                  <a:srgbClr val="1A1A1A"/>
                </a:solidFill>
              </a:rPr>
              <a:t>ПОЗИЦИЯ СУДОВ ПО ВОПРОСУ взыскания штрафов ГИТ с аутсорсера по охране труда</a:t>
            </a:r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3700" y="6416087"/>
            <a:ext cx="184294" cy="27553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sz="1400"/>
              <a:t>6</a:t>
            </a:fld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0746C4-E5A9-7CE8-C8EA-C036B924CAA7}"/>
              </a:ext>
            </a:extLst>
          </p:cNvPr>
          <p:cNvSpPr txBox="1"/>
          <p:nvPr/>
        </p:nvSpPr>
        <p:spPr>
          <a:xfrm>
            <a:off x="1003149" y="1686216"/>
            <a:ext cx="10953958" cy="58477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СУТЬ ДЕЛА: ЖКХ оштрафовали за допуск работников без медосмотров и невыдачу СИЗ мастеру. Организация потребовала возместить суммы штрафов у фирмы, оказывавшей услуги по охране труда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005E3A-0147-2B24-CB2F-15E3C686E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40652"/>
              </p:ext>
            </p:extLst>
          </p:nvPr>
        </p:nvGraphicFramePr>
        <p:xfrm>
          <a:off x="309678" y="2560705"/>
          <a:ext cx="11572644" cy="18131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86322">
                  <a:extLst>
                    <a:ext uri="{9D8B030D-6E8A-4147-A177-3AD203B41FA5}">
                      <a16:colId xmlns:a16="http://schemas.microsoft.com/office/drawing/2014/main" val="3414614109"/>
                    </a:ext>
                  </a:extLst>
                </a:gridCol>
                <a:gridCol w="5786322">
                  <a:extLst>
                    <a:ext uri="{9D8B030D-6E8A-4147-A177-3AD203B41FA5}">
                      <a16:colId xmlns:a16="http://schemas.microsoft.com/office/drawing/2014/main" val="3628765330"/>
                    </a:ext>
                  </a:extLst>
                </a:gridCol>
              </a:tblGrid>
              <a:tr h="3411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заказчика (ЖКХ)</a:t>
                      </a:r>
                    </a:p>
                  </a:txBody>
                  <a:tcPr marL="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аутсорсера ОТ</a:t>
                      </a:r>
                    </a:p>
                  </a:txBody>
                  <a:tcPr marL="7620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77395"/>
                  </a:ext>
                </a:extLst>
              </a:tr>
              <a:tr h="14719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Штрафы наложены из‑за ненадлежащего исполнения договора услуг по ОТ — убытки подлежат взысканию с исполнителя.</a:t>
                      </a:r>
                    </a:p>
                  </a:txBody>
                  <a:tcPr marL="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По медосмотрам: заказчику неоднократно напоминали направлять работников; списки были составлены. По СИЗ — спор о составе норм выдачи.</a:t>
                      </a:r>
                    </a:p>
                  </a:txBody>
                  <a:tcPr marL="76200" marR="0" marT="47625" marB="47625" anchor="ctr"/>
                </a:tc>
                <a:extLst>
                  <a:ext uri="{0D108BD9-81ED-4DB2-BD59-A6C34878D82A}">
                    <a16:rowId xmlns:a16="http://schemas.microsoft.com/office/drawing/2014/main" val="5000776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67C342-79B7-5B1E-9D19-DF6CEC463383}"/>
              </a:ext>
            </a:extLst>
          </p:cNvPr>
          <p:cNvSpPr txBox="1"/>
          <p:nvPr/>
        </p:nvSpPr>
        <p:spPr>
          <a:xfrm>
            <a:off x="1380360" y="4743278"/>
            <a:ext cx="10576747" cy="132343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ВЫВОД СУДА:</a:t>
            </a:r>
          </a:p>
          <a:p>
            <a:r>
              <a:rPr sz="1300" b="0">
                <a:solidFill>
                  <a:srgbClr val="1A1A1A"/>
                </a:solidFill>
              </a:rPr>
              <a:t>По медосмотрам — отказ: вина самого работодателя. По СИЗ — штраф взыскан с аутсорсера: не включил профессию «мастер» в нормы выдачи. Аутсорсинг ОТ не снимает всю ответственность.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86DD0-FE88-2CAE-C629-928FA9E2F107}"/>
              </a:ext>
            </a:extLst>
          </p:cNvPr>
          <p:cNvSpPr txBox="1"/>
          <p:nvPr/>
        </p:nvSpPr>
        <p:spPr>
          <a:xfrm>
            <a:off x="4074657" y="920890"/>
            <a:ext cx="7882451" cy="46166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Постановление Арбитражного суда Уральского округа</a:t>
            </a:r>
          </a:p>
          <a:p>
            <a:r>
              <a:rPr sz="1200" b="0">
                <a:solidFill>
                  <a:srgbClr val="1A1A1A"/>
                </a:solidFill>
              </a:rPr>
              <a:t>от 9 августа 2022 г. № Ф09-5362/22 по делу № А34-15160/2020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33F64-5F15-55F5-A25A-B38B3CDA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4" y="1686216"/>
            <a:ext cx="671406" cy="6714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8254E8-FE29-BD45-40F0-A01355EE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44" y="4743278"/>
            <a:ext cx="1048616" cy="104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03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Заголовок 1"/>
          <p:cNvSpPr txBox="1">
            <a:spLocks noGrp="1"/>
          </p:cNvSpPr>
          <p:nvPr>
            <p:ph type="title"/>
          </p:nvPr>
        </p:nvSpPr>
        <p:spPr>
          <a:xfrm>
            <a:off x="4074657" y="362533"/>
            <a:ext cx="7882451" cy="509869"/>
          </a:xfrm>
          <a:prstGeom prst="rect">
            <a:avLst/>
          </a:prstGeom>
        </p:spPr>
        <p:txBody>
          <a:bodyPr>
            <a:noAutofit/>
          </a:bodyPr>
          <a:lstStyle>
            <a:lvl1pPr marR="285556" indent="296163" defTabSz="969263">
              <a:spcBef>
                <a:spcPts val="1200"/>
              </a:spcBef>
              <a:defRPr sz="4133"/>
            </a:lvl1pPr>
          </a:lstStyle>
          <a:p>
            <a:r>
              <a:rPr sz="2000" b="1">
                <a:solidFill>
                  <a:srgbClr val="1A1A1A"/>
                </a:solidFill>
              </a:rPr>
              <a:t>ПОЗИЦИЯ СУДОВ ПО ВОПРОСУ ответственности руководителя за НС после запирания в цеху</a:t>
            </a:r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3700" y="6416087"/>
            <a:ext cx="184294" cy="27553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sz="1400"/>
              <a:t>7</a:t>
            </a:fld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0746C4-E5A9-7CE8-C8EA-C036B924CAA7}"/>
              </a:ext>
            </a:extLst>
          </p:cNvPr>
          <p:cNvSpPr txBox="1"/>
          <p:nvPr/>
        </p:nvSpPr>
        <p:spPr>
          <a:xfrm>
            <a:off x="1003149" y="1686216"/>
            <a:ext cx="10953958" cy="58477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СУТЬ ДЕЛА: После смены работница оказалась заперта на 2-м производственном этаже цеха; обнаружена под окном женского туалета с тяжёлым вредом здоровью. В акте НС указан начальник цеха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005E3A-0147-2B24-CB2F-15E3C686E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40652"/>
              </p:ext>
            </p:extLst>
          </p:nvPr>
        </p:nvGraphicFramePr>
        <p:xfrm>
          <a:off x="309678" y="2560705"/>
          <a:ext cx="11572644" cy="18131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86322">
                  <a:extLst>
                    <a:ext uri="{9D8B030D-6E8A-4147-A177-3AD203B41FA5}">
                      <a16:colId xmlns:a16="http://schemas.microsoft.com/office/drawing/2014/main" val="3414614109"/>
                    </a:ext>
                  </a:extLst>
                </a:gridCol>
                <a:gridCol w="5786322">
                  <a:extLst>
                    <a:ext uri="{9D8B030D-6E8A-4147-A177-3AD203B41FA5}">
                      <a16:colId xmlns:a16="http://schemas.microsoft.com/office/drawing/2014/main" val="3628765330"/>
                    </a:ext>
                  </a:extLst>
                </a:gridCol>
              </a:tblGrid>
              <a:tr h="3411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комиссии / акта НС</a:t>
                      </a:r>
                    </a:p>
                  </a:txBody>
                  <a:tcPr marL="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начальника цеха</a:t>
                      </a:r>
                    </a:p>
                  </a:txBody>
                  <a:tcPr marL="7620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77395"/>
                  </a:ext>
                </a:extLst>
              </a:tr>
              <a:tr h="14719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Причина — необеспечение контроля за соблюдением ПВТР. Начальник цеха — лицо, допустившее нарушения требований ОТ.</a:t>
                      </a:r>
                    </a:p>
                  </a:txBody>
                  <a:tcPr marL="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Не согласен с указанием его как виновного лица и с формулировкой причин НС в акте.</a:t>
                      </a:r>
                    </a:p>
                  </a:txBody>
                  <a:tcPr marL="76200" marR="0" marT="47625" marB="47625" anchor="ctr"/>
                </a:tc>
                <a:extLst>
                  <a:ext uri="{0D108BD9-81ED-4DB2-BD59-A6C34878D82A}">
                    <a16:rowId xmlns:a16="http://schemas.microsoft.com/office/drawing/2014/main" val="5000776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67C342-79B7-5B1E-9D19-DF6CEC463383}"/>
              </a:ext>
            </a:extLst>
          </p:cNvPr>
          <p:cNvSpPr txBox="1"/>
          <p:nvPr/>
        </p:nvSpPr>
        <p:spPr>
          <a:xfrm>
            <a:off x="1380360" y="4743278"/>
            <a:ext cx="10576747" cy="132343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ВЫВОД СУДА:</a:t>
            </a:r>
          </a:p>
          <a:p>
            <a:r>
              <a:rPr sz="1300" b="0">
                <a:solidFill>
                  <a:srgbClr val="1A1A1A"/>
                </a:solidFill>
              </a:rPr>
              <a:t>Иск начальника цеха отклонён. Контроль за соблюдением ПВТР не обеспечен; указание руководителя виновным лицом обоснованно. Даже «бытовой» сценарий (заперли / окно) не снимает ответственность за дисциплину и безопасность.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86DD0-FE88-2CAE-C629-928FA9E2F107}"/>
              </a:ext>
            </a:extLst>
          </p:cNvPr>
          <p:cNvSpPr txBox="1"/>
          <p:nvPr/>
        </p:nvSpPr>
        <p:spPr>
          <a:xfrm>
            <a:off x="4074657" y="920890"/>
            <a:ext cx="7882451" cy="46166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Обзор судебной практики EcoStandard</a:t>
            </a:r>
          </a:p>
          <a:p>
            <a:r>
              <a:rPr sz="1200" b="0">
                <a:solidFill>
                  <a:srgbClr val="1A1A1A"/>
                </a:solidFill>
              </a:rPr>
              <a:t>(АО «НПЦАП»; номер дела в открытых источниках не опубликован)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33F64-5F15-55F5-A25A-B38B3CDA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4" y="1686216"/>
            <a:ext cx="671406" cy="6714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8254E8-FE29-BD45-40F0-A01355EE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44" y="4743278"/>
            <a:ext cx="1048616" cy="104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03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Заголовок 1"/>
          <p:cNvSpPr txBox="1">
            <a:spLocks noGrp="1"/>
          </p:cNvSpPr>
          <p:nvPr>
            <p:ph type="title"/>
          </p:nvPr>
        </p:nvSpPr>
        <p:spPr>
          <a:xfrm>
            <a:off x="4074657" y="362533"/>
            <a:ext cx="7882451" cy="509869"/>
          </a:xfrm>
          <a:prstGeom prst="rect">
            <a:avLst/>
          </a:prstGeom>
        </p:spPr>
        <p:txBody>
          <a:bodyPr>
            <a:noAutofit/>
          </a:bodyPr>
          <a:lstStyle>
            <a:lvl1pPr marR="285556" indent="296163" defTabSz="969263">
              <a:spcBef>
                <a:spcPts val="1200"/>
              </a:spcBef>
              <a:defRPr sz="4133"/>
            </a:lvl1pPr>
          </a:lstStyle>
          <a:p>
            <a:r>
              <a:rPr sz="2200" b="1">
                <a:solidFill>
                  <a:srgbClr val="1A1A1A"/>
                </a:solidFill>
              </a:rPr>
              <a:t>ПОЗИЦИЯ СУДОВ ПО ВОПРОСУ квалификации смерти на физзачёте в выходной как НС</a:t>
            </a:r>
          </a:p>
        </p:txBody>
      </p:sp>
      <p:sp>
        <p:nvSpPr>
          <p:cNvPr id="15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3700" y="6416087"/>
            <a:ext cx="184294" cy="27553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 sz="1400"/>
              <a:t>8</a:t>
            </a:fld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0746C4-E5A9-7CE8-C8EA-C036B924CAA7}"/>
              </a:ext>
            </a:extLst>
          </p:cNvPr>
          <p:cNvSpPr txBox="1"/>
          <p:nvPr/>
        </p:nvSpPr>
        <p:spPr>
          <a:xfrm>
            <a:off x="1003149" y="1686216"/>
            <a:ext cx="10953958" cy="58477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СУТЬ ДЕЛА: Стажёр-охранник в свой выходной приехал в спортзал на зачёт по физподготовке (спарринг), после чего впал в кому и умер. ГИТ квалифицировала случай как НС на производстве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005E3A-0147-2B24-CB2F-15E3C686E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40652"/>
              </p:ext>
            </p:extLst>
          </p:nvPr>
        </p:nvGraphicFramePr>
        <p:xfrm>
          <a:off x="309678" y="2560705"/>
          <a:ext cx="11572644" cy="18131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786322">
                  <a:extLst>
                    <a:ext uri="{9D8B030D-6E8A-4147-A177-3AD203B41FA5}">
                      <a16:colId xmlns:a16="http://schemas.microsoft.com/office/drawing/2014/main" val="3414614109"/>
                    </a:ext>
                  </a:extLst>
                </a:gridCol>
                <a:gridCol w="5786322">
                  <a:extLst>
                    <a:ext uri="{9D8B030D-6E8A-4147-A177-3AD203B41FA5}">
                      <a16:colId xmlns:a16="http://schemas.microsoft.com/office/drawing/2014/main" val="3628765330"/>
                    </a:ext>
                  </a:extLst>
                </a:gridCol>
              </a:tblGrid>
              <a:tr h="3411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ГИТ</a:t>
                      </a:r>
                    </a:p>
                  </a:txBody>
                  <a:tcPr marL="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Позиция работодателя</a:t>
                      </a:r>
                    </a:p>
                  </a:txBody>
                  <a:tcPr marL="76200" marR="76200" marT="47625" marB="47625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77395"/>
                  </a:ext>
                </a:extLst>
              </a:tr>
              <a:tr h="14719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НС связан с производством: зачёт назначил руководитель, участие обусловлено трудовыми отношениями.</a:t>
                      </a:r>
                    </a:p>
                  </a:txBody>
                  <a:tcPr marL="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</a:rPr>
                        <a:t>Стажёр приехал по личной инициативе в выходной; зал использовали по усмотрению сотрудников, без распоряжения работодателя.</a:t>
                      </a:r>
                    </a:p>
                  </a:txBody>
                  <a:tcPr marL="76200" marR="0" marT="47625" marB="47625" anchor="ctr"/>
                </a:tc>
                <a:extLst>
                  <a:ext uri="{0D108BD9-81ED-4DB2-BD59-A6C34878D82A}">
                    <a16:rowId xmlns:a16="http://schemas.microsoft.com/office/drawing/2014/main" val="5000776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67C342-79B7-5B1E-9D19-DF6CEC463383}"/>
              </a:ext>
            </a:extLst>
          </p:cNvPr>
          <p:cNvSpPr txBox="1"/>
          <p:nvPr/>
        </p:nvSpPr>
        <p:spPr>
          <a:xfrm>
            <a:off x="1380360" y="4743278"/>
            <a:ext cx="10576747" cy="132343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ВЫВОД СУДА:</a:t>
            </a:r>
          </a:p>
          <a:p>
            <a:r>
              <a:rPr sz="1300" b="0">
                <a:solidFill>
                  <a:srgbClr val="1A1A1A"/>
                </a:solidFill>
              </a:rPr>
              <a:t>Выводы ГИТ верны. Выходной и «добровольность» не исключают производственный характер, если мероприятие назначено руководителем и связано с трудовой деятельностью.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86DD0-FE88-2CAE-C629-928FA9E2F107}"/>
              </a:ext>
            </a:extLst>
          </p:cNvPr>
          <p:cNvSpPr txBox="1"/>
          <p:nvPr/>
        </p:nvSpPr>
        <p:spPr>
          <a:xfrm>
            <a:off x="4074657" y="920890"/>
            <a:ext cx="7882451" cy="461665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</a:rPr>
              <a:t>Обзор судебной практики EcoStandard</a:t>
            </a:r>
          </a:p>
          <a:p>
            <a:r>
              <a:rPr sz="1200" b="0">
                <a:solidFill>
                  <a:srgbClr val="1A1A1A"/>
                </a:solidFill>
              </a:rPr>
              <a:t>(ООО «ЧОП «Дельта»; номер дела в открытых источниках не опубликован)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33F64-5F15-55F5-A25A-B38B3CDA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4" y="1686216"/>
            <a:ext cx="671406" cy="6714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8254E8-FE29-BD45-40F0-A01355EE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44" y="4743278"/>
            <a:ext cx="1048616" cy="104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038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549</Words>
  <Application>Microsoft Office PowerPoint</Application>
  <PresentationFormat>Широкоэкранный</PresentationFormat>
  <Paragraphs>36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Montserrat Bold</vt:lpstr>
      <vt:lpstr>Тема Office</vt:lpstr>
      <vt:lpstr>ПОЗИЦИЯ СУДОВ ПО ВОПРОСУ сроков передачи документов в реестр</vt:lpstr>
      <vt:lpstr>ПОЗИЦИЯ СУДОВ ПО ВОПРОСУ выдачи документов об обучении без освоения программы</vt:lpstr>
      <vt:lpstr>ПОЗИЦИЯ СУДОВ ПО ВОПРОСУ отсутствия действующей аккредитации учебного центра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ПОЗИЦИЯ СУДОВ ПО ВОПРОСУ сроков передачи документов в реестр</dc:title>
  <dc:creator>Карина Смирнова</dc:creator>
  <cp:lastModifiedBy>Карина Смирнова</cp:lastModifiedBy>
  <cp:revision>5</cp:revision>
  <dcterms:created xsi:type="dcterms:W3CDTF">2026-07-16T14:28:43Z</dcterms:created>
  <dcterms:modified xsi:type="dcterms:W3CDTF">2026-07-16T15:01:59Z</dcterms:modified>
</cp:coreProperties>
</file>