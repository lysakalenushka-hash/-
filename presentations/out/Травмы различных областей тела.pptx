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800000" y="0"/>
            <a:ext cx="3400000" cy="6858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800000"/>
            <a:ext cx="2800000" cy="180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3000000"/>
            <a:ext cx="78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ТРАВМЫ РАЗЛИЧНЫХ
ОБЛАСТЕЙ ТЕЛА</a:t>
            </a:r>
          </a:p>
        </p:txBody>
      </p:sp>
      <p:sp>
        <p:nvSpPr>
          <p:cNvPr id="6" name="Rectangle 5"/>
          <p:cNvSpPr/>
          <p:nvPr/>
        </p:nvSpPr>
        <p:spPr>
          <a:xfrm>
            <a:off x="700000" y="4700000"/>
            <a:ext cx="5200000" cy="3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4900000"/>
            <a:ext cx="75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Тема 4 · Травмы, ранения, поражения и прочие состояния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СОДЕРЖАНИЕ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травмах, ранениях и поражениях, прочих состояниях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8" name="Oval 7"/>
          <p:cNvSpPr/>
          <p:nvPr/>
        </p:nvSpPr>
        <p:spPr>
          <a:xfrm>
            <a:off x="700000" y="1550000"/>
            <a:ext cx="520000" cy="52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1550000"/>
            <a:ext cx="52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00000" y="1550000"/>
            <a:ext cx="100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0000" y="1550000"/>
            <a:ext cx="96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Голова, глаза и шея</a:t>
            </a:r>
          </a:p>
        </p:txBody>
      </p:sp>
      <p:sp>
        <p:nvSpPr>
          <p:cNvPr id="12" name="Oval 11"/>
          <p:cNvSpPr/>
          <p:nvPr/>
        </p:nvSpPr>
        <p:spPr>
          <a:xfrm>
            <a:off x="700000" y="2400000"/>
            <a:ext cx="520000" cy="52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0000" y="2400000"/>
            <a:ext cx="52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00000" y="2400000"/>
            <a:ext cx="100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00000" y="2400000"/>
            <a:ext cx="96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Грудная клетка</a:t>
            </a:r>
          </a:p>
        </p:txBody>
      </p:sp>
      <p:sp>
        <p:nvSpPr>
          <p:cNvPr id="16" name="Oval 15"/>
          <p:cNvSpPr/>
          <p:nvPr/>
        </p:nvSpPr>
        <p:spPr>
          <a:xfrm>
            <a:off x="700000" y="3250000"/>
            <a:ext cx="520000" cy="52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0000" y="3250000"/>
            <a:ext cx="52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00000" y="3250000"/>
            <a:ext cx="100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000" y="3250000"/>
            <a:ext cx="96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Живот и таз</a:t>
            </a:r>
          </a:p>
        </p:txBody>
      </p:sp>
      <p:sp>
        <p:nvSpPr>
          <p:cNvPr id="20" name="Oval 19"/>
          <p:cNvSpPr/>
          <p:nvPr/>
        </p:nvSpPr>
        <p:spPr>
          <a:xfrm>
            <a:off x="700000" y="4100000"/>
            <a:ext cx="520000" cy="52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0000" y="4100000"/>
            <a:ext cx="52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00000" y="4100000"/>
            <a:ext cx="100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00000" y="4100000"/>
            <a:ext cx="96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Конечности</a:t>
            </a:r>
          </a:p>
        </p:txBody>
      </p:sp>
      <p:sp>
        <p:nvSpPr>
          <p:cNvPr id="24" name="Oval 23"/>
          <p:cNvSpPr/>
          <p:nvPr/>
        </p:nvSpPr>
        <p:spPr>
          <a:xfrm>
            <a:off x="700000" y="4950000"/>
            <a:ext cx="520000" cy="52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0000" y="4950000"/>
            <a:ext cx="52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00000" y="4950000"/>
            <a:ext cx="100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00000" y="4950000"/>
            <a:ext cx="96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Позвоночник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ТРАВМА ГОЛОВЫ И ЧЕРЕПНО-МОЗГОВАЯ ТРАВМА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травмах, ранениях и поражениях, прочих состояниях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pic>
        <p:nvPicPr>
          <p:cNvPr id="8" name="Picture 7" descr="fig6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479" y="1450000"/>
            <a:ext cx="3639042" cy="400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00000" y="1450000"/>
            <a:ext cx="6200000" cy="3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Подозревайте черепно-мозговую травму после удара, падения или резкого ускорения.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Признаки: потеря сознания, спутанность, нарушение памяти, головная боль, тошнота или рвота.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Возможны судороги, неравные зрачки, кровь или прозрачная жидкость из носа и ушей.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Остановите наружное кровотечение, не оказывая давления на возможный перелом черепа.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Наложите повязку, обеспечьте покой и непрерывно контролируйте сознание и дыхание.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00000" y="5400000"/>
            <a:ext cx="6200000" cy="1100000"/>
          </a:xfrm>
          <a:prstGeom prst="roundRect">
            <a:avLst/>
          </a:prstGeom>
          <a:solidFill>
            <a:srgbClr val="F5F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50000" y="5600000"/>
            <a:ext cx="57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 ухудшении сознания и сохраненном дыхании обеспечьте проходимость дыхательных путей с минимальным движением шеи.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ПОВРЕЖДЕНИЕ ГЛАЗА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травмах, ранениях и поражениях, прочих состояниях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" y="1450000"/>
            <a:ext cx="110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•  Не надавливайте на глаз и не пытайтесь исследовать глубокую рану.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•  Не извлекайте внедрившийся предмет; зафиксируйте его без давления.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химическом веществе немедленно и длительно промывайте глаз водой.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•  При механической травме наложите свободную повязку одновременно на оба глаза.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Объясните пострадавшему, что двигаться следует только с сопровождением.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0000" y="5600000"/>
            <a:ext cx="11000000" cy="1000000"/>
          </a:xfrm>
          <a:prstGeom prst="roundRect">
            <a:avLst/>
          </a:prstGeom>
          <a:solidFill>
            <a:srgbClr val="F5F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000" y="5800000"/>
            <a:ext cx="105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Движения неповрежденного глаза вызывают движения травмированного, поэтому закрывают оба глаза.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РАНЫ ШЕИ: СОСУДЫ И ШЕЙНЫЙ ОТДЕЛ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травмах, ранениях и поражениях, прочих состояниях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5</a:t>
            </a:r>
          </a:p>
        </p:txBody>
      </p:sp>
      <p:pic>
        <p:nvPicPr>
          <p:cNvPr id="8" name="Picture 7" descr="fig63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493" y="1450000"/>
            <a:ext cx="4169014" cy="400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00000" y="1450000"/>
            <a:ext cx="6200000" cy="3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кровотечении из сосудов шеи прижмите рану пальцами через салфетку.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Повязку накладывайте так, чтобы не сдавить дыхательные пути и сосуды с другой стороны.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 удаляйте инородное тело; обложите и зафиксируйте его вокруг.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Одновременно предполагайте повреждение шейного отдела позвоночника.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Удерживайте голову руками в том положении, в котором она найдена.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00000" y="5400000"/>
            <a:ext cx="6200000" cy="1100000"/>
          </a:xfrm>
          <a:prstGeom prst="roundRect">
            <a:avLst/>
          </a:prstGeom>
          <a:solidFill>
            <a:srgbClr val="F5F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50000" y="5600000"/>
            <a:ext cx="57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Фиксацию сохраняют до передачи специалистам или до вынужденного безопасного перемещения.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ФИКСАЦИЯ ШЕИ ПРЕДПЛЕЧЬЯМИ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травмах, ранениях и поражениях, прочих состояниях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6</a:t>
            </a:r>
          </a:p>
        </p:txBody>
      </p:sp>
      <p:pic>
        <p:nvPicPr>
          <p:cNvPr id="8" name="Picture 7" descr="fig64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455" y="1450000"/>
            <a:ext cx="4709090" cy="39999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00000" y="1450000"/>
            <a:ext cx="6200000" cy="3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Помощник располагается устойчиво и фиксирует голову с двух сторон предплечьями.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 тяните голову и не пытайтесь придать ей «правильное» положение.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Поддерживайте голову, шею и туловище по одной оси.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Если пострадавший в сознании, попросите его не двигать головой.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Регулярно проверяйте дыхание и не допускайте сдавления шеи.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00000" y="5400000"/>
            <a:ext cx="6200000" cy="1100000"/>
          </a:xfrm>
          <a:prstGeom prst="roundRect">
            <a:avLst/>
          </a:prstGeom>
          <a:solidFill>
            <a:srgbClr val="F5F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50000" y="5600000"/>
            <a:ext cx="57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Импровизированная фиксация не должна задерживать восстановление дыхательных путей или сердечно-легочную реанимацию.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ОТКРЫТАЯ РАНА ГРУДИ: ГЕРМЕТИЗАЦИЯ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травмах, ранениях и поражениях, прочих состояниях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7</a:t>
            </a:r>
          </a:p>
        </p:txBody>
      </p:sp>
      <p:pic>
        <p:nvPicPr>
          <p:cNvPr id="8" name="Picture 7" descr="fig67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00" y="1759506"/>
            <a:ext cx="5200000" cy="33809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00000" y="1450000"/>
            <a:ext cx="6200000" cy="3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Признаки: рана, боль, затрудненное дыхание, подсасывание воздуха или пенистая кровь.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Закройте рану воздухонепроницаемым материалом как можно быстрее.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Закрепите материал по трем сторонам, оставив нижний край свободным.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Свободный край позволяет воздуху выходить и ограничивает его поступление внутрь.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 извлекайте предмет из раны; герметизируйте вокруг него без давления.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00000" y="5400000"/>
            <a:ext cx="6200000" cy="1100000"/>
          </a:xfrm>
          <a:prstGeom prst="roundRect">
            <a:avLst/>
          </a:prstGeom>
          <a:solidFill>
            <a:srgbClr val="F5F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50000" y="5600000"/>
            <a:ext cx="57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 нарастании одышки контролируйте повязку и выполняйте указания диспетчера скорой помощи.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ПОВЯЗКА ПРИ РАНЕНИИ ГРУДНОЙ КЛЕТКИ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травмах, ранениях и поражениях, прочих состояниях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8</a:t>
            </a:r>
          </a:p>
        </p:txBody>
      </p:sp>
      <p:pic>
        <p:nvPicPr>
          <p:cNvPr id="8" name="Picture 7" descr="fig68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3949" y="1450000"/>
            <a:ext cx="3312101" cy="400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00000" y="1450000"/>
            <a:ext cx="6200000" cy="3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Кожу вокруг раны по возможности быстро осушите для надежной фиксации.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Пленка или другой герметичный материал должен перекрывать края раны.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Фиксируйте пластырем с трех сторон, не стягивая всю грудную клетку.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Следите, чтобы повязка не смещалась и не закрывала вторую рану.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Постоянно наблюдайте за дыханием, сознанием и цветом кожи.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00000" y="5400000"/>
            <a:ext cx="6200000" cy="1100000"/>
          </a:xfrm>
          <a:prstGeom prst="roundRect">
            <a:avLst/>
          </a:prstGeom>
          <a:solidFill>
            <a:srgbClr val="F5F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50000" y="5600000"/>
            <a:ext cx="57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Осмотрите доступную поверхность груди: входная и выходная раны могут находиться с разных сторон.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ТРАВМА РЕБЕР: ПОЛОЖЕНИЕ ПОЛУСИДЯ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травмах, ранениях и поражениях, прочих состояниях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9</a:t>
            </a:r>
          </a:p>
        </p:txBody>
      </p:sp>
      <p:pic>
        <p:nvPicPr>
          <p:cNvPr id="8" name="Picture 7" descr="fig69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355" y="1450000"/>
            <a:ext cx="2961290" cy="400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00000" y="1450000"/>
            <a:ext cx="6200000" cy="3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Помогите пострадавшему занять полусидячее положение с опорой.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По возможности наклоните его в сторону повреждения.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Разрешите придерживать болезненное место рукой или мягким материалом.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 стягивайте грудную клетку тугой круговой повязкой.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Контролируйте дыхание: его затруднение может указывать на повреждение органов груди.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00000" y="5400000"/>
            <a:ext cx="6200000" cy="1100000"/>
          </a:xfrm>
          <a:prstGeom prst="roundRect">
            <a:avLst/>
          </a:prstGeom>
          <a:solidFill>
            <a:srgbClr val="F5F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50000" y="5600000"/>
            <a:ext cx="57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Положение выбирают с учетом сознания, дыхания и других травм; не заставляйте человека менять удобную позу без необходимости.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ТРАВМЫ ЖИВОТА: ЗАКРЫТАЯ И ОТКРЫТАЯ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травмах, ранениях и поражениях, прочих состояниях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" y="1400000"/>
            <a:ext cx="54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Закрытая травма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400000"/>
            <a:ext cx="54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Открытая травма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0000" y="1850000"/>
            <a:ext cx="54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возможны боль, напряжение, вздутие, синяки и ссадины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бледность, холодный пот, слабость и жажда указывают на ухудшение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уложите, обеспечьте покой и не давайте пищу или питье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контролируйте сознание и дыхание до прибытия скорой помощи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00000" y="1850000"/>
            <a:ext cx="54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закройте рану стерильной салфеткой без сильного давления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инородный предмет не извлекайте, а фиксируйте вокруг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выпавших органах не трогайте и не вправляйте их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 накладывайте поверх выпавших органов давящую повязку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ТРАВМА ТАЗА: БЕЗОПАСНОЕ ПОЛОЖЕНИЕ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травмах, ранениях и поражениях, прочих состояниях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11</a:t>
            </a:r>
          </a:p>
        </p:txBody>
      </p:sp>
      <p:pic>
        <p:nvPicPr>
          <p:cNvPr id="8" name="Picture 7" descr="fig70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00" y="2492230"/>
            <a:ext cx="5200000" cy="19155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00000" y="1450000"/>
            <a:ext cx="6200000" cy="3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Подозревайте травму таза при боли, деформации, вынужденном положении и невозможности встать.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 проверяйте подвижность таза сдавливанием и не просите пострадавшего ходить.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Уложите на спину на твердую поверхность, если состояние это позволяет.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Согните и слегка разведите ноги, подложив под колени валик.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Сохраняйте тепло, контролируйте состояние и не давайте пищу или питье.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00000" y="5400000"/>
            <a:ext cx="6200000" cy="1100000"/>
          </a:xfrm>
          <a:prstGeom prst="roundRect">
            <a:avLst/>
          </a:prstGeom>
          <a:solidFill>
            <a:srgbClr val="F5F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50000" y="5600000"/>
            <a:ext cx="57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Перемещение выполняют только при необходимости, поддерживая таз и туловище без скручивания.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ОБЩИЙ ПОРЯДОК ПРИ ТРАВМЕ КОНЕЧНОСТИ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травмах, ранениях и поражениях, прочих состояниях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12</a:t>
            </a:r>
          </a:p>
        </p:txBody>
      </p:sp>
      <p:sp>
        <p:nvSpPr>
          <p:cNvPr id="8" name="Oval 7"/>
          <p:cNvSpPr/>
          <p:nvPr/>
        </p:nvSpPr>
        <p:spPr>
          <a:xfrm>
            <a:off x="700000" y="1400000"/>
            <a:ext cx="500000" cy="50000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1400000"/>
            <a:ext cx="5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00000" y="1400000"/>
            <a:ext cx="10550000" cy="6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0000" y="1400000"/>
            <a:ext cx="10150000" cy="6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Остановите массивное кровотечение, затем закройте рану повязкой.</a:t>
            </a:r>
          </a:p>
        </p:txBody>
      </p:sp>
      <p:sp>
        <p:nvSpPr>
          <p:cNvPr id="12" name="Oval 11"/>
          <p:cNvSpPr/>
          <p:nvPr/>
        </p:nvSpPr>
        <p:spPr>
          <a:xfrm>
            <a:off x="700000" y="2100000"/>
            <a:ext cx="500000" cy="50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0000" y="2100000"/>
            <a:ext cx="5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00000" y="2100000"/>
            <a:ext cx="10550000" cy="6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00000" y="2100000"/>
            <a:ext cx="10150000" cy="6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Снимите кольца, часы и тесные предметы до нарастания отека.</a:t>
            </a:r>
          </a:p>
        </p:txBody>
      </p:sp>
      <p:sp>
        <p:nvSpPr>
          <p:cNvPr id="16" name="Oval 15"/>
          <p:cNvSpPr/>
          <p:nvPr/>
        </p:nvSpPr>
        <p:spPr>
          <a:xfrm>
            <a:off x="700000" y="2800000"/>
            <a:ext cx="500000" cy="50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0000" y="2800000"/>
            <a:ext cx="5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00000" y="2800000"/>
            <a:ext cx="10550000" cy="6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000" y="2800000"/>
            <a:ext cx="10150000" cy="6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Оцените цвет, тепло, чувствительность и движение пальцев.</a:t>
            </a:r>
          </a:p>
        </p:txBody>
      </p:sp>
      <p:sp>
        <p:nvSpPr>
          <p:cNvPr id="20" name="Oval 19"/>
          <p:cNvSpPr/>
          <p:nvPr/>
        </p:nvSpPr>
        <p:spPr>
          <a:xfrm>
            <a:off x="700000" y="3500000"/>
            <a:ext cx="500000" cy="50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0000" y="3500000"/>
            <a:ext cx="5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00000" y="3500000"/>
            <a:ext cx="10550000" cy="6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00000" y="3500000"/>
            <a:ext cx="10150000" cy="6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Не исправляйте деформацию и не возвращайте костные отломки в рану.</a:t>
            </a:r>
          </a:p>
        </p:txBody>
      </p:sp>
      <p:sp>
        <p:nvSpPr>
          <p:cNvPr id="24" name="Oval 23"/>
          <p:cNvSpPr/>
          <p:nvPr/>
        </p:nvSpPr>
        <p:spPr>
          <a:xfrm>
            <a:off x="700000" y="4200000"/>
            <a:ext cx="500000" cy="50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0000" y="4200000"/>
            <a:ext cx="5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00000" y="4200000"/>
            <a:ext cx="10550000" cy="6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00000" y="4200000"/>
            <a:ext cx="10150000" cy="6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Обездвижьте суставы выше и ниже предполагаемого перелома в найденном положении.</a:t>
            </a:r>
          </a:p>
        </p:txBody>
      </p:sp>
      <p:sp>
        <p:nvSpPr>
          <p:cNvPr id="28" name="Oval 27"/>
          <p:cNvSpPr/>
          <p:nvPr/>
        </p:nvSpPr>
        <p:spPr>
          <a:xfrm>
            <a:off x="700000" y="4900000"/>
            <a:ext cx="500000" cy="50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0000" y="4900000"/>
            <a:ext cx="5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400000" y="4900000"/>
            <a:ext cx="10550000" cy="6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00000" y="4900000"/>
            <a:ext cx="10150000" cy="6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После фиксации повторно проверьте кровообращение и чувствительность.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00000" y="5800000"/>
            <a:ext cx="11000000" cy="900000"/>
          </a:xfrm>
          <a:prstGeom prst="roundRect">
            <a:avLst/>
          </a:prstGeom>
          <a:solidFill>
            <a:srgbClr val="F5F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0000" y="6000000"/>
            <a:ext cx="105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Если после фиксации пальцы побледнели, похолодели или онемели, ослабьте повязку, не нарушая неподвижность.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НОГА: АУТОИММОБИЛИЗАЦИЯ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травмах, ранениях и поражениях, прочих состояниях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13</a:t>
            </a:r>
          </a:p>
        </p:txBody>
      </p:sp>
      <p:pic>
        <p:nvPicPr>
          <p:cNvPr id="8" name="Picture 7" descr="fig7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00" y="2259160"/>
            <a:ext cx="5200000" cy="23816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00000" y="1450000"/>
            <a:ext cx="6200000" cy="3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отсутствии шины используйте здоровую ногу как опору.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Между ногами разместите мягкую прокладку, особенно в области коленей и лодыжек.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Соедините ноги широкими повязками выше и ниже места повреждения.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Узлы располагайте со стороны здоровой ноги, а не над травмой.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 затягивайте повязки чрезмерно; контролируйте стопу и пальцы.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00000" y="5400000"/>
            <a:ext cx="6200000" cy="1100000"/>
          </a:xfrm>
          <a:prstGeom prst="roundRect">
            <a:avLst/>
          </a:prstGeom>
          <a:solidFill>
            <a:srgbClr val="F5F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50000" y="5600000"/>
            <a:ext cx="57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Не выполняйте аутоиммобилизацию, если сближение ног вызывает резкую боль или может сместить поврежденную область.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РУКА: ФИКСАЦИЯ К ТУЛОВИЩУ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травмах, ранениях и поражениях, прочих состояниях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14</a:t>
            </a:r>
          </a:p>
        </p:txBody>
      </p:sp>
      <p:pic>
        <p:nvPicPr>
          <p:cNvPr id="8" name="Picture 7" descr="fig7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" y="1450000"/>
            <a:ext cx="4000000" cy="400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00000" y="1450000"/>
            <a:ext cx="6200000" cy="3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Осторожно поддерживайте поврежденную руку в наиболее удобном положении.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Поместите мягкую прокладку между рукой и туловищем.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Подвесьте предплечье косынкой или широкой тканью.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Дополнительно прибинтуйте руку к туловищу, не сдавливая грудную клетку.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Оставьте пальцы доступными для контроля цвета, тепла и чувствительности.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00000" y="5400000"/>
            <a:ext cx="6200000" cy="1100000"/>
          </a:xfrm>
          <a:prstGeom prst="roundRect">
            <a:avLst/>
          </a:prstGeom>
          <a:solidFill>
            <a:srgbClr val="F5F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50000" y="5600000"/>
            <a:ext cx="57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Не снимайте одежду с поврежденной руки силой: при необходимости ее разрезают вокруг раны.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ПОЗВОНОЧНИК: ТВЕРДАЯ РОВНАЯ ПОВЕРХНОСТЬ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травмах, ранениях и поражениях, прочих состояниях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15</a:t>
            </a:r>
          </a:p>
        </p:txBody>
      </p:sp>
      <p:pic>
        <p:nvPicPr>
          <p:cNvPr id="8" name="Picture 7" descr="fig73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00" y="1757468"/>
            <a:ext cx="5200000" cy="3385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00000" y="1450000"/>
            <a:ext cx="6200000" cy="3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Подозревайте травму после падения с высоты, удара, ныряния или дорожного происшествия.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 сгибайте, не усаживайте и не скручивайте пострадавшего.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Если место безопасно и дыхание нормальное, оставьте его в найденном положении.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необходимости переносите на жесткой ровной поверхности с фиксацией головы.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Один помощник постоянно удерживает голову и руководит согласованными движениями.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00000" y="5400000"/>
            <a:ext cx="6200000" cy="1100000"/>
          </a:xfrm>
          <a:prstGeom prst="roundRect">
            <a:avLst/>
          </a:prstGeom>
          <a:solidFill>
            <a:srgbClr val="F5F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50000" y="5600000"/>
            <a:ext cx="57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Обеспечение проходимости дыхательных путей имеет приоритет перед сохранением неподвижности позвоночника.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ПЕРЕМЕЩЕНИЕ ПРИ ТРАВМЕ ПОЗВОНОЧНИКА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травмах, ранениях и поражениях, прочих состояниях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16</a:t>
            </a:r>
          </a:p>
        </p:txBody>
      </p:sp>
      <p:pic>
        <p:nvPicPr>
          <p:cNvPr id="8" name="Picture 7" descr="fig74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967" y="1450000"/>
            <a:ext cx="4830065" cy="400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00000" y="1450000"/>
            <a:ext cx="6200000" cy="3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Для подъема и переноса привлекают несколько помощников.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Заранее распределите места у головы, плеч, таза и ног.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Помощник у головы фиксирует шею и подает единые команды.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Поднимайте и поворачивайте тело одновременно, сохраняя его по одной оси.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После укладки заполните пустоты мягким материалом и продолжайте контроль дыхания.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00000" y="5400000"/>
            <a:ext cx="6200000" cy="1100000"/>
          </a:xfrm>
          <a:prstGeom prst="roundRect">
            <a:avLst/>
          </a:prstGeom>
          <a:solidFill>
            <a:srgbClr val="F5F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50000" y="5600000"/>
            <a:ext cx="57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Такое перемещение оправдано при непосредственной опасности или по указанию медицинских специалистов.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ГЛАВНОЕ ЗАПОМНИТЬ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травмах, ранениях и поражениях, прочих состояниях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17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000" y="1450000"/>
            <a:ext cx="11000000" cy="8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0000" y="1450000"/>
            <a:ext cx="90000" cy="85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1530000"/>
            <a:ext cx="10400000" cy="69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Сначала устраните угрозу жизни и остановите кровотечение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0000" y="2380000"/>
            <a:ext cx="11000000" cy="8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0000" y="2380000"/>
            <a:ext cx="90000" cy="85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2460000"/>
            <a:ext cx="10400000" cy="69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Голову и шею удерживайте в найденном положении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000" y="3310000"/>
            <a:ext cx="11000000" cy="8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0000" y="3310000"/>
            <a:ext cx="90000" cy="85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0000" y="3390000"/>
            <a:ext cx="10400000" cy="69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Инородные тела и выпавшие органы не извлекайте и не вправляйте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0000" y="4240000"/>
            <a:ext cx="11000000" cy="8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00000" y="4240000"/>
            <a:ext cx="90000" cy="85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0000" y="4320000"/>
            <a:ext cx="10400000" cy="69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Переломы обездвиживайте после остановки кровотечения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0000" y="5170000"/>
            <a:ext cx="11000000" cy="8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00000" y="5170000"/>
            <a:ext cx="90000" cy="85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0000" y="5250000"/>
            <a:ext cx="10400000" cy="69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Позвоночник перемещают согласованно несколько человек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ПАМЯТКА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травмах, ранениях и поражениях, прочих состояниях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18</a:t>
            </a:r>
          </a:p>
        </p:txBody>
      </p:sp>
      <p:pic>
        <p:nvPicPr>
          <p:cNvPr id="8" name="Picture 7" descr="pamyatka-tema4-travmy-oblastey-16x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0000" y="1400000"/>
            <a:ext cx="7800000" cy="5200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400000" cy="6858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400000" y="0"/>
            <a:ext cx="8800000" cy="6858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00000" y="3000000"/>
            <a:ext cx="7500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БЛАГОДАРИМ ЗА ВНИМАНИЕ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0000" y="4100000"/>
            <a:ext cx="4500000" cy="3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