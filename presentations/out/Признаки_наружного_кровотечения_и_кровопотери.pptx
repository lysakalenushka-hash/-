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800000" y="0"/>
            <a:ext cx="3400000" cy="6858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800000"/>
            <a:ext cx="2800000" cy="180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3000000"/>
            <a:ext cx="78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ПРИЗНАКИ НАРУЖНОГО
КРОВОТЕЧЕНИЯ И КРОВОПОТЕРИ</a:t>
            </a:r>
          </a:p>
        </p:txBody>
      </p:sp>
      <p:sp>
        <p:nvSpPr>
          <p:cNvPr id="6" name="Rectangle 5"/>
          <p:cNvSpPr/>
          <p:nvPr/>
        </p:nvSpPr>
        <p:spPr>
          <a:xfrm>
            <a:off x="700000" y="4600000"/>
            <a:ext cx="5500000" cy="3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4800000"/>
            <a:ext cx="75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Тема 2 · Оказание первой помощи при наружных кровотечениях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110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СОДЕРЖАНИЕ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80000"/>
            <a:ext cx="9000000" cy="2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5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8" name="Oval 7"/>
          <p:cNvSpPr/>
          <p:nvPr/>
        </p:nvSpPr>
        <p:spPr>
          <a:xfrm>
            <a:off x="700000" y="1550000"/>
            <a:ext cx="550000" cy="55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1550000"/>
            <a:ext cx="550000" cy="5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50000" y="1550000"/>
            <a:ext cx="10000000" cy="5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Понятие кровотечения и кровопотери</a:t>
            </a:r>
          </a:p>
        </p:txBody>
      </p:sp>
      <p:sp>
        <p:nvSpPr>
          <p:cNvPr id="11" name="Oval 10"/>
          <p:cNvSpPr/>
          <p:nvPr/>
        </p:nvSpPr>
        <p:spPr>
          <a:xfrm>
            <a:off x="700000" y="2400000"/>
            <a:ext cx="550000" cy="55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0000" y="2400000"/>
            <a:ext cx="550000" cy="5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50000" y="2400000"/>
            <a:ext cx="10000000" cy="5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Признаки кровопотери</a:t>
            </a:r>
          </a:p>
        </p:txBody>
      </p:sp>
      <p:sp>
        <p:nvSpPr>
          <p:cNvPr id="14" name="Oval 13"/>
          <p:cNvSpPr/>
          <p:nvPr/>
        </p:nvSpPr>
        <p:spPr>
          <a:xfrm>
            <a:off x="700000" y="3250000"/>
            <a:ext cx="550000" cy="55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0000" y="3250000"/>
            <a:ext cx="550000" cy="5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50000" y="3250000"/>
            <a:ext cx="10000000" cy="5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Острая массивная кровопотеря</a:t>
            </a:r>
          </a:p>
        </p:txBody>
      </p:sp>
      <p:sp>
        <p:nvSpPr>
          <p:cNvPr id="17" name="Oval 16"/>
          <p:cNvSpPr/>
          <p:nvPr/>
        </p:nvSpPr>
        <p:spPr>
          <a:xfrm>
            <a:off x="700000" y="4100000"/>
            <a:ext cx="550000" cy="55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0000" y="4100000"/>
            <a:ext cx="550000" cy="5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50000" y="4100000"/>
            <a:ext cx="10000000" cy="5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Виды наружного кровотечения и их признаки</a:t>
            </a:r>
          </a:p>
        </p:txBody>
      </p:sp>
      <p:sp>
        <p:nvSpPr>
          <p:cNvPr id="20" name="Oval 19"/>
          <p:cNvSpPr/>
          <p:nvPr/>
        </p:nvSpPr>
        <p:spPr>
          <a:xfrm>
            <a:off x="700000" y="4950000"/>
            <a:ext cx="550000" cy="55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0000" y="4950000"/>
            <a:ext cx="550000" cy="5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50000" y="4950000"/>
            <a:ext cx="10000000" cy="5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Интенсивность как главный ориентир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110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ПОНЯТИЕ «КРОВОТЕЧЕНИЕ» И КРОВОПОТЕРЯ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80000"/>
            <a:ext cx="9000000" cy="2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5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pic>
        <p:nvPicPr>
          <p:cNvPr id="8" name="Picture 7" descr="def_m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000" y="1500000"/>
            <a:ext cx="2496000" cy="520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3300000" y="1600000"/>
            <a:ext cx="8600000" cy="2800000"/>
          </a:xfrm>
          <a:prstGeom prst="roundRect">
            <a:avLst/>
          </a:prstGeom>
          <a:solidFill>
            <a:srgbClr val="F5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00000" y="1800000"/>
            <a:ext cx="8000000" cy="2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Под </a:t>
            </a:r>
            <a:r>
              <a:rPr sz="15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кровотечением понимают</a:t>
            </a:r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 ситуацию, когда кровь по разным причинам (чаще всего в результате травмы) покидает сосудистое русло, что приводит к </a:t>
            </a:r>
            <a:r>
              <a:rPr sz="15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кровопотере</a:t>
            </a:r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 — безвозвратной утрате части крови.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00000" y="4700000"/>
            <a:ext cx="8600000" cy="1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Это сопровождается снижением функции системы кровообращения по переносу кислорода и питательных веществ к органам, что ведет к ухудшению или прекращению их деятельности.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110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ПРИЗНАКИ КРОВОПОТЕРИ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80000"/>
            <a:ext cx="9000000" cy="2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5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1600000"/>
            <a:ext cx="5400000" cy="3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резкая общая слабость;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чувство жажды;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головокружение;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мелькание «мушек» перед глазами;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00000" y="1600000"/>
            <a:ext cx="5400000" cy="3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обморок (чаще при попытке встать);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бледная, влажная и холодная кожа;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учащённое сердцебиение;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частое дыхание.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0000" y="5000000"/>
            <a:ext cx="11000000" cy="1400000"/>
          </a:xfrm>
          <a:prstGeom prst="roundRect">
            <a:avLst/>
          </a:prstGeom>
          <a:solidFill>
            <a:srgbClr val="F5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00000" y="5000000"/>
            <a:ext cx="100000" cy="1400000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0000" y="5200000"/>
            <a:ext cx="10400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Эти признаки возможны при продолжающемся кровотечении, при уже остановленном кровотечении и при отсутствии видимой крови (в том числе при внутреннем кровотечении).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110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ОСТРАЯ МАССИВНАЯ КРОВОПОТЕРЯ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80000"/>
            <a:ext cx="9000000" cy="2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5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0000" y="1550000"/>
            <a:ext cx="11000000" cy="1400000"/>
          </a:xfrm>
          <a:prstGeom prst="roundRect">
            <a:avLst/>
          </a:prstGeom>
          <a:solidFill>
            <a:srgbClr val="F5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000" y="1700000"/>
            <a:ext cx="1050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Наиболее опасно интенсивное кровотечение, приводящее к быстрой потере большого количества крови, — острая массивная кровопотеря.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0000" y="3300000"/>
            <a:ext cx="11000000" cy="3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повреждении крупных сосудов без остановки кровотечения гибель может наступить в течение нескольких минут.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кровотечении слабой и средней интенсивности организм обычно способен поддерживать жизнь, но кровотечение всё равно нужно остановить.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Даже «неинтенсивная» кровопотеря может привести к поздним осложнениям травмы и ухудшить исход.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110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ЧТО ТАКОЕ НАРУЖНОЕ КРОВОТЕЧЕНИЕ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80000"/>
            <a:ext cx="9000000" cy="2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5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1600000"/>
            <a:ext cx="11000000" cy="1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Наружное кровотечение сопровождается повреждением кожных покровов и слизистых оболочек, при этом кровь изливается наружу в окружающую среду.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000" y="3100000"/>
            <a:ext cx="110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 виду повреждённых сосудов кровотечения бывают: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0000" y="3900000"/>
            <a:ext cx="2600000" cy="900000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0000" y="3900000"/>
            <a:ext cx="26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Артериальное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00000" y="3900000"/>
            <a:ext cx="2600000" cy="900000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00000" y="3900000"/>
            <a:ext cx="26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Венозное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0000" y="3900000"/>
            <a:ext cx="2600000" cy="900000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0000" y="3900000"/>
            <a:ext cx="26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Капиллярное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00000" y="3900000"/>
            <a:ext cx="2600000" cy="900000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00000" y="3900000"/>
            <a:ext cx="26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Смешанное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0000" y="5200000"/>
            <a:ext cx="110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При оказании первой помощи вид определить сложно — ориентируйтесь на интенсивность кровотечения.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110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ПРИЗНАКИ ВИДОВ НАРУЖНОГО КРОВОТЕЧЕНИЯ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80000"/>
            <a:ext cx="9000000" cy="2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5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1450000"/>
            <a:ext cx="3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Артериальное</a:t>
            </a:r>
          </a:p>
        </p:txBody>
      </p:sp>
      <p:pic>
        <p:nvPicPr>
          <p:cNvPr id="9" name="Picture 8" descr="bleed_arte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9672" y="2000000"/>
            <a:ext cx="2360655" cy="29999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0000" y="5200000"/>
            <a:ext cx="36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Пульсирующая алая струя; быстро растекающаяся лужа алого цвета; одежда быстро пропитывается кровью. Наиболее опасно.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0000" y="1450000"/>
            <a:ext cx="3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Венозное</a:t>
            </a:r>
          </a:p>
        </p:txBody>
      </p:sp>
      <p:pic>
        <p:nvPicPr>
          <p:cNvPr id="12" name="Picture 11" descr="bleed_veno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9672" y="2000000"/>
            <a:ext cx="2360655" cy="299999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00000" y="5200000"/>
            <a:ext cx="36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Кровь тёмно-вишнёвая, вытекает «ручьём». Скорость кровопотери меньше, но остановка обязательна.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0000" y="1450000"/>
            <a:ext cx="3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Капиллярное</a:t>
            </a:r>
          </a:p>
        </p:txBody>
      </p:sp>
      <p:pic>
        <p:nvPicPr>
          <p:cNvPr id="15" name="Picture 14" descr="bleed_capill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1311" y="2000000"/>
            <a:ext cx="2557377" cy="299999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500000" y="5200000"/>
            <a:ext cx="36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Ссадины, порезы, царапины. Как правило, непосредственной угрозы жизни не представляет.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110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СМЕШАННОЕ КРОВОТЕЧЕНИЕ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80000"/>
            <a:ext cx="9000000" cy="2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5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1600000"/>
            <a:ext cx="11000000" cy="2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Одновременно артериальное, венозное и капиллярное кровотечение.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Наблюдается, например, при отрыве конечности.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Опасно вследствие наличия артериального компонента.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0000" y="4600000"/>
            <a:ext cx="11000000" cy="1600000"/>
          </a:xfrm>
          <a:prstGeom prst="roundRect">
            <a:avLst/>
          </a:prstGeom>
          <a:solidFill>
            <a:srgbClr val="F5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000" y="4600000"/>
            <a:ext cx="100000" cy="1600000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0000" y="4850000"/>
            <a:ext cx="1040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 наличии кровотечения останавливайте его любым доступным способом или их комбинацией — не тратьте время на точное определение вида.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110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СРАВНЕНИЕ ВИДОВ КРОВОТЕЧЕНИЯ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80000"/>
            <a:ext cx="9000000" cy="2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5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00000" y="1550000"/>
          <a:ext cx="11000000" cy="45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00"/>
                <a:gridCol w="2750000"/>
                <a:gridCol w="2750000"/>
                <a:gridCol w="2750000"/>
              </a:tblGrid>
              <a:tr h="90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Признак</a:t>
                      </a:r>
                    </a:p>
                  </a:txBody>
                  <a:tcPr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Артериальное</a:t>
                      </a:r>
                    </a:p>
                  </a:txBody>
                  <a:tcPr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Венозное</a:t>
                      </a:r>
                    </a:p>
                  </a:txBody>
                  <a:tcPr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Капиллярное</a:t>
                      </a:r>
                    </a:p>
                  </a:txBody>
                  <a:tcPr>
                    <a:solidFill>
                      <a:srgbClr val="444444"/>
                    </a:solidFill>
                  </a:tcPr>
                </a:tc>
              </a:tr>
              <a:tr h="9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Цвет крови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D1C24"/>
                          </a:solidFill>
                          <a:latin typeface="Open Sans"/>
                          <a:ea typeface="Open Sans"/>
                          <a:cs typeface="Open Sans"/>
                        </a:rPr>
                        <a:t>Алый, яркий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Тёмный, вишнёвый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Красный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Характер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D1C24"/>
                          </a:solidFill>
                          <a:latin typeface="Open Sans"/>
                          <a:ea typeface="Open Sans"/>
                          <a:cs typeface="Open Sans"/>
                        </a:rPr>
                        <a:t>Пульсирующей струёй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Равномерным «ручьём»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Сочится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9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Скорость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D1C24"/>
                          </a:solidFill>
                          <a:latin typeface="Open Sans"/>
                          <a:ea typeface="Open Sans"/>
                          <a:cs typeface="Open Sans"/>
                        </a:rPr>
                        <a:t>Очень быстрая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Умеренная / быстрая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Медленная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Опасность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D1C24"/>
                          </a:solidFill>
                          <a:latin typeface="Open Sans"/>
                          <a:ea typeface="Open Sans"/>
                          <a:cs typeface="Open Sans"/>
                        </a:rPr>
                        <a:t>Критическая — минуты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Высокая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Обычно низкая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110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ПРИЗНАКИ ИНТЕНСИВНОГО КРОВОТЕЧЕНИЯ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80000"/>
            <a:ext cx="9000000" cy="2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5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1500000"/>
            <a:ext cx="11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Сигнал к немедленной остановке кровотечения: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000" y="2400000"/>
            <a:ext cx="11000000" cy="2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одежда, пропитанная кровью;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скопление значительного количества крови на земле возле пострадавшего;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видимые раны с интенсивно вытекающей из них кровью.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0000" y="5200000"/>
            <a:ext cx="11000000" cy="1100000"/>
          </a:xfrm>
          <a:prstGeom prst="roundRect">
            <a:avLst/>
          </a:prstGeom>
          <a:solidFill>
            <a:srgbClr val="F5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000" y="5350000"/>
            <a:ext cx="1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ED1C24"/>
                </a:solidFill>
                <a:latin typeface="Open Sans"/>
                <a:ea typeface="Open Sans"/>
                <a:cs typeface="Open Sans"/>
              </a:rPr>
              <a:t>Обнаружив такие признаки — сразу приступайте к остановке всеми доступными способами.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110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ГЛАВНОЕ ЗАПОМНИТЬ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80000"/>
            <a:ext cx="9000000" cy="2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5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1550000"/>
            <a:ext cx="11000000" cy="10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0000" y="1550000"/>
            <a:ext cx="90000" cy="1000000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1700000"/>
            <a:ext cx="104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Кровотечение → кровопотеря → риск нарушения работы органов.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0000" y="2700000"/>
            <a:ext cx="11000000" cy="10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0000" y="2700000"/>
            <a:ext cx="90000" cy="1000000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2850000"/>
            <a:ext cx="104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Признаки кровопотери: слабость, жажда, бледность, холодный пот, учащённый пульс и дыхание, обморок.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000" y="3850000"/>
            <a:ext cx="11000000" cy="10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0000" y="3850000"/>
            <a:ext cx="90000" cy="1000000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0000" y="4000000"/>
            <a:ext cx="104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Артериальное — алая пульсирующая струя; венозное — тёмный «ручей»; капиллярное — сочение.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0000" y="5000000"/>
            <a:ext cx="11000000" cy="10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00000" y="5000000"/>
            <a:ext cx="90000" cy="1000000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0000" y="5150000"/>
            <a:ext cx="104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Ориентир для первой помощи — интенсивность, а не точный вид сосуда.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000" cy="6858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000" y="0"/>
            <a:ext cx="9000000" cy="6858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00000" y="3000000"/>
            <a:ext cx="7500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БЛАГОДАРИМ ЗА ВНИМАНИЕ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3800000" y="4100000"/>
            <a:ext cx="4500000" cy="3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