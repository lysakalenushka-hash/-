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8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8800000" y="0"/>
            <a:ext cx="3400000" cy="6858000"/>
          </a:xfrm>
          <a:prstGeom prst="rect">
            <a:avLst/>
          </a:prstGeom>
          <a:solidFill>
            <a:srgbClr val="DDDD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2800000"/>
            <a:ext cx="2800000" cy="1800000"/>
          </a:xfrm>
          <a:prstGeom prst="rect">
            <a:avLst/>
          </a:prstGeom>
          <a:solidFill>
            <a:srgbClr val="DDDD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00000" y="3000000"/>
            <a:ext cx="7800000" cy="1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600" b="1">
                <a:solidFill>
                  <a:srgbClr val="333333"/>
                </a:solidFill>
                <a:latin typeface="Open Sans"/>
                <a:ea typeface="Open Sans"/>
                <a:cs typeface="Open Sans"/>
              </a:rPr>
              <a:t>ХИМИЧЕСКИЕ, ЭЛЕКТРИЧЕСКИЕ
ФАКТОРЫ И ИЗЛУЧЕНИЕ</a:t>
            </a:r>
          </a:p>
        </p:txBody>
      </p:sp>
      <p:sp>
        <p:nvSpPr>
          <p:cNvPr id="6" name="Rectangle 5"/>
          <p:cNvSpPr/>
          <p:nvPr/>
        </p:nvSpPr>
        <p:spPr>
          <a:xfrm>
            <a:off x="700000" y="4700000"/>
            <a:ext cx="5200000" cy="30000"/>
          </a:xfrm>
          <a:prstGeom prst="rect">
            <a:avLst/>
          </a:prstGeom>
          <a:solidFill>
            <a:srgbClr val="3333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00000" y="4900000"/>
            <a:ext cx="7500000" cy="45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666666"/>
                </a:solidFill>
                <a:latin typeface="Open Sans"/>
                <a:ea typeface="Open Sans"/>
                <a:cs typeface="Open Sans"/>
              </a:rPr>
              <a:t>Тема 4 · Травмы, ранения, поражения и прочие состояния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00000" y="250000"/>
            <a:ext cx="11200000" cy="55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200" b="1">
                <a:solidFill>
                  <a:srgbClr val="333333"/>
                </a:solidFill>
                <a:latin typeface="Open Sans"/>
                <a:ea typeface="Open Sans"/>
                <a:cs typeface="Open Sans"/>
              </a:rPr>
              <a:t>СОДЕРЖАНИЕ</a:t>
            </a:r>
          </a:p>
        </p:txBody>
      </p:sp>
      <p:sp>
        <p:nvSpPr>
          <p:cNvPr id="4" name="Rectangle 3"/>
          <p:cNvSpPr/>
          <p:nvPr/>
        </p:nvSpPr>
        <p:spPr>
          <a:xfrm>
            <a:off x="700000" y="850000"/>
            <a:ext cx="9000000" cy="28000"/>
          </a:xfrm>
          <a:prstGeom prst="rect">
            <a:avLst/>
          </a:prstGeom>
          <a:solidFill>
            <a:srgbClr val="5555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00000" y="920000"/>
            <a:ext cx="11000000" cy="35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666666"/>
                </a:solidFill>
                <a:latin typeface="Open Sans"/>
                <a:ea typeface="Open Sans"/>
                <a:cs typeface="Open Sans"/>
              </a:rPr>
              <a:t>Оказание первой помощи при травмах, ранениях и поражениях, прочих состояниях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2800000"/>
            <a:ext cx="420000" cy="420000"/>
          </a:xfrm>
          <a:prstGeom prst="rect">
            <a:avLst/>
          </a:prstGeom>
          <a:solidFill>
            <a:srgbClr val="5555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0" y="2800000"/>
            <a:ext cx="420000" cy="42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Open Sans"/>
                <a:ea typeface="Open Sans"/>
                <a:cs typeface="Open Sans"/>
              </a:rPr>
              <a:t>2</a:t>
            </a:r>
          </a:p>
        </p:txBody>
      </p:sp>
      <p:sp>
        <p:nvSpPr>
          <p:cNvPr id="8" name="Oval 7"/>
          <p:cNvSpPr/>
          <p:nvPr/>
        </p:nvSpPr>
        <p:spPr>
          <a:xfrm>
            <a:off x="700000" y="1550000"/>
            <a:ext cx="520000" cy="520000"/>
          </a:xfrm>
          <a:prstGeom prst="ellipse">
            <a:avLst/>
          </a:prstGeom>
          <a:solidFill>
            <a:srgbClr val="5555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00000" y="1550000"/>
            <a:ext cx="520000" cy="52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500" b="1">
                <a:solidFill>
                  <a:srgbClr val="FFFFFF"/>
                </a:solidFill>
                <a:latin typeface="Open Sans"/>
                <a:ea typeface="Open Sans"/>
                <a:cs typeface="Open Sans"/>
              </a:rPr>
              <a:t>1</a:t>
            </a:r>
          </a:p>
        </p:txBody>
      </p:sp>
      <p:sp>
        <p:nvSpPr>
          <p:cNvPr id="10" name="Rectangle 9"/>
          <p:cNvSpPr/>
          <p:nvPr/>
        </p:nvSpPr>
        <p:spPr>
          <a:xfrm>
            <a:off x="1400000" y="1550000"/>
            <a:ext cx="10000000" cy="520000"/>
          </a:xfrm>
          <a:prstGeom prst="rect">
            <a:avLst/>
          </a:prstGeom>
          <a:solidFill>
            <a:srgbClr val="FFFFFF"/>
          </a:solidFill>
          <a:ln w="12700">
            <a:solidFill>
              <a:srgbClr val="9999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600000" y="1550000"/>
            <a:ext cx="9600000" cy="52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500" b="0">
                <a:solidFill>
                  <a:srgbClr val="333333"/>
                </a:solidFill>
                <a:latin typeface="Open Sans"/>
                <a:ea typeface="Open Sans"/>
                <a:cs typeface="Open Sans"/>
              </a:rPr>
              <a:t>Химические ожоги</a:t>
            </a:r>
          </a:p>
        </p:txBody>
      </p:sp>
      <p:sp>
        <p:nvSpPr>
          <p:cNvPr id="12" name="Oval 11"/>
          <p:cNvSpPr/>
          <p:nvPr/>
        </p:nvSpPr>
        <p:spPr>
          <a:xfrm>
            <a:off x="700000" y="2400000"/>
            <a:ext cx="520000" cy="520000"/>
          </a:xfrm>
          <a:prstGeom prst="ellipse">
            <a:avLst/>
          </a:prstGeom>
          <a:solidFill>
            <a:srgbClr val="5555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00000" y="2400000"/>
            <a:ext cx="520000" cy="52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500" b="1">
                <a:solidFill>
                  <a:srgbClr val="FFFFFF"/>
                </a:solidFill>
                <a:latin typeface="Open Sans"/>
                <a:ea typeface="Open Sans"/>
                <a:cs typeface="Open Sans"/>
              </a:rPr>
              <a:t>2</a:t>
            </a:r>
          </a:p>
        </p:txBody>
      </p:sp>
      <p:sp>
        <p:nvSpPr>
          <p:cNvPr id="14" name="Rectangle 13"/>
          <p:cNvSpPr/>
          <p:nvPr/>
        </p:nvSpPr>
        <p:spPr>
          <a:xfrm>
            <a:off x="1400000" y="2400000"/>
            <a:ext cx="10000000" cy="520000"/>
          </a:xfrm>
          <a:prstGeom prst="rect">
            <a:avLst/>
          </a:prstGeom>
          <a:solidFill>
            <a:srgbClr val="FFFFFF"/>
          </a:solidFill>
          <a:ln w="12700">
            <a:solidFill>
              <a:srgbClr val="9999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600000" y="2400000"/>
            <a:ext cx="9600000" cy="52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500" b="0">
                <a:solidFill>
                  <a:srgbClr val="333333"/>
                </a:solidFill>
                <a:latin typeface="Open Sans"/>
                <a:ea typeface="Open Sans"/>
                <a:cs typeface="Open Sans"/>
              </a:rPr>
              <a:t>Ожог пищевода</a:t>
            </a:r>
          </a:p>
        </p:txBody>
      </p:sp>
      <p:sp>
        <p:nvSpPr>
          <p:cNvPr id="16" name="Oval 15"/>
          <p:cNvSpPr/>
          <p:nvPr/>
        </p:nvSpPr>
        <p:spPr>
          <a:xfrm>
            <a:off x="700000" y="3250000"/>
            <a:ext cx="520000" cy="520000"/>
          </a:xfrm>
          <a:prstGeom prst="ellipse">
            <a:avLst/>
          </a:prstGeom>
          <a:solidFill>
            <a:srgbClr val="5555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00000" y="3250000"/>
            <a:ext cx="520000" cy="52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500" b="1">
                <a:solidFill>
                  <a:srgbClr val="FFFFFF"/>
                </a:solidFill>
                <a:latin typeface="Open Sans"/>
                <a:ea typeface="Open Sans"/>
                <a:cs typeface="Open Sans"/>
              </a:rPr>
              <a:t>3</a:t>
            </a:r>
          </a:p>
        </p:txBody>
      </p:sp>
      <p:sp>
        <p:nvSpPr>
          <p:cNvPr id="18" name="Rectangle 17"/>
          <p:cNvSpPr/>
          <p:nvPr/>
        </p:nvSpPr>
        <p:spPr>
          <a:xfrm>
            <a:off x="1400000" y="3250000"/>
            <a:ext cx="10000000" cy="520000"/>
          </a:xfrm>
          <a:prstGeom prst="rect">
            <a:avLst/>
          </a:prstGeom>
          <a:solidFill>
            <a:srgbClr val="FFFFFF"/>
          </a:solidFill>
          <a:ln w="12700">
            <a:solidFill>
              <a:srgbClr val="9999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600000" y="3250000"/>
            <a:ext cx="9600000" cy="52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500" b="0">
                <a:solidFill>
                  <a:srgbClr val="333333"/>
                </a:solidFill>
                <a:latin typeface="Open Sans"/>
                <a:ea typeface="Open Sans"/>
                <a:cs typeface="Open Sans"/>
              </a:rPr>
              <a:t>Электротравма</a:t>
            </a:r>
          </a:p>
        </p:txBody>
      </p:sp>
      <p:sp>
        <p:nvSpPr>
          <p:cNvPr id="20" name="Oval 19"/>
          <p:cNvSpPr/>
          <p:nvPr/>
        </p:nvSpPr>
        <p:spPr>
          <a:xfrm>
            <a:off x="700000" y="4100000"/>
            <a:ext cx="520000" cy="520000"/>
          </a:xfrm>
          <a:prstGeom prst="ellipse">
            <a:avLst/>
          </a:prstGeom>
          <a:solidFill>
            <a:srgbClr val="5555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00000" y="4100000"/>
            <a:ext cx="520000" cy="52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500" b="1">
                <a:solidFill>
                  <a:srgbClr val="FFFFFF"/>
                </a:solidFill>
                <a:latin typeface="Open Sans"/>
                <a:ea typeface="Open Sans"/>
                <a:cs typeface="Open Sans"/>
              </a:rPr>
              <a:t>4</a:t>
            </a:r>
          </a:p>
        </p:txBody>
      </p:sp>
      <p:sp>
        <p:nvSpPr>
          <p:cNvPr id="22" name="Rectangle 21"/>
          <p:cNvSpPr/>
          <p:nvPr/>
        </p:nvSpPr>
        <p:spPr>
          <a:xfrm>
            <a:off x="1400000" y="4100000"/>
            <a:ext cx="10000000" cy="520000"/>
          </a:xfrm>
          <a:prstGeom prst="rect">
            <a:avLst/>
          </a:prstGeom>
          <a:solidFill>
            <a:srgbClr val="FFFFFF"/>
          </a:solidFill>
          <a:ln w="12700">
            <a:solidFill>
              <a:srgbClr val="9999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1600000" y="4100000"/>
            <a:ext cx="9600000" cy="52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500" b="0">
                <a:solidFill>
                  <a:srgbClr val="333333"/>
                </a:solidFill>
                <a:latin typeface="Open Sans"/>
                <a:ea typeface="Open Sans"/>
                <a:cs typeface="Open Sans"/>
              </a:rPr>
              <a:t>Солнечный ожог</a:t>
            </a:r>
          </a:p>
        </p:txBody>
      </p:sp>
      <p:sp>
        <p:nvSpPr>
          <p:cNvPr id="24" name="Oval 23"/>
          <p:cNvSpPr/>
          <p:nvPr/>
        </p:nvSpPr>
        <p:spPr>
          <a:xfrm>
            <a:off x="700000" y="4950000"/>
            <a:ext cx="520000" cy="520000"/>
          </a:xfrm>
          <a:prstGeom prst="ellipse">
            <a:avLst/>
          </a:prstGeom>
          <a:solidFill>
            <a:srgbClr val="5555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700000" y="4950000"/>
            <a:ext cx="520000" cy="52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500" b="1">
                <a:solidFill>
                  <a:srgbClr val="FFFFFF"/>
                </a:solidFill>
                <a:latin typeface="Open Sans"/>
                <a:ea typeface="Open Sans"/>
                <a:cs typeface="Open Sans"/>
              </a:rPr>
              <a:t>5</a:t>
            </a:r>
          </a:p>
        </p:txBody>
      </p:sp>
      <p:sp>
        <p:nvSpPr>
          <p:cNvPr id="26" name="Rectangle 25"/>
          <p:cNvSpPr/>
          <p:nvPr/>
        </p:nvSpPr>
        <p:spPr>
          <a:xfrm>
            <a:off x="1400000" y="4950000"/>
            <a:ext cx="10000000" cy="520000"/>
          </a:xfrm>
          <a:prstGeom prst="rect">
            <a:avLst/>
          </a:prstGeom>
          <a:solidFill>
            <a:srgbClr val="FFFFFF"/>
          </a:solidFill>
          <a:ln w="12700">
            <a:solidFill>
              <a:srgbClr val="9999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1600000" y="4950000"/>
            <a:ext cx="9600000" cy="52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500" b="0">
                <a:solidFill>
                  <a:srgbClr val="333333"/>
                </a:solidFill>
                <a:latin typeface="Open Sans"/>
                <a:ea typeface="Open Sans"/>
                <a:cs typeface="Open Sans"/>
              </a:rPr>
              <a:t>Солнечный удар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00000" y="250000"/>
            <a:ext cx="11200000" cy="55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200" b="1">
                <a:solidFill>
                  <a:srgbClr val="333333"/>
                </a:solidFill>
                <a:latin typeface="Open Sans"/>
                <a:ea typeface="Open Sans"/>
                <a:cs typeface="Open Sans"/>
              </a:rPr>
              <a:t>ХИМИЧЕСКИЙ ОЖОГ КОЖИ</a:t>
            </a:r>
          </a:p>
        </p:txBody>
      </p:sp>
      <p:sp>
        <p:nvSpPr>
          <p:cNvPr id="4" name="Rectangle 3"/>
          <p:cNvSpPr/>
          <p:nvPr/>
        </p:nvSpPr>
        <p:spPr>
          <a:xfrm>
            <a:off x="700000" y="850000"/>
            <a:ext cx="9000000" cy="28000"/>
          </a:xfrm>
          <a:prstGeom prst="rect">
            <a:avLst/>
          </a:prstGeom>
          <a:solidFill>
            <a:srgbClr val="5555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00000" y="920000"/>
            <a:ext cx="11000000" cy="35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666666"/>
                </a:solidFill>
                <a:latin typeface="Open Sans"/>
                <a:ea typeface="Open Sans"/>
                <a:cs typeface="Open Sans"/>
              </a:rPr>
              <a:t>Оказание первой помощи при травмах, ранениях и поражениях, прочих состояниях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2800000"/>
            <a:ext cx="420000" cy="420000"/>
          </a:xfrm>
          <a:prstGeom prst="rect">
            <a:avLst/>
          </a:prstGeom>
          <a:solidFill>
            <a:srgbClr val="5555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0" y="2800000"/>
            <a:ext cx="420000" cy="42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Open Sans"/>
                <a:ea typeface="Open Sans"/>
                <a:cs typeface="Open Sans"/>
              </a:rPr>
              <a:t>3</a:t>
            </a:r>
          </a:p>
        </p:txBody>
      </p:sp>
      <p:sp>
        <p:nvSpPr>
          <p:cNvPr id="8" name="Oval 7"/>
          <p:cNvSpPr/>
          <p:nvPr/>
        </p:nvSpPr>
        <p:spPr>
          <a:xfrm>
            <a:off x="700000" y="1450000"/>
            <a:ext cx="550000" cy="550000"/>
          </a:xfrm>
          <a:prstGeom prst="ellipse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00000" y="1450000"/>
            <a:ext cx="550000" cy="55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Open Sans"/>
                <a:ea typeface="Open Sans"/>
                <a:cs typeface="Open Sans"/>
              </a:rPr>
              <a:t>1</a:t>
            </a:r>
          </a:p>
        </p:txBody>
      </p:sp>
      <p:sp>
        <p:nvSpPr>
          <p:cNvPr id="10" name="Rectangle 9"/>
          <p:cNvSpPr/>
          <p:nvPr/>
        </p:nvSpPr>
        <p:spPr>
          <a:xfrm>
            <a:off x="1450000" y="1450000"/>
            <a:ext cx="10500000" cy="550000"/>
          </a:xfrm>
          <a:prstGeom prst="rect">
            <a:avLst/>
          </a:prstGeom>
          <a:solidFill>
            <a:srgbClr val="FFFFFF"/>
          </a:solidFill>
          <a:ln w="12700">
            <a:solidFill>
              <a:srgbClr val="9999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650000" y="1450000"/>
            <a:ext cx="10100000" cy="55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300" b="0">
                <a:solidFill>
                  <a:srgbClr val="333333"/>
                </a:solidFill>
                <a:latin typeface="Open Sans"/>
                <a:ea typeface="Open Sans"/>
                <a:cs typeface="Open Sans"/>
              </a:rPr>
              <a:t>Защитите себя от контакта с веществом.</a:t>
            </a:r>
          </a:p>
        </p:txBody>
      </p:sp>
      <p:sp>
        <p:nvSpPr>
          <p:cNvPr id="12" name="Oval 11"/>
          <p:cNvSpPr/>
          <p:nvPr/>
        </p:nvSpPr>
        <p:spPr>
          <a:xfrm>
            <a:off x="700000" y="2320000"/>
            <a:ext cx="550000" cy="550000"/>
          </a:xfrm>
          <a:prstGeom prst="ellipse">
            <a:avLst/>
          </a:prstGeom>
          <a:solidFill>
            <a:srgbClr val="5555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00000" y="2320000"/>
            <a:ext cx="550000" cy="55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Open Sans"/>
                <a:ea typeface="Open Sans"/>
                <a:cs typeface="Open Sans"/>
              </a:rPr>
              <a:t>2</a:t>
            </a:r>
          </a:p>
        </p:txBody>
      </p:sp>
      <p:sp>
        <p:nvSpPr>
          <p:cNvPr id="14" name="Rectangle 13"/>
          <p:cNvSpPr/>
          <p:nvPr/>
        </p:nvSpPr>
        <p:spPr>
          <a:xfrm>
            <a:off x="1450000" y="2320000"/>
            <a:ext cx="10500000" cy="550000"/>
          </a:xfrm>
          <a:prstGeom prst="rect">
            <a:avLst/>
          </a:prstGeom>
          <a:solidFill>
            <a:srgbClr val="FFFFFF"/>
          </a:solidFill>
          <a:ln w="12700">
            <a:solidFill>
              <a:srgbClr val="9999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650000" y="2320000"/>
            <a:ext cx="10100000" cy="55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300" b="0">
                <a:solidFill>
                  <a:srgbClr val="333333"/>
                </a:solidFill>
                <a:latin typeface="Open Sans"/>
                <a:ea typeface="Open Sans"/>
                <a:cs typeface="Open Sans"/>
              </a:rPr>
              <a:t>Удалите загрязненную одежду.</a:t>
            </a:r>
          </a:p>
        </p:txBody>
      </p:sp>
      <p:sp>
        <p:nvSpPr>
          <p:cNvPr id="16" name="Oval 15"/>
          <p:cNvSpPr/>
          <p:nvPr/>
        </p:nvSpPr>
        <p:spPr>
          <a:xfrm>
            <a:off x="700000" y="3190000"/>
            <a:ext cx="550000" cy="550000"/>
          </a:xfrm>
          <a:prstGeom prst="ellipse">
            <a:avLst/>
          </a:prstGeom>
          <a:solidFill>
            <a:srgbClr val="5555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00000" y="3190000"/>
            <a:ext cx="550000" cy="55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Open Sans"/>
                <a:ea typeface="Open Sans"/>
                <a:cs typeface="Open Sans"/>
              </a:rPr>
              <a:t>3</a:t>
            </a:r>
          </a:p>
        </p:txBody>
      </p:sp>
      <p:sp>
        <p:nvSpPr>
          <p:cNvPr id="18" name="Rectangle 17"/>
          <p:cNvSpPr/>
          <p:nvPr/>
        </p:nvSpPr>
        <p:spPr>
          <a:xfrm>
            <a:off x="1450000" y="3190000"/>
            <a:ext cx="10500000" cy="550000"/>
          </a:xfrm>
          <a:prstGeom prst="rect">
            <a:avLst/>
          </a:prstGeom>
          <a:solidFill>
            <a:srgbClr val="FFFFFF"/>
          </a:solidFill>
          <a:ln w="12700">
            <a:solidFill>
              <a:srgbClr val="9999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650000" y="3190000"/>
            <a:ext cx="10100000" cy="55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300" b="0">
                <a:solidFill>
                  <a:srgbClr val="333333"/>
                </a:solidFill>
                <a:latin typeface="Open Sans"/>
                <a:ea typeface="Open Sans"/>
                <a:cs typeface="Open Sans"/>
              </a:rPr>
              <a:t>Промывайте пораженное место водой не менее 20 минут.</a:t>
            </a:r>
          </a:p>
        </p:txBody>
      </p:sp>
      <p:sp>
        <p:nvSpPr>
          <p:cNvPr id="20" name="Oval 19"/>
          <p:cNvSpPr/>
          <p:nvPr/>
        </p:nvSpPr>
        <p:spPr>
          <a:xfrm>
            <a:off x="700000" y="4060000"/>
            <a:ext cx="550000" cy="550000"/>
          </a:xfrm>
          <a:prstGeom prst="ellipse">
            <a:avLst/>
          </a:prstGeom>
          <a:solidFill>
            <a:srgbClr val="5555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00000" y="4060000"/>
            <a:ext cx="550000" cy="55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Open Sans"/>
                <a:ea typeface="Open Sans"/>
                <a:cs typeface="Open Sans"/>
              </a:rPr>
              <a:t>4</a:t>
            </a:r>
          </a:p>
        </p:txBody>
      </p:sp>
      <p:sp>
        <p:nvSpPr>
          <p:cNvPr id="22" name="Rectangle 21"/>
          <p:cNvSpPr/>
          <p:nvPr/>
        </p:nvSpPr>
        <p:spPr>
          <a:xfrm>
            <a:off x="1450000" y="4060000"/>
            <a:ext cx="10500000" cy="550000"/>
          </a:xfrm>
          <a:prstGeom prst="rect">
            <a:avLst/>
          </a:prstGeom>
          <a:solidFill>
            <a:srgbClr val="FFFFFF"/>
          </a:solidFill>
          <a:ln w="12700">
            <a:solidFill>
              <a:srgbClr val="9999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1650000" y="4060000"/>
            <a:ext cx="10100000" cy="55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300" b="0">
                <a:solidFill>
                  <a:srgbClr val="333333"/>
                </a:solidFill>
                <a:latin typeface="Open Sans"/>
                <a:ea typeface="Open Sans"/>
                <a:cs typeface="Open Sans"/>
              </a:rPr>
              <a:t>Наложите свободную сухую повязку.</a:t>
            </a:r>
          </a:p>
        </p:txBody>
      </p:sp>
      <p:sp>
        <p:nvSpPr>
          <p:cNvPr id="24" name="Oval 23"/>
          <p:cNvSpPr/>
          <p:nvPr/>
        </p:nvSpPr>
        <p:spPr>
          <a:xfrm>
            <a:off x="700000" y="4930000"/>
            <a:ext cx="550000" cy="550000"/>
          </a:xfrm>
          <a:prstGeom prst="ellipse">
            <a:avLst/>
          </a:prstGeom>
          <a:solidFill>
            <a:srgbClr val="5555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700000" y="4930000"/>
            <a:ext cx="550000" cy="55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Open Sans"/>
                <a:ea typeface="Open Sans"/>
                <a:cs typeface="Open Sans"/>
              </a:rPr>
              <a:t>5</a:t>
            </a:r>
          </a:p>
        </p:txBody>
      </p:sp>
      <p:sp>
        <p:nvSpPr>
          <p:cNvPr id="26" name="Rectangle 25"/>
          <p:cNvSpPr/>
          <p:nvPr/>
        </p:nvSpPr>
        <p:spPr>
          <a:xfrm>
            <a:off x="1450000" y="4930000"/>
            <a:ext cx="10500000" cy="550000"/>
          </a:xfrm>
          <a:prstGeom prst="rect">
            <a:avLst/>
          </a:prstGeom>
          <a:solidFill>
            <a:srgbClr val="FFFFFF"/>
          </a:solidFill>
          <a:ln w="12700">
            <a:solidFill>
              <a:srgbClr val="9999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1650000" y="4930000"/>
            <a:ext cx="10100000" cy="55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300" b="0">
                <a:solidFill>
                  <a:srgbClr val="333333"/>
                </a:solidFill>
                <a:latin typeface="Open Sans"/>
                <a:ea typeface="Open Sans"/>
                <a:cs typeface="Open Sans"/>
              </a:rPr>
              <a:t>При ясном сознании предложите теплое питье.</a:t>
            </a:r>
          </a:p>
        </p:txBody>
      </p:sp>
      <p:sp>
        <p:nvSpPr>
          <p:cNvPr id="28" name="Oval 27"/>
          <p:cNvSpPr/>
          <p:nvPr/>
        </p:nvSpPr>
        <p:spPr>
          <a:xfrm>
            <a:off x="700000" y="5800000"/>
            <a:ext cx="550000" cy="550000"/>
          </a:xfrm>
          <a:prstGeom prst="ellipse">
            <a:avLst/>
          </a:prstGeom>
          <a:solidFill>
            <a:srgbClr val="5555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700000" y="5800000"/>
            <a:ext cx="550000" cy="55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Open Sans"/>
                <a:ea typeface="Open Sans"/>
                <a:cs typeface="Open Sans"/>
              </a:rPr>
              <a:t>6</a:t>
            </a:r>
          </a:p>
        </p:txBody>
      </p:sp>
      <p:sp>
        <p:nvSpPr>
          <p:cNvPr id="30" name="Rectangle 29"/>
          <p:cNvSpPr/>
          <p:nvPr/>
        </p:nvSpPr>
        <p:spPr>
          <a:xfrm>
            <a:off x="1450000" y="5800000"/>
            <a:ext cx="10500000" cy="550000"/>
          </a:xfrm>
          <a:prstGeom prst="rect">
            <a:avLst/>
          </a:prstGeom>
          <a:solidFill>
            <a:srgbClr val="FFFFFF"/>
          </a:solidFill>
          <a:ln w="12700">
            <a:solidFill>
              <a:srgbClr val="9999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1650000" y="5800000"/>
            <a:ext cx="10100000" cy="55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300" b="0">
                <a:solidFill>
                  <a:srgbClr val="333333"/>
                </a:solidFill>
                <a:latin typeface="Open Sans"/>
                <a:ea typeface="Open Sans"/>
                <a:cs typeface="Open Sans"/>
              </a:rPr>
              <a:t>Вызовите скорую медицинскую помощь.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00000" y="250000"/>
            <a:ext cx="11200000" cy="55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200" b="1">
                <a:solidFill>
                  <a:srgbClr val="333333"/>
                </a:solidFill>
                <a:latin typeface="Open Sans"/>
                <a:ea typeface="Open Sans"/>
                <a:cs typeface="Open Sans"/>
              </a:rPr>
              <a:t>ХИМИЧЕСКИЙ ОЖОГ ПИЩЕВОДА</a:t>
            </a:r>
          </a:p>
        </p:txBody>
      </p:sp>
      <p:sp>
        <p:nvSpPr>
          <p:cNvPr id="4" name="Rectangle 3"/>
          <p:cNvSpPr/>
          <p:nvPr/>
        </p:nvSpPr>
        <p:spPr>
          <a:xfrm>
            <a:off x="700000" y="850000"/>
            <a:ext cx="9000000" cy="28000"/>
          </a:xfrm>
          <a:prstGeom prst="rect">
            <a:avLst/>
          </a:prstGeom>
          <a:solidFill>
            <a:srgbClr val="5555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00000" y="920000"/>
            <a:ext cx="11000000" cy="35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666666"/>
                </a:solidFill>
                <a:latin typeface="Open Sans"/>
                <a:ea typeface="Open Sans"/>
                <a:cs typeface="Open Sans"/>
              </a:rPr>
              <a:t>Оказание первой помощи при травмах, ранениях и поражениях, прочих состояниях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2800000"/>
            <a:ext cx="420000" cy="420000"/>
          </a:xfrm>
          <a:prstGeom prst="rect">
            <a:avLst/>
          </a:prstGeom>
          <a:solidFill>
            <a:srgbClr val="5555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0" y="2800000"/>
            <a:ext cx="420000" cy="42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Open Sans"/>
                <a:ea typeface="Open Sans"/>
                <a:cs typeface="Open Sans"/>
              </a:rPr>
              <a:t>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00000" y="1500000"/>
            <a:ext cx="11000000" cy="42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1400" b="0">
                <a:solidFill>
                  <a:srgbClr val="333333"/>
                </a:solidFill>
                <a:latin typeface="Open Sans"/>
                <a:ea typeface="Open Sans"/>
                <a:cs typeface="Open Sans"/>
              </a:rPr>
              <a:t>•  Боль и жжение во рту, за грудиной или в животе</a:t>
            </a:r>
          </a:p>
          <a:p>
            <a:pPr algn="l">
              <a:spcAft>
                <a:spcPts val="800"/>
              </a:spcAft>
            </a:pPr>
            <a:r>
              <a:rPr sz="1400" b="0">
                <a:solidFill>
                  <a:srgbClr val="333333"/>
                </a:solidFill>
                <a:latin typeface="Open Sans"/>
                <a:ea typeface="Open Sans"/>
                <a:cs typeface="Open Sans"/>
              </a:rPr>
              <a:t>•  Следы ожога на губах и слизистой</a:t>
            </a:r>
          </a:p>
          <a:p>
            <a:pPr algn="l">
              <a:spcAft>
                <a:spcPts val="800"/>
              </a:spcAft>
            </a:pPr>
            <a:r>
              <a:rPr sz="1400" b="0">
                <a:solidFill>
                  <a:srgbClr val="333333"/>
                </a:solidFill>
                <a:latin typeface="Open Sans"/>
                <a:ea typeface="Open Sans"/>
                <a:cs typeface="Open Sans"/>
              </a:rPr>
              <a:t>•  Затрудненное глотание, слюнотечение, рвота</a:t>
            </a:r>
          </a:p>
          <a:p>
            <a:pPr algn="l">
              <a:spcAft>
                <a:spcPts val="800"/>
              </a:spcAft>
            </a:pPr>
            <a:r>
              <a:rPr sz="1400" b="1">
                <a:solidFill>
                  <a:srgbClr val="CC0000"/>
                </a:solidFill>
                <a:latin typeface="Open Sans"/>
                <a:ea typeface="Open Sans"/>
                <a:cs typeface="Open Sans"/>
              </a:rPr>
              <a:t>•  Не вызывайте рвоту</a:t>
            </a:r>
          </a:p>
          <a:p>
            <a:pPr algn="l">
              <a:spcAft>
                <a:spcPts val="800"/>
              </a:spcAft>
            </a:pPr>
            <a:r>
              <a:rPr sz="1400" b="1">
                <a:solidFill>
                  <a:srgbClr val="CC0000"/>
                </a:solidFill>
                <a:latin typeface="Open Sans"/>
                <a:ea typeface="Open Sans"/>
                <a:cs typeface="Open Sans"/>
              </a:rPr>
              <a:t>•  Срочно вызовите скорую медицинскую помощь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00000" y="250000"/>
            <a:ext cx="11200000" cy="55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200" b="1">
                <a:solidFill>
                  <a:srgbClr val="333333"/>
                </a:solidFill>
                <a:latin typeface="Open Sans"/>
                <a:ea typeface="Open Sans"/>
                <a:cs typeface="Open Sans"/>
              </a:rPr>
              <a:t>БЕЗОПАСНОСТЬ ПРИ ЭЛЕКТРОТРАВМЕ</a:t>
            </a:r>
          </a:p>
        </p:txBody>
      </p:sp>
      <p:sp>
        <p:nvSpPr>
          <p:cNvPr id="4" name="Rectangle 3"/>
          <p:cNvSpPr/>
          <p:nvPr/>
        </p:nvSpPr>
        <p:spPr>
          <a:xfrm>
            <a:off x="700000" y="850000"/>
            <a:ext cx="9000000" cy="28000"/>
          </a:xfrm>
          <a:prstGeom prst="rect">
            <a:avLst/>
          </a:prstGeom>
          <a:solidFill>
            <a:srgbClr val="5555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00000" y="920000"/>
            <a:ext cx="11000000" cy="35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666666"/>
                </a:solidFill>
                <a:latin typeface="Open Sans"/>
                <a:ea typeface="Open Sans"/>
                <a:cs typeface="Open Sans"/>
              </a:rPr>
              <a:t>Оказание первой помощи при травмах, ранениях и поражениях, прочих состояниях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2800000"/>
            <a:ext cx="420000" cy="420000"/>
          </a:xfrm>
          <a:prstGeom prst="rect">
            <a:avLst/>
          </a:prstGeom>
          <a:solidFill>
            <a:srgbClr val="5555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0" y="2800000"/>
            <a:ext cx="420000" cy="42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Open Sans"/>
                <a:ea typeface="Open Sans"/>
                <a:cs typeface="Open Sans"/>
              </a:rPr>
              <a:t>5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00000" y="1450000"/>
            <a:ext cx="5400000" cy="4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333333"/>
                </a:solidFill>
                <a:latin typeface="Open Sans"/>
                <a:ea typeface="Open Sans"/>
                <a:cs typeface="Open Sans"/>
              </a:rPr>
              <a:t>Бытовая сеть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600000" y="1450000"/>
            <a:ext cx="5400000" cy="4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333333"/>
                </a:solidFill>
                <a:latin typeface="Open Sans"/>
                <a:ea typeface="Open Sans"/>
                <a:cs typeface="Open Sans"/>
              </a:rPr>
              <a:t>Высокое напряжение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00000" y="1950000"/>
            <a:ext cx="5400000" cy="40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1300" b="0">
                <a:solidFill>
                  <a:srgbClr val="333333"/>
                </a:solidFill>
                <a:latin typeface="Open Sans"/>
                <a:ea typeface="Open Sans"/>
                <a:cs typeface="Open Sans"/>
              </a:rPr>
              <a:t>•  не касайтесь пострадавшего до отключения тока</a:t>
            </a:r>
          </a:p>
          <a:p>
            <a:pPr algn="l">
              <a:spcAft>
                <a:spcPts val="800"/>
              </a:spcAft>
            </a:pPr>
            <a:r>
              <a:rPr sz="1300" b="0">
                <a:solidFill>
                  <a:srgbClr val="333333"/>
                </a:solidFill>
                <a:latin typeface="Open Sans"/>
                <a:ea typeface="Open Sans"/>
                <a:cs typeface="Open Sans"/>
              </a:rPr>
              <a:t>•  выключите автомат или рубильник</a:t>
            </a:r>
          </a:p>
          <a:p>
            <a:pPr algn="l">
              <a:spcAft>
                <a:spcPts val="800"/>
              </a:spcAft>
            </a:pPr>
            <a:r>
              <a:rPr sz="1300" b="0">
                <a:solidFill>
                  <a:srgbClr val="333333"/>
                </a:solidFill>
                <a:latin typeface="Open Sans"/>
                <a:ea typeface="Open Sans"/>
                <a:cs typeface="Open Sans"/>
              </a:rPr>
              <a:t>•  уберите провод только безопасным способом</a:t>
            </a:r>
          </a:p>
          <a:p>
            <a:pPr algn="l">
              <a:spcAft>
                <a:spcPts val="800"/>
              </a:spcAft>
            </a:pPr>
            <a:r>
              <a:rPr sz="1300" b="0">
                <a:solidFill>
                  <a:srgbClr val="333333"/>
                </a:solidFill>
                <a:latin typeface="Open Sans"/>
                <a:ea typeface="Open Sans"/>
                <a:cs typeface="Open Sans"/>
              </a:rPr>
              <a:t>•  после отключения оцените сознание и дыхание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600000" y="1950000"/>
            <a:ext cx="5400000" cy="40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1300" b="0">
                <a:solidFill>
                  <a:srgbClr val="333333"/>
                </a:solidFill>
                <a:latin typeface="Open Sans"/>
                <a:ea typeface="Open Sans"/>
                <a:cs typeface="Open Sans"/>
              </a:rPr>
              <a:t>•  не приближайтесь к проводам</a:t>
            </a:r>
          </a:p>
          <a:p>
            <a:pPr algn="l">
              <a:spcAft>
                <a:spcPts val="800"/>
              </a:spcAft>
            </a:pPr>
            <a:r>
              <a:rPr sz="1300" b="0">
                <a:solidFill>
                  <a:srgbClr val="333333"/>
                </a:solidFill>
                <a:latin typeface="Open Sans"/>
                <a:ea typeface="Open Sans"/>
                <a:cs typeface="Open Sans"/>
              </a:rPr>
              <a:t>•  учитывайте опасность шагового напряжения</a:t>
            </a:r>
          </a:p>
          <a:p>
            <a:pPr algn="l">
              <a:spcAft>
                <a:spcPts val="800"/>
              </a:spcAft>
            </a:pPr>
            <a:r>
              <a:rPr sz="1300" b="0">
                <a:solidFill>
                  <a:srgbClr val="333333"/>
                </a:solidFill>
                <a:latin typeface="Open Sans"/>
                <a:ea typeface="Open Sans"/>
                <a:cs typeface="Open Sans"/>
              </a:rPr>
              <a:t>•  не пытайтесь отключать источник сами</a:t>
            </a:r>
          </a:p>
          <a:p>
            <a:pPr algn="l">
              <a:spcAft>
                <a:spcPts val="800"/>
              </a:spcAft>
            </a:pPr>
            <a:r>
              <a:rPr sz="1300" b="0">
                <a:solidFill>
                  <a:srgbClr val="333333"/>
                </a:solidFill>
                <a:latin typeface="Open Sans"/>
                <a:ea typeface="Open Sans"/>
                <a:cs typeface="Open Sans"/>
              </a:rPr>
              <a:t>•  ждите аварийные службы и специалистов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00000" y="250000"/>
            <a:ext cx="11200000" cy="55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200" b="1">
                <a:solidFill>
                  <a:srgbClr val="333333"/>
                </a:solidFill>
                <a:latin typeface="Open Sans"/>
                <a:ea typeface="Open Sans"/>
                <a:cs typeface="Open Sans"/>
              </a:rPr>
              <a:t>ЧЕМ ОПАСЕН ЭЛЕКТРИЧЕСКИЙ ТОК</a:t>
            </a:r>
          </a:p>
        </p:txBody>
      </p:sp>
      <p:sp>
        <p:nvSpPr>
          <p:cNvPr id="4" name="Rectangle 3"/>
          <p:cNvSpPr/>
          <p:nvPr/>
        </p:nvSpPr>
        <p:spPr>
          <a:xfrm>
            <a:off x="700000" y="850000"/>
            <a:ext cx="9000000" cy="28000"/>
          </a:xfrm>
          <a:prstGeom prst="rect">
            <a:avLst/>
          </a:prstGeom>
          <a:solidFill>
            <a:srgbClr val="5555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00000" y="920000"/>
            <a:ext cx="11000000" cy="35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666666"/>
                </a:solidFill>
                <a:latin typeface="Open Sans"/>
                <a:ea typeface="Open Sans"/>
                <a:cs typeface="Open Sans"/>
              </a:rPr>
              <a:t>Оказание первой помощи при травмах, ранениях и поражениях, прочих состояниях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2800000"/>
            <a:ext cx="420000" cy="420000"/>
          </a:xfrm>
          <a:prstGeom prst="rect">
            <a:avLst/>
          </a:prstGeom>
          <a:solidFill>
            <a:srgbClr val="5555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0" y="2800000"/>
            <a:ext cx="420000" cy="42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Open Sans"/>
                <a:ea typeface="Open Sans"/>
                <a:cs typeface="Open Sans"/>
              </a:rPr>
              <a:t>6</a:t>
            </a:r>
          </a:p>
        </p:txBody>
      </p:sp>
      <p:sp>
        <p:nvSpPr>
          <p:cNvPr id="8" name="Rectangle 7"/>
          <p:cNvSpPr/>
          <p:nvPr/>
        </p:nvSpPr>
        <p:spPr>
          <a:xfrm>
            <a:off x="700000" y="1450000"/>
            <a:ext cx="3500000" cy="4800000"/>
          </a:xfrm>
          <a:prstGeom prst="rect">
            <a:avLst/>
          </a:prstGeom>
          <a:solidFill>
            <a:srgbClr val="FFFFFF"/>
          </a:solidFill>
          <a:ln w="12700">
            <a:solidFill>
              <a:srgbClr val="9999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850000" y="1650000"/>
            <a:ext cx="500000" cy="500000"/>
          </a:xfrm>
          <a:prstGeom prst="ellipse">
            <a:avLst/>
          </a:prstGeom>
          <a:solidFill>
            <a:srgbClr val="5555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50000" y="1650000"/>
            <a:ext cx="500000" cy="50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Open Sans"/>
                <a:ea typeface="Open Sans"/>
                <a:cs typeface="Open Sans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450000" y="1700000"/>
            <a:ext cx="2600000" cy="45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>
                <a:solidFill>
                  <a:srgbClr val="333333"/>
                </a:solidFill>
                <a:latin typeface="Open Sans"/>
                <a:ea typeface="Open Sans"/>
                <a:cs typeface="Open Sans"/>
              </a:rPr>
              <a:t>Остановка сердца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50000" y="2300000"/>
            <a:ext cx="3200000" cy="38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666666"/>
                </a:solidFill>
                <a:latin typeface="Open Sans"/>
                <a:ea typeface="Open Sans"/>
                <a:cs typeface="Open Sans"/>
              </a:rPr>
              <a:t>Будьте готовы начать сердечно-легочную реанимацию.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450000" y="1450000"/>
            <a:ext cx="3500000" cy="4800000"/>
          </a:xfrm>
          <a:prstGeom prst="rect">
            <a:avLst/>
          </a:prstGeom>
          <a:solidFill>
            <a:srgbClr val="FFFFFF"/>
          </a:solidFill>
          <a:ln w="12700">
            <a:solidFill>
              <a:srgbClr val="9999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4600000" y="1650000"/>
            <a:ext cx="500000" cy="500000"/>
          </a:xfrm>
          <a:prstGeom prst="ellipse">
            <a:avLst/>
          </a:prstGeom>
          <a:solidFill>
            <a:srgbClr val="5555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600000" y="1650000"/>
            <a:ext cx="500000" cy="50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Open Sans"/>
                <a:ea typeface="Open Sans"/>
                <a:cs typeface="Open Sans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200000" y="1700000"/>
            <a:ext cx="2600000" cy="45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>
                <a:solidFill>
                  <a:srgbClr val="333333"/>
                </a:solidFill>
                <a:latin typeface="Open Sans"/>
                <a:ea typeface="Open Sans"/>
                <a:cs typeface="Open Sans"/>
              </a:rPr>
              <a:t>Остановка дыхания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600000" y="2300000"/>
            <a:ext cx="3200000" cy="38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666666"/>
                </a:solidFill>
                <a:latin typeface="Open Sans"/>
                <a:ea typeface="Open Sans"/>
                <a:cs typeface="Open Sans"/>
              </a:rPr>
              <a:t>Сразу после отключения тока проверьте дыхание.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8200000" y="1450000"/>
            <a:ext cx="3500000" cy="4800000"/>
          </a:xfrm>
          <a:prstGeom prst="rect">
            <a:avLst/>
          </a:prstGeom>
          <a:solidFill>
            <a:srgbClr val="FFFFFF"/>
          </a:solidFill>
          <a:ln w="12700">
            <a:solidFill>
              <a:srgbClr val="9999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8350000" y="1650000"/>
            <a:ext cx="500000" cy="500000"/>
          </a:xfrm>
          <a:prstGeom prst="ellipse">
            <a:avLst/>
          </a:prstGeom>
          <a:solidFill>
            <a:srgbClr val="5555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350000" y="1650000"/>
            <a:ext cx="500000" cy="50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Open Sans"/>
                <a:ea typeface="Open Sans"/>
                <a:cs typeface="Open Sans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950000" y="1700000"/>
            <a:ext cx="2600000" cy="45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>
                <a:solidFill>
                  <a:srgbClr val="333333"/>
                </a:solidFill>
                <a:latin typeface="Open Sans"/>
                <a:ea typeface="Open Sans"/>
                <a:cs typeface="Open Sans"/>
              </a:rPr>
              <a:t>Ожоги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350000" y="2300000"/>
            <a:ext cx="3200000" cy="38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666666"/>
                </a:solidFill>
                <a:latin typeface="Open Sans"/>
                <a:ea typeface="Open Sans"/>
                <a:cs typeface="Open Sans"/>
              </a:rPr>
              <a:t>Оказывайте помощь по тем же принципам, что при термическом ожоге.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00000" y="250000"/>
            <a:ext cx="11200000" cy="55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200" b="1">
                <a:solidFill>
                  <a:srgbClr val="333333"/>
                </a:solidFill>
                <a:latin typeface="Open Sans"/>
                <a:ea typeface="Open Sans"/>
                <a:cs typeface="Open Sans"/>
              </a:rPr>
              <a:t>ПОРАЖЕНИЕ СОЛНЕЧНЫМ ИЗЛУЧЕНИЕМ</a:t>
            </a:r>
          </a:p>
        </p:txBody>
      </p:sp>
      <p:sp>
        <p:nvSpPr>
          <p:cNvPr id="4" name="Rectangle 3"/>
          <p:cNvSpPr/>
          <p:nvPr/>
        </p:nvSpPr>
        <p:spPr>
          <a:xfrm>
            <a:off x="700000" y="850000"/>
            <a:ext cx="9000000" cy="28000"/>
          </a:xfrm>
          <a:prstGeom prst="rect">
            <a:avLst/>
          </a:prstGeom>
          <a:solidFill>
            <a:srgbClr val="5555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00000" y="920000"/>
            <a:ext cx="11000000" cy="35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666666"/>
                </a:solidFill>
                <a:latin typeface="Open Sans"/>
                <a:ea typeface="Open Sans"/>
                <a:cs typeface="Open Sans"/>
              </a:rPr>
              <a:t>Оказание первой помощи при травмах, ранениях и поражениях, прочих состояниях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2800000"/>
            <a:ext cx="420000" cy="420000"/>
          </a:xfrm>
          <a:prstGeom prst="rect">
            <a:avLst/>
          </a:prstGeom>
          <a:solidFill>
            <a:srgbClr val="5555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0" y="2800000"/>
            <a:ext cx="420000" cy="42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Open Sans"/>
                <a:ea typeface="Open Sans"/>
                <a:cs typeface="Open Sans"/>
              </a:rPr>
              <a:t>7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00000" y="1450000"/>
            <a:ext cx="5400000" cy="4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333333"/>
                </a:solidFill>
                <a:latin typeface="Open Sans"/>
                <a:ea typeface="Open Sans"/>
                <a:cs typeface="Open Sans"/>
              </a:rPr>
              <a:t>Солнечный ожог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600000" y="1450000"/>
            <a:ext cx="5400000" cy="4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333333"/>
                </a:solidFill>
                <a:latin typeface="Open Sans"/>
                <a:ea typeface="Open Sans"/>
                <a:cs typeface="Open Sans"/>
              </a:rPr>
              <a:t>Солнечный удар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00000" y="1950000"/>
            <a:ext cx="5400000" cy="40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1300" b="0">
                <a:solidFill>
                  <a:srgbClr val="333333"/>
                </a:solidFill>
                <a:latin typeface="Open Sans"/>
                <a:ea typeface="Open Sans"/>
                <a:cs typeface="Open Sans"/>
              </a:rPr>
              <a:t>•  уйдите из-под прямого солнца</a:t>
            </a:r>
          </a:p>
          <a:p>
            <a:pPr algn="l">
              <a:spcAft>
                <a:spcPts val="800"/>
              </a:spcAft>
            </a:pPr>
            <a:r>
              <a:rPr sz="1300" b="0">
                <a:solidFill>
                  <a:srgbClr val="333333"/>
                </a:solidFill>
                <a:latin typeface="Open Sans"/>
                <a:ea typeface="Open Sans"/>
                <a:cs typeface="Open Sans"/>
              </a:rPr>
              <a:t>•  охлаждайте кожу</a:t>
            </a:r>
          </a:p>
          <a:p>
            <a:pPr algn="l">
              <a:spcAft>
                <a:spcPts val="800"/>
              </a:spcAft>
            </a:pPr>
            <a:r>
              <a:rPr sz="1300" b="0">
                <a:solidFill>
                  <a:srgbClr val="333333"/>
                </a:solidFill>
                <a:latin typeface="Open Sans"/>
                <a:ea typeface="Open Sans"/>
                <a:cs typeface="Open Sans"/>
              </a:rPr>
              <a:t>•  закройте свободной сухой повязкой</a:t>
            </a:r>
          </a:p>
          <a:p>
            <a:pPr algn="l">
              <a:spcAft>
                <a:spcPts val="800"/>
              </a:spcAft>
            </a:pPr>
            <a:r>
              <a:rPr sz="1300" b="0">
                <a:solidFill>
                  <a:srgbClr val="333333"/>
                </a:solidFill>
                <a:latin typeface="Open Sans"/>
                <a:ea typeface="Open Sans"/>
                <a:cs typeface="Open Sans"/>
              </a:rPr>
              <a:t>•  не вскрывайте пузыри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600000" y="1950000"/>
            <a:ext cx="5400000" cy="40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1300" b="0">
                <a:solidFill>
                  <a:srgbClr val="333333"/>
                </a:solidFill>
                <a:latin typeface="Open Sans"/>
                <a:ea typeface="Open Sans"/>
                <a:cs typeface="Open Sans"/>
              </a:rPr>
              <a:t>•  переместите в тень или прохладу</a:t>
            </a:r>
          </a:p>
          <a:p>
            <a:pPr algn="l">
              <a:spcAft>
                <a:spcPts val="800"/>
              </a:spcAft>
            </a:pPr>
            <a:r>
              <a:rPr sz="1300" b="0">
                <a:solidFill>
                  <a:srgbClr val="333333"/>
                </a:solidFill>
                <a:latin typeface="Open Sans"/>
                <a:ea typeface="Open Sans"/>
                <a:cs typeface="Open Sans"/>
              </a:rPr>
              <a:t>•  охлаждайте голову и тело</a:t>
            </a:r>
          </a:p>
          <a:p>
            <a:pPr algn="l">
              <a:spcAft>
                <a:spcPts val="800"/>
              </a:spcAft>
            </a:pPr>
            <a:r>
              <a:rPr sz="1300" b="0">
                <a:solidFill>
                  <a:srgbClr val="333333"/>
                </a:solidFill>
                <a:latin typeface="Open Sans"/>
                <a:ea typeface="Open Sans"/>
                <a:cs typeface="Open Sans"/>
              </a:rPr>
              <a:t>•  при ясном сознании давайте пить</a:t>
            </a:r>
          </a:p>
          <a:p>
            <a:pPr algn="l">
              <a:spcAft>
                <a:spcPts val="800"/>
              </a:spcAft>
            </a:pPr>
            <a:r>
              <a:rPr sz="1300" b="0">
                <a:solidFill>
                  <a:srgbClr val="333333"/>
                </a:solidFill>
                <a:latin typeface="Open Sans"/>
                <a:ea typeface="Open Sans"/>
                <a:cs typeface="Open Sans"/>
              </a:rPr>
              <a:t>•  без сознания, но при дыхании — уложите на бок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00000" y="250000"/>
            <a:ext cx="11200000" cy="55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200" b="1">
                <a:solidFill>
                  <a:srgbClr val="333333"/>
                </a:solidFill>
                <a:latin typeface="Open Sans"/>
                <a:ea typeface="Open Sans"/>
                <a:cs typeface="Open Sans"/>
              </a:rPr>
              <a:t>ГЛАВНОЕ ЗАПОМНИТЬ</a:t>
            </a:r>
          </a:p>
        </p:txBody>
      </p:sp>
      <p:sp>
        <p:nvSpPr>
          <p:cNvPr id="4" name="Rectangle 3"/>
          <p:cNvSpPr/>
          <p:nvPr/>
        </p:nvSpPr>
        <p:spPr>
          <a:xfrm>
            <a:off x="700000" y="850000"/>
            <a:ext cx="9000000" cy="28000"/>
          </a:xfrm>
          <a:prstGeom prst="rect">
            <a:avLst/>
          </a:prstGeom>
          <a:solidFill>
            <a:srgbClr val="5555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00000" y="920000"/>
            <a:ext cx="11000000" cy="35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666666"/>
                </a:solidFill>
                <a:latin typeface="Open Sans"/>
                <a:ea typeface="Open Sans"/>
                <a:cs typeface="Open Sans"/>
              </a:rPr>
              <a:t>Оказание первой помощи при травмах, ранениях и поражениях, прочих состояниях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2800000"/>
            <a:ext cx="420000" cy="420000"/>
          </a:xfrm>
          <a:prstGeom prst="rect">
            <a:avLst/>
          </a:prstGeom>
          <a:solidFill>
            <a:srgbClr val="5555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0" y="2800000"/>
            <a:ext cx="420000" cy="42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Open Sans"/>
                <a:ea typeface="Open Sans"/>
                <a:cs typeface="Open Sans"/>
              </a:rPr>
              <a:t>8</a:t>
            </a:r>
          </a:p>
        </p:txBody>
      </p:sp>
      <p:sp>
        <p:nvSpPr>
          <p:cNvPr id="8" name="Rectangle 7"/>
          <p:cNvSpPr/>
          <p:nvPr/>
        </p:nvSpPr>
        <p:spPr>
          <a:xfrm>
            <a:off x="700000" y="1450000"/>
            <a:ext cx="11000000" cy="850000"/>
          </a:xfrm>
          <a:prstGeom prst="rect">
            <a:avLst/>
          </a:prstGeom>
          <a:solidFill>
            <a:srgbClr val="FFFFFF"/>
          </a:solidFill>
          <a:ln w="12700">
            <a:solidFill>
              <a:srgbClr val="9999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700000" y="1450000"/>
            <a:ext cx="90000" cy="850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00000" y="1550000"/>
            <a:ext cx="10400000" cy="65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300" b="0">
                <a:solidFill>
                  <a:srgbClr val="333333"/>
                </a:solidFill>
                <a:latin typeface="Open Sans"/>
                <a:ea typeface="Open Sans"/>
                <a:cs typeface="Open Sans"/>
              </a:rPr>
              <a:t>Сначала защитите себя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00000" y="2400000"/>
            <a:ext cx="11000000" cy="850000"/>
          </a:xfrm>
          <a:prstGeom prst="rect">
            <a:avLst/>
          </a:prstGeom>
          <a:solidFill>
            <a:srgbClr val="FFFFFF"/>
          </a:solidFill>
          <a:ln w="12700">
            <a:solidFill>
              <a:srgbClr val="9999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700000" y="2400000"/>
            <a:ext cx="90000" cy="850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000000" y="2500000"/>
            <a:ext cx="10400000" cy="65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300" b="0">
                <a:solidFill>
                  <a:srgbClr val="333333"/>
                </a:solidFill>
                <a:latin typeface="Open Sans"/>
                <a:ea typeface="Open Sans"/>
                <a:cs typeface="Open Sans"/>
              </a:rPr>
              <a:t>Химикат смывайте не менее 20 минут</a:t>
            </a:r>
          </a:p>
        </p:txBody>
      </p:sp>
      <p:sp>
        <p:nvSpPr>
          <p:cNvPr id="14" name="Rectangle 13"/>
          <p:cNvSpPr/>
          <p:nvPr/>
        </p:nvSpPr>
        <p:spPr>
          <a:xfrm>
            <a:off x="700000" y="3350000"/>
            <a:ext cx="11000000" cy="850000"/>
          </a:xfrm>
          <a:prstGeom prst="rect">
            <a:avLst/>
          </a:prstGeom>
          <a:solidFill>
            <a:srgbClr val="FFFFFF"/>
          </a:solidFill>
          <a:ln w="12700">
            <a:solidFill>
              <a:srgbClr val="9999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700000" y="3350000"/>
            <a:ext cx="90000" cy="850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000000" y="3450000"/>
            <a:ext cx="10400000" cy="65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300" b="0">
                <a:solidFill>
                  <a:srgbClr val="333333"/>
                </a:solidFill>
                <a:latin typeface="Open Sans"/>
                <a:ea typeface="Open Sans"/>
                <a:cs typeface="Open Sans"/>
              </a:rPr>
              <a:t>При высоком напряжении ждите специалистов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00000" y="4300000"/>
            <a:ext cx="11000000" cy="850000"/>
          </a:xfrm>
          <a:prstGeom prst="rect">
            <a:avLst/>
          </a:prstGeom>
          <a:solidFill>
            <a:srgbClr val="FFFFFF"/>
          </a:solidFill>
          <a:ln w="12700">
            <a:solidFill>
              <a:srgbClr val="9999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00000" y="4300000"/>
            <a:ext cx="90000" cy="850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000000" y="4400000"/>
            <a:ext cx="10400000" cy="65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300" b="0">
                <a:solidFill>
                  <a:srgbClr val="333333"/>
                </a:solidFill>
                <a:latin typeface="Open Sans"/>
                <a:ea typeface="Open Sans"/>
                <a:cs typeface="Open Sans"/>
              </a:rPr>
              <a:t>После тока проверьте дыхание</a:t>
            </a:r>
          </a:p>
        </p:txBody>
      </p:sp>
      <p:sp>
        <p:nvSpPr>
          <p:cNvPr id="20" name="Rectangle 19"/>
          <p:cNvSpPr/>
          <p:nvPr/>
        </p:nvSpPr>
        <p:spPr>
          <a:xfrm>
            <a:off x="700000" y="5250000"/>
            <a:ext cx="11000000" cy="850000"/>
          </a:xfrm>
          <a:prstGeom prst="rect">
            <a:avLst/>
          </a:prstGeom>
          <a:solidFill>
            <a:srgbClr val="FFFFFF"/>
          </a:solidFill>
          <a:ln w="12700">
            <a:solidFill>
              <a:srgbClr val="9999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700000" y="5250000"/>
            <a:ext cx="90000" cy="850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000000" y="5350000"/>
            <a:ext cx="10400000" cy="65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300" b="0">
                <a:solidFill>
                  <a:srgbClr val="333333"/>
                </a:solidFill>
                <a:latin typeface="Open Sans"/>
                <a:ea typeface="Open Sans"/>
                <a:cs typeface="Open Sans"/>
              </a:rPr>
              <a:t>При солнечном ударе перенесите в тень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00000" y="250000"/>
            <a:ext cx="11200000" cy="55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200" b="1">
                <a:solidFill>
                  <a:srgbClr val="333333"/>
                </a:solidFill>
                <a:latin typeface="Open Sans"/>
                <a:ea typeface="Open Sans"/>
                <a:cs typeface="Open Sans"/>
              </a:rPr>
              <a:t>ПАМЯТКА</a:t>
            </a:r>
          </a:p>
        </p:txBody>
      </p:sp>
      <p:sp>
        <p:nvSpPr>
          <p:cNvPr id="4" name="Rectangle 3"/>
          <p:cNvSpPr/>
          <p:nvPr/>
        </p:nvSpPr>
        <p:spPr>
          <a:xfrm>
            <a:off x="700000" y="850000"/>
            <a:ext cx="9000000" cy="28000"/>
          </a:xfrm>
          <a:prstGeom prst="rect">
            <a:avLst/>
          </a:prstGeom>
          <a:solidFill>
            <a:srgbClr val="5555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00000" y="920000"/>
            <a:ext cx="11000000" cy="35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666666"/>
                </a:solidFill>
                <a:latin typeface="Open Sans"/>
                <a:ea typeface="Open Sans"/>
                <a:cs typeface="Open Sans"/>
              </a:rPr>
              <a:t>Оказание первой помощи при травмах, ранениях и поражениях, прочих состояниях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2800000"/>
            <a:ext cx="420000" cy="420000"/>
          </a:xfrm>
          <a:prstGeom prst="rect">
            <a:avLst/>
          </a:prstGeom>
          <a:solidFill>
            <a:srgbClr val="5555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0" y="2800000"/>
            <a:ext cx="420000" cy="42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Open Sans"/>
                <a:ea typeface="Open Sans"/>
                <a:cs typeface="Open Sans"/>
              </a:rPr>
              <a:t>9</a:t>
            </a:r>
          </a:p>
        </p:txBody>
      </p:sp>
      <p:pic>
        <p:nvPicPr>
          <p:cNvPr id="8" name="Picture 7" descr="pamyatka-tema4-khim-elektro-izluchenie-16x9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00000" y="1400000"/>
            <a:ext cx="7800000" cy="520000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3400000" cy="6858000"/>
          </a:xfrm>
          <a:prstGeom prst="rect">
            <a:avLst/>
          </a:prstGeom>
          <a:solidFill>
            <a:srgbClr val="DDDD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3400000" y="0"/>
            <a:ext cx="8800000" cy="6858000"/>
          </a:xfrm>
          <a:prstGeom prst="rect">
            <a:avLst/>
          </a:prstGeom>
          <a:solidFill>
            <a:srgbClr val="F8F8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000000" y="3000000"/>
            <a:ext cx="7500000" cy="100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3000" b="1">
                <a:solidFill>
                  <a:srgbClr val="333333"/>
                </a:solidFill>
                <a:latin typeface="Open Sans"/>
                <a:ea typeface="Open Sans"/>
                <a:cs typeface="Open Sans"/>
              </a:rPr>
              <a:t>БЛАГОДАРИМ ЗА ВНИМАНИЕ</a:t>
            </a:r>
          </a:p>
        </p:txBody>
      </p:sp>
      <p:sp>
        <p:nvSpPr>
          <p:cNvPr id="5" name="Rectangle 4"/>
          <p:cNvSpPr/>
          <p:nvPr/>
        </p:nvSpPr>
        <p:spPr>
          <a:xfrm>
            <a:off x="4000000" y="4100000"/>
            <a:ext cx="4500000" cy="30000"/>
          </a:xfrm>
          <a:prstGeom prst="rect">
            <a:avLst/>
          </a:prstGeom>
          <a:solidFill>
            <a:srgbClr val="3333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