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00000" y="0"/>
            <a:ext cx="34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00000"/>
            <a:ext cx="2800000" cy="1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3000000"/>
            <a:ext cx="78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ОТРАВЛЕНИЯ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4700000"/>
            <a:ext cx="52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4900000"/>
            <a:ext cx="75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Тема 4 · Травмы, ранения, поражения и прочие состояния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5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5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00000" y="15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000" y="15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Пути поступления яда</a:t>
            </a:r>
          </a:p>
        </p:txBody>
      </p:sp>
      <p:sp>
        <p:nvSpPr>
          <p:cNvPr id="12" name="Oval 11"/>
          <p:cNvSpPr/>
          <p:nvPr/>
        </p:nvSpPr>
        <p:spPr>
          <a:xfrm>
            <a:off x="700000" y="240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24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0000" y="240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000" y="240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Проявления</a:t>
            </a:r>
          </a:p>
        </p:txBody>
      </p:sp>
      <p:sp>
        <p:nvSpPr>
          <p:cNvPr id="16" name="Oval 15"/>
          <p:cNvSpPr/>
          <p:nvPr/>
        </p:nvSpPr>
        <p:spPr>
          <a:xfrm>
            <a:off x="700000" y="32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000" y="32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0000" y="32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000" y="32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Общие принципы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410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41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0000" y="410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000" y="410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Особенности удаления яда</a:t>
            </a:r>
          </a:p>
        </p:txBody>
      </p:sp>
      <p:sp>
        <p:nvSpPr>
          <p:cNvPr id="24" name="Oval 23"/>
          <p:cNvSpPr/>
          <p:nvPr/>
        </p:nvSpPr>
        <p:spPr>
          <a:xfrm>
            <a:off x="700000" y="49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00" y="49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00000" y="49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000" y="49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Контроль и передача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ЧТО ОПРЕДЕЛЯЕТ ТЯЖЕСТЬ ОТРАВЛЕНИЯ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500000"/>
            <a:ext cx="11000000" cy="4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Отравление — нарушение здоровья при поступлении токсичного вещества в организм. Проявления и тяжесть зависят от вида вещества, его количества и концентрации, пути поступления, продолжительности воздействия, возраста и состояния пострадавшего.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5600000"/>
            <a:ext cx="11000000" cy="10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00" y="5800000"/>
            <a:ext cx="105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Даже при отсутствии признаков состояние может ухудшиться позднее, поэтому важны ранний вызов и наблюдение.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ЧЕТЫРЕ ПУТИ ПОСТУПЛЕНИЯ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1400000"/>
            <a:ext cx="5400000" cy="2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0000" y="1550000"/>
            <a:ext cx="450000" cy="4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1550000"/>
            <a:ext cx="45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0000" y="1580000"/>
            <a:ext cx="46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Через рот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" y="2100000"/>
            <a:ext cx="5160000" cy="15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Пища, напитки, лекарства, алкоголь, растения, бытовая химия и другие проглоченные вещества.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400000"/>
            <a:ext cx="5400000" cy="2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0000" y="1550000"/>
            <a:ext cx="450000" cy="4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0000" y="1550000"/>
            <a:ext cx="45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0000" y="1580000"/>
            <a:ext cx="46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Через дыхание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0000" y="2100000"/>
            <a:ext cx="5160000" cy="15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Угарный газ, дым, пары растворителей, бытовой газ, производственные газы и аэрозоли.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0000" y="3980000"/>
            <a:ext cx="5400000" cy="2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0000" y="4130000"/>
            <a:ext cx="450000" cy="4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0000" y="4130000"/>
            <a:ext cx="45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0000" y="4160000"/>
            <a:ext cx="46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Через кожу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000" y="4680000"/>
            <a:ext cx="5160000" cy="15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Жидкости, порошки и растворы, способные повреждать кожу или всасываться через нее.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0000" y="3980000"/>
            <a:ext cx="5400000" cy="2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20000" y="4130000"/>
            <a:ext cx="450000" cy="4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0000" y="4130000"/>
            <a:ext cx="45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50000" y="4160000"/>
            <a:ext cx="46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введении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0000" y="4680000"/>
            <a:ext cx="5160000" cy="15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Инъекция, укус животного, змеи или насекомого, при которых вещество попадает в ткани.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ВОЗМОЖНЫЕ ПРОЯВЛЕНИЯ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00000"/>
            <a:ext cx="5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Общие признаки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400000"/>
            <a:ext cx="5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Местные и пищеварительные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1850000"/>
            <a:ext cx="5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слабость, головная боль и головокружение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бледность, потливость или изменение цвета кожи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возбуждение, сонливость, спутанность или потеря сознания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нарушение дыхания, судороги и расстройство координации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000" y="1850000"/>
            <a:ext cx="5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тошнота, рвота, боль в животе и нарушение стула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необычный запах изо рта или в помещении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ожоги, пятна и следы вещества около рта или на коже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боль, покраснение, отек в месте укуса или введения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ОБЩИЕ ПРИНЦИПЫ ПЕРВОЙ ПОМОЩИ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400000"/>
            <a:ext cx="500000" cy="50000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4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00000" y="14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000" y="14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Оцените опасность вещества для себя, окружающих и пострадавшего.</a:t>
            </a:r>
          </a:p>
        </p:txBody>
      </p:sp>
      <p:sp>
        <p:nvSpPr>
          <p:cNvPr id="12" name="Oval 11"/>
          <p:cNvSpPr/>
          <p:nvPr/>
        </p:nvSpPr>
        <p:spPr>
          <a:xfrm>
            <a:off x="700000" y="21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21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0000" y="21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000" y="21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Прекратите поступление яда безопасным для выбранного пути способом.</a:t>
            </a:r>
          </a:p>
        </p:txBody>
      </p:sp>
      <p:sp>
        <p:nvSpPr>
          <p:cNvPr id="16" name="Oval 15"/>
          <p:cNvSpPr/>
          <p:nvPr/>
        </p:nvSpPr>
        <p:spPr>
          <a:xfrm>
            <a:off x="700000" y="28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000" y="28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0000" y="28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000" y="28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Выясните вещество, количество, путь поступления и время воздействия.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35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35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0000" y="35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000" y="35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Оцените сознание и нормальное дыхание; будьте готовы к реанимации.</a:t>
            </a:r>
          </a:p>
        </p:txBody>
      </p:sp>
      <p:sp>
        <p:nvSpPr>
          <p:cNvPr id="24" name="Oval 23"/>
          <p:cNvSpPr/>
          <p:nvPr/>
        </p:nvSpPr>
        <p:spPr>
          <a:xfrm>
            <a:off x="700000" y="42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00" y="42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00000" y="42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000" y="42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Вызовите скорую медицинскую помощь и выполняйте указания диспетчера.</a:t>
            </a:r>
          </a:p>
        </p:txBody>
      </p:sp>
      <p:sp>
        <p:nvSpPr>
          <p:cNvPr id="28" name="Oval 27"/>
          <p:cNvSpPr/>
          <p:nvPr/>
        </p:nvSpPr>
        <p:spPr>
          <a:xfrm>
            <a:off x="700000" y="49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0000" y="49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00000" y="49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00000" y="49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Сохраните упаковку, этикетку, образец или фотографию вещества.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0000" y="5800000"/>
            <a:ext cx="11000000" cy="9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000" y="6000000"/>
            <a:ext cx="10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 пробуйте вещество на вкус и не входите в загрязненную зону без подходящей защиты.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ЕСЛИ ЯД ПОСТУПИЛ ЧЕРЕЗ РОТ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50000"/>
            <a:ext cx="110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Удалите остатки вещества изо рта и предложите прополоскать рот водой.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Уточните название, примерное количество и время приема.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давайте «противоядия», лекарства, молоко или пищу по собственной инициативе.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Рвоту допустимо вызывать только у человека в полном сознании и когда это разрешено для данного вещества.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Следуйте указаниям диспетчера скорой помощи или специалиста токсикологической службы.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После рвоты продолжайте контролировать сознание и дыхание.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5600000"/>
            <a:ext cx="11000000" cy="10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00" y="5800000"/>
            <a:ext cx="105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Самопроизвольные рвотные массы сохраните для осмотра только если это можно сделать безопасно.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РВОТУ ВЫЗЫВАТЬ НЕЛЬЗЯ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50000"/>
            <a:ext cx="110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Пострадавший без сознания, резко заторможен или не может безопасно глотать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Есть судороги или высокая вероятность их возникновения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Проглочены кислота, щелочь или другое прижигающее вещество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Проглочены нефтепродукты, способные попасть в дыхательные пути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Неизвестно, какое вещество принято, или диспетчер запретил вызывать рвоту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5600000"/>
            <a:ext cx="11000000" cy="10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00" y="5800000"/>
            <a:ext cx="105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Попадание рвотных масс или химиката в дыхательные пути может быстро привести к тяжелому поражению.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ОТРАВЛЕНИЕ ЧЕРЕЗ ДЫХАТЕЛЬНЫЕ ПУТИ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9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400000"/>
            <a:ext cx="500000" cy="50000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4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00000" y="14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000" y="14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 входите в помещение или зону, где воздух опасен, без специальной защиты.</a:t>
            </a:r>
          </a:p>
        </p:txBody>
      </p:sp>
      <p:sp>
        <p:nvSpPr>
          <p:cNvPr id="12" name="Oval 11"/>
          <p:cNvSpPr/>
          <p:nvPr/>
        </p:nvSpPr>
        <p:spPr>
          <a:xfrm>
            <a:off x="700000" y="21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21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0000" y="21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000" y="21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Вызовите аварийные службы и скорую медицинскую помощь.</a:t>
            </a:r>
          </a:p>
        </p:txBody>
      </p:sp>
      <p:sp>
        <p:nvSpPr>
          <p:cNvPr id="16" name="Oval 15"/>
          <p:cNvSpPr/>
          <p:nvPr/>
        </p:nvSpPr>
        <p:spPr>
          <a:xfrm>
            <a:off x="700000" y="28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000" y="28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0000" y="28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000" y="28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Если это безопасно, прекратите источник и обеспечьте проветривание.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35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35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0000" y="35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000" y="35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Выведите или вынесите пострадавшего на свежий воздух.</a:t>
            </a:r>
          </a:p>
        </p:txBody>
      </p:sp>
      <p:sp>
        <p:nvSpPr>
          <p:cNvPr id="24" name="Oval 23"/>
          <p:cNvSpPr/>
          <p:nvPr/>
        </p:nvSpPr>
        <p:spPr>
          <a:xfrm>
            <a:off x="700000" y="42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00" y="42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00000" y="42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000" y="42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Ослабьте стесняющую одежду и оцените сознание и дыхание.</a:t>
            </a:r>
          </a:p>
        </p:txBody>
      </p:sp>
      <p:sp>
        <p:nvSpPr>
          <p:cNvPr id="28" name="Oval 27"/>
          <p:cNvSpPr/>
          <p:nvPr/>
        </p:nvSpPr>
        <p:spPr>
          <a:xfrm>
            <a:off x="700000" y="49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0000" y="49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00000" y="49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00000" y="49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отсутствии нормального дыхания начинайте реанимацию, учитывая безопасность вдохов.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0000" y="5800000"/>
            <a:ext cx="11000000" cy="9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000" y="6000000"/>
            <a:ext cx="10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угарном газе обычная тканевая маска не защищает оказывающего помощь.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ЯД НА КОЖЕ ИЛИ В ГЛАЗАХ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10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400000"/>
            <a:ext cx="500000" cy="50000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4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00000" y="14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000" y="14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Наденьте перчатки и исключите прямой контакт с веществом.</a:t>
            </a:r>
          </a:p>
        </p:txBody>
      </p:sp>
      <p:sp>
        <p:nvSpPr>
          <p:cNvPr id="12" name="Oval 11"/>
          <p:cNvSpPr/>
          <p:nvPr/>
        </p:nvSpPr>
        <p:spPr>
          <a:xfrm>
            <a:off x="700000" y="21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21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0000" y="21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000" y="21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Снимите загрязненную одежду, обувь и украшения.</a:t>
            </a:r>
          </a:p>
        </p:txBody>
      </p:sp>
      <p:sp>
        <p:nvSpPr>
          <p:cNvPr id="16" name="Oval 15"/>
          <p:cNvSpPr/>
          <p:nvPr/>
        </p:nvSpPr>
        <p:spPr>
          <a:xfrm>
            <a:off x="700000" y="28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000" y="28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0000" y="28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000" y="28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Сухой порошок осторожно удалите до промывания.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35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35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0000" y="35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000" y="35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Промывайте кожу большим количеством проточной воды.</a:t>
            </a:r>
          </a:p>
        </p:txBody>
      </p:sp>
      <p:sp>
        <p:nvSpPr>
          <p:cNvPr id="24" name="Oval 23"/>
          <p:cNvSpPr/>
          <p:nvPr/>
        </p:nvSpPr>
        <p:spPr>
          <a:xfrm>
            <a:off x="700000" y="42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00" y="42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00000" y="42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000" y="42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Глаз промывайте от внутреннего угла к наружному, удерживая веки открытыми.</a:t>
            </a:r>
          </a:p>
        </p:txBody>
      </p:sp>
      <p:sp>
        <p:nvSpPr>
          <p:cNvPr id="28" name="Oval 27"/>
          <p:cNvSpPr/>
          <p:nvPr/>
        </p:nvSpPr>
        <p:spPr>
          <a:xfrm>
            <a:off x="700000" y="49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0000" y="49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00000" y="49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00000" y="49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После удаления вещества закройте поврежденную кожу свободной повязкой.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0000" y="5800000"/>
            <a:ext cx="11000000" cy="9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000" y="6000000"/>
            <a:ext cx="10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 растирайте кожу и не смешивайте химикаты в попытке нейтрализации.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УКУС, УЖАЛИВАНИЕ ИЛИ ИНЪЕКЦИЯ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50000"/>
            <a:ext cx="110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Обеспечьте безопасность и не касайтесь использованной иглы.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Оцените место введения, общее состояние, сознание и дыхание.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Обеспечьте покой и ограничьте движение поврежденной части.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укусе или ужаливании приложите холод через ткань.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разрезайте, не прижигайте рану и не высасывайте содержимое.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Сообщите специалистам время, обстоятельства и известное вещество.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НАБЛЮДЕНИЕ ДО ПЕРЕДАЧИ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50000"/>
            <a:ext cx="110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Регулярно проверяйте сознание и характер дыхания.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нормальном дыхании у человека без сознания поддерживайте боковое положение.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отсутствии нормального дыхания немедленно начинайте реанимацию.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оставляйте пострадавшего одного и не разрешайте ему самостоятельно идти.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Отмечайте время появления и усиления каждого признака.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Передайте бригаде упаковку вещества и сведения обо всех выполненных действиях.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145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145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1530000"/>
            <a:ext cx="10400000" cy="6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Прекратите действие яда, не подвергая себя опасности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238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238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2460000"/>
            <a:ext cx="10400000" cy="6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Узнайте: какое вещество, сколько, каким путем и когда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331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331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0000" y="3390000"/>
            <a:ext cx="10400000" cy="6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Оцените сознание и дыхание, вызовите скорую помощь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000" y="424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0000" y="424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0000" y="4320000"/>
            <a:ext cx="10400000" cy="6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Без сознания и при ожоге пищевода рвоту не вызывают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000" y="517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0000" y="517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0000" y="5250000"/>
            <a:ext cx="10400000" cy="6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Сохраните упаковку или сведения о веществе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ПАМЯТКА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14</a:t>
            </a:r>
          </a:p>
        </p:txBody>
      </p:sp>
      <p:pic>
        <p:nvPicPr>
          <p:cNvPr id="8" name="Picture 7" descr="pamyatka-tema4-otravleniya-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000" y="1400000"/>
            <a:ext cx="7800000" cy="52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00000" y="0"/>
            <a:ext cx="880000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0" y="3000000"/>
            <a:ext cx="75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000" y="4100000"/>
            <a:ext cx="45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