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800000" y="0"/>
            <a:ext cx="3400000" cy="68580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800000"/>
            <a:ext cx="2800000" cy="18000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0000" y="3000000"/>
            <a:ext cx="78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ОТРАВЛЕНИЯ</a:t>
            </a:r>
          </a:p>
        </p:txBody>
      </p:sp>
      <p:sp>
        <p:nvSpPr>
          <p:cNvPr id="6" name="Rectangle 5"/>
          <p:cNvSpPr/>
          <p:nvPr/>
        </p:nvSpPr>
        <p:spPr>
          <a:xfrm>
            <a:off x="700000" y="4700000"/>
            <a:ext cx="5200000" cy="300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4900000"/>
            <a:ext cx="7500000" cy="4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66666"/>
                </a:solidFill>
                <a:latin typeface="Open Sans"/>
                <a:ea typeface="Open Sans"/>
                <a:cs typeface="Open Sans"/>
              </a:rPr>
              <a:t>Тема 4 · Травмы, ранения, поражения и прочие состояния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0000" y="250000"/>
            <a:ext cx="11200000" cy="5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СОДЕРЖАНИЕ</a:t>
            </a:r>
          </a:p>
        </p:txBody>
      </p:sp>
      <p:sp>
        <p:nvSpPr>
          <p:cNvPr id="4" name="Rectangle 3"/>
          <p:cNvSpPr/>
          <p:nvPr/>
        </p:nvSpPr>
        <p:spPr>
          <a:xfrm>
            <a:off x="700000" y="850000"/>
            <a:ext cx="9000000" cy="28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0000" y="920000"/>
            <a:ext cx="11000000" cy="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Open Sans"/>
                <a:ea typeface="Open Sans"/>
                <a:cs typeface="Open Sans"/>
              </a:rPr>
              <a:t>Оказание первой помощи при травмах, ранениях и поражениях, прочих состояниях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2800000"/>
            <a:ext cx="420000" cy="420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2800000"/>
            <a:ext cx="420000" cy="4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2</a:t>
            </a:r>
          </a:p>
        </p:txBody>
      </p:sp>
      <p:sp>
        <p:nvSpPr>
          <p:cNvPr id="8" name="Oval 7"/>
          <p:cNvSpPr/>
          <p:nvPr/>
        </p:nvSpPr>
        <p:spPr>
          <a:xfrm>
            <a:off x="700000" y="1550000"/>
            <a:ext cx="520000" cy="520000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0000" y="1550000"/>
            <a:ext cx="520000" cy="5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1</a:t>
            </a:r>
          </a:p>
        </p:txBody>
      </p:sp>
      <p:sp>
        <p:nvSpPr>
          <p:cNvPr id="10" name="Rectangle 9"/>
          <p:cNvSpPr/>
          <p:nvPr/>
        </p:nvSpPr>
        <p:spPr>
          <a:xfrm>
            <a:off x="1400000" y="1550000"/>
            <a:ext cx="10000000" cy="5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600000" y="1550000"/>
            <a:ext cx="9600000" cy="5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Что такое отравление</a:t>
            </a:r>
          </a:p>
        </p:txBody>
      </p:sp>
      <p:sp>
        <p:nvSpPr>
          <p:cNvPr id="12" name="Oval 11"/>
          <p:cNvSpPr/>
          <p:nvPr/>
        </p:nvSpPr>
        <p:spPr>
          <a:xfrm>
            <a:off x="700000" y="2400000"/>
            <a:ext cx="520000" cy="520000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0000" y="2400000"/>
            <a:ext cx="520000" cy="5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400000" y="2400000"/>
            <a:ext cx="10000000" cy="5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600000" y="2400000"/>
            <a:ext cx="9600000" cy="5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Пути поступления</a:t>
            </a:r>
          </a:p>
        </p:txBody>
      </p:sp>
      <p:sp>
        <p:nvSpPr>
          <p:cNvPr id="16" name="Oval 15"/>
          <p:cNvSpPr/>
          <p:nvPr/>
        </p:nvSpPr>
        <p:spPr>
          <a:xfrm>
            <a:off x="700000" y="3250000"/>
            <a:ext cx="520000" cy="520000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0000" y="3250000"/>
            <a:ext cx="520000" cy="5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400000" y="3250000"/>
            <a:ext cx="10000000" cy="5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00000" y="3250000"/>
            <a:ext cx="9600000" cy="5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Признаки</a:t>
            </a:r>
          </a:p>
        </p:txBody>
      </p:sp>
      <p:sp>
        <p:nvSpPr>
          <p:cNvPr id="20" name="Oval 19"/>
          <p:cNvSpPr/>
          <p:nvPr/>
        </p:nvSpPr>
        <p:spPr>
          <a:xfrm>
            <a:off x="700000" y="4100000"/>
            <a:ext cx="520000" cy="520000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0000" y="4100000"/>
            <a:ext cx="520000" cy="5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400000" y="4100000"/>
            <a:ext cx="10000000" cy="5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600000" y="4100000"/>
            <a:ext cx="9600000" cy="5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Общий порядок</a:t>
            </a:r>
          </a:p>
        </p:txBody>
      </p:sp>
      <p:sp>
        <p:nvSpPr>
          <p:cNvPr id="24" name="Oval 23"/>
          <p:cNvSpPr/>
          <p:nvPr/>
        </p:nvSpPr>
        <p:spPr>
          <a:xfrm>
            <a:off x="700000" y="4950000"/>
            <a:ext cx="520000" cy="520000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00000" y="4950000"/>
            <a:ext cx="520000" cy="5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5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400000" y="4950000"/>
            <a:ext cx="10000000" cy="5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600000" y="4950000"/>
            <a:ext cx="9600000" cy="5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Особенности помощи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0000" y="250000"/>
            <a:ext cx="11200000" cy="5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ЧТО ТАКОЕ ОТРАВЛЕНИЕ</a:t>
            </a:r>
          </a:p>
        </p:txBody>
      </p:sp>
      <p:sp>
        <p:nvSpPr>
          <p:cNvPr id="4" name="Rectangle 3"/>
          <p:cNvSpPr/>
          <p:nvPr/>
        </p:nvSpPr>
        <p:spPr>
          <a:xfrm>
            <a:off x="700000" y="850000"/>
            <a:ext cx="9000000" cy="28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0000" y="920000"/>
            <a:ext cx="11000000" cy="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Open Sans"/>
                <a:ea typeface="Open Sans"/>
                <a:cs typeface="Open Sans"/>
              </a:rPr>
              <a:t>Оказание первой помощи при травмах, ранениях и поражениях, прочих состояниях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2800000"/>
            <a:ext cx="420000" cy="420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2800000"/>
            <a:ext cx="420000" cy="4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0000" y="1600000"/>
            <a:ext cx="11000000" cy="4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Отравление — нарушение здоровья из-за попадания в организм токсичного вещества. Тяжесть зависит от вещества, дозы, пути поступления и времени воздействия.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0000" y="250000"/>
            <a:ext cx="11200000" cy="5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ЧЕТЫРЕ ПУТИ ПОСТУПЛЕНИЯ ЯДА</a:t>
            </a:r>
          </a:p>
        </p:txBody>
      </p:sp>
      <p:sp>
        <p:nvSpPr>
          <p:cNvPr id="4" name="Rectangle 3"/>
          <p:cNvSpPr/>
          <p:nvPr/>
        </p:nvSpPr>
        <p:spPr>
          <a:xfrm>
            <a:off x="700000" y="850000"/>
            <a:ext cx="9000000" cy="28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0000" y="920000"/>
            <a:ext cx="11000000" cy="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Open Sans"/>
                <a:ea typeface="Open Sans"/>
                <a:cs typeface="Open Sans"/>
              </a:rPr>
              <a:t>Оказание первой помощи при травмах, ранениях и поражениях, прочих состояниях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2800000"/>
            <a:ext cx="420000" cy="420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2800000"/>
            <a:ext cx="420000" cy="4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4</a:t>
            </a:r>
          </a:p>
        </p:txBody>
      </p:sp>
      <p:sp>
        <p:nvSpPr>
          <p:cNvPr id="8" name="Rectangle 7"/>
          <p:cNvSpPr/>
          <p:nvPr/>
        </p:nvSpPr>
        <p:spPr>
          <a:xfrm>
            <a:off x="700000" y="1450000"/>
            <a:ext cx="5375000" cy="23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50000" y="1650000"/>
            <a:ext cx="500000" cy="500000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0000" y="1650000"/>
            <a:ext cx="50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50000" y="1700000"/>
            <a:ext cx="4475000" cy="4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Через пищеварительный тракт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000" y="2300000"/>
            <a:ext cx="5075000" cy="1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Open Sans"/>
                <a:ea typeface="Open Sans"/>
                <a:cs typeface="Open Sans"/>
              </a:rPr>
              <a:t>Пища, напитки, лекарства, бытовая химия.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25000" y="1450000"/>
            <a:ext cx="5375000" cy="23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75000" y="1650000"/>
            <a:ext cx="500000" cy="500000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5000" y="1650000"/>
            <a:ext cx="50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75000" y="1700000"/>
            <a:ext cx="4475000" cy="4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Через дыхательные пути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75000" y="2300000"/>
            <a:ext cx="5075000" cy="1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Open Sans"/>
                <a:ea typeface="Open Sans"/>
                <a:cs typeface="Open Sans"/>
              </a:rPr>
              <a:t>Газы, пары, дым и аэрозоли.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00000" y="3950000"/>
            <a:ext cx="5375000" cy="23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50000" y="4150000"/>
            <a:ext cx="500000" cy="500000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0000" y="4150000"/>
            <a:ext cx="50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50000" y="4200000"/>
            <a:ext cx="4475000" cy="4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Через кожу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000" y="4800000"/>
            <a:ext cx="5075000" cy="1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Open Sans"/>
                <a:ea typeface="Open Sans"/>
                <a:cs typeface="Open Sans"/>
              </a:rPr>
              <a:t>Жидкости и вещества на коже или одежде.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25000" y="3950000"/>
            <a:ext cx="5375000" cy="23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75000" y="4150000"/>
            <a:ext cx="500000" cy="500000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75000" y="4150000"/>
            <a:ext cx="50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75000" y="4200000"/>
            <a:ext cx="4475000" cy="4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При введении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75000" y="4800000"/>
            <a:ext cx="5075000" cy="1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Open Sans"/>
                <a:ea typeface="Open Sans"/>
                <a:cs typeface="Open Sans"/>
              </a:rPr>
              <a:t>Инъекции, укусы и ужаливания.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0000" y="250000"/>
            <a:ext cx="11200000" cy="5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ВОЗМОЖНЫЕ ПРИЗНАКИ</a:t>
            </a:r>
          </a:p>
        </p:txBody>
      </p:sp>
      <p:sp>
        <p:nvSpPr>
          <p:cNvPr id="4" name="Rectangle 3"/>
          <p:cNvSpPr/>
          <p:nvPr/>
        </p:nvSpPr>
        <p:spPr>
          <a:xfrm>
            <a:off x="700000" y="850000"/>
            <a:ext cx="9000000" cy="28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0000" y="920000"/>
            <a:ext cx="11000000" cy="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Open Sans"/>
                <a:ea typeface="Open Sans"/>
                <a:cs typeface="Open Sans"/>
              </a:rPr>
              <a:t>Оказание первой помощи при травмах, ранениях и поражениях, прочих состояниях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2800000"/>
            <a:ext cx="420000" cy="420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2800000"/>
            <a:ext cx="420000" cy="4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0000" y="1500000"/>
            <a:ext cx="11000000" cy="4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тошнота, рвота, боль в животе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головная боль, слабость, головокружение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необычное возбуждение или сонливость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затрудненное дыхание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судороги или потеря сознания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ожоги и следы вещества на коже или у рта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00000" y="5600000"/>
            <a:ext cx="11000000" cy="1000000"/>
          </a:xfrm>
          <a:prstGeom prst="roundRect">
            <a:avLst/>
          </a:prstGeom>
          <a:solidFill>
            <a:srgbClr val="F5F0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0000" y="5800000"/>
            <a:ext cx="105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Признаки зависят от вещества и могут быстро усиливаться.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0000" y="250000"/>
            <a:ext cx="11200000" cy="5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ОБЩИЕ ПРИНЦИПЫ ПОМОЩИ</a:t>
            </a:r>
          </a:p>
        </p:txBody>
      </p:sp>
      <p:sp>
        <p:nvSpPr>
          <p:cNvPr id="4" name="Rectangle 3"/>
          <p:cNvSpPr/>
          <p:nvPr/>
        </p:nvSpPr>
        <p:spPr>
          <a:xfrm>
            <a:off x="700000" y="850000"/>
            <a:ext cx="9000000" cy="28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0000" y="920000"/>
            <a:ext cx="11000000" cy="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Open Sans"/>
                <a:ea typeface="Open Sans"/>
                <a:cs typeface="Open Sans"/>
              </a:rPr>
              <a:t>Оказание первой помощи при травмах, ранениях и поражениях, прочих состояниях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2800000"/>
            <a:ext cx="420000" cy="420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2800000"/>
            <a:ext cx="420000" cy="4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6</a:t>
            </a:r>
          </a:p>
        </p:txBody>
      </p:sp>
      <p:sp>
        <p:nvSpPr>
          <p:cNvPr id="8" name="Oval 7"/>
          <p:cNvSpPr/>
          <p:nvPr/>
        </p:nvSpPr>
        <p:spPr>
          <a:xfrm>
            <a:off x="700000" y="1450000"/>
            <a:ext cx="550000" cy="550000"/>
          </a:xfrm>
          <a:prstGeom prst="ellipse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0000" y="1450000"/>
            <a:ext cx="550000" cy="55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1</a:t>
            </a:r>
          </a:p>
        </p:txBody>
      </p:sp>
      <p:sp>
        <p:nvSpPr>
          <p:cNvPr id="10" name="Rectangle 9"/>
          <p:cNvSpPr/>
          <p:nvPr/>
        </p:nvSpPr>
        <p:spPr>
          <a:xfrm>
            <a:off x="1450000" y="1450000"/>
            <a:ext cx="10500000" cy="55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650000" y="1450000"/>
            <a:ext cx="10100000" cy="55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Обеспечьте безопасность и прекратите воздействие яда.</a:t>
            </a:r>
          </a:p>
        </p:txBody>
      </p:sp>
      <p:sp>
        <p:nvSpPr>
          <p:cNvPr id="12" name="Oval 11"/>
          <p:cNvSpPr/>
          <p:nvPr/>
        </p:nvSpPr>
        <p:spPr>
          <a:xfrm>
            <a:off x="700000" y="2320000"/>
            <a:ext cx="550000" cy="550000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0000" y="2320000"/>
            <a:ext cx="550000" cy="55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450000" y="2320000"/>
            <a:ext cx="10500000" cy="55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650000" y="2320000"/>
            <a:ext cx="10100000" cy="55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Выясните: что за вещество, сколько попало и когда.</a:t>
            </a:r>
          </a:p>
        </p:txBody>
      </p:sp>
      <p:sp>
        <p:nvSpPr>
          <p:cNvPr id="16" name="Oval 15"/>
          <p:cNvSpPr/>
          <p:nvPr/>
        </p:nvSpPr>
        <p:spPr>
          <a:xfrm>
            <a:off x="700000" y="3190000"/>
            <a:ext cx="550000" cy="550000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0000" y="3190000"/>
            <a:ext cx="550000" cy="55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450000" y="3190000"/>
            <a:ext cx="10500000" cy="55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50000" y="3190000"/>
            <a:ext cx="10100000" cy="55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Удалите яд безопасным способом.</a:t>
            </a:r>
          </a:p>
        </p:txBody>
      </p:sp>
      <p:sp>
        <p:nvSpPr>
          <p:cNvPr id="20" name="Oval 19"/>
          <p:cNvSpPr/>
          <p:nvPr/>
        </p:nvSpPr>
        <p:spPr>
          <a:xfrm>
            <a:off x="700000" y="4060000"/>
            <a:ext cx="550000" cy="550000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0000" y="4060000"/>
            <a:ext cx="550000" cy="55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450000" y="4060000"/>
            <a:ext cx="10500000" cy="55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650000" y="4060000"/>
            <a:ext cx="10100000" cy="55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Оцените сознание и дыхание.</a:t>
            </a:r>
          </a:p>
        </p:txBody>
      </p:sp>
      <p:sp>
        <p:nvSpPr>
          <p:cNvPr id="24" name="Oval 23"/>
          <p:cNvSpPr/>
          <p:nvPr/>
        </p:nvSpPr>
        <p:spPr>
          <a:xfrm>
            <a:off x="700000" y="4930000"/>
            <a:ext cx="550000" cy="550000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00000" y="4930000"/>
            <a:ext cx="550000" cy="55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5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450000" y="4930000"/>
            <a:ext cx="10500000" cy="55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650000" y="4930000"/>
            <a:ext cx="10100000" cy="55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Вызовите скорую медицинскую помощь.</a:t>
            </a:r>
          </a:p>
        </p:txBody>
      </p:sp>
      <p:sp>
        <p:nvSpPr>
          <p:cNvPr id="28" name="Oval 27"/>
          <p:cNvSpPr/>
          <p:nvPr/>
        </p:nvSpPr>
        <p:spPr>
          <a:xfrm>
            <a:off x="700000" y="5800000"/>
            <a:ext cx="550000" cy="550000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00000" y="5800000"/>
            <a:ext cx="550000" cy="55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6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450000" y="5800000"/>
            <a:ext cx="10500000" cy="55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650000" y="5800000"/>
            <a:ext cx="10100000" cy="55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Сохраните упаковку или сведения о веществе.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0000" y="250000"/>
            <a:ext cx="11200000" cy="5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ЯД ПОСТУПИЛ ЧЕРЕЗ РОТ</a:t>
            </a:r>
          </a:p>
        </p:txBody>
      </p:sp>
      <p:sp>
        <p:nvSpPr>
          <p:cNvPr id="4" name="Rectangle 3"/>
          <p:cNvSpPr/>
          <p:nvPr/>
        </p:nvSpPr>
        <p:spPr>
          <a:xfrm>
            <a:off x="700000" y="850000"/>
            <a:ext cx="9000000" cy="28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0000" y="920000"/>
            <a:ext cx="11000000" cy="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Open Sans"/>
                <a:ea typeface="Open Sans"/>
                <a:cs typeface="Open Sans"/>
              </a:rPr>
              <a:t>Оказание первой помощи при травмах, ранениях и поражениях, прочих состояниях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2800000"/>
            <a:ext cx="420000" cy="420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2800000"/>
            <a:ext cx="420000" cy="4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0000" y="1500000"/>
            <a:ext cx="11000000" cy="4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Прополощите рот водой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При сохраненном сознании рвоту вызывают приемом воды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CC0000"/>
                </a:solidFill>
                <a:latin typeface="Open Sans"/>
                <a:ea typeface="Open Sans"/>
                <a:cs typeface="Open Sans"/>
              </a:rPr>
              <a:t>•  Не вызывайте рвоту у человека без сознания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CC0000"/>
                </a:solidFill>
                <a:latin typeface="Open Sans"/>
                <a:ea typeface="Open Sans"/>
                <a:cs typeface="Open Sans"/>
              </a:rPr>
              <a:t>•  Не вызывайте рвоту при ожоге пищевода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Контролируйте сознание и дыхание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0000" y="250000"/>
            <a:ext cx="11200000" cy="5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ЧЕРЕЗ ВОЗДУХ ИЛИ КОЖУ</a:t>
            </a:r>
          </a:p>
        </p:txBody>
      </p:sp>
      <p:sp>
        <p:nvSpPr>
          <p:cNvPr id="4" name="Rectangle 3"/>
          <p:cNvSpPr/>
          <p:nvPr/>
        </p:nvSpPr>
        <p:spPr>
          <a:xfrm>
            <a:off x="700000" y="850000"/>
            <a:ext cx="9000000" cy="28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0000" y="920000"/>
            <a:ext cx="11000000" cy="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Open Sans"/>
                <a:ea typeface="Open Sans"/>
                <a:cs typeface="Open Sans"/>
              </a:rPr>
              <a:t>Оказание первой помощи при травмах, ранениях и поражениях, прочих состояниях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2800000"/>
            <a:ext cx="420000" cy="420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2800000"/>
            <a:ext cx="420000" cy="4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0000" y="1450000"/>
            <a:ext cx="54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Вдыхание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00000" y="1450000"/>
            <a:ext cx="54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Кожа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0000" y="1950000"/>
            <a:ext cx="5400000" cy="4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не входите в опасную зону без защиты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выведите на свежий воздух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ослабьте стесняющую одежду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контролируйте дыхание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00000" y="1950000"/>
            <a:ext cx="5400000" cy="4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защитите свои руки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снимите загрязненную одежду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тщательно промойте кожу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наложите свободную повязку при повреждении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0000" y="250000"/>
            <a:ext cx="11200000" cy="5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ГЛАВНОЕ ЗАПОМНИТЬ</a:t>
            </a:r>
          </a:p>
        </p:txBody>
      </p:sp>
      <p:sp>
        <p:nvSpPr>
          <p:cNvPr id="4" name="Rectangle 3"/>
          <p:cNvSpPr/>
          <p:nvPr/>
        </p:nvSpPr>
        <p:spPr>
          <a:xfrm>
            <a:off x="700000" y="850000"/>
            <a:ext cx="9000000" cy="28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0000" y="920000"/>
            <a:ext cx="11000000" cy="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Open Sans"/>
                <a:ea typeface="Open Sans"/>
                <a:cs typeface="Open Sans"/>
              </a:rPr>
              <a:t>Оказание первой помощи при травмах, ранениях и поражениях, прочих состояниях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2800000"/>
            <a:ext cx="420000" cy="420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2800000"/>
            <a:ext cx="420000" cy="4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9</a:t>
            </a:r>
          </a:p>
        </p:txBody>
      </p:sp>
      <p:sp>
        <p:nvSpPr>
          <p:cNvPr id="8" name="Rectangle 7"/>
          <p:cNvSpPr/>
          <p:nvPr/>
        </p:nvSpPr>
        <p:spPr>
          <a:xfrm>
            <a:off x="700000" y="1450000"/>
            <a:ext cx="11000000" cy="833333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00000" y="1450000"/>
            <a:ext cx="90000" cy="833333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0000" y="1550000"/>
            <a:ext cx="10400000" cy="63333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Прекратите действие яда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00000" y="2383333"/>
            <a:ext cx="11000000" cy="833333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00000" y="2383333"/>
            <a:ext cx="90000" cy="833333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2483333"/>
            <a:ext cx="10400000" cy="63333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Защитите себя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00000" y="3316666"/>
            <a:ext cx="11000000" cy="833333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00000" y="3316666"/>
            <a:ext cx="90000" cy="833333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0000" y="3416666"/>
            <a:ext cx="10400000" cy="63333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Узнайте: что, сколько и когда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00000" y="4249999"/>
            <a:ext cx="11000000" cy="833333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00000" y="4249999"/>
            <a:ext cx="90000" cy="833333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0000" y="4349999"/>
            <a:ext cx="10400000" cy="63333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Проверьте сознание и дыхание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00000" y="5183332"/>
            <a:ext cx="11000000" cy="833333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00000" y="5183332"/>
            <a:ext cx="90000" cy="833333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0000" y="5283332"/>
            <a:ext cx="10400000" cy="63333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Без сознания рвоту не вызывают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00000" y="6116665"/>
            <a:ext cx="11000000" cy="833333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00000" y="6116665"/>
            <a:ext cx="90000" cy="833333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0000" y="6216665"/>
            <a:ext cx="10400000" cy="63333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Сохраните упаковку вещества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0000" y="250000"/>
            <a:ext cx="11200000" cy="5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ПАМЯТКА</a:t>
            </a:r>
          </a:p>
        </p:txBody>
      </p:sp>
      <p:sp>
        <p:nvSpPr>
          <p:cNvPr id="4" name="Rectangle 3"/>
          <p:cNvSpPr/>
          <p:nvPr/>
        </p:nvSpPr>
        <p:spPr>
          <a:xfrm>
            <a:off x="700000" y="850000"/>
            <a:ext cx="9000000" cy="28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0000" y="920000"/>
            <a:ext cx="11000000" cy="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Open Sans"/>
                <a:ea typeface="Open Sans"/>
                <a:cs typeface="Open Sans"/>
              </a:rPr>
              <a:t>Оказание первой помощи при травмах, ранениях и поражениях, прочих состояниях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2800000"/>
            <a:ext cx="420000" cy="420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2800000"/>
            <a:ext cx="420000" cy="4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10</a:t>
            </a:r>
          </a:p>
        </p:txBody>
      </p:sp>
      <p:pic>
        <p:nvPicPr>
          <p:cNvPr id="8" name="Picture 7" descr="pamyatka-tema4-otravleniya-16x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0000" y="1400000"/>
            <a:ext cx="7800000" cy="5200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400000" cy="68580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400000" y="0"/>
            <a:ext cx="8800000" cy="68580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000000" y="3000000"/>
            <a:ext cx="7500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БЛАГОДАРИМ ЗА ВНИМАНИЕ</a:t>
            </a:r>
          </a:p>
        </p:txBody>
      </p:sp>
      <p:sp>
        <p:nvSpPr>
          <p:cNvPr id="5" name="Rectangle 4"/>
          <p:cNvSpPr/>
          <p:nvPr/>
        </p:nvSpPr>
        <p:spPr>
          <a:xfrm>
            <a:off x="4000000" y="4100000"/>
            <a:ext cx="4500000" cy="300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