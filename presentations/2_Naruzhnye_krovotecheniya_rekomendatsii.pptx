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21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72" r:id="rId20"/>
  </p:sldIdLst>
  <p:sldSz cx="24371300" cy="13716000"/>
  <p:notesSz cx="24371300" cy="13716000"/>
  <p:defaultTextStyle>
    <a:defPPr marL="0" marR="0" indent="0" algn="l" defTabSz="91440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800" b="0" i="0" u="none" strike="noStrike" cap="none" spc="0">
        <a:ln>
          <a:noFill/>
        </a:ln>
        <a:solidFill>
          <a:srgbClr val="000000"/>
        </a:solidFill>
      </a:defRPr>
    </a:defPPr>
    <a:lvl1pPr marL="0" marR="0" indent="0" algn="l" defTabSz="1828433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3500" b="0" i="0" u="none" strike="noStrike" cap="none" spc="0">
        <a:ln>
          <a:noFill/>
        </a:ln>
        <a:solidFill>
          <a:srgbClr val="000000"/>
        </a:solidFill>
        <a:latin typeface="Open Sans Light"/>
        <a:ea typeface="Open Sans Light"/>
        <a:cs typeface="Open Sans Light"/>
      </a:defRPr>
    </a:lvl1pPr>
    <a:lvl2pPr marL="0" marR="0" indent="914216" algn="l" defTabSz="1828433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3500" b="0" i="0" u="none" strike="noStrike" cap="none" spc="0">
        <a:ln>
          <a:noFill/>
        </a:ln>
        <a:solidFill>
          <a:srgbClr val="000000"/>
        </a:solidFill>
        <a:latin typeface="Open Sans Light"/>
        <a:ea typeface="Open Sans Light"/>
        <a:cs typeface="Open Sans Light"/>
      </a:defRPr>
    </a:lvl2pPr>
    <a:lvl3pPr marL="0" marR="0" indent="1828433" algn="l" defTabSz="1828433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3500" b="0" i="0" u="none" strike="noStrike" cap="none" spc="0">
        <a:ln>
          <a:noFill/>
        </a:ln>
        <a:solidFill>
          <a:srgbClr val="000000"/>
        </a:solidFill>
        <a:latin typeface="Open Sans Light"/>
        <a:ea typeface="Open Sans Light"/>
        <a:cs typeface="Open Sans Light"/>
      </a:defRPr>
    </a:lvl3pPr>
    <a:lvl4pPr marL="0" marR="0" indent="2742651" algn="l" defTabSz="1828433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3500" b="0" i="0" u="none" strike="noStrike" cap="none" spc="0">
        <a:ln>
          <a:noFill/>
        </a:ln>
        <a:solidFill>
          <a:srgbClr val="000000"/>
        </a:solidFill>
        <a:latin typeface="Open Sans Light"/>
        <a:ea typeface="Open Sans Light"/>
        <a:cs typeface="Open Sans Light"/>
      </a:defRPr>
    </a:lvl4pPr>
    <a:lvl5pPr marL="0" marR="0" indent="3656867" algn="l" defTabSz="1828433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3500" b="0" i="0" u="none" strike="noStrike" cap="none" spc="0">
        <a:ln>
          <a:noFill/>
        </a:ln>
        <a:solidFill>
          <a:srgbClr val="000000"/>
        </a:solidFill>
        <a:latin typeface="Open Sans Light"/>
        <a:ea typeface="Open Sans Light"/>
        <a:cs typeface="Open Sans Light"/>
      </a:defRPr>
    </a:lvl5pPr>
    <a:lvl6pPr marL="0" marR="0" indent="4571086" algn="l" defTabSz="1828433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3500" b="0" i="0" u="none" strike="noStrike" cap="none" spc="0">
        <a:ln>
          <a:noFill/>
        </a:ln>
        <a:solidFill>
          <a:srgbClr val="000000"/>
        </a:solidFill>
        <a:latin typeface="Open Sans Light"/>
        <a:ea typeface="Open Sans Light"/>
        <a:cs typeface="Open Sans Light"/>
      </a:defRPr>
    </a:lvl6pPr>
    <a:lvl7pPr marL="0" marR="0" indent="5485303" algn="l" defTabSz="1828433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3500" b="0" i="0" u="none" strike="noStrike" cap="none" spc="0">
        <a:ln>
          <a:noFill/>
        </a:ln>
        <a:solidFill>
          <a:srgbClr val="000000"/>
        </a:solidFill>
        <a:latin typeface="Open Sans Light"/>
        <a:ea typeface="Open Sans Light"/>
        <a:cs typeface="Open Sans Light"/>
      </a:defRPr>
    </a:lvl7pPr>
    <a:lvl8pPr marL="0" marR="0" indent="6399519" algn="l" defTabSz="1828433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3500" b="0" i="0" u="none" strike="noStrike" cap="none" spc="0">
        <a:ln>
          <a:noFill/>
        </a:ln>
        <a:solidFill>
          <a:srgbClr val="000000"/>
        </a:solidFill>
        <a:latin typeface="Open Sans Light"/>
        <a:ea typeface="Open Sans Light"/>
        <a:cs typeface="Open Sans Light"/>
      </a:defRPr>
    </a:lvl8pPr>
    <a:lvl9pPr marL="0" marR="0" indent="7313737" algn="l" defTabSz="1828433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3500" b="0" i="0" u="none" strike="noStrike" cap="none" spc="0">
        <a:ln>
          <a:noFill/>
        </a:ln>
        <a:solidFill>
          <a:srgbClr val="000000"/>
        </a:solidFill>
        <a:latin typeface="Open Sans Light"/>
        <a:ea typeface="Open Sans Light"/>
        <a:cs typeface="Open Sans Ligh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29" d="100"/>
          <a:sy n="29" d="100"/>
        </p:scale>
        <p:origin x="300" y="78"/>
      </p:cViewPr>
      <p:guideLst>
        <p:guide pos="4320" orient="horz"/>
        <p:guide pos="7676"/>
      </p:guideLst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tableStyles" Target="tableStyles.xml"/><Relationship Id="rId24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1" name="Shape 841"/>
          <p:cNvSpPr>
            <a:spLocks noChangeAspect="1" noGrp="1" noRo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2" name="Shape 842"/>
          <p:cNvSpPr>
            <a:spLocks noGrp="1"/>
          </p:cNvSpPr>
          <p:nvPr>
            <p:ph type="body" sz="quarter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>
      <a:defRPr sz="1200">
        <a:latin typeface="+mn-lt"/>
        <a:ea typeface="+mn-ea"/>
        <a:cs typeface="+mn-cs"/>
      </a:defRPr>
    </a:lvl1pPr>
    <a:lvl2pPr indent="228600">
      <a:defRPr sz="1200">
        <a:latin typeface="+mn-lt"/>
        <a:ea typeface="+mn-ea"/>
        <a:cs typeface="+mn-cs"/>
      </a:defRPr>
    </a:lvl2pPr>
    <a:lvl3pPr indent="457200">
      <a:defRPr sz="1200">
        <a:latin typeface="+mn-lt"/>
        <a:ea typeface="+mn-ea"/>
        <a:cs typeface="+mn-cs"/>
      </a:defRPr>
    </a:lvl3pPr>
    <a:lvl4pPr indent="685800">
      <a:defRPr sz="1200">
        <a:latin typeface="+mn-lt"/>
        <a:ea typeface="+mn-ea"/>
        <a:cs typeface="+mn-cs"/>
      </a:defRPr>
    </a:lvl4pPr>
    <a:lvl5pPr indent="914400">
      <a:defRPr sz="1200">
        <a:latin typeface="+mn-lt"/>
        <a:ea typeface="+mn-ea"/>
        <a:cs typeface="+mn-cs"/>
      </a:defRPr>
    </a:lvl5pPr>
    <a:lvl6pPr indent="1143000">
      <a:defRPr sz="1200">
        <a:latin typeface="+mn-lt"/>
        <a:ea typeface="+mn-ea"/>
        <a:cs typeface="+mn-cs"/>
      </a:defRPr>
    </a:lvl6pPr>
    <a:lvl7pPr indent="1371600">
      <a:defRPr sz="1200">
        <a:latin typeface="+mn-lt"/>
        <a:ea typeface="+mn-ea"/>
        <a:cs typeface="+mn-cs"/>
      </a:defRPr>
    </a:lvl7pPr>
    <a:lvl8pPr indent="1600200">
      <a:defRPr sz="1200">
        <a:latin typeface="+mn-lt"/>
        <a:ea typeface="+mn-ea"/>
        <a:cs typeface="+mn-cs"/>
      </a:defRPr>
    </a:lvl8pPr>
    <a:lvl9pPr indent="1828800">
      <a:defRPr sz="1200"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382588" y="685800"/>
            <a:ext cx="6092825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Добро пожаловать на занятие по подготовке преподавателей первой помощи.</a:t>
            </a:r>
          </a:p>
          <a:p>
            <a:r>
              <a:t>Сегодня мы разберём тему наружных кровотечений — не как учебный текст для заучивания, а как то, на что важно опираться, когда вы сами будете вести это занятие.</a:t>
            </a:r>
          </a:p>
          <a:p>
            <a:r>
              <a:t>Мы посмотрим, куда сместить внимание слушателей, какие акценты держать и какие типичные ошибки чаще всего возникают у обучающихся и при проведении обучения.</a:t>
            </a:r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382588" y="685800"/>
            <a:ext cx="6092825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Начнём с общего взгляда на тему.</a:t>
            </a:r>
          </a:p>
          <a:p>
            <a:r>
              <a:t>Цель занятия — помочь слушателям понять разные виды кровотечений и уверенно освоить приёмы временной остановки крови.</a:t>
            </a:r>
          </a:p>
          <a:p>
            <a:r>
              <a:t>Обычно на это отводят четыре часа: два часа теории и два часа практики, с демонстрацией и разбором ситуационных задач.</a:t>
            </a:r>
          </a:p>
          <a:p>
            <a:r>
              <a:t>Отдельно прошу учесть: у части людей вид крови вызывает сильный дискомфорт, и занятие нужно выстраивать так, чтобы это не стало препятствием для обучения.</a:t>
            </a:r>
          </a:p>
          <a:p>
            <a:r>
              <a:t>Главная мысль, которую стоит донести уже во введении: сильное кровотечение — одна из основных причин гибели пострадавших ещё на месте происшествия.</a:t>
            </a:r>
          </a:p>
          <a:p>
            <a:r>
              <a:t>И сразу задайте правильную иерархию способов: сначала прямое давление на рану и давящая повязка, а жгут — это крайняя мера, а не первый и не единственный приём.</a:t>
            </a:r>
          </a:p>
          <a:p>
            <a:r>
              <a:t>Ошибка в обучении здесь типичная — сразу бросаться к жгуту, минуя давление и повязку, либо оставить теорию без живой практики.</a:t>
            </a:r>
          </a:p>
          <a:p>
            <a:r>
              <a:t>Ещё одна ошибка — не заметить реакцию слушателей на вид крови и не адаптировать практическую часть.</a:t>
            </a:r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382588" y="685800"/>
            <a:ext cx="6092825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Теперь о том, почему кровотечение так опасно.</a:t>
            </a:r>
          </a:p>
          <a:p>
            <a:r>
              <a:t>Важно спокойно и ясно развести два понятия: само кровотечение и острая кровопотеря.</a:t>
            </a:r>
          </a:p>
          <a:p>
            <a:r>
              <a:t>Кровотечение — это когда кровь покидает сосудистое русло.</a:t>
            </a:r>
          </a:p>
          <a:p>
            <a:r>
              <a:t>А кровопотеря — это уже то, что происходит с организмом, когда крови становится слишком мало.</a:t>
            </a:r>
          </a:p>
          <a:p>
            <a:r>
              <a:t>Причём признаки кровопотери могут появиться и тогда, когда снаружи крови почти не видно.</a:t>
            </a:r>
          </a:p>
          <a:p>
            <a:r>
              <a:t>Поэтому не стоит ждать «классической картины», чтобы понять серьёзность ситуации.</a:t>
            </a:r>
          </a:p>
          <a:p>
            <a:r>
              <a:t>Интенсивное кровотечение оставляет минуты, а не «время до приезда скорой».</a:t>
            </a:r>
          </a:p>
          <a:p>
            <a:r>
              <a:t>На месте происшествия ориентир простой: насколько сильно и быстро течёт кровь, а не какой именно сосуд «по учебнику» повреждён.</a:t>
            </a:r>
          </a:p>
          <a:p>
            <a:r>
              <a:t>Типичная ошибка слушателей — ждать фонтан алой крови и при этом не реагировать на промокшую одежду или лужу рядом с пострадавшим.</a:t>
            </a:r>
          </a:p>
          <a:p>
            <a:r>
              <a:t>Другая ошибка — считать, что если нет явной струи, то кровь неопасна.</a:t>
            </a:r>
          </a:p>
          <a:p>
            <a:r>
              <a:t>И ещё одна: принять отсутствие видимой крови за отсутствие проблемы, забывая про возможную внутреннюю кровопотерю.</a:t>
            </a:r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382588" y="685800"/>
            <a:ext cx="6092825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Перейдём к признакам наружного кровотечения.</a:t>
            </a:r>
          </a:p>
          <a:p>
            <a:r>
              <a:t>Артериальное, венозное и капиллярное кровотечение стоит дать кратко и по понятным признакам — цвет, характер истечения, скорость.</a:t>
            </a:r>
          </a:p>
          <a:p>
            <a:r>
              <a:t>Но сразу предупредите слушателей: в реальной ситуации точно определить вид бывает сложно, особенно когда всё происходит быстро и стрессово.</a:t>
            </a:r>
          </a:p>
          <a:p>
            <a:r>
              <a:t>Поэтому действовать нужно по интенсивности кровотечения, а не застревать на «постановке диагноза».</a:t>
            </a:r>
          </a:p>
          <a:p>
            <a:r>
              <a:t>Отдельно отметьте смешанные кровотечения — например, при отрыве конечности — они особенно опасны именно из-за артериального компонента.</a:t>
            </a:r>
          </a:p>
          <a:p>
            <a:r>
              <a:t>Ошибка слушателей здесь очень узнаваемая: человек начинает спорить с собой, артериальное это или венозное, вместо того чтобы останавливать кровь.</a:t>
            </a:r>
          </a:p>
          <a:p>
            <a:r>
              <a:t>Другая ошибка — недооценить венозное кровотечение только потому, что оно течёт ручьём, а не бьёт фонтаном.</a:t>
            </a:r>
          </a:p>
          <a:p>
            <a:r>
              <a:t>И третья — автоматически считать капиллярное «несерьёзным», не глядя на объём и место повреждения.</a:t>
            </a:r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382588" y="685800"/>
            <a:ext cx="6092825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Следующий ключевой навык — обзорный осмотр пострадавшего.</a:t>
            </a:r>
          </a:p>
          <a:p>
            <a:r>
              <a:t>Его смысл не в подробном исследовании, а в том, чтобы за считанные секунды найти угрожающее жизни наружное кровотечение.</a:t>
            </a:r>
          </a:p>
          <a:p>
            <a:r>
              <a:t>Смотрите на простые, но надёжные признаки: одежда, пропитанная кровью; лужа крови рядом; видимая рана, из которой интенсивно вытекает кровь.</a:t>
            </a:r>
          </a:p>
          <a:p>
            <a:r>
              <a:t>Осмотр идёт быстро — с головы до ног — и как только угрожающее кровотечение найдено, сразу переходите к его остановке всеми доступными способами.</a:t>
            </a:r>
          </a:p>
          <a:p>
            <a:r>
              <a:t>Но прежде всего напомните про безопасность: сначала оцените обстановку, и только потом приближайтесь к пострадавшему.</a:t>
            </a:r>
          </a:p>
          <a:p>
            <a:r>
              <a:t>Типичная ошибка — превратить осмотр в долгую диагностику и потерять время.</a:t>
            </a:r>
          </a:p>
          <a:p>
            <a:r>
              <a:t>Вторая — пропустить кровотечение под одеждой или со стороны спины.</a:t>
            </a:r>
          </a:p>
          <a:p>
            <a:r>
              <a:t>И третья — броситься помогать, не оценив опасность на месте происшествия.</a:t>
            </a:r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382588" y="685800"/>
            <a:ext cx="6092825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Теперь о прямом давлении на рану — самом простом и приоритетном способе при интенсивном кровотечении.</a:t>
            </a:r>
          </a:p>
          <a:p>
            <a:r>
              <a:t>Объясните его спокойно и предметно: рану закрывают салфетками, бинтом или тканью и давят рукой с такой силой, чтобы кровь реально остановилась.</a:t>
            </a:r>
          </a:p>
          <a:p>
            <a:r>
              <a:t>Давление делают в перчатках или хотя бы через ткань — это и защита, и гигиена.</a:t>
            </a:r>
          </a:p>
          <a:p>
            <a:r>
              <a:t>Важно подчеркнуть: «слегка прижать» недостаточно.</a:t>
            </a:r>
          </a:p>
          <a:p>
            <a:r>
              <a:t>Если давление сработало, следующим шагом накладывают давящую повязку.</a:t>
            </a:r>
          </a:p>
          <a:p>
            <a:r>
              <a:t>А если под рукой нет ни повязки, ни жгута, давление продолжают до передачи пострадавшего скорой помощи.</a:t>
            </a:r>
          </a:p>
          <a:p>
            <a:r>
              <a:t>Какие ошибки встречаются чаще всего?</a:t>
            </a:r>
          </a:p>
          <a:p>
            <a:r>
              <a:t>Первая — давление для вида: рука лежит, а кровь продолжает течь.</a:t>
            </a:r>
          </a:p>
          <a:p>
            <a:r>
              <a:t>Вторая — сразу хвататься за жгут, хотя рану ещё можно прижать.</a:t>
            </a:r>
          </a:p>
          <a:p>
            <a:r>
              <a:t>Третья — забыть про перчатки и защиту от контакта с кровью.</a:t>
            </a:r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382588" y="685800"/>
            <a:ext cx="6092825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Давящая повязка продолжает линию прямого давления.</a:t>
            </a:r>
          </a:p>
          <a:p>
            <a:r>
              <a:t>Её задача не «аккуратно забинтовать», а именно остановить кровотечение, поэтому повязку накладывают с усилием.</a:t>
            </a:r>
          </a:p>
          <a:p>
            <a:r>
              <a:t>Сначала на рану кладут салфетки, бинт или свёрнутую ткань, затем тугими турами бинта фиксируют давление и закрепляют свободный конец.</a:t>
            </a:r>
          </a:p>
          <a:p>
            <a:r>
              <a:t>Дальше обязательно контролируют результат.</a:t>
            </a:r>
          </a:p>
          <a:p>
            <a:r>
              <a:t>Если повязка лишь слегка промокает, сверху можно наложить ещё одну давящую повязку.</a:t>
            </a:r>
          </a:p>
          <a:p>
            <a:r>
              <a:t>Если же она быстро пропитывается кровью и не держит эффект — это сигнал менять тактику и переходить к жгуту.</a:t>
            </a:r>
          </a:p>
          <a:p>
            <a:r>
              <a:t>Типичные ошибки слушателей здесь такие: накладывать повязку слабо, без настоящего давления на рану; считать любую повязку достаточной и не смотреть, промокает ли она; снимать уже промокшую повязку вместо того, чтобы усилить её или сменить способ остановки.</a:t>
            </a:r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382588" y="685800"/>
            <a:ext cx="6092825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Отдельный и очень важный сюжет — инородное тело в ране и открытый перелом с костными отломками.</a:t>
            </a:r>
          </a:p>
          <a:p>
            <a:r>
              <a:t>Здесь правило жёсткое и простое: предмет из раны не извлекают.</a:t>
            </a:r>
          </a:p>
          <a:p>
            <a:r>
              <a:t>Его фиксируют салфетками или бинтами и уже после этого накладывают повязку так, чтобы зафиксировать предмет и по возможности ограничить кровотечение.</a:t>
            </a:r>
          </a:p>
          <a:p>
            <a:r>
              <a:t>Прямое давление прямо на инородное тело или на выступающие отломки опасно и часто бессмысленно.</a:t>
            </a:r>
          </a:p>
          <a:p>
            <a:r>
              <a:t>Поэтому в таких ситуациях логика другая: повязка с фиксацией и, по показаниям, жгут — особенно если речь о конечности и кровотечение остаётся интенсивным.</a:t>
            </a:r>
          </a:p>
          <a:p>
            <a:r>
              <a:t>Ошибки слушателей почти всегда одни и те же.</a:t>
            </a:r>
          </a:p>
          <a:p>
            <a:r>
              <a:t>Первая — попытка вытащить осколок «побыстрее».</a:t>
            </a:r>
          </a:p>
          <a:p>
            <a:r>
              <a:t>Вторая — давить прямо на предмет.</a:t>
            </a:r>
          </a:p>
          <a:p>
            <a:r>
              <a:t>Третья — тратить время на идеальное прямое давление там, где оно противопоказано.</a:t>
            </a:r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382588" y="685800"/>
            <a:ext cx="6092825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Переходим к кровоостанавливающему жгуту.</a:t>
            </a:r>
          </a:p>
          <a:p>
            <a:r>
              <a:t>Жгут нужен тогда, когда прямое давление и давящая повязка невозможны, опасны или уже неэффективны, а также при отрыве конечности.</a:t>
            </a:r>
          </a:p>
          <a:p>
            <a:r>
              <a:t>Его накладывают только на конечность — выше раны, обычно в пяти–семи сантиметрах от неё, а если место ранения неясно, то максимально близко к туловищу.</a:t>
            </a:r>
          </a:p>
          <a:p>
            <a:r>
              <a:t>Как правило, жгут кладут на одежду или тканевую прокладку, но у турникета смотрите инструкцию: некоторые модели рассчитаны на голое тело.</a:t>
            </a:r>
          </a:p>
          <a:p>
            <a:r>
              <a:t>Кровотечение должно остановиться уже первым, хорошо растянутым туром.</a:t>
            </a:r>
          </a:p>
          <a:p>
            <a:r>
              <a:t>Сам жгут оставляют на виду, точное время наложения обязательно указывают, конечность по возможности обездвиживают и укутывают.</a:t>
            </a:r>
          </a:p>
          <a:p>
            <a:r>
              <a:t>Относительно безопасный срок — до двух часов, и снимать жгут вне медицинской организации после более долгого срока не рекомендуется.</a:t>
            </a:r>
          </a:p>
          <a:p>
            <a:r>
              <a:t>Типичные ошибки здесь особенно опасны.</a:t>
            </a:r>
          </a:p>
          <a:p>
            <a:r>
              <a:t>Накладывать жгут «на всякий случай», когда давление ещё работает.</a:t>
            </a:r>
          </a:p>
          <a:p>
            <a:r>
              <a:t>Прятать жгут под повязкой или одеждой и не указывать время.</a:t>
            </a:r>
          </a:p>
          <a:p>
            <a:r>
              <a:t>Делать импровизированный жгут из тонкой проволоки или шнура.</a:t>
            </a:r>
          </a:p>
          <a:p>
            <a:r>
              <a:t>И снимать жгут самостоятельно после длительного наложения.</a:t>
            </a:r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382588" y="685800"/>
            <a:ext cx="6092825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Чтобы всё сказанное сложилось в действие, нужна чёткая последовательность.</a:t>
            </a:r>
          </a:p>
          <a:p>
            <a:r>
              <a:t>Сначала обеспечивают безопасные условия, затем проводят обзорный осмотр и уже после этого выбирают способ остановки кровотечения.</a:t>
            </a:r>
          </a:p>
          <a:p>
            <a:r>
              <a:t>Если кровотечение интенсивное, первым шагом почти всегда будет прямое давление на рану.</a:t>
            </a:r>
          </a:p>
          <a:p>
            <a:r>
              <a:t>Если давление невозможно, опасно или явно не поможет — например, при инородном теле или открытом переломе с отломками — сразу переходят к повязке и, при необходимости, к жгуту.</a:t>
            </a:r>
          </a:p>
          <a:p>
            <a:r>
              <a:t>При отрыве или разрушении конечности жгут накладывают немедленно, не теряя время на «правильную» попытку давления по учебнику.</a:t>
            </a:r>
          </a:p>
          <a:p>
            <a:r>
              <a:t>Если давление помогло — фиксируют результат давящей повязкой.</a:t>
            </a:r>
          </a:p>
          <a:p>
            <a:r>
              <a:t>Если не помогло — накладывают жгут выше раны, между раной и сердцем.</a:t>
            </a:r>
          </a:p>
          <a:p>
            <a:r>
              <a:t>Ошибки слушателей обычно связаны с нарушением этого порядка.</a:t>
            </a:r>
          </a:p>
          <a:p>
            <a:r>
              <a:t>Кто-то начинает со жгута без показаний.</a:t>
            </a:r>
          </a:p>
          <a:p>
            <a:r>
              <a:t>Кто-то делает слабую попытку давления и сразу сдаётся.</a:t>
            </a:r>
          </a:p>
          <a:p>
            <a:r>
              <a:t>А кто-то после приёма забывает проверить главное: остановилась ли кровь.</a:t>
            </a:r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382588" y="685800"/>
            <a:ext cx="6092825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Дальше разберём особенности по областям тела — с головы и шеи к груди и животу.</a:t>
            </a:r>
          </a:p>
          <a:p>
            <a:r>
              <a:t>При ранении головы обычно начинают с прямого давления и при необходимости накладывают повязку.</a:t>
            </a:r>
          </a:p>
          <a:p>
            <a:r>
              <a:t>Но если есть подозрение на нарушение целостности костей черепа, усиливать давление на кости нельзя: края раны обкладывают, и только потом аккуратно фиксируют повязку.</a:t>
            </a:r>
          </a:p>
          <a:p>
            <a:r>
              <a:t>Инородный предмет в ране головы, как и в других местах, фиксируют и не извлекают.</a:t>
            </a:r>
          </a:p>
          <a:p>
            <a:r>
              <a:t>На шее самый быстрый путь — прямое давление, а затем давящая повязка, которая на неповреждённой стороне проходит через подмышку.</a:t>
            </a:r>
          </a:p>
          <a:p>
            <a:r>
              <a:t>С грудью и спиной важно честно обозначить границу первой помощи: наружное кровотечение останавливают доступными способами, но кровотечение из крупных внутренних сосудов первой помощью не остановить — здесь нужны скорая помощь и хирургия.</a:t>
            </a:r>
          </a:p>
          <a:p>
            <a:r>
              <a:t>При открытой травме живота и таза кровь останавливают давлением и повязкой, но на выпавшие органы давящую повязку не накладывают.</a:t>
            </a:r>
          </a:p>
          <a:p>
            <a:r>
              <a:t>Какие ошибки здесь особенно часты?</a:t>
            </a:r>
          </a:p>
          <a:p>
            <a:r>
              <a:t>Сильно давить при подозрении на перелом черепа.</a:t>
            </a:r>
          </a:p>
          <a:p>
            <a:r>
              <a:t>Накладывать на шею круговую повязку «как на руку».</a:t>
            </a:r>
          </a:p>
          <a:p>
            <a:r>
              <a:t>Пытаться подручными средствами «закрыть» внутреннее кровотечение в груди.</a:t>
            </a:r>
          </a:p>
          <a:p>
            <a:r>
              <a:t>И бинтовать либо давить на выпавшие органы живота.</a:t>
            </a:r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382588" y="685800"/>
            <a:ext cx="6092825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Теперь о конечностях, отрыве и смежных зонах.</a:t>
            </a:r>
          </a:p>
          <a:p>
            <a:r>
              <a:t>На руках и ногах работают все три способа — давление, повязка и жгут — в общей последовательности, о которой мы уже говорили.</a:t>
            </a:r>
          </a:p>
          <a:p>
            <a:r>
              <a:t>Выбор конкретного приёма зависит от интенсивности кровотечения, места раны, того, что есть под рукой, и того, как скоро приедет скорая.</a:t>
            </a:r>
          </a:p>
          <a:p>
            <a:r>
              <a:t>Отрыв части конечности — отдельный, очень тяжёлый случай: здесь показан немедленный жгут.</a:t>
            </a:r>
          </a:p>
          <a:p>
            <a:r>
              <a:t>В смежных зонах — пах, подмышка и похожие области — крупные сосуды проходят близко, кровотечение часто сильное, а наложить жгут или удобную давящую повязку бывает трудно.</a:t>
            </a:r>
          </a:p>
          <a:p>
            <a:r>
              <a:t>Поэтому в таких местах чаще всего остаётся прямое давление, и время нельзя терять на попытки сделать «как на конечности».</a:t>
            </a:r>
          </a:p>
          <a:p>
            <a:r>
              <a:t>Ошибки слушателей здесь предсказуемы: пытаться наложить жгут там, где анатомически это почти невозможно; при отрыве слишком долго ограничиваться только давлением; и недооценивать кровотечение из паха или подмышки.</a:t>
            </a:r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382588" y="685800"/>
            <a:ext cx="6092825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В завершение — несколько методических акцентов именно для вас как для преподавателей.</a:t>
            </a:r>
          </a:p>
          <a:p>
            <a:r>
              <a:t>Сначала уверенно отработайте прямое давление и давящую повязку, а жгут вводите осознанно — как крайнюю, но необходимую меру.</a:t>
            </a:r>
          </a:p>
          <a:p>
            <a:r>
              <a:t>При этом сам навык наложения жгута на практике обязателен: в критической ситуации времени на теорию не будет.</a:t>
            </a:r>
          </a:p>
          <a:p>
            <a:r>
              <a:t>Отдельно обсудите непереносимость вида крови и технику безопасности, чтобы слушатели не выпадали из работы и не рисковали собой.</a:t>
            </a:r>
          </a:p>
          <a:p>
            <a:r>
              <a:t>Закрепляйте не набор разрозненных приёмов, а алгоритм выбора: что делать сначала, что потом и почему.</a:t>
            </a:r>
          </a:p>
          <a:p>
            <a:r>
              <a:t>И на практике обязательно контролируйте мелочи, которые спасают жизни: перчатки, видимость жгута, указание времени, правильную фиксацию инородного тела.</a:t>
            </a:r>
          </a:p>
          <a:p>
            <a:r>
              <a:t>Ошибки в обучении тоже стоит заранее видеть.</a:t>
            </a:r>
          </a:p>
          <a:p>
            <a:r>
              <a:t>Не сводите практику к тому, что «просто намотали жгут», без сценариев выбора способа.</a:t>
            </a:r>
          </a:p>
          <a:p>
            <a:r>
              <a:t>Не пугайте жгутом — и не подавайте его как универсальный ответ на любое кровотечение.</a:t>
            </a:r>
          </a:p>
          <a:p>
            <a:r>
              <a:t>Не забывайте проверять, указали ли время и виден ли жгут.</a:t>
            </a:r>
          </a:p>
          <a:p>
            <a:r>
              <a:t>И не пропускайте особенности областей тела — шею, живот и смежные зоны, где обычная логика конечности уже не работает.</a:t>
            </a:r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382588" y="685800"/>
            <a:ext cx="6092825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На этом разбор темы наружных кровотечений для преподавателей завершён.</a:t>
            </a:r>
          </a:p>
          <a:p>
            <a:r>
              <a:t>Спасибо за внимание, и удачи вам в проведении занятий.</a:t>
            </a:r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0" y="0"/>
            <a:ext cx="2437765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3047206" y="5006973"/>
            <a:ext cx="18283238" cy="2012952"/>
          </a:xfrm>
          <a:prstGeom prst="rect">
            <a:avLst/>
          </a:prstGeom>
        </p:spPr>
        <p:txBody>
          <a:bodyPr anchor="b"/>
          <a:lstStyle>
            <a:lvl1pPr algn="ctr">
              <a:defRPr sz="8800"/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1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3047206" y="7204075"/>
            <a:ext cx="18283238" cy="595219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indent="3656686" algn="ctr"/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712040" y="3708960"/>
            <a:ext cx="21025723" cy="1405967"/>
          </a:xfrm>
          <a:prstGeom prst="rect">
            <a:avLst/>
          </a:prstGeom>
        </p:spPr>
        <p:txBody>
          <a:bodyPr/>
          <a:lstStyle>
            <a:lvl1pPr algn="ctr"/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2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712040" y="5817082"/>
            <a:ext cx="21025723" cy="755169"/>
          </a:xfrm>
          <a:prstGeom prst="rect">
            <a:avLst/>
          </a:prstGeom>
        </p:spPr>
        <p:txBody>
          <a:bodyPr/>
          <a:lstStyle>
            <a:lvl1pPr algn="ctr">
              <a:defRPr sz="3200"/>
            </a:lvl1pPr>
            <a:lvl2pPr algn="ctr">
              <a:defRPr sz="3200"/>
            </a:lvl2pPr>
            <a:lvl3pPr algn="ctr">
              <a:defRPr sz="3200"/>
            </a:lvl3pPr>
            <a:lvl4pPr algn="ctr">
              <a:defRPr sz="3200"/>
            </a:lvl4pPr>
            <a:lvl5pPr algn="ctr">
              <a:defRPr sz="3200"/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  <p:sp>
        <p:nvSpPr>
          <p:cNvPr id="2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24" name="Rectangle 8"/>
          <p:cNvSpPr/>
          <p:nvPr/>
        </p:nvSpPr>
        <p:spPr bwMode="auto">
          <a:xfrm>
            <a:off x="11448381" y="5305985"/>
            <a:ext cx="1553039" cy="91438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25" name="Text Placeholder 10"/>
          <p:cNvSpPr>
            <a:spLocks noGrp="1"/>
          </p:cNvSpPr>
          <p:nvPr>
            <p:ph type="body" sz="quarter" idx="21"/>
          </p:nvPr>
        </p:nvSpPr>
        <p:spPr bwMode="auto">
          <a:xfrm>
            <a:off x="3171825" y="7458075"/>
            <a:ext cx="18030826" cy="240030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1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4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5963" y="753034"/>
            <a:ext cx="21025723" cy="1381687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5963" y="2134720"/>
            <a:ext cx="21025723" cy="457201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  <p:sp>
        <p:nvSpPr>
          <p:cNvPr id="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5759952" y="3938096"/>
            <a:ext cx="6923155" cy="429150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8061844" y="3938096"/>
            <a:ext cx="7124369" cy="550330"/>
          </a:xfrm>
          <a:prstGeom prst="rect">
            <a:avLst/>
          </a:prstGeom>
        </p:spPr>
        <p:txBody>
          <a:bodyPr/>
          <a:lstStyle>
            <a:lvl1pPr defTabSz="1700359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46" name="Text Placeholder 33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15759952" y="8556336"/>
            <a:ext cx="6977810" cy="1461779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47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8061844" y="4700099"/>
            <a:ext cx="7124369" cy="3291049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5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5963" y="657225"/>
            <a:ext cx="10058839" cy="1057275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55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5963" y="1714500"/>
            <a:ext cx="10058839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  <p:sp>
        <p:nvSpPr>
          <p:cNvPr id="5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57" name="Straight Connector 7"/>
          <p:cNvSpPr/>
          <p:nvPr/>
        </p:nvSpPr>
        <p:spPr bwMode="auto">
          <a:xfrm>
            <a:off x="1675963" y="2400300"/>
            <a:ext cx="5484973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19" rIns="45719"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2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" name="Rectangle 6"/>
          <p:cNvSpPr/>
          <p:nvPr/>
        </p:nvSpPr>
        <p:spPr bwMode="auto">
          <a:xfrm>
            <a:off x="-1" y="1457323"/>
            <a:ext cx="22737764" cy="10872329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65" name="Picture Placeholder 13"/>
          <p:cNvSpPr>
            <a:spLocks noGrp="1"/>
          </p:cNvSpPr>
          <p:nvPr>
            <p:ph type="pic" idx="21"/>
          </p:nvPr>
        </p:nvSpPr>
        <p:spPr bwMode="auto">
          <a:xfrm>
            <a:off x="-349625" y="1864518"/>
            <a:ext cx="22541411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6" name="Picture Placeholder 14"/>
          <p:cNvSpPr>
            <a:spLocks noGrp="1"/>
          </p:cNvSpPr>
          <p:nvPr>
            <p:ph type="pic" idx="22"/>
          </p:nvPr>
        </p:nvSpPr>
        <p:spPr bwMode="auto">
          <a:xfrm>
            <a:off x="-349626" y="1864518"/>
            <a:ext cx="22541410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3375" y="2775885"/>
            <a:ext cx="10512863" cy="144649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6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3375" y="2260787"/>
            <a:ext cx="10512863" cy="72446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  <p:sp>
        <p:nvSpPr>
          <p:cNvPr id="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3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5963" y="628650"/>
            <a:ext cx="10058839" cy="1057275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7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5963" y="1685925"/>
            <a:ext cx="10058839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  <p:sp>
        <p:nvSpPr>
          <p:cNvPr id="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79" name="Straight Connector 7"/>
          <p:cNvSpPr/>
          <p:nvPr/>
        </p:nvSpPr>
        <p:spPr bwMode="auto">
          <a:xfrm>
            <a:off x="1675963" y="2371725"/>
            <a:ext cx="5484973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19" rIns="45719"/>
          <a:lstStyle/>
          <a:p>
            <a:pPr>
              <a:defRPr/>
            </a:pPr>
            <a:endParaRPr/>
          </a:p>
        </p:txBody>
      </p:sp>
      <p:sp>
        <p:nvSpPr>
          <p:cNvPr id="80" name="Picture Placeholder 11"/>
          <p:cNvSpPr>
            <a:spLocks noGrp="1"/>
          </p:cNvSpPr>
          <p:nvPr>
            <p:ph type="pic" sz="quarter" idx="21"/>
          </p:nvPr>
        </p:nvSpPr>
        <p:spPr bwMode="auto">
          <a:xfrm>
            <a:off x="5236333" y="3918317"/>
            <a:ext cx="2938097" cy="2938097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4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0" y="0"/>
            <a:ext cx="14799733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8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799731" y="0"/>
            <a:ext cx="9577918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02553" y="2931885"/>
            <a:ext cx="6399134" cy="2210028"/>
          </a:xfrm>
          <a:prstGeom prst="rect">
            <a:avLst/>
          </a:prstGeom>
        </p:spPr>
        <p:txBody>
          <a:bodyPr/>
          <a:lstStyle>
            <a:lvl1pPr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9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373475" y="4875212"/>
            <a:ext cx="6328212" cy="457201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  <p:sp>
        <p:nvSpPr>
          <p:cNvPr id="9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6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" name="Picture Placeholder 57"/>
          <p:cNvSpPr>
            <a:spLocks noGrp="1"/>
          </p:cNvSpPr>
          <p:nvPr>
            <p:ph type="pic" sz="half" idx="21"/>
          </p:nvPr>
        </p:nvSpPr>
        <p:spPr bwMode="auto">
          <a:xfrm>
            <a:off x="-228601" y="-235852"/>
            <a:ext cx="6921904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99" name="Picture Placeholder 60"/>
          <p:cNvSpPr>
            <a:spLocks noGrp="1"/>
          </p:cNvSpPr>
          <p:nvPr>
            <p:ph type="pic" sz="half" idx="22"/>
          </p:nvPr>
        </p:nvSpPr>
        <p:spPr bwMode="auto">
          <a:xfrm>
            <a:off x="4016362" y="-235858"/>
            <a:ext cx="8737907" cy="14104257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0" name="Picture Placeholder 63"/>
          <p:cNvSpPr>
            <a:spLocks noGrp="1"/>
          </p:cNvSpPr>
          <p:nvPr>
            <p:ph type="pic" idx="23"/>
          </p:nvPr>
        </p:nvSpPr>
        <p:spPr bwMode="auto">
          <a:xfrm>
            <a:off x="9998092" y="-235854"/>
            <a:ext cx="9853494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1" name="Picture Placeholder 67"/>
          <p:cNvSpPr>
            <a:spLocks noGrp="1"/>
          </p:cNvSpPr>
          <p:nvPr>
            <p:ph type="pic" sz="half" idx="24"/>
          </p:nvPr>
        </p:nvSpPr>
        <p:spPr bwMode="auto">
          <a:xfrm>
            <a:off x="17257400" y="-235855"/>
            <a:ext cx="7234551" cy="14104257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2" name="Picture Placeholder 8"/>
          <p:cNvSpPr>
            <a:spLocks noGrp="1"/>
          </p:cNvSpPr>
          <p:nvPr>
            <p:ph type="pic" idx="25"/>
          </p:nvPr>
        </p:nvSpPr>
        <p:spPr bwMode="auto">
          <a:xfrm>
            <a:off x="-831272" y="-651331"/>
            <a:ext cx="25783598" cy="149352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5963" y="5759451"/>
            <a:ext cx="21025723" cy="109855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1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5963" y="6858000"/>
            <a:ext cx="21025723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  <p:sp>
        <p:nvSpPr>
          <p:cNvPr id="10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1779461" y="12344400"/>
            <a:ext cx="5686638" cy="736601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7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5963" y="618565"/>
            <a:ext cx="21025723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11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5963" y="2000250"/>
            <a:ext cx="21025723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  <p:sp>
        <p:nvSpPr>
          <p:cNvPr id="1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11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885825" y="3899646"/>
            <a:ext cx="5077199" cy="575870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719234" y="3899646"/>
            <a:ext cx="5077199" cy="575870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552643" y="3899646"/>
            <a:ext cx="5077199" cy="575870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86052" y="3899646"/>
            <a:ext cx="5077199" cy="575870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9" name="Picture Placeholder 17"/>
          <p:cNvSpPr>
            <a:spLocks noGrp="1"/>
          </p:cNvSpPr>
          <p:nvPr>
            <p:ph type="pic" sz="quarter" idx="25"/>
          </p:nvPr>
        </p:nvSpPr>
        <p:spPr bwMode="auto">
          <a:xfrm>
            <a:off x="3467101" y="7772400"/>
            <a:ext cx="2673509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0" name="Picture Placeholder 20"/>
          <p:cNvSpPr>
            <a:spLocks noGrp="1"/>
          </p:cNvSpPr>
          <p:nvPr>
            <p:ph type="pic" sz="quarter" idx="26"/>
          </p:nvPr>
        </p:nvSpPr>
        <p:spPr bwMode="auto">
          <a:xfrm>
            <a:off x="9272347" y="7772399"/>
            <a:ext cx="2673510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1" name="Picture Placeholder 23"/>
          <p:cNvSpPr>
            <a:spLocks noGrp="1"/>
          </p:cNvSpPr>
          <p:nvPr>
            <p:ph type="pic" sz="quarter" idx="27"/>
          </p:nvPr>
        </p:nvSpPr>
        <p:spPr bwMode="auto">
          <a:xfrm>
            <a:off x="15091243" y="7772399"/>
            <a:ext cx="2673509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2" name="Picture Placeholder 26"/>
          <p:cNvSpPr>
            <a:spLocks noGrp="1"/>
          </p:cNvSpPr>
          <p:nvPr>
            <p:ph type="pic" sz="quarter" idx="28"/>
          </p:nvPr>
        </p:nvSpPr>
        <p:spPr bwMode="auto">
          <a:xfrm>
            <a:off x="20924651" y="7772399"/>
            <a:ext cx="2673509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3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3651249" y="7897810"/>
            <a:ext cx="2311776" cy="365127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24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9448172" y="7897810"/>
            <a:ext cx="2311775" cy="365127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25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5272109" y="7897810"/>
            <a:ext cx="2311775" cy="365127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26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21105519" y="7897810"/>
            <a:ext cx="2311775" cy="365127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27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885825" y="10004425"/>
            <a:ext cx="5077200" cy="415925"/>
          </a:xfrm>
          <a:prstGeom prst="rect">
            <a:avLst/>
          </a:prstGeom>
        </p:spPr>
        <p:txBody>
          <a:bodyPr/>
          <a:lstStyle>
            <a:lvl1pPr algn="ctr" defTabSz="1426107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28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885825" y="10614027"/>
            <a:ext cx="5077200" cy="1113517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29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6682748" y="10004425"/>
            <a:ext cx="5077199" cy="415925"/>
          </a:xfrm>
          <a:prstGeom prst="rect">
            <a:avLst/>
          </a:prstGeom>
        </p:spPr>
        <p:txBody>
          <a:bodyPr/>
          <a:lstStyle>
            <a:lvl1pPr algn="ctr" defTabSz="1426107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30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6682748" y="10614027"/>
            <a:ext cx="5077199" cy="1113517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31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2552643" y="10001050"/>
            <a:ext cx="5077199" cy="415926"/>
          </a:xfrm>
          <a:prstGeom prst="rect">
            <a:avLst/>
          </a:prstGeom>
        </p:spPr>
        <p:txBody>
          <a:bodyPr/>
          <a:lstStyle>
            <a:lvl1pPr algn="ctr" defTabSz="1426107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32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2552643" y="10610653"/>
            <a:ext cx="5077199" cy="1113517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33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8349566" y="10001050"/>
            <a:ext cx="5077199" cy="415926"/>
          </a:xfrm>
          <a:prstGeom prst="rect">
            <a:avLst/>
          </a:prstGeom>
        </p:spPr>
        <p:txBody>
          <a:bodyPr/>
          <a:lstStyle>
            <a:lvl1pPr algn="ctr" defTabSz="1426107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34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8349566" y="10610653"/>
            <a:ext cx="5077199" cy="1113517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8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5963" y="479052"/>
            <a:ext cx="21025723" cy="15212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14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5963" y="2000250"/>
            <a:ext cx="21025723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  <p:sp>
        <p:nvSpPr>
          <p:cNvPr id="14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1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03375" y="3978647"/>
            <a:ext cx="4178861" cy="371307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5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212539" y="3978647"/>
            <a:ext cx="4178861" cy="371307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6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603375" y="8104093"/>
            <a:ext cx="4178861" cy="371307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7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212539" y="8104093"/>
            <a:ext cx="4178861" cy="371307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8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2214225" y="5293097"/>
            <a:ext cx="5077199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49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2214224" y="6475348"/>
            <a:ext cx="5077200" cy="1113517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5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2214225" y="5884222"/>
            <a:ext cx="5077199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5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7667940" y="5293097"/>
            <a:ext cx="5077199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5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667938" y="6475348"/>
            <a:ext cx="5077199" cy="1113517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5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7667940" y="5884222"/>
            <a:ext cx="5077199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5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2206851" y="8097287"/>
            <a:ext cx="5077199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55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2206850" y="9279536"/>
            <a:ext cx="5077200" cy="1113517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56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2206851" y="8688412"/>
            <a:ext cx="5077199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57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7660565" y="8097287"/>
            <a:ext cx="5077199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58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7660565" y="9279536"/>
            <a:ext cx="5077199" cy="1113517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59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7660565" y="8688412"/>
            <a:ext cx="5077199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9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5963" y="529290"/>
            <a:ext cx="21025723" cy="1470962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16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5963" y="2000250"/>
            <a:ext cx="21025723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  <p:sp>
        <p:nvSpPr>
          <p:cNvPr id="16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169" name="Picture Placeholder 9"/>
          <p:cNvSpPr>
            <a:spLocks noGrp="1"/>
          </p:cNvSpPr>
          <p:nvPr>
            <p:ph type="pic" sz="quarter" idx="21"/>
          </p:nvPr>
        </p:nvSpPr>
        <p:spPr bwMode="auto">
          <a:xfrm>
            <a:off x="1216180" y="3997140"/>
            <a:ext cx="3371851" cy="337185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0" name="Picture Placeholder 10"/>
          <p:cNvSpPr>
            <a:spLocks noGrp="1"/>
          </p:cNvSpPr>
          <p:nvPr>
            <p:ph type="pic" sz="quarter" idx="22"/>
          </p:nvPr>
        </p:nvSpPr>
        <p:spPr bwMode="auto">
          <a:xfrm>
            <a:off x="5859539" y="3997140"/>
            <a:ext cx="3371851" cy="337185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10502899" y="3997140"/>
            <a:ext cx="3371851" cy="337185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2" name="Picture Placeholder 12"/>
          <p:cNvSpPr>
            <a:spLocks noGrp="1"/>
          </p:cNvSpPr>
          <p:nvPr>
            <p:ph type="pic" sz="quarter" idx="24"/>
          </p:nvPr>
        </p:nvSpPr>
        <p:spPr bwMode="auto">
          <a:xfrm>
            <a:off x="15146258" y="3997140"/>
            <a:ext cx="3371851" cy="337185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3" name="Picture Placeholder 13"/>
          <p:cNvSpPr>
            <a:spLocks noGrp="1"/>
          </p:cNvSpPr>
          <p:nvPr>
            <p:ph type="pic" sz="quarter" idx="25"/>
          </p:nvPr>
        </p:nvSpPr>
        <p:spPr bwMode="auto">
          <a:xfrm>
            <a:off x="19789616" y="3936819"/>
            <a:ext cx="3371851" cy="337185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966289" y="8074521"/>
            <a:ext cx="3723341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7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966289" y="9418135"/>
            <a:ext cx="3723341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7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966289" y="8665647"/>
            <a:ext cx="3723341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7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5615042" y="8074521"/>
            <a:ext cx="3723341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7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5615041" y="9418135"/>
            <a:ext cx="3723341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7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615042" y="8665647"/>
            <a:ext cx="3723341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80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0263791" y="8074521"/>
            <a:ext cx="3723341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81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0263791" y="9418135"/>
            <a:ext cx="3723341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82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0263791" y="8665647"/>
            <a:ext cx="3723341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83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4912544" y="8044360"/>
            <a:ext cx="3723341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84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4912542" y="9387974"/>
            <a:ext cx="3723341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85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4912544" y="8635486"/>
            <a:ext cx="3723341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86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9561294" y="8074521"/>
            <a:ext cx="3723341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87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9561292" y="9418135"/>
            <a:ext cx="3723341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88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9561294" y="8665647"/>
            <a:ext cx="3723341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10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5963" y="695883"/>
            <a:ext cx="10058839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19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5963" y="1753159"/>
            <a:ext cx="10058839" cy="457201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  <p:sp>
        <p:nvSpPr>
          <p:cNvPr id="19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1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0" y="3854543"/>
            <a:ext cx="6454589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54588" y="3854543"/>
            <a:ext cx="6454589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0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0" y="7567613"/>
            <a:ext cx="6454589" cy="371307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1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454588" y="7567613"/>
            <a:ext cx="6454589" cy="371307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2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3927309" y="6974299"/>
            <a:ext cx="2527279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3" name="Text Placeholder 28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4046680" y="7073899"/>
            <a:ext cx="2311775" cy="365127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204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54588" y="7567613"/>
            <a:ext cx="2527279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5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6573957" y="7667212"/>
            <a:ext cx="2311775" cy="365127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206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6454588" y="6974299"/>
            <a:ext cx="2527279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7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6573957" y="7073899"/>
            <a:ext cx="2311775" cy="365127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208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3927309" y="7567613"/>
            <a:ext cx="2527279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9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4046680" y="7667212"/>
            <a:ext cx="2311775" cy="365127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21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26927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0725" y="0"/>
            <a:ext cx="1222692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0" y="4572000"/>
            <a:ext cx="12188825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0725" y="4572000"/>
            <a:ext cx="1218882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0" y="9144000"/>
            <a:ext cx="12188825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32422" y="9144000"/>
            <a:ext cx="1224523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3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4811722" y="1989342"/>
            <a:ext cx="2527279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4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4931092" y="2088943"/>
            <a:ext cx="2311775" cy="365127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Text</a:t>
            </a:r>
            <a:endParaRPr/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25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7000548" y="6561342"/>
            <a:ext cx="2527279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6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119919" y="6660943"/>
            <a:ext cx="2311775" cy="365127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227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4907856" y="11133342"/>
            <a:ext cx="2527278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8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027226" y="11232943"/>
            <a:ext cx="2311775" cy="365127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236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26927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7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0725" y="0"/>
            <a:ext cx="1222692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8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0" y="4572000"/>
            <a:ext cx="12188825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9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0725" y="4572000"/>
            <a:ext cx="1218882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0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7062450" y="1989342"/>
            <a:ext cx="2527278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1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7181819" y="2088943"/>
            <a:ext cx="2311775" cy="365127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Text</a:t>
            </a:r>
            <a:endParaRPr/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4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4811724" y="6575837"/>
            <a:ext cx="2527279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3" name="Text Placeholder 28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4931093" y="6675436"/>
            <a:ext cx="2311775" cy="365127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244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5090857" y="12257089"/>
            <a:ext cx="2311775" cy="365127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24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7863" y="9466729"/>
            <a:ext cx="21025723" cy="1142536"/>
          </a:xfrm>
          <a:prstGeom prst="rect">
            <a:avLst/>
          </a:prstGeom>
        </p:spPr>
        <p:txBody>
          <a:bodyPr/>
          <a:lstStyle>
            <a:lvl1pPr algn="ctr">
              <a:defRPr sz="7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2" name="Picture Placeholder 11"/>
          <p:cNvSpPr>
            <a:spLocks noGrp="1"/>
          </p:cNvSpPr>
          <p:nvPr>
            <p:ph type="pic" idx="21"/>
          </p:nvPr>
        </p:nvSpPr>
        <p:spPr bwMode="auto">
          <a:xfrm>
            <a:off x="-5" y="-1"/>
            <a:ext cx="24377655" cy="1365409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254" name="Picture Placeholder 10"/>
          <p:cNvSpPr>
            <a:spLocks noGrp="1"/>
          </p:cNvSpPr>
          <p:nvPr>
            <p:ph type="pic" idx="22"/>
          </p:nvPr>
        </p:nvSpPr>
        <p:spPr bwMode="auto">
          <a:xfrm>
            <a:off x="-39319204" y="-17373600"/>
            <a:ext cx="243776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5963" y="526473"/>
            <a:ext cx="21025723" cy="1556903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25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5963" y="2083377"/>
            <a:ext cx="21025723" cy="457201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  <p:sp>
        <p:nvSpPr>
          <p:cNvPr id="257" name="Picture Placeholder 9"/>
          <p:cNvSpPr>
            <a:spLocks noGrp="1"/>
          </p:cNvSpPr>
          <p:nvPr>
            <p:ph type="pic" sz="quarter" idx="23"/>
          </p:nvPr>
        </p:nvSpPr>
        <p:spPr bwMode="auto">
          <a:xfrm>
            <a:off x="20050281" y="7347745"/>
            <a:ext cx="2088356" cy="2088356"/>
          </a:xfrm>
          <a:prstGeom prst="rect">
            <a:avLst/>
          </a:prstGeom>
          <a:ln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4" name="Rectangle 1"/>
          <p:cNvSpPr/>
          <p:nvPr/>
        </p:nvSpPr>
        <p:spPr bwMode="auto">
          <a:xfrm>
            <a:off x="12188825" y="0"/>
            <a:ext cx="12188825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65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2" y="0"/>
            <a:ext cx="12226927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6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2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3375" y="5349299"/>
            <a:ext cx="9120044" cy="3406774"/>
          </a:xfrm>
          <a:prstGeom prst="rect">
            <a:avLst/>
          </a:prstGeom>
          <a:ln w="9525">
            <a:solidFill>
              <a:schemeClr val="accent2"/>
            </a:solidFill>
            <a:round/>
          </a:ln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275" name="Rectangle 6"/>
          <p:cNvSpPr/>
          <p:nvPr/>
        </p:nvSpPr>
        <p:spPr bwMode="auto">
          <a:xfrm>
            <a:off x="0" y="0"/>
            <a:ext cx="12188825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3375" y="5444897"/>
            <a:ext cx="9120044" cy="3406775"/>
          </a:xfrm>
          <a:prstGeom prst="rect">
            <a:avLst/>
          </a:prstGeom>
          <a:ln w="9525">
            <a:solidFill>
              <a:srgbClr val="FFFFFF"/>
            </a:solidFill>
            <a:round/>
          </a:ln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2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88824" y="0"/>
            <a:ext cx="1218882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88824" y="4572000"/>
            <a:ext cx="1218882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88824" y="9144000"/>
            <a:ext cx="1218882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45175" y="0"/>
            <a:ext cx="583247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45175" y="4572000"/>
            <a:ext cx="583247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45175" y="9144000"/>
            <a:ext cx="583247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05097" y="1041400"/>
            <a:ext cx="4783818" cy="415925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  <a:endParaRPr/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05097" y="1651000"/>
            <a:ext cx="4783818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2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05097" y="5499100"/>
            <a:ext cx="4783818" cy="415925"/>
          </a:xfrm>
          <a:prstGeom prst="rect">
            <a:avLst/>
          </a:prstGeom>
        </p:spPr>
        <p:txBody>
          <a:bodyPr/>
          <a:lstStyle>
            <a:lvl1pPr algn="ctr" defTabSz="1426107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2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05097" y="6108701"/>
            <a:ext cx="4783818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2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05097" y="10127799"/>
            <a:ext cx="4783818" cy="415926"/>
          </a:xfrm>
          <a:prstGeom prst="rect">
            <a:avLst/>
          </a:prstGeom>
        </p:spPr>
        <p:txBody>
          <a:bodyPr/>
          <a:lstStyle>
            <a:lvl1pPr algn="ctr" defTabSz="1426107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2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05097" y="10737401"/>
            <a:ext cx="4783818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29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5963" y="753034"/>
            <a:ext cx="21025723" cy="1381687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29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5963" y="2134720"/>
            <a:ext cx="21025723" cy="457201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  <p:sp>
        <p:nvSpPr>
          <p:cNvPr id="2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6125" y="4229193"/>
            <a:ext cx="6454589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6520" y="7348949"/>
            <a:ext cx="3294194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00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31285" y="7448549"/>
            <a:ext cx="3013294" cy="365127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30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5963" y="753034"/>
            <a:ext cx="21025723" cy="1381687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30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5963" y="2134720"/>
            <a:ext cx="21025723" cy="457201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  <p:sp>
        <p:nvSpPr>
          <p:cNvPr id="310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6125" y="4040935"/>
            <a:ext cx="6454589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1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38899" y="7160690"/>
            <a:ext cx="3301814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2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24315" y="7260290"/>
            <a:ext cx="3020264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313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4496698" y="4040935"/>
            <a:ext cx="6454589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4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3286124" y="8762999"/>
            <a:ext cx="6454590" cy="550866"/>
          </a:xfrm>
          <a:prstGeom prst="rect">
            <a:avLst/>
          </a:prstGeom>
        </p:spPr>
        <p:txBody>
          <a:bodyPr/>
          <a:lstStyle>
            <a:lvl1pPr defTabSz="1700359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315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3286124" y="9442452"/>
            <a:ext cx="6454590" cy="2114921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316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496697" y="8716309"/>
            <a:ext cx="6454590" cy="550865"/>
          </a:xfrm>
          <a:prstGeom prst="rect">
            <a:avLst/>
          </a:prstGeom>
        </p:spPr>
        <p:txBody>
          <a:bodyPr/>
          <a:lstStyle>
            <a:lvl1pPr defTabSz="1700359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317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496697" y="9395762"/>
            <a:ext cx="6454590" cy="2114921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318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4496698" y="7160690"/>
            <a:ext cx="3301814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9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4682114" y="7260290"/>
            <a:ext cx="3020264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32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5963" y="753034"/>
            <a:ext cx="21025723" cy="1381687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32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5963" y="2134720"/>
            <a:ext cx="21025723" cy="457201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  <p:sp>
        <p:nvSpPr>
          <p:cNvPr id="329" name="Text Placeholder 33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5543550" y="4145279"/>
            <a:ext cx="5286375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330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5543550" y="4886323"/>
            <a:ext cx="5286375" cy="2037229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33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2571749" y="4145279"/>
            <a:ext cx="2338023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2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5543550" y="8208864"/>
            <a:ext cx="5286375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33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5543550" y="8949908"/>
            <a:ext cx="5286375" cy="2037229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334" name="Picture Placeholder 11"/>
          <p:cNvSpPr>
            <a:spLocks noGrp="1"/>
          </p:cNvSpPr>
          <p:nvPr>
            <p:ph type="pic" sz="quarter" idx="26"/>
          </p:nvPr>
        </p:nvSpPr>
        <p:spPr bwMode="auto">
          <a:xfrm>
            <a:off x="2571749" y="8208863"/>
            <a:ext cx="2338023" cy="2338023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6302553" y="4145279"/>
            <a:ext cx="5286376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33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6302553" y="4886323"/>
            <a:ext cx="5286376" cy="2037229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337" name="Picture Placeholder 11"/>
          <p:cNvSpPr>
            <a:spLocks noGrp="1"/>
          </p:cNvSpPr>
          <p:nvPr>
            <p:ph type="pic" sz="quarter" idx="29"/>
          </p:nvPr>
        </p:nvSpPr>
        <p:spPr bwMode="auto">
          <a:xfrm>
            <a:off x="13330753" y="4145279"/>
            <a:ext cx="2338022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6302553" y="8208864"/>
            <a:ext cx="5286376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33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6302553" y="8949908"/>
            <a:ext cx="5286376" cy="2037229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340" name="Picture Placeholder 11"/>
          <p:cNvSpPr>
            <a:spLocks noGrp="1"/>
          </p:cNvSpPr>
          <p:nvPr>
            <p:ph type="pic" sz="quarter" idx="32"/>
          </p:nvPr>
        </p:nvSpPr>
        <p:spPr bwMode="auto">
          <a:xfrm>
            <a:off x="13330753" y="8208863"/>
            <a:ext cx="2338022" cy="2338023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348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0" y="0"/>
            <a:ext cx="1445895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4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458950" y="0"/>
            <a:ext cx="991870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0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0" y="6858000"/>
            <a:ext cx="991870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9918700" y="6858000"/>
            <a:ext cx="1445895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2" name="Picture Placeholder 8"/>
          <p:cNvSpPr>
            <a:spLocks noGrp="1"/>
          </p:cNvSpPr>
          <p:nvPr>
            <p:ph type="pic" sz="half" idx="25"/>
          </p:nvPr>
        </p:nvSpPr>
        <p:spPr bwMode="auto">
          <a:xfrm>
            <a:off x="4506257" y="3390901"/>
            <a:ext cx="15331143" cy="6858001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5181163" y="3950260"/>
            <a:ext cx="13818037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35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5181163" y="5007534"/>
            <a:ext cx="13818037" cy="457201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1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362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0" y="0"/>
            <a:ext cx="8125201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3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6252449" y="0"/>
            <a:ext cx="8125201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4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8125200" y="0"/>
            <a:ext cx="8125201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5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-2050" y="6858000"/>
            <a:ext cx="8125201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6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6250400" y="6858000"/>
            <a:ext cx="8125201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7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8123149" y="6858000"/>
            <a:ext cx="8125202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8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31624" y="5873750"/>
            <a:ext cx="11506201" cy="19685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7064375" y="6329362"/>
            <a:ext cx="10248900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1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3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88824" y="0"/>
            <a:ext cx="1218882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88824" y="4572000"/>
            <a:ext cx="1218882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88824" y="9144000"/>
            <a:ext cx="1218882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45175" y="0"/>
            <a:ext cx="583247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45175" y="4572000"/>
            <a:ext cx="583247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45175" y="9144000"/>
            <a:ext cx="583247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05097" y="1041400"/>
            <a:ext cx="4783818" cy="4159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  <a:endParaRPr/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3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05097" y="1651000"/>
            <a:ext cx="4783818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3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05097" y="5499100"/>
            <a:ext cx="4783818" cy="415925"/>
          </a:xfrm>
          <a:prstGeom prst="rect">
            <a:avLst/>
          </a:prstGeom>
        </p:spPr>
        <p:txBody>
          <a:bodyPr/>
          <a:lstStyle>
            <a:lvl1pPr defTabSz="1426107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3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05097" y="6108701"/>
            <a:ext cx="4783818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3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05097" y="10127799"/>
            <a:ext cx="4783818" cy="415926"/>
          </a:xfrm>
          <a:prstGeom prst="rect">
            <a:avLst/>
          </a:prstGeom>
        </p:spPr>
        <p:txBody>
          <a:bodyPr/>
          <a:lstStyle>
            <a:lvl1pPr defTabSz="1426107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3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05097" y="10737401"/>
            <a:ext cx="4783818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389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0" y="0"/>
            <a:ext cx="12188825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0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0" y="4572000"/>
            <a:ext cx="12188825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1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0" y="9144000"/>
            <a:ext cx="12188825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2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6356351" y="0"/>
            <a:ext cx="583247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3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6356351" y="4572000"/>
            <a:ext cx="583247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4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6356351" y="9144000"/>
            <a:ext cx="583247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5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6816273" y="1041400"/>
            <a:ext cx="4783818" cy="415925"/>
          </a:xfrm>
          <a:prstGeom prst="rect">
            <a:avLst/>
          </a:prstGeom>
        </p:spPr>
        <p:txBody>
          <a:bodyPr/>
          <a:lstStyle>
            <a:lvl1pPr defTabSz="1426107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396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6816273" y="1651000"/>
            <a:ext cx="4783818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397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6816273" y="5499100"/>
            <a:ext cx="4783818" cy="415925"/>
          </a:xfrm>
          <a:prstGeom prst="rect">
            <a:avLst/>
          </a:prstGeom>
        </p:spPr>
        <p:txBody>
          <a:bodyPr/>
          <a:lstStyle>
            <a:lvl1pPr defTabSz="1426107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398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6816273" y="6108701"/>
            <a:ext cx="4783818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399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6816273" y="10127799"/>
            <a:ext cx="4783818" cy="415926"/>
          </a:xfrm>
          <a:prstGeom prst="rect">
            <a:avLst/>
          </a:prstGeom>
        </p:spPr>
        <p:txBody>
          <a:bodyPr/>
          <a:lstStyle>
            <a:lvl1pPr defTabSz="1426107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400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6816273" y="10737401"/>
            <a:ext cx="4783818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1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408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0" y="11145"/>
            <a:ext cx="12188825" cy="1370485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0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-2" y="8040913"/>
            <a:ext cx="12188826" cy="567508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0" name="Picture Placeholder 8"/>
          <p:cNvSpPr>
            <a:spLocks noGrp="1"/>
          </p:cNvSpPr>
          <p:nvPr>
            <p:ph type="pic" idx="23"/>
          </p:nvPr>
        </p:nvSpPr>
        <p:spPr bwMode="auto">
          <a:xfrm>
            <a:off x="12188825" y="1"/>
            <a:ext cx="12188828" cy="13715999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88824" y="8036300"/>
            <a:ext cx="12188828" cy="56797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2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675963" y="9174289"/>
            <a:ext cx="8582462" cy="800141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  <a:endParaRPr/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1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675964" y="10014856"/>
            <a:ext cx="8582461" cy="1883457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41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5964" y="8510327"/>
            <a:ext cx="8582461" cy="513537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41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119225" y="9144810"/>
            <a:ext cx="8582461" cy="800141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41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119225" y="9985378"/>
            <a:ext cx="8582461" cy="1883457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41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4119225" y="8480849"/>
            <a:ext cx="8582461" cy="513537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1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425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0" y="1"/>
            <a:ext cx="12188825" cy="68580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6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2188825" y="1"/>
            <a:ext cx="12188825" cy="68580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7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0" y="6858000"/>
            <a:ext cx="12188825" cy="68580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8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88825" y="6858000"/>
            <a:ext cx="12188825" cy="68580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2634813" y="4572000"/>
            <a:ext cx="9554012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88825" y="4572000"/>
            <a:ext cx="9554011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2634813" y="6829425"/>
            <a:ext cx="9554012" cy="2257427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2188825" y="6829425"/>
            <a:ext cx="9554011" cy="2257427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1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9" name="Picture Placeholder 11"/>
          <p:cNvSpPr>
            <a:spLocks noGrp="1"/>
          </p:cNvSpPr>
          <p:nvPr>
            <p:ph type="pic" sz="half" idx="21"/>
          </p:nvPr>
        </p:nvSpPr>
        <p:spPr bwMode="auto">
          <a:xfrm>
            <a:off x="0" y="-1"/>
            <a:ext cx="13865870" cy="800837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0" name="Picture Placeholder 14"/>
          <p:cNvSpPr>
            <a:spLocks noGrp="1"/>
          </p:cNvSpPr>
          <p:nvPr>
            <p:ph type="pic" sz="half" idx="22"/>
          </p:nvPr>
        </p:nvSpPr>
        <p:spPr bwMode="auto">
          <a:xfrm>
            <a:off x="11649281" y="0"/>
            <a:ext cx="12728368" cy="8008367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1" name="Picture Placeholder 17"/>
          <p:cNvSpPr>
            <a:spLocks noGrp="1"/>
          </p:cNvSpPr>
          <p:nvPr>
            <p:ph type="pic" sz="quarter" idx="23"/>
          </p:nvPr>
        </p:nvSpPr>
        <p:spPr bwMode="auto">
          <a:xfrm>
            <a:off x="0" y="8977930"/>
            <a:ext cx="11649282" cy="4737847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2" name="Picture Placeholder 20"/>
          <p:cNvSpPr>
            <a:spLocks noGrp="1"/>
          </p:cNvSpPr>
          <p:nvPr>
            <p:ph type="pic" sz="quarter" idx="24"/>
          </p:nvPr>
        </p:nvSpPr>
        <p:spPr bwMode="auto">
          <a:xfrm>
            <a:off x="12592049" y="8978151"/>
            <a:ext cx="11785600" cy="4737849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48797" y="7922741"/>
            <a:ext cx="21080055" cy="1231527"/>
          </a:xfrm>
          <a:prstGeom prst="rect">
            <a:avLst/>
          </a:prstGeom>
        </p:spPr>
        <p:txBody>
          <a:bodyPr/>
          <a:lstStyle>
            <a:lvl1pPr algn="ctr">
              <a:defRPr sz="60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44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5963" y="9154268"/>
            <a:ext cx="21025723" cy="457201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  <p:sp>
        <p:nvSpPr>
          <p:cNvPr id="44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1779461" y="12344400"/>
            <a:ext cx="5686638" cy="736601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1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45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88824" y="0"/>
            <a:ext cx="635635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88824" y="4572000"/>
            <a:ext cx="6356351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88825" y="9144000"/>
            <a:ext cx="635635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45175" y="0"/>
            <a:ext cx="583247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45175" y="4572000"/>
            <a:ext cx="583247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45175" y="9144000"/>
            <a:ext cx="583247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9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05097" y="1041400"/>
            <a:ext cx="4783818" cy="4159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  <a:endParaRPr/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6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05097" y="1651000"/>
            <a:ext cx="4783818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46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05097" y="5499100"/>
            <a:ext cx="4783818" cy="415925"/>
          </a:xfrm>
          <a:prstGeom prst="rect">
            <a:avLst/>
          </a:prstGeom>
        </p:spPr>
        <p:txBody>
          <a:bodyPr/>
          <a:lstStyle>
            <a:lvl1pPr defTabSz="1426107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46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05097" y="6108701"/>
            <a:ext cx="4783818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46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05097" y="10127799"/>
            <a:ext cx="4783818" cy="415926"/>
          </a:xfrm>
          <a:prstGeom prst="rect">
            <a:avLst/>
          </a:prstGeom>
        </p:spPr>
        <p:txBody>
          <a:bodyPr/>
          <a:lstStyle>
            <a:lvl1pPr defTabSz="1426107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46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05097" y="10737401"/>
            <a:ext cx="4783818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465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5832471" y="0"/>
            <a:ext cx="635635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6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5832471" y="4572000"/>
            <a:ext cx="635635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7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5832471" y="9144000"/>
            <a:ext cx="635635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8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-2" y="31300"/>
            <a:ext cx="5832475" cy="45720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9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-2" y="4603301"/>
            <a:ext cx="5832475" cy="45720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0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-2" y="9175301"/>
            <a:ext cx="5832475" cy="45720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1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459921" y="1072700"/>
            <a:ext cx="4783817" cy="415926"/>
          </a:xfrm>
          <a:prstGeom prst="rect">
            <a:avLst/>
          </a:prstGeom>
        </p:spPr>
        <p:txBody>
          <a:bodyPr/>
          <a:lstStyle>
            <a:lvl1pPr algn="r" defTabSz="1426107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472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459921" y="1682301"/>
            <a:ext cx="4783817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473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459921" y="5530401"/>
            <a:ext cx="4783817" cy="415926"/>
          </a:xfrm>
          <a:prstGeom prst="rect">
            <a:avLst/>
          </a:prstGeom>
        </p:spPr>
        <p:txBody>
          <a:bodyPr/>
          <a:lstStyle>
            <a:lvl1pPr algn="r" defTabSz="1426107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474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459921" y="6140001"/>
            <a:ext cx="4783817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475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459921" y="10159099"/>
            <a:ext cx="4783817" cy="415926"/>
          </a:xfrm>
          <a:prstGeom prst="rect">
            <a:avLst/>
          </a:prstGeom>
        </p:spPr>
        <p:txBody>
          <a:bodyPr/>
          <a:lstStyle>
            <a:lvl1pPr algn="r" defTabSz="1426107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476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459921" y="10768702"/>
            <a:ext cx="4783817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1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3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0" y="3973605"/>
            <a:ext cx="12188825" cy="552002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4" name="Picture Placeholder 13"/>
          <p:cNvSpPr>
            <a:spLocks noGrp="1"/>
          </p:cNvSpPr>
          <p:nvPr>
            <p:ph type="pic" sz="quarter" idx="22"/>
          </p:nvPr>
        </p:nvSpPr>
        <p:spPr bwMode="auto">
          <a:xfrm>
            <a:off x="-792441" y="7220229"/>
            <a:ext cx="7953376" cy="1704883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48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5963" y="753034"/>
            <a:ext cx="21025723" cy="1381687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48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5963" y="2134720"/>
            <a:ext cx="21025723" cy="457201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  <p:sp>
        <p:nvSpPr>
          <p:cNvPr id="488" name="Text Placeholder 28"/>
          <p:cNvSpPr>
            <a:spLocks noGrp="1"/>
          </p:cNvSpPr>
          <p:nvPr>
            <p:ph type="body" sz="quarter" idx="23"/>
          </p:nvPr>
        </p:nvSpPr>
        <p:spPr bwMode="auto">
          <a:xfrm>
            <a:off x="779183" y="7543240"/>
            <a:ext cx="5657851" cy="1087905"/>
          </a:xfrm>
          <a:prstGeom prst="rect">
            <a:avLst/>
          </a:prstGeom>
        </p:spPr>
        <p:txBody>
          <a:bodyPr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89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13559676" y="3973605"/>
            <a:ext cx="7928723" cy="550865"/>
          </a:xfrm>
          <a:prstGeom prst="rect">
            <a:avLst/>
          </a:prstGeom>
        </p:spPr>
        <p:txBody>
          <a:bodyPr/>
          <a:lstStyle>
            <a:lvl1pPr defTabSz="1700359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490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3559676" y="4653057"/>
            <a:ext cx="7928723" cy="4280739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491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5963" y="10220322"/>
            <a:ext cx="10512861" cy="1629899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1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795751" y="3993777"/>
            <a:ext cx="7591425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9525" y="3993777"/>
            <a:ext cx="7572375" cy="3856039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501" name="Picture Placeholder 14"/>
          <p:cNvSpPr>
            <a:spLocks noGrp="1"/>
          </p:cNvSpPr>
          <p:nvPr>
            <p:ph type="pic" sz="quarter" idx="23"/>
          </p:nvPr>
        </p:nvSpPr>
        <p:spPr bwMode="auto">
          <a:xfrm>
            <a:off x="6147003" y="3993777"/>
            <a:ext cx="12083644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5963" y="753034"/>
            <a:ext cx="21025723" cy="1381687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50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5963" y="2134720"/>
            <a:ext cx="21025723" cy="457201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1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5963" y="400050"/>
            <a:ext cx="10058839" cy="1057275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5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5963" y="1457325"/>
            <a:ext cx="10058839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  <p:sp>
        <p:nvSpPr>
          <p:cNvPr id="512" name="Straight Connector 7"/>
          <p:cNvSpPr/>
          <p:nvPr/>
        </p:nvSpPr>
        <p:spPr bwMode="auto">
          <a:xfrm>
            <a:off x="1675963" y="2143125"/>
            <a:ext cx="5484973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19" rIns="45719"/>
          <a:lstStyle/>
          <a:p>
            <a:pPr>
              <a:defRPr/>
            </a:pPr>
            <a:endParaRPr/>
          </a:p>
        </p:txBody>
      </p:sp>
      <p:sp>
        <p:nvSpPr>
          <p:cNvPr id="51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88825" y="-2"/>
            <a:ext cx="304920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5238091" y="-2"/>
            <a:ext cx="3049201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8287291" y="-2"/>
            <a:ext cx="3049201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21336556" y="-2"/>
            <a:ext cx="3049201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2188825" y="3441598"/>
            <a:ext cx="3049200" cy="34416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5238091" y="3441598"/>
            <a:ext cx="3049201" cy="34416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9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8287291" y="3441598"/>
            <a:ext cx="3049201" cy="34416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0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21336556" y="3441598"/>
            <a:ext cx="3049201" cy="34416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1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2188825" y="6832798"/>
            <a:ext cx="3049200" cy="34416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2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15238091" y="6832798"/>
            <a:ext cx="3049201" cy="34416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3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8287291" y="6832798"/>
            <a:ext cx="3049201" cy="34416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4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21336556" y="6832798"/>
            <a:ext cx="3049201" cy="34416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5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188825" y="10274399"/>
            <a:ext cx="3049200" cy="34416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6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15238091" y="10274399"/>
            <a:ext cx="3049201" cy="34416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7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18287291" y="10274399"/>
            <a:ext cx="3049201" cy="34416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8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21336556" y="10274399"/>
            <a:ext cx="3049201" cy="34416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1779461" y="12344400"/>
            <a:ext cx="5686638" cy="736601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1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6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0" y="4622612"/>
            <a:ext cx="24368125" cy="50327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3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53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5963" y="753034"/>
            <a:ext cx="21025723" cy="1381687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53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5963" y="2134720"/>
            <a:ext cx="21025723" cy="457201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2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0" y="3665156"/>
            <a:ext cx="24368125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7" name="Picture Placeholder 8"/>
          <p:cNvSpPr>
            <a:spLocks noGrp="1"/>
          </p:cNvSpPr>
          <p:nvPr>
            <p:ph type="pic" idx="22"/>
          </p:nvPr>
        </p:nvSpPr>
        <p:spPr bwMode="auto">
          <a:xfrm>
            <a:off x="1" y="3665156"/>
            <a:ext cx="24377651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549" name="CLICK TO EDIT MASTER TITLE STYLE"/>
          <p:cNvSpPr txBox="1">
            <a:spLocks noGrp="1"/>
          </p:cNvSpPr>
          <p:nvPr>
            <p:ph type="title" hasCustomPrompt="1"/>
          </p:nvPr>
        </p:nvSpPr>
        <p:spPr bwMode="auto">
          <a:xfrm>
            <a:off x="1603375" y="5850387"/>
            <a:ext cx="21134388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55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3375" y="7232071"/>
            <a:ext cx="21134388" cy="457201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2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0" y="0"/>
            <a:ext cx="24377650" cy="7620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5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55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8947606" y="6130925"/>
            <a:ext cx="2533652" cy="42640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981200" y="2514600"/>
            <a:ext cx="10207625" cy="3159126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56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981200" y="5673725"/>
            <a:ext cx="10207625" cy="457200"/>
          </a:xfrm>
          <a:prstGeom prst="rect">
            <a:avLst/>
          </a:prstGeom>
        </p:spPr>
        <p:txBody>
          <a:bodyPr/>
          <a:lstStyle>
            <a:lvl1pPr algn="r">
              <a:defRPr sz="3200">
                <a:solidFill>
                  <a:schemeClr val="accent4"/>
                </a:solidFill>
              </a:defRPr>
            </a:lvl1pPr>
            <a:lvl2pPr algn="r">
              <a:defRPr sz="3200">
                <a:solidFill>
                  <a:schemeClr val="accent4"/>
                </a:solidFill>
              </a:defRPr>
            </a:lvl2pPr>
            <a:lvl3pPr algn="r">
              <a:defRPr sz="3200">
                <a:solidFill>
                  <a:schemeClr val="accent4"/>
                </a:solidFill>
              </a:defRPr>
            </a:lvl3pPr>
            <a:lvl4pPr algn="r">
              <a:defRPr sz="3200">
                <a:solidFill>
                  <a:schemeClr val="accent4"/>
                </a:solidFill>
              </a:defRPr>
            </a:lvl4pPr>
            <a:lvl5pPr algn="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2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1023600" y="6261101"/>
            <a:ext cx="2527300" cy="42545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57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5963" y="753034"/>
            <a:ext cx="21025723" cy="1381687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57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5963" y="2134720"/>
            <a:ext cx="21025723" cy="457201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2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57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3509567" y="5902876"/>
            <a:ext cx="5560205" cy="2829667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8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5963" y="753034"/>
            <a:ext cx="21025723" cy="1381687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58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5963" y="2134720"/>
            <a:ext cx="21025723" cy="457201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2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58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753028" y="7389627"/>
            <a:ext cx="5545289" cy="4220309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9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5963" y="753034"/>
            <a:ext cx="21025723" cy="1381687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59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5963" y="2134720"/>
            <a:ext cx="21025723" cy="457201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2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59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038942" y="4658203"/>
            <a:ext cx="6231945" cy="4551507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0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5963" y="753034"/>
            <a:ext cx="21025723" cy="1381687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60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5963" y="2134720"/>
            <a:ext cx="21025723" cy="457201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2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60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726179" y="5610225"/>
            <a:ext cx="6370321" cy="35623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5963" y="753034"/>
            <a:ext cx="21025723" cy="1381687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6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5963" y="2134720"/>
            <a:ext cx="21025723" cy="457201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2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619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0"/>
            <a:ext cx="24377650" cy="137160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2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3375" y="5476314"/>
            <a:ext cx="21134388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62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3375" y="6858000"/>
            <a:ext cx="21134388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2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62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3375" y="5400675"/>
            <a:ext cx="10585450" cy="2028825"/>
          </a:xfrm>
          <a:prstGeom prst="rect">
            <a:avLst/>
          </a:prstGeom>
        </p:spPr>
        <p:txBody>
          <a:bodyPr/>
          <a:lstStyle>
            <a:lvl1pPr>
              <a:defRPr sz="66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63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3375" y="7429500"/>
            <a:ext cx="10585450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2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63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2188825" y="860612"/>
            <a:ext cx="10512861" cy="1623733"/>
          </a:xfrm>
          <a:prstGeom prst="rect">
            <a:avLst/>
          </a:prstGeom>
        </p:spPr>
        <p:txBody>
          <a:bodyPr/>
          <a:lstStyle>
            <a:lvl1pPr algn="r">
              <a:defRPr sz="7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63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2188825" y="2484345"/>
            <a:ext cx="10512861" cy="457201"/>
          </a:xfrm>
          <a:prstGeom prst="rect">
            <a:avLst/>
          </a:prstGeom>
        </p:spPr>
        <p:txBody>
          <a:bodyPr/>
          <a:lstStyle>
            <a:lvl1pPr algn="r">
              <a:defRPr sz="3200">
                <a:solidFill>
                  <a:schemeClr val="accent4"/>
                </a:solidFill>
              </a:defRPr>
            </a:lvl1pPr>
            <a:lvl2pPr algn="r">
              <a:defRPr sz="3200">
                <a:solidFill>
                  <a:schemeClr val="accent4"/>
                </a:solidFill>
              </a:defRPr>
            </a:lvl2pPr>
            <a:lvl3pPr algn="r">
              <a:defRPr sz="3200">
                <a:solidFill>
                  <a:schemeClr val="accent4"/>
                </a:solidFill>
              </a:defRPr>
            </a:lvl3pPr>
            <a:lvl4pPr algn="r">
              <a:defRPr sz="3200">
                <a:solidFill>
                  <a:schemeClr val="accent4"/>
                </a:solidFill>
              </a:defRPr>
            </a:lvl4pPr>
            <a:lvl5pPr algn="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3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0"/>
            <a:ext cx="24377650" cy="137160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64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3374" y="6429375"/>
            <a:ext cx="21098311" cy="2028825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64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3374" y="8458200"/>
            <a:ext cx="21098311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3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65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3375" y="4829175"/>
            <a:ext cx="21098311" cy="2028825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65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3375" y="6858000"/>
            <a:ext cx="21098311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5963" y="7557246"/>
            <a:ext cx="5988862" cy="680199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66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5964" y="8237445"/>
            <a:ext cx="5988861" cy="147133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</a:defRPr>
            </a:lvl1pPr>
            <a:lvl2pPr>
              <a:defRPr>
                <a:solidFill>
                  <a:srgbClr val="888888"/>
                </a:solidFill>
              </a:defRPr>
            </a:lvl2pPr>
            <a:lvl3pPr>
              <a:defRPr>
                <a:solidFill>
                  <a:srgbClr val="888888"/>
                </a:solidFill>
              </a:defRPr>
            </a:lvl3pPr>
            <a:lvl4pPr>
              <a:defRPr>
                <a:solidFill>
                  <a:srgbClr val="888888"/>
                </a:solidFill>
              </a:defRPr>
            </a:lvl4pPr>
            <a:lvl5pPr indent="3656686">
              <a:defRPr>
                <a:solidFill>
                  <a:srgbClr val="888888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  <p:sp>
        <p:nvSpPr>
          <p:cNvPr id="66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67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0" y="0"/>
            <a:ext cx="6102001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102000" y="0"/>
            <a:ext cx="6102001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204000" y="0"/>
            <a:ext cx="6102001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06000" y="0"/>
            <a:ext cx="6102001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0" y="4572000"/>
            <a:ext cx="6102001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6102000" y="4572000"/>
            <a:ext cx="6102001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2204000" y="4572000"/>
            <a:ext cx="6102001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8306000" y="4572000"/>
            <a:ext cx="6102001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3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0" y="9144000"/>
            <a:ext cx="6102001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4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6102000" y="9144000"/>
            <a:ext cx="6102001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5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2204000" y="9144000"/>
            <a:ext cx="6102001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6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18306000" y="9144000"/>
            <a:ext cx="6102001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7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333103" y="6994525"/>
            <a:ext cx="6102001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4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5963" y="730251"/>
            <a:ext cx="21025724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695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675963" y="3651250"/>
            <a:ext cx="10360502" cy="870267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  <p:sp>
        <p:nvSpPr>
          <p:cNvPr id="69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9138" y="730251"/>
            <a:ext cx="21025724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7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9138" y="3362326"/>
            <a:ext cx="10312890" cy="1647825"/>
          </a:xfrm>
          <a:prstGeom prst="rect">
            <a:avLst/>
          </a:prstGeom>
        </p:spPr>
        <p:txBody>
          <a:bodyPr anchor="b"/>
          <a:lstStyle>
            <a:lvl1pPr>
              <a:defRPr sz="4700"/>
            </a:lvl1pPr>
            <a:lvl2pPr>
              <a:defRPr sz="4700"/>
            </a:lvl2pPr>
            <a:lvl3pPr>
              <a:defRPr sz="4700"/>
            </a:lvl3pPr>
            <a:lvl4pPr>
              <a:defRPr sz="4700"/>
            </a:lvl4pPr>
            <a:lvl5pPr indent="3656686">
              <a:defRPr sz="4700"/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  <p:sp>
        <p:nvSpPr>
          <p:cNvPr id="705" name="Text Placeholder 4"/>
          <p:cNvSpPr>
            <a:spLocks noGrp="1"/>
          </p:cNvSpPr>
          <p:nvPr>
            <p:ph type="body" sz="quarter" idx="21"/>
          </p:nvPr>
        </p:nvSpPr>
        <p:spPr bwMode="auto">
          <a:xfrm>
            <a:off x="12341186" y="3362326"/>
            <a:ext cx="10363677" cy="1647825"/>
          </a:xfrm>
          <a:prstGeom prst="rect">
            <a:avLst/>
          </a:prstGeom>
        </p:spPr>
        <p:txBody>
          <a:bodyPr anchor="b"/>
          <a:lstStyle/>
          <a:p>
            <a:pPr>
              <a:defRPr sz="4700"/>
            </a:pPr>
            <a:endParaRPr/>
          </a:p>
        </p:txBody>
      </p:sp>
      <p:sp>
        <p:nvSpPr>
          <p:cNvPr id="70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5963" y="730251"/>
            <a:ext cx="21025724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7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715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2554288" y="5297486"/>
            <a:ext cx="5299076" cy="1828801"/>
          </a:xfrm>
          <a:prstGeom prst="rect">
            <a:avLst/>
          </a:prstGeom>
        </p:spPr>
        <p:txBody>
          <a:bodyPr/>
          <a:lstStyle>
            <a:lvl1pPr>
              <a:defRPr sz="8800">
                <a:latin typeface="Montserrat Semi Bold"/>
                <a:ea typeface="Montserrat Semi Bold"/>
                <a:cs typeface="Montserrat Semi Bold"/>
              </a:defRPr>
            </a:lvl1pPr>
            <a:lvl2pPr>
              <a:defRPr sz="8800">
                <a:latin typeface="Montserrat Semi Bold"/>
                <a:ea typeface="Montserrat Semi Bold"/>
                <a:cs typeface="Montserrat Semi Bold"/>
              </a:defRPr>
            </a:lvl2pPr>
            <a:lvl3pPr>
              <a:defRPr sz="8800">
                <a:latin typeface="Montserrat Semi Bold"/>
                <a:ea typeface="Montserrat Semi Bold"/>
                <a:cs typeface="Montserrat Semi Bold"/>
              </a:defRPr>
            </a:lvl3pPr>
            <a:lvl4pPr>
              <a:defRPr sz="8800">
                <a:latin typeface="Montserrat Semi Bold"/>
                <a:ea typeface="Montserrat Semi Bold"/>
                <a:cs typeface="Montserrat Semi Bold"/>
              </a:defRPr>
            </a:lvl4pPr>
            <a:lvl5pPr>
              <a:defRPr sz="8800"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  <p:sp>
        <p:nvSpPr>
          <p:cNvPr id="716" name="Text Placeholder 7"/>
          <p:cNvSpPr>
            <a:spLocks noGrp="1"/>
          </p:cNvSpPr>
          <p:nvPr>
            <p:ph type="body" sz="quarter" idx="21"/>
          </p:nvPr>
        </p:nvSpPr>
        <p:spPr bwMode="auto">
          <a:xfrm>
            <a:off x="2581275" y="7423150"/>
            <a:ext cx="5272088" cy="1531937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7" name="Text Placeholder 9"/>
          <p:cNvSpPr>
            <a:spLocks noGrp="1"/>
          </p:cNvSpPr>
          <p:nvPr>
            <p:ph type="body" sz="quarter" idx="22"/>
          </p:nvPr>
        </p:nvSpPr>
        <p:spPr bwMode="auto">
          <a:xfrm>
            <a:off x="8793722" y="5303839"/>
            <a:ext cx="5299076" cy="1828801"/>
          </a:xfrm>
          <a:prstGeom prst="rect">
            <a:avLst/>
          </a:prstGeom>
        </p:spPr>
        <p:txBody>
          <a:bodyPr/>
          <a:lstStyle/>
          <a:p>
            <a:pPr>
              <a:defRPr sz="3200">
                <a:latin typeface="Montserrat Semi Bold"/>
                <a:ea typeface="Montserrat Semi Bold"/>
                <a:cs typeface="Montserrat Semi Bold"/>
              </a:defRPr>
            </a:pPr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9139" y="914400"/>
            <a:ext cx="7862428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732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0363676" y="1974850"/>
            <a:ext cx="12341186" cy="9747251"/>
          </a:xfrm>
          <a:prstGeom prst="rect">
            <a:avLst/>
          </a:prstGeom>
        </p:spPr>
        <p:txBody>
          <a:bodyPr/>
          <a:lstStyle>
            <a:lvl1pPr>
              <a:defRPr sz="6300"/>
            </a:lvl1pPr>
            <a:lvl2pPr>
              <a:defRPr sz="6300"/>
            </a:lvl2pPr>
            <a:lvl3pPr>
              <a:defRPr sz="6300"/>
            </a:lvl3pPr>
            <a:lvl4pPr>
              <a:defRPr sz="6300"/>
            </a:lvl4pPr>
            <a:lvl5pPr>
              <a:defRPr sz="6300"/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  <p:sp>
        <p:nvSpPr>
          <p:cNvPr id="733" name="Text Placeholder 3"/>
          <p:cNvSpPr>
            <a:spLocks noGrp="1"/>
          </p:cNvSpPr>
          <p:nvPr>
            <p:ph type="body" sz="quarter" idx="21"/>
          </p:nvPr>
        </p:nvSpPr>
        <p:spPr bwMode="auto">
          <a:xfrm>
            <a:off x="1679139" y="4114800"/>
            <a:ext cx="7862428" cy="7623176"/>
          </a:xfrm>
          <a:prstGeom prst="rect">
            <a:avLst/>
          </a:prstGeom>
        </p:spPr>
        <p:txBody>
          <a:bodyPr/>
          <a:lstStyle/>
          <a:p>
            <a:pPr>
              <a:defRPr sz="3100"/>
            </a:pPr>
            <a:endParaRPr/>
          </a:p>
        </p:txBody>
      </p:sp>
      <p:sp>
        <p:nvSpPr>
          <p:cNvPr id="73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9139" y="914400"/>
            <a:ext cx="7862428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742" name="Picture Placeholder 2"/>
          <p:cNvSpPr>
            <a:spLocks noGrp="1"/>
          </p:cNvSpPr>
          <p:nvPr>
            <p:ph type="pic" sz="half" idx="21"/>
          </p:nvPr>
        </p:nvSpPr>
        <p:spPr bwMode="auto">
          <a:xfrm>
            <a:off x="10363676" y="1974850"/>
            <a:ext cx="12341186" cy="974725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9139" y="4114800"/>
            <a:ext cx="7862428" cy="7623176"/>
          </a:xfrm>
          <a:prstGeom prst="rect">
            <a:avLst/>
          </a:prstGeom>
        </p:spPr>
        <p:txBody>
          <a:bodyPr/>
          <a:lstStyle>
            <a:lvl1pPr>
              <a:defRPr sz="3100"/>
            </a:lvl1pPr>
            <a:lvl2pPr>
              <a:defRPr sz="3100"/>
            </a:lvl2pPr>
            <a:lvl3pPr>
              <a:defRPr sz="3100"/>
            </a:lvl3pPr>
            <a:lvl4pPr>
              <a:defRPr sz="3100"/>
            </a:lvl4pPr>
            <a:lvl5pPr indent="3656686">
              <a:defRPr sz="3100"/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  <p:sp>
        <p:nvSpPr>
          <p:cNvPr id="74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3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4932026" y="4114800"/>
            <a:ext cx="8229601" cy="54864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1779461" y="12344400"/>
            <a:ext cx="5686638" cy="736601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3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9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5236030" y="4297679"/>
            <a:ext cx="9141619" cy="54864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6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1779461" y="12344400"/>
            <a:ext cx="5686638" cy="736601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5_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4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0" y="0"/>
            <a:ext cx="2437765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1779461" y="12344400"/>
            <a:ext cx="5686638" cy="736601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3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" name="Picture Placeholder 6"/>
          <p:cNvSpPr>
            <a:spLocks noGrp="1"/>
          </p:cNvSpPr>
          <p:nvPr>
            <p:ph type="pic" idx="21"/>
          </p:nvPr>
        </p:nvSpPr>
        <p:spPr bwMode="auto">
          <a:xfrm>
            <a:off x="0" y="0"/>
            <a:ext cx="24377650" cy="8686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1779461" y="12344400"/>
            <a:ext cx="5686638" cy="736601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8F8F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22264084" y="12828905"/>
            <a:ext cx="437603" cy="4978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2300">
                <a:solidFill>
                  <a:srgbClr val="888888"/>
                </a:solidFill>
              </a:defRPr>
            </a:lvl1pPr>
          </a:lstStyle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218565" y="184149"/>
            <a:ext cx="21934170" cy="3016252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/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4" name="Уровень текста 1…"/>
          <p:cNvSpPr txBox="1">
            <a:spLocks noGrp="1"/>
          </p:cNvSpPr>
          <p:nvPr>
            <p:ph type="body" idx="1"/>
          </p:nvPr>
        </p:nvSpPr>
        <p:spPr bwMode="auto">
          <a:xfrm>
            <a:off x="1218565" y="3200400"/>
            <a:ext cx="21934170" cy="1051560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  <p:sldLayoutId id="2147483695" r:id="rId47"/>
    <p:sldLayoutId id="2147483696" r:id="rId48"/>
    <p:sldLayoutId id="2147483697" r:id="rId49"/>
    <p:sldLayoutId id="2147483698" r:id="rId50"/>
    <p:sldLayoutId id="2147483699" r:id="rId51"/>
    <p:sldLayoutId id="2147483700" r:id="rId52"/>
    <p:sldLayoutId id="2147483701" r:id="rId53"/>
    <p:sldLayoutId id="2147483702" r:id="rId54"/>
    <p:sldLayoutId id="2147483703" r:id="rId55"/>
  </p:sldLayoutIdLst>
  <p:txStyles>
    <p:titleStyle>
      <a:lvl1pPr marL="0" marR="0" indent="0" algn="l" defTabSz="1828343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1pPr>
      <a:lvl2pPr marL="0" marR="0" indent="0" algn="l" defTabSz="1828343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2pPr>
      <a:lvl3pPr marL="0" marR="0" indent="0" algn="l" defTabSz="1828343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3pPr>
      <a:lvl4pPr marL="0" marR="0" indent="0" algn="l" defTabSz="1828343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4pPr>
      <a:lvl5pPr marL="0" marR="0" indent="0" algn="l" defTabSz="1828343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5pPr>
      <a:lvl6pPr marL="0" marR="0" indent="0" algn="l" defTabSz="1828343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6pPr>
      <a:lvl7pPr marL="0" marR="0" indent="0" algn="l" defTabSz="1828343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7pPr>
      <a:lvl8pPr marL="0" marR="0" indent="0" algn="l" defTabSz="1828343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8pPr>
      <a:lvl9pPr marL="0" marR="0" indent="0" algn="l" defTabSz="1828343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9pPr>
    </p:titleStyle>
    <p:bodyStyle>
      <a:lvl1pPr marL="0" marR="0" indent="0" algn="l" defTabSz="1828343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1pPr>
      <a:lvl2pPr marL="0" marR="0" indent="914171" algn="l" defTabSz="1828343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2pPr>
      <a:lvl3pPr marL="0" marR="0" indent="1828343" algn="l" defTabSz="1828343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3pPr>
      <a:lvl4pPr marL="0" marR="0" indent="2742513" algn="l" defTabSz="1828343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4pPr>
      <a:lvl5pPr marL="0" marR="0" indent="3656684" algn="l" defTabSz="1828343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5pPr>
      <a:lvl6pPr marL="4936525" marR="0" indent="-365668" algn="l" defTabSz="1828343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6pPr>
      <a:lvl7pPr marL="5850696" marR="0" indent="-365668" algn="l" defTabSz="1828343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7pPr>
      <a:lvl8pPr marL="6764869" marR="0" indent="-365668" algn="l" defTabSz="1828343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8pPr>
      <a:lvl9pPr marL="7679039" marR="0" indent="-365668" algn="l" defTabSz="1828343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9pPr>
    </p:bodyStyle>
    <p:otherStyle>
      <a:lvl1pPr marL="0" marR="0" indent="0" algn="r" defTabSz="1828433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1pPr>
      <a:lvl2pPr marL="0" marR="0" indent="914216" algn="r" defTabSz="1828433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2pPr>
      <a:lvl3pPr marL="0" marR="0" indent="1828433" algn="r" defTabSz="1828433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3pPr>
      <a:lvl4pPr marL="0" marR="0" indent="2742651" algn="r" defTabSz="1828433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4pPr>
      <a:lvl5pPr marL="0" marR="0" indent="3656867" algn="r" defTabSz="1828433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5pPr>
      <a:lvl6pPr marL="0" marR="0" indent="4571086" algn="r" defTabSz="1828433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6pPr>
      <a:lvl7pPr marL="0" marR="0" indent="5485303" algn="r" defTabSz="1828433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7pPr>
      <a:lvl8pPr marL="0" marR="0" indent="6399519" algn="r" defTabSz="1828433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8pPr>
      <a:lvl9pPr marL="0" marR="0" indent="7313737" algn="r" defTabSz="1828433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2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2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2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26.png"/><Relationship Id="rId6" Type="http://schemas.openxmlformats.org/officeDocument/2006/relationships/image" Target="../media/image27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28.jpg"/><Relationship Id="rId6" Type="http://schemas.openxmlformats.org/officeDocument/2006/relationships/image" Target="../media/image2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28.jpg"/><Relationship Id="rId6" Type="http://schemas.openxmlformats.org/officeDocument/2006/relationships/image" Target="../media/image2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30.png"/><Relationship Id="rId6" Type="http://schemas.openxmlformats.org/officeDocument/2006/relationships/image" Target="../media/image27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32.jpg"/><Relationship Id="rId6" Type="http://schemas.openxmlformats.org/officeDocument/2006/relationships/image" Target="../media/image33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Relationship Id="rId4" Type="http://schemas.openxmlformats.org/officeDocument/2006/relationships/image" Target="../media/image34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8.png"/><Relationship Id="rId4" Type="http://schemas.openxmlformats.org/officeDocument/2006/relationships/image" Target="../media/image3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4" name="Rectangle 32"/>
          <p:cNvSpPr/>
          <p:nvPr/>
        </p:nvSpPr>
        <p:spPr bwMode="auto">
          <a:xfrm>
            <a:off x="931443" y="5481332"/>
            <a:ext cx="4621489" cy="4445001"/>
          </a:xfrm>
          <a:prstGeom prst="rect">
            <a:avLst/>
          </a:prstGeom>
          <a:solidFill>
            <a:srgbClr val="E6E6E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45" name="Rectangle 13"/>
          <p:cNvSpPr/>
          <p:nvPr/>
        </p:nvSpPr>
        <p:spPr bwMode="auto">
          <a:xfrm>
            <a:off x="13924280" y="0"/>
            <a:ext cx="10636250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46" name="Rectangle 5"/>
          <p:cNvSpPr/>
          <p:nvPr/>
        </p:nvSpPr>
        <p:spPr bwMode="auto">
          <a:xfrm>
            <a:off x="1664241" y="8700653"/>
            <a:ext cx="11649423" cy="108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55" name="Text Placeholder 1"/>
          <p:cNvSpPr txBox="1"/>
          <p:nvPr/>
        </p:nvSpPr>
        <p:spPr bwMode="auto">
          <a:xfrm>
            <a:off x="1664241" y="6712005"/>
            <a:ext cx="12903097" cy="1983653"/>
          </a:xfrm>
          <a:prstGeom prst="rect">
            <a:avLst/>
          </a:prstGeom>
          <a:ln w="12700">
            <a:miter lim="400000"/>
          </a:ln>
        </p:spPr>
        <p:txBody>
          <a:bodyPr lIns="36000" tIns="36000" rIns="36000" bIns="3600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ts val="1000"/>
              </a:spcBef>
              <a:defRPr sz="7200" spc="300">
                <a:solidFill>
                  <a:schemeClr val="accent6"/>
                </a:solidFill>
                <a:latin typeface="Montserrat Semi Bold"/>
                <a:ea typeface="Montserrat Semi Bold"/>
                <a:cs typeface="Montserrat Semi Bold"/>
              </a:defRPr>
            </a:pPr>
            <a:r>
              <a:rPr lang="ru-RU" sz="5400" b="1" spc="300">
                <a:solidFill>
                  <a:schemeClr val="accent6"/>
                </a:solidFill>
                <a:latin typeface="Montserrat Semi Bold"/>
                <a:ea typeface="Montserrat Semi Bold"/>
                <a:cs typeface="Montserrat Semi Bold"/>
              </a:rPr>
              <a:t>ОБУЧЕНИЕ ПРЕПОДАВАТЕЛЕЙ </a:t>
            </a:r>
            <a:endParaRPr/>
          </a:p>
          <a:p>
            <a:pPr defTabSz="914400">
              <a:lnSpc>
                <a:spcPct val="90000"/>
              </a:lnSpc>
              <a:spcBef>
                <a:spcPts val="1000"/>
              </a:spcBef>
              <a:defRPr sz="7200" spc="300">
                <a:solidFill>
                  <a:schemeClr val="accent6"/>
                </a:solidFill>
                <a:latin typeface="Montserrat Semi Bold"/>
                <a:ea typeface="Montserrat Semi Bold"/>
                <a:cs typeface="Montserrat Semi Bold"/>
              </a:defRPr>
            </a:pPr>
            <a:r>
              <a:rPr lang="ru-RU" sz="5400" b="1" spc="300">
                <a:solidFill>
                  <a:schemeClr val="accent6"/>
                </a:solidFill>
                <a:latin typeface="Montserrat Semi Bold"/>
                <a:ea typeface="Montserrat Semi Bold"/>
                <a:cs typeface="Montserrat Semi Bold"/>
              </a:rPr>
              <a:t>ПО ОКАЗАНИЮ ПЕРВОЙ  ПОМОЩИ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grpId="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85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5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8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8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0" y="6516000"/>
            <a:ext cx="684000" cy="684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algn="ctr">
              <a:defRPr/>
            </a:pPr>
            <a:fld id="{86CB4B4D-7CA3-9044-876B-883B54F8677D}" type="slidenum">
              <a:rPr/>
              <a:t>2</a:t>
            </a:fld>
            <a:endParaRPr/>
          </a:p>
        </p:txBody>
      </p:sp>
      <p:sp>
        <p:nvSpPr>
          <p:cNvPr id="11" name="object 8"/>
          <p:cNvSpPr/>
          <p:nvPr/>
        </p:nvSpPr>
        <p:spPr bwMode="auto">
          <a:xfrm>
            <a:off x="14885256" y="3051861"/>
            <a:ext cx="7431143" cy="9776857"/>
          </a:xfrm>
          <a:prstGeom prst="rect">
            <a:avLst/>
          </a:prstGeom>
          <a:blipFill>
            <a:blip r:embed="rId4"/>
            <a:stretch/>
          </a:blipFill>
        </p:spPr>
        <p:txBody>
          <a:bodyPr wrap="square" lIns="36000" tIns="36000" rIns="36000" bIns="36000" rtlCol="0"/>
          <a:lstStyle/>
          <a:p>
            <a:pPr>
              <a:defRPr/>
            </a:pPr>
            <a:endParaRPr/>
          </a:p>
        </p:txBody>
      </p:sp>
      <p:sp>
        <p:nvSpPr>
          <p:cNvPr id="12" name="object 7"/>
          <p:cNvSpPr txBox="1"/>
          <p:nvPr/>
        </p:nvSpPr>
        <p:spPr bwMode="auto">
          <a:xfrm>
            <a:off x="2054901" y="3643922"/>
            <a:ext cx="9203800" cy="8038739"/>
          </a:xfrm>
          <a:prstGeom prst="rect">
            <a:avLst/>
          </a:prstGeom>
        </p:spPr>
        <p:txBody>
          <a:bodyPr vert="horz" wrap="square" lIns="36000" tIns="13335" rIns="36000" bIns="36000" rtlCol="0">
            <a:spAutoFit/>
          </a:bodyPr>
          <a:lstStyle/>
          <a:p>
            <a:pPr marL="12700">
              <a:lnSpc>
                <a:spcPct val="100000"/>
              </a:lnSpc>
              <a:defRPr/>
            </a:pPr>
            <a:r>
              <a:rPr lang="ru-RU" sz="1700" b="1" spc="-5">
                <a:solidFill>
                  <a:schemeClr val="accent6"/>
                </a:solidFill>
                <a:latin typeface="Open Sans Light"/>
                <a:ea typeface="Open Sans Light"/>
                <a:cs typeface="Open Sans Light"/>
              </a:rPr>
              <a:t>ТЕМА 2. НАРУЖНЫЕ КРОВОТЕЧЕНИЯ</a:t>
            </a:r>
            <a:endParaRPr/>
          </a:p>
          <a:p>
            <a:pPr/>
            <a:r>
              <a:rPr sz="1700" b="0">
                <a:latin typeface="Open Sans Light"/>
                <a:ea typeface="Open Sans Light"/>
                <a:cs typeface="Open Sans Light"/>
              </a:rPr>
              <a:t/>
            </a:r>
          </a:p>
          <a:p>
            <a:pPr/>
            <a:r>
              <a:rPr sz="1700" b="1">
                <a:latin typeface="Open Sans Light"/>
                <a:ea typeface="Open Sans Light"/>
                <a:cs typeface="Open Sans Light"/>
              </a:rPr>
              <a:t>Важно заострить внимание: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Цель: виды кровотечений и навыки временной остановки;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Формат: 4 часа (2 теория + 2 практика), демонстрация и задачи;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Учесть непереносимость вида крови у части обучающихся;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Донести: сильное кровотечение — одна из главных причин гибели на месте;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Приоритет способов: прямое давление → повязка; жгут — крайняя мера.</a:t>
            </a:r>
          </a:p>
          <a:p>
            <a:pPr/>
            <a:r>
              <a:rPr sz="1700" b="0">
                <a:latin typeface="Open Sans Light"/>
                <a:ea typeface="Open Sans Light"/>
                <a:cs typeface="Open Sans Light"/>
              </a:rPr>
              <a:t/>
            </a:r>
          </a:p>
          <a:p>
            <a:pPr/>
            <a:r>
              <a:rPr sz="1700" b="1">
                <a:latin typeface="Open Sans Light"/>
                <a:ea typeface="Open Sans Light"/>
                <a:cs typeface="Open Sans Light"/>
              </a:rPr>
              <a:t>Возможные ошибки при обучении: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Игнорировать реакцию на вид крови и не адаптировать практику;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Сразу учить жгут, минуя прямое давление и давящую повязку;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Не связать теорию с отработкой навыка на практике.</a:t>
            </a:r>
          </a:p>
        </p:txBody>
      </p:sp>
      <p:sp>
        <p:nvSpPr>
          <p:cNvPr id="13" name="TextBox 6"/>
          <p:cNvSpPr txBox="1"/>
          <p:nvPr/>
        </p:nvSpPr>
        <p:spPr bwMode="auto">
          <a:xfrm>
            <a:off x="2054901" y="1370612"/>
            <a:ext cx="18720266" cy="1107996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 lang="ru-RU">
                <a:solidFill>
                  <a:schemeClr val="accent6"/>
                </a:solidFill>
              </a:rPr>
              <a:t>РЕКОМЕНДАЦИИ ДЛЯ ЭФФЕКТИВНОГО ОБУЧЕНИЯ</a:t>
            </a:r>
            <a:endParaRPr/>
          </a:p>
        </p:txBody>
      </p:sp>
      <p:sp>
        <p:nvSpPr>
          <p:cNvPr id="15" name="Rectangle 29"/>
          <p:cNvSpPr/>
          <p:nvPr/>
        </p:nvSpPr>
        <p:spPr bwMode="auto">
          <a:xfrm>
            <a:off x="2054901" y="2498546"/>
            <a:ext cx="18000000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0" y="6516000"/>
            <a:ext cx="684000" cy="684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algn="ctr">
              <a:defRPr/>
            </a:pPr>
            <a:fld id="{86CB4B4D-7CA3-9044-876B-883B54F8677D}" type="slidenum">
              <a:rPr/>
              <a:t>3</a:t>
            </a:fld>
            <a:endParaRPr/>
          </a:p>
        </p:txBody>
      </p:sp>
      <p:sp>
        <p:nvSpPr>
          <p:cNvPr id="29" name="TextBox 6"/>
          <p:cNvSpPr txBox="1"/>
          <p:nvPr/>
        </p:nvSpPr>
        <p:spPr bwMode="auto">
          <a:xfrm>
            <a:off x="2054901" y="1370612"/>
            <a:ext cx="18720266" cy="1107996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 lang="ru-RU">
                <a:solidFill>
                  <a:schemeClr val="accent6"/>
                </a:solidFill>
              </a:rPr>
              <a:t>РЕКОМЕНДАЦИИ ДЛЯ ЭФФЕКТИВНОГО ОБУЧЕНИЯ</a:t>
            </a:r>
            <a:endParaRPr/>
          </a:p>
        </p:txBody>
      </p:sp>
      <p:sp>
        <p:nvSpPr>
          <p:cNvPr id="30" name="Rectangle 29"/>
          <p:cNvSpPr/>
          <p:nvPr/>
        </p:nvSpPr>
        <p:spPr bwMode="auto">
          <a:xfrm>
            <a:off x="2054901" y="2498546"/>
            <a:ext cx="18000000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" name="object 7"/>
          <p:cNvSpPr txBox="1"/>
          <p:nvPr/>
        </p:nvSpPr>
        <p:spPr bwMode="auto">
          <a:xfrm>
            <a:off x="2054901" y="3761994"/>
            <a:ext cx="11441643" cy="7948971"/>
          </a:xfrm>
          <a:prstGeom prst="rect">
            <a:avLst/>
          </a:prstGeom>
        </p:spPr>
        <p:txBody>
          <a:bodyPr vert="horz" wrap="square" lIns="36000" tIns="13335" rIns="36000" bIns="3600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defRPr/>
            </a:pPr>
            <a:r>
              <a:rPr sz="1700" b="1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ОПАСНОСТЬ КРОВОПОТЕРИ</a:t>
            </a:r>
            <a:r>
              <a:rPr sz="3600" b="1" spc="-5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/>
            </a:r>
            <a:r>
              <a:rPr sz="3600" b="1" spc="8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/>
            </a:r>
            <a:r>
              <a:rPr sz="3600" b="1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/>
            </a:r>
            <a:endParaRPr sz="3600">
              <a:latin typeface="Open Sans Light"/>
              <a:ea typeface="Open Sans Light"/>
              <a:cs typeface="Open Sans Light"/>
            </a:endParaRPr>
          </a:p>
          <a:p>
            <a:pPr/>
            <a:r>
              <a:rPr sz="1700" b="0">
                <a:latin typeface="Open Sans Light"/>
                <a:ea typeface="Open Sans Light"/>
                <a:cs typeface="Open Sans Light"/>
              </a:rPr>
              <a:t/>
            </a:r>
          </a:p>
          <a:p>
            <a:pPr/>
            <a:r>
              <a:rPr sz="1700" b="1">
                <a:latin typeface="Open Sans Light"/>
                <a:ea typeface="Open Sans Light"/>
                <a:cs typeface="Open Sans Light"/>
              </a:rPr>
              <a:t>Важно заострить внимание: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Развести понятия «кровотечение» и «острая кровопотеря»;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Признаки кровопотери возможны и без видимой крови;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Интенсивное кровотечение даёт минуты, а не «время до скорой»;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Ориентир на месте — интенсивность, а не точный «вид сосуда».</a:t>
            </a:r>
          </a:p>
          <a:p>
            <a:pPr/>
            <a:r>
              <a:rPr sz="1700" b="0">
                <a:latin typeface="Open Sans Light"/>
                <a:ea typeface="Open Sans Light"/>
                <a:cs typeface="Open Sans Light"/>
              </a:rPr>
              <a:t/>
            </a:r>
          </a:p>
          <a:p>
            <a:pPr/>
            <a:r>
              <a:rPr sz="1700" b="1">
                <a:latin typeface="Open Sans Light"/>
                <a:ea typeface="Open Sans Light"/>
                <a:cs typeface="Open Sans Light"/>
              </a:rPr>
              <a:t>Возможные ошибки слушателей: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Ждать «классический фонтан», игнорируя промокшую одежду и лужу крови;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Считать, что без явной струи кровь «неопасна»;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Путать внутреннюю кровопотерю с «отсутствием проблемы».</a:t>
            </a:r>
          </a:p>
        </p:txBody>
      </p:sp>
      <p:sp>
        <p:nvSpPr>
          <p:cNvPr id="13" name="object 8"/>
          <p:cNvSpPr/>
          <p:nvPr/>
        </p:nvSpPr>
        <p:spPr bwMode="auto">
          <a:xfrm>
            <a:off x="14140964" y="4687614"/>
            <a:ext cx="8175435" cy="6220841"/>
          </a:xfrm>
          <a:prstGeom prst="rect">
            <a:avLst/>
          </a:prstGeom>
          <a:blipFill>
            <a:blip r:embed="rId4"/>
            <a:stretch/>
          </a:blipFill>
        </p:spPr>
        <p:txBody>
          <a:bodyPr wrap="square" lIns="36000" tIns="36000" rIns="36000" bIns="36000" rtlCol="0"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0" y="6516000"/>
            <a:ext cx="684000" cy="684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algn="ctr">
              <a:defRPr/>
            </a:pPr>
            <a:fld id="{86CB4B4D-7CA3-9044-876B-883B54F8677D}" type="slidenum">
              <a:rPr/>
              <a:t>4</a:t>
            </a:fld>
            <a:endParaRPr/>
          </a:p>
        </p:txBody>
      </p:sp>
      <p:sp>
        <p:nvSpPr>
          <p:cNvPr id="7" name="object 7"/>
          <p:cNvSpPr txBox="1"/>
          <p:nvPr/>
        </p:nvSpPr>
        <p:spPr bwMode="auto">
          <a:xfrm>
            <a:off x="2054901" y="4684887"/>
            <a:ext cx="9203800" cy="5656036"/>
          </a:xfrm>
          <a:prstGeom prst="rect">
            <a:avLst/>
          </a:prstGeom>
        </p:spPr>
        <p:txBody>
          <a:bodyPr vert="horz" wrap="square" lIns="36000" tIns="13335" rIns="36000" bIns="36000" rtlCol="0">
            <a:spAutoFit/>
          </a:bodyPr>
          <a:lstStyle/>
          <a:p>
            <a:pPr marL="12700">
              <a:spcBef>
                <a:spcPts val="105"/>
              </a:spcBef>
              <a:defRPr/>
            </a:pPr>
            <a:r>
              <a:rPr sz="1700" b="1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ПРИЗНАКИ НАРУЖНОГО КРОВОТЕЧЕНИЯ</a:t>
            </a:r>
            <a:r>
              <a:rPr sz="3600" b="1" spc="-5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/>
            </a:r>
            <a:r>
              <a:rPr sz="3600" b="1" spc="9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/>
            </a:r>
            <a:r>
              <a:rPr sz="3600" b="1" spc="-5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/>
            </a:r>
            <a:endParaRPr sz="3600">
              <a:latin typeface="Open Sans Light"/>
              <a:ea typeface="Open Sans Light"/>
              <a:cs typeface="Open Sans Light"/>
            </a:endParaRPr>
          </a:p>
          <a:p>
            <a:pPr/>
            <a:r>
              <a:rPr sz="1700" b="0">
                <a:latin typeface="Open Sans Light"/>
                <a:ea typeface="Open Sans Light"/>
                <a:cs typeface="Open Sans Light"/>
              </a:rPr>
              <a:t/>
            </a:r>
          </a:p>
          <a:p>
            <a:pPr/>
            <a:r>
              <a:rPr sz="1700" b="1">
                <a:latin typeface="Open Sans Light"/>
                <a:ea typeface="Open Sans Light"/>
                <a:cs typeface="Open Sans Light"/>
              </a:rPr>
              <a:t>Важно заострить внимание: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Артериальное / венозное / капиллярное — кратко, по признакам;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На практике вид определить сложно — останавливать по интенсивности;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Смешанные кровотечения (в т.ч. при отрыве) особенно опасны;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Не тратить время на «точный диагноз вида» вместо остановки.</a:t>
            </a:r>
          </a:p>
          <a:p>
            <a:pPr/>
            <a:r>
              <a:rPr sz="1700" b="0">
                <a:latin typeface="Open Sans Light"/>
                <a:ea typeface="Open Sans Light"/>
                <a:cs typeface="Open Sans Light"/>
              </a:rPr>
              <a:t/>
            </a:r>
          </a:p>
          <a:p>
            <a:pPr/>
            <a:r>
              <a:rPr sz="1700" b="1">
                <a:latin typeface="Open Sans Light"/>
                <a:ea typeface="Open Sans Light"/>
                <a:cs typeface="Open Sans Light"/>
              </a:rPr>
              <a:t>Возможные ошибки слушателей: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Зацикливаться на определении вида вместо действий;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Недооценивать венозное кровотечение («ручьём»);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Считать капиллярное всегда «несерьёзным» без осмотра.</a:t>
            </a:r>
          </a:p>
        </p:txBody>
      </p:sp>
      <p:sp>
        <p:nvSpPr>
          <p:cNvPr id="8" name="object 8"/>
          <p:cNvSpPr/>
          <p:nvPr/>
        </p:nvSpPr>
        <p:spPr bwMode="auto">
          <a:xfrm>
            <a:off x="14106640" y="3986529"/>
            <a:ext cx="8209759" cy="6426938"/>
          </a:xfrm>
          <a:prstGeom prst="rect">
            <a:avLst/>
          </a:prstGeom>
          <a:blipFill>
            <a:blip r:embed="rId4"/>
            <a:stretch/>
          </a:blipFill>
        </p:spPr>
        <p:txBody>
          <a:bodyPr wrap="square" lIns="36000" tIns="36000" rIns="36000" bIns="36000" rtlCol="0"/>
          <a:lstStyle/>
          <a:p>
            <a:pPr>
              <a:defRPr/>
            </a:pPr>
            <a:endParaRPr/>
          </a:p>
        </p:txBody>
      </p:sp>
      <p:sp>
        <p:nvSpPr>
          <p:cNvPr id="11" name="TextBox 6"/>
          <p:cNvSpPr txBox="1"/>
          <p:nvPr/>
        </p:nvSpPr>
        <p:spPr bwMode="auto">
          <a:xfrm>
            <a:off x="2054901" y="1370612"/>
            <a:ext cx="18720266" cy="1107996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 lang="ru-RU">
                <a:solidFill>
                  <a:schemeClr val="accent6"/>
                </a:solidFill>
              </a:rPr>
              <a:t>РЕКОМЕНДАЦИИ ДЛЯ ЭФФЕКТИВНОГО ОБУЧЕНИЯ</a:t>
            </a:r>
            <a:endParaRPr/>
          </a:p>
        </p:txBody>
      </p:sp>
      <p:sp>
        <p:nvSpPr>
          <p:cNvPr id="12" name="Rectangle 29"/>
          <p:cNvSpPr/>
          <p:nvPr/>
        </p:nvSpPr>
        <p:spPr bwMode="auto">
          <a:xfrm>
            <a:off x="2054901" y="2498546"/>
            <a:ext cx="18000000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0" y="6516000"/>
            <a:ext cx="684000" cy="684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algn="ctr">
              <a:defRPr/>
            </a:pPr>
            <a:fld id="{86CB4B4D-7CA3-9044-876B-883B54F8677D}" type="slidenum">
              <a:rPr/>
              <a:t>5</a:t>
            </a:fld>
            <a:endParaRPr/>
          </a:p>
        </p:txBody>
      </p:sp>
      <p:sp>
        <p:nvSpPr>
          <p:cNvPr id="11" name="TextBox 6"/>
          <p:cNvSpPr txBox="1"/>
          <p:nvPr/>
        </p:nvSpPr>
        <p:spPr bwMode="auto">
          <a:xfrm>
            <a:off x="2054901" y="1370612"/>
            <a:ext cx="18720266" cy="1107996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 lang="ru-RU">
                <a:solidFill>
                  <a:schemeClr val="accent6"/>
                </a:solidFill>
              </a:rPr>
              <a:t>РЕКОМЕНДАЦИИ ДЛЯ ЭФФЕКТИВНОГО ОБУЧЕНИЯ</a:t>
            </a:r>
            <a:endParaRPr/>
          </a:p>
        </p:txBody>
      </p:sp>
      <p:sp>
        <p:nvSpPr>
          <p:cNvPr id="12" name="Rectangle 29"/>
          <p:cNvSpPr/>
          <p:nvPr/>
        </p:nvSpPr>
        <p:spPr bwMode="auto">
          <a:xfrm>
            <a:off x="2054901" y="2498546"/>
            <a:ext cx="18000000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" name="object 7"/>
          <p:cNvSpPr txBox="1"/>
          <p:nvPr/>
        </p:nvSpPr>
        <p:spPr bwMode="auto">
          <a:xfrm>
            <a:off x="7332789" y="4325183"/>
            <a:ext cx="12722112" cy="6892271"/>
          </a:xfrm>
          <a:prstGeom prst="rect">
            <a:avLst/>
          </a:prstGeom>
        </p:spPr>
        <p:txBody>
          <a:bodyPr vert="horz" wrap="square" lIns="36000" tIns="13335" rIns="36000" bIns="3600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defRPr/>
            </a:pPr>
            <a:r>
              <a:rPr sz="1700" b="1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ОБЗОРНЫЙ ОСМОТР ПОСТРАДАВШЕГО</a:t>
            </a:r>
            <a:r>
              <a:rPr sz="3600" b="1" spc="-5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/>
            </a:r>
            <a:r>
              <a:rPr sz="3600" b="1" spc="8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/>
            </a:r>
            <a:r>
              <a:rPr sz="3600" b="1" spc="-5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/>
            </a:r>
            <a:endParaRPr sz="3600">
              <a:latin typeface="Open Sans Light"/>
              <a:ea typeface="Open Sans Light"/>
              <a:cs typeface="Open Sans Light"/>
            </a:endParaRPr>
          </a:p>
          <a:p>
            <a:pPr/>
            <a:r>
              <a:rPr sz="1700" b="0">
                <a:latin typeface="Open Sans Light"/>
                <a:ea typeface="Open Sans Light"/>
                <a:cs typeface="Open Sans Light"/>
              </a:rPr>
              <a:t/>
            </a:r>
          </a:p>
          <a:p>
            <a:pPr/>
            <a:r>
              <a:rPr sz="1700" b="1">
                <a:latin typeface="Open Sans Light"/>
                <a:ea typeface="Open Sans Light"/>
                <a:cs typeface="Open Sans Light"/>
              </a:rPr>
              <a:t>Важно заострить внимание: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Цель осмотра — быстро найти угрожающее жизни кровотечение;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Признаки: промокшая одежда, лужа крови, видимая струя/рана;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Осмотр — за несколько секунд, с головы до ног;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Обнаружили — сразу к остановке всеми доступными способами;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Сначала безопасность места происшествия.</a:t>
            </a:r>
          </a:p>
          <a:p>
            <a:pPr/>
            <a:r>
              <a:rPr sz="1700" b="0">
                <a:latin typeface="Open Sans Light"/>
                <a:ea typeface="Open Sans Light"/>
                <a:cs typeface="Open Sans Light"/>
              </a:rPr>
              <a:t/>
            </a:r>
          </a:p>
          <a:p>
            <a:pPr/>
            <a:r>
              <a:rPr sz="1700" b="1">
                <a:latin typeface="Open Sans Light"/>
                <a:ea typeface="Open Sans Light"/>
                <a:cs typeface="Open Sans Light"/>
              </a:rPr>
              <a:t>Возможные ошибки слушателей: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Долго «диагностировать» вместо быстрого осмотра;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Пропустить кровотечение под одеждой / сзади;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Начать помощь, не оценив безопасность.</a:t>
            </a:r>
          </a:p>
        </p:txBody>
      </p:sp>
      <p:sp>
        <p:nvSpPr>
          <p:cNvPr id="10" name="object 8"/>
          <p:cNvSpPr/>
          <p:nvPr/>
        </p:nvSpPr>
        <p:spPr bwMode="auto">
          <a:xfrm>
            <a:off x="2054901" y="2906487"/>
            <a:ext cx="3906987" cy="10476053"/>
          </a:xfrm>
          <a:prstGeom prst="rect">
            <a:avLst/>
          </a:prstGeom>
          <a:blipFill>
            <a:blip r:embed="rId4"/>
            <a:stretch/>
          </a:blipFill>
        </p:spPr>
        <p:txBody>
          <a:bodyPr wrap="square" lIns="36000" tIns="36000" rIns="36000" bIns="36000" rtlCol="0"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0" y="6516000"/>
            <a:ext cx="684000" cy="684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algn="ctr">
              <a:defRPr/>
            </a:pPr>
            <a:fld id="{86CB4B4D-7CA3-9044-876B-883B54F8677D}" type="slidenum">
              <a:rPr/>
              <a:t>6</a:t>
            </a:fld>
            <a:endParaRPr/>
          </a:p>
        </p:txBody>
      </p:sp>
      <p:sp>
        <p:nvSpPr>
          <p:cNvPr id="11" name="TextBox 6"/>
          <p:cNvSpPr txBox="1"/>
          <p:nvPr/>
        </p:nvSpPr>
        <p:spPr bwMode="auto">
          <a:xfrm>
            <a:off x="2054901" y="1370612"/>
            <a:ext cx="18720266" cy="1107996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 lang="ru-RU">
                <a:solidFill>
                  <a:schemeClr val="accent6"/>
                </a:solidFill>
              </a:rPr>
              <a:t>РЕКОМЕНДАЦИИ ДЛЯ ЭФФЕКТИВНОГО ОБУЧЕНИЯ</a:t>
            </a:r>
            <a:endParaRPr/>
          </a:p>
        </p:txBody>
      </p:sp>
      <p:sp>
        <p:nvSpPr>
          <p:cNvPr id="12" name="Rectangle 29"/>
          <p:cNvSpPr/>
          <p:nvPr/>
        </p:nvSpPr>
        <p:spPr bwMode="auto">
          <a:xfrm>
            <a:off x="2054901" y="2498546"/>
            <a:ext cx="18000000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7" name="object 7"/>
          <p:cNvSpPr txBox="1"/>
          <p:nvPr/>
        </p:nvSpPr>
        <p:spPr bwMode="auto">
          <a:xfrm>
            <a:off x="2054901" y="3702059"/>
            <a:ext cx="11254698" cy="8111067"/>
          </a:xfrm>
          <a:prstGeom prst="rect">
            <a:avLst/>
          </a:prstGeom>
        </p:spPr>
        <p:txBody>
          <a:bodyPr vert="horz" wrap="square" lIns="36000" tIns="13335" rIns="36000" bIns="3600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defRPr/>
            </a:pPr>
            <a:r>
              <a:rPr sz="1700" b="1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ПРЯМОЕ ДАВЛЕНИЕ НА РАНУ</a:t>
            </a:r>
            <a:r>
              <a:rPr sz="3600" b="1" spc="3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/>
            </a:r>
            <a:r>
              <a:rPr sz="3600" b="1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/>
            </a:r>
            <a:endParaRPr sz="3600">
              <a:latin typeface="Open Sans Light"/>
              <a:ea typeface="Open Sans Light"/>
              <a:cs typeface="Open Sans Light"/>
            </a:endParaRPr>
          </a:p>
          <a:p>
            <a:pPr/>
            <a:r>
              <a:rPr sz="1700" b="0">
                <a:latin typeface="Open Sans Light"/>
                <a:ea typeface="Open Sans Light"/>
                <a:cs typeface="Open Sans Light"/>
              </a:rPr>
              <a:t/>
            </a:r>
          </a:p>
          <a:p>
            <a:pPr/>
            <a:r>
              <a:rPr sz="1700" b="1">
                <a:latin typeface="Open Sans Light"/>
                <a:ea typeface="Open Sans Light"/>
                <a:cs typeface="Open Sans Light"/>
              </a:rPr>
              <a:t>Важно заострить внимание: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Самый простой и приоритетный способ при интенсивном кровотечении;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Давление — через салфетки/бинт/ткань, в перчатках;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Сила достаточна, чтобы остановить кровь — не «слегка прижать»;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Если сработало — далее давящая повязка;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Если нет повязки/жгута — продолжать давление до СМП.</a:t>
            </a:r>
          </a:p>
          <a:p>
            <a:pPr/>
            <a:r>
              <a:rPr sz="1700" b="0">
                <a:latin typeface="Open Sans Light"/>
                <a:ea typeface="Open Sans Light"/>
                <a:cs typeface="Open Sans Light"/>
              </a:rPr>
              <a:t/>
            </a:r>
          </a:p>
          <a:p>
            <a:pPr/>
            <a:r>
              <a:rPr sz="1700" b="1">
                <a:latin typeface="Open Sans Light"/>
                <a:ea typeface="Open Sans Light"/>
                <a:cs typeface="Open Sans Light"/>
              </a:rPr>
              <a:t>Возможные ошибки слушателей: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Слабое давление «для вида», кровь продолжает течь;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Сразу хвататься за жгут при доступном давлении на рану;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Забыть перчатки / защиту от контакта с кровью.</a:t>
            </a:r>
          </a:p>
        </p:txBody>
      </p:sp>
      <p:sp>
        <p:nvSpPr>
          <p:cNvPr id="8" name="object 8"/>
          <p:cNvSpPr>
            <a:spLocks noChangeAspect="1"/>
          </p:cNvSpPr>
          <p:nvPr/>
        </p:nvSpPr>
        <p:spPr bwMode="auto">
          <a:xfrm>
            <a:off x="12586235" y="3202874"/>
            <a:ext cx="6755722" cy="6626252"/>
          </a:xfrm>
          <a:prstGeom prst="rect">
            <a:avLst/>
          </a:prstGeom>
          <a:blipFill>
            <a:blip r:embed="rId5"/>
            <a:stretch/>
          </a:blipFill>
        </p:spPr>
        <p:txBody>
          <a:bodyPr wrap="square" lIns="36000" tIns="36000" rIns="36000" bIns="36000" rtlCol="0"/>
          <a:lstStyle/>
          <a:p>
            <a:pPr>
              <a:defRPr/>
            </a:pPr>
            <a:endParaRPr/>
          </a:p>
        </p:txBody>
      </p:sp>
      <p:sp>
        <p:nvSpPr>
          <p:cNvPr id="13" name="object 9"/>
          <p:cNvSpPr>
            <a:spLocks noChangeAspect="1"/>
          </p:cNvSpPr>
          <p:nvPr/>
        </p:nvSpPr>
        <p:spPr bwMode="auto">
          <a:xfrm>
            <a:off x="18559799" y="8986808"/>
            <a:ext cx="4430735" cy="4200898"/>
          </a:xfrm>
          <a:prstGeom prst="rect">
            <a:avLst/>
          </a:prstGeom>
          <a:blipFill>
            <a:blip r:embed="rId6"/>
            <a:stretch/>
          </a:blipFill>
        </p:spPr>
        <p:txBody>
          <a:bodyPr wrap="square" lIns="36000" tIns="36000" rIns="36000" bIns="36000" rtlCol="0"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0" y="6516000"/>
            <a:ext cx="684000" cy="684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algn="ctr">
              <a:defRPr/>
            </a:pPr>
            <a:fld id="{86CB4B4D-7CA3-9044-876B-883B54F8677D}" type="slidenum">
              <a:rPr/>
              <a:t>7</a:t>
            </a:fld>
            <a:endParaRPr/>
          </a:p>
        </p:txBody>
      </p:sp>
      <p:sp>
        <p:nvSpPr>
          <p:cNvPr id="11" name="TextBox 6"/>
          <p:cNvSpPr txBox="1"/>
          <p:nvPr/>
        </p:nvSpPr>
        <p:spPr bwMode="auto">
          <a:xfrm>
            <a:off x="2054901" y="1370612"/>
            <a:ext cx="18720266" cy="1107996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 lang="ru-RU">
                <a:solidFill>
                  <a:schemeClr val="accent6"/>
                </a:solidFill>
              </a:rPr>
              <a:t>РЕКОМЕНДАЦИИ ДЛЯ ЭФФЕКТИВНОГО ОБУЧЕНИЯ</a:t>
            </a:r>
            <a:endParaRPr/>
          </a:p>
        </p:txBody>
      </p:sp>
      <p:sp>
        <p:nvSpPr>
          <p:cNvPr id="12" name="Rectangle 29"/>
          <p:cNvSpPr/>
          <p:nvPr/>
        </p:nvSpPr>
        <p:spPr bwMode="auto">
          <a:xfrm>
            <a:off x="2054901" y="2498546"/>
            <a:ext cx="18000000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" name="object 7"/>
          <p:cNvSpPr txBox="1"/>
          <p:nvPr/>
        </p:nvSpPr>
        <p:spPr bwMode="auto">
          <a:xfrm>
            <a:off x="2054901" y="4747309"/>
            <a:ext cx="11585890" cy="3537379"/>
          </a:xfrm>
          <a:prstGeom prst="rect">
            <a:avLst/>
          </a:prstGeom>
        </p:spPr>
        <p:txBody>
          <a:bodyPr vert="horz" wrap="square" lIns="36000" tIns="12700" rIns="36000" bIns="36000" rtlCol="0">
            <a:spAutoFit/>
          </a:bodyPr>
          <a:lstStyle/>
          <a:p>
            <a:pPr marL="12700" marR="5080">
              <a:lnSpc>
                <a:spcPct val="110400"/>
              </a:lnSpc>
              <a:spcBef>
                <a:spcPts val="100"/>
              </a:spcBef>
              <a:defRPr/>
            </a:pPr>
            <a:r>
              <a:rPr sz="1700" b="1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ДАВЯЩАЯ ПОВЯЗКА</a:t>
            </a:r>
            <a:r>
              <a:rPr sz="3600" b="1" spc="-5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/>
            </a:r>
            <a:r>
              <a:rPr sz="3600" b="1" spc="4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/>
            </a:r>
            <a:r>
              <a:rPr sz="3600" b="1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/>
            </a:r>
            <a:endParaRPr sz="3600">
              <a:latin typeface="Open Sans Light"/>
              <a:ea typeface="Open Sans Light"/>
              <a:cs typeface="Open Sans Light"/>
            </a:endParaRPr>
          </a:p>
          <a:p>
            <a:pPr/>
            <a:r>
              <a:rPr sz="1700" b="0">
                <a:latin typeface="Open Sans Light"/>
                <a:ea typeface="Open Sans Light"/>
                <a:cs typeface="Open Sans Light"/>
              </a:rPr>
              <a:t/>
            </a:r>
          </a:p>
          <a:p>
            <a:pPr/>
            <a:r>
              <a:rPr sz="1700" b="1">
                <a:latin typeface="Open Sans Light"/>
                <a:ea typeface="Open Sans Light"/>
                <a:cs typeface="Open Sans Light"/>
              </a:rPr>
              <a:t>Важно заострить внимание: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Задача повязки — остановить кровь: накладывать с усилием;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На рану — салфетки/бинт/ткань, затем тугие туры;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Слабо промокает — ещё одна давящая повязка сверху;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Быстро промокает / неэффективна — переход к жгуту;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Закрепить свободный конец; контролировать эффект.</a:t>
            </a:r>
          </a:p>
          <a:p>
            <a:pPr/>
            <a:r>
              <a:rPr sz="1700" b="0">
                <a:latin typeface="Open Sans Light"/>
                <a:ea typeface="Open Sans Light"/>
                <a:cs typeface="Open Sans Light"/>
              </a:rPr>
              <a:t/>
            </a:r>
          </a:p>
          <a:p>
            <a:pPr/>
            <a:r>
              <a:rPr sz="1700" b="1">
                <a:latin typeface="Open Sans Light"/>
                <a:ea typeface="Open Sans Light"/>
                <a:cs typeface="Open Sans Light"/>
              </a:rPr>
              <a:t>Возможные ошибки слушателей: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Накладывать «слабо», без давления на рану;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Считать любую повязку достаточной без контроля промокания;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Снимать промокшую повязку вместо усиления / смены тактики.</a:t>
            </a:r>
          </a:p>
        </p:txBody>
      </p:sp>
      <p:sp>
        <p:nvSpPr>
          <p:cNvPr id="10" name="object 8"/>
          <p:cNvSpPr>
            <a:spLocks noChangeAspect="1"/>
          </p:cNvSpPr>
          <p:nvPr/>
        </p:nvSpPr>
        <p:spPr bwMode="auto">
          <a:xfrm>
            <a:off x="11042595" y="5643872"/>
            <a:ext cx="6843069" cy="7596707"/>
          </a:xfrm>
          <a:prstGeom prst="rect">
            <a:avLst/>
          </a:prstGeom>
          <a:blipFill>
            <a:blip r:embed="rId5"/>
            <a:stretch/>
          </a:blipFill>
        </p:spPr>
        <p:txBody>
          <a:bodyPr wrap="square" lIns="36000" tIns="36000" rIns="36000" bIns="36000" rtlCol="0"/>
          <a:lstStyle/>
          <a:p>
            <a:pPr>
              <a:defRPr/>
            </a:pPr>
            <a:endParaRPr/>
          </a:p>
        </p:txBody>
      </p:sp>
      <p:sp>
        <p:nvSpPr>
          <p:cNvPr id="14" name="object 9"/>
          <p:cNvSpPr>
            <a:spLocks noChangeAspect="1"/>
          </p:cNvSpPr>
          <p:nvPr/>
        </p:nvSpPr>
        <p:spPr bwMode="auto">
          <a:xfrm>
            <a:off x="17885664" y="6822570"/>
            <a:ext cx="4718304" cy="6192712"/>
          </a:xfrm>
          <a:prstGeom prst="rect">
            <a:avLst/>
          </a:prstGeom>
          <a:blipFill>
            <a:blip r:embed="rId6"/>
            <a:stretch/>
          </a:blipFill>
        </p:spPr>
        <p:txBody>
          <a:bodyPr wrap="square" lIns="36000" tIns="36000" rIns="36000" bIns="36000" rtlCol="0"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0" y="6516000"/>
            <a:ext cx="684000" cy="684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algn="ctr">
              <a:defRPr/>
            </a:pPr>
            <a:fld id="{86CB4B4D-7CA3-9044-876B-883B54F8677D}" type="slidenum">
              <a:rPr/>
              <a:t>8</a:t>
            </a:fld>
            <a:endParaRPr/>
          </a:p>
        </p:txBody>
      </p:sp>
      <p:sp>
        <p:nvSpPr>
          <p:cNvPr id="11" name="TextBox 6"/>
          <p:cNvSpPr txBox="1"/>
          <p:nvPr/>
        </p:nvSpPr>
        <p:spPr bwMode="auto">
          <a:xfrm>
            <a:off x="2054901" y="1370612"/>
            <a:ext cx="18720266" cy="1107996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 lang="ru-RU">
                <a:solidFill>
                  <a:schemeClr val="accent6"/>
                </a:solidFill>
              </a:rPr>
              <a:t>РЕКОМЕНДАЦИИ ДЛЯ ЭФФЕКТИВНОГО ОБУЧЕНИЯ</a:t>
            </a:r>
            <a:endParaRPr/>
          </a:p>
        </p:txBody>
      </p:sp>
      <p:sp>
        <p:nvSpPr>
          <p:cNvPr id="12" name="Rectangle 29"/>
          <p:cNvSpPr/>
          <p:nvPr/>
        </p:nvSpPr>
        <p:spPr bwMode="auto">
          <a:xfrm>
            <a:off x="2054901" y="2498546"/>
            <a:ext cx="18000000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" name="object 7"/>
          <p:cNvSpPr txBox="1"/>
          <p:nvPr/>
        </p:nvSpPr>
        <p:spPr bwMode="auto">
          <a:xfrm>
            <a:off x="9931414" y="4773268"/>
            <a:ext cx="10123487" cy="6338274"/>
          </a:xfrm>
          <a:prstGeom prst="rect">
            <a:avLst/>
          </a:prstGeom>
        </p:spPr>
        <p:txBody>
          <a:bodyPr vert="horz" wrap="square" lIns="36000" tIns="13335" rIns="36000" bIns="3600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defRPr/>
            </a:pPr>
            <a:r>
              <a:rPr sz="1700" b="1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ИНОРОДНОЕ ТЕЛО И ОТКРЫТЫЙ ПЕРЕЛОМ</a:t>
            </a:r>
            <a:r>
              <a:rPr sz="3600" b="1" spc="45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/>
            </a:r>
            <a:r>
              <a:rPr sz="3600" b="1" spc="-5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/>
            </a:r>
            <a:endParaRPr sz="3600">
              <a:latin typeface="Open Sans Light"/>
              <a:ea typeface="Open Sans Light"/>
              <a:cs typeface="Open Sans Light"/>
            </a:endParaRPr>
          </a:p>
          <a:p>
            <a:pPr/>
            <a:r>
              <a:rPr sz="1700" b="0">
                <a:latin typeface="Open Sans Light"/>
                <a:ea typeface="Open Sans Light"/>
                <a:cs typeface="Open Sans Light"/>
              </a:rPr>
              <a:t/>
            </a:r>
          </a:p>
          <a:p>
            <a:pPr/>
            <a:r>
              <a:rPr sz="1700" b="1">
                <a:latin typeface="Open Sans Light"/>
                <a:ea typeface="Open Sans Light"/>
                <a:cs typeface="Open Sans Light"/>
              </a:rPr>
              <a:t>Важно заострить внимание: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Инородный предмет из раны не извлекать;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Фиксировать предмет салфетками/бинттами и накладывать повязку;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Прямое давление на предмет / отломки — опасно или неэффективно;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В этих случаях — повязка с фиксацией и/или жгут по показаниям.</a:t>
            </a:r>
          </a:p>
          <a:p>
            <a:pPr/>
            <a:r>
              <a:rPr sz="1700" b="0">
                <a:latin typeface="Open Sans Light"/>
                <a:ea typeface="Open Sans Light"/>
                <a:cs typeface="Open Sans Light"/>
              </a:rPr>
              <a:t/>
            </a:r>
          </a:p>
          <a:p>
            <a:pPr/>
            <a:r>
              <a:rPr sz="1700" b="1">
                <a:latin typeface="Open Sans Light"/>
                <a:ea typeface="Open Sans Light"/>
                <a:cs typeface="Open Sans Light"/>
              </a:rPr>
              <a:t>Возможные ошибки слушателей: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Пытаться вытащить осколок / предмет из раны;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Давить прямо на инородное тело;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Тратить время на «идеальное» давление там, где оно противопоказано.</a:t>
            </a:r>
          </a:p>
        </p:txBody>
      </p:sp>
      <p:sp>
        <p:nvSpPr>
          <p:cNvPr id="13" name="object 8"/>
          <p:cNvSpPr>
            <a:spLocks noChangeAspect="1"/>
          </p:cNvSpPr>
          <p:nvPr/>
        </p:nvSpPr>
        <p:spPr bwMode="auto">
          <a:xfrm>
            <a:off x="2054900" y="9070848"/>
            <a:ext cx="5764086" cy="4081389"/>
          </a:xfrm>
          <a:prstGeom prst="rect">
            <a:avLst/>
          </a:prstGeom>
          <a:blipFill>
            <a:blip r:embed="rId6"/>
            <a:stretch/>
          </a:blipFill>
        </p:spPr>
        <p:txBody>
          <a:bodyPr wrap="square" lIns="36000" tIns="36000" rIns="36000" bIns="36000" rtlCol="0"/>
          <a:lstStyle/>
          <a:p>
            <a:pPr>
              <a:defRPr/>
            </a:pPr>
            <a:endParaRPr/>
          </a:p>
        </p:txBody>
      </p:sp>
      <p:sp>
        <p:nvSpPr>
          <p:cNvPr id="15" name="object 9"/>
          <p:cNvSpPr>
            <a:spLocks noChangeAspect="1"/>
          </p:cNvSpPr>
          <p:nvPr/>
        </p:nvSpPr>
        <p:spPr bwMode="auto">
          <a:xfrm>
            <a:off x="2054900" y="3196630"/>
            <a:ext cx="6505614" cy="5874218"/>
          </a:xfrm>
          <a:prstGeom prst="rect">
            <a:avLst/>
          </a:prstGeom>
          <a:blipFill>
            <a:blip r:embed="rId5"/>
            <a:stretch/>
          </a:blipFill>
        </p:spPr>
        <p:txBody>
          <a:bodyPr wrap="square" lIns="36000" tIns="36000" rIns="36000" bIns="36000" rtlCol="0"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0" y="6516000"/>
            <a:ext cx="684000" cy="684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algn="ctr">
              <a:defRPr/>
            </a:pPr>
            <a:fld id="{86CB4B4D-7CA3-9044-876B-883B54F8677D}" type="slidenum">
              <a:rPr/>
              <a:t>9</a:t>
            </a:fld>
            <a:endParaRPr/>
          </a:p>
        </p:txBody>
      </p:sp>
      <p:sp>
        <p:nvSpPr>
          <p:cNvPr id="11" name="TextBox 6"/>
          <p:cNvSpPr txBox="1"/>
          <p:nvPr/>
        </p:nvSpPr>
        <p:spPr bwMode="auto">
          <a:xfrm>
            <a:off x="2054901" y="1370612"/>
            <a:ext cx="18720266" cy="1107996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 lang="ru-RU">
                <a:solidFill>
                  <a:schemeClr val="accent6"/>
                </a:solidFill>
              </a:rPr>
              <a:t>РЕКОМЕНДАЦИИ ДЛЯ ЭФФЕКТИВНОГО ОБУЧЕНИЯ</a:t>
            </a:r>
            <a:endParaRPr/>
          </a:p>
        </p:txBody>
      </p:sp>
      <p:sp>
        <p:nvSpPr>
          <p:cNvPr id="12" name="Rectangle 29"/>
          <p:cNvSpPr/>
          <p:nvPr/>
        </p:nvSpPr>
        <p:spPr bwMode="auto">
          <a:xfrm>
            <a:off x="2054901" y="2498546"/>
            <a:ext cx="18000000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" name="object 7"/>
          <p:cNvSpPr txBox="1"/>
          <p:nvPr/>
        </p:nvSpPr>
        <p:spPr bwMode="auto">
          <a:xfrm>
            <a:off x="2054901" y="4803727"/>
            <a:ext cx="9563100" cy="6372129"/>
          </a:xfrm>
          <a:prstGeom prst="rect">
            <a:avLst/>
          </a:prstGeom>
        </p:spPr>
        <p:txBody>
          <a:bodyPr vert="horz" wrap="square" lIns="36000" tIns="13335" rIns="36000" bIns="3600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defRPr/>
            </a:pPr>
            <a:r>
              <a:rPr sz="1700" b="1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КРОВООСТАНАВЛИВАЮЩИЙ ЖГУТ</a:t>
            </a:r>
            <a:r>
              <a:rPr sz="3600" b="1" spc="-5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/>
            </a:r>
            <a:r>
              <a:rPr sz="3600" b="1" spc="7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/>
            </a:r>
            <a:r>
              <a:rPr sz="3600" b="1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/>
            </a:r>
            <a:endParaRPr sz="3600">
              <a:latin typeface="Open Sans Light"/>
              <a:ea typeface="Open Sans Light"/>
              <a:cs typeface="Open Sans Light"/>
            </a:endParaRPr>
          </a:p>
          <a:p>
            <a:pPr/>
            <a:r>
              <a:rPr sz="1700" b="0">
                <a:latin typeface="Open Sans Light"/>
                <a:ea typeface="Open Sans Light"/>
                <a:cs typeface="Open Sans Light"/>
              </a:rPr>
              <a:t/>
            </a:r>
          </a:p>
          <a:p>
            <a:pPr/>
            <a:r>
              <a:rPr sz="1700" b="1">
                <a:latin typeface="Open Sans Light"/>
                <a:ea typeface="Open Sans Light"/>
                <a:cs typeface="Open Sans Light"/>
              </a:rPr>
              <a:t>Важно заострить внимание: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Жгут — когда давление/повязка невозможны, неэффективны или при отрыве;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Только на конечность; выше раны (5–7 см) или максимально к туловищу;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Обычно на прокладку/одежду; турникет — по инструкции (иногда на голое тело);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Остановка — первым растянутым туром; жгут на виду; время указано;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Срок до 2 часов; снятие &gt;2 ч вне медорганизации не рекомендуется.</a:t>
            </a:r>
          </a:p>
          <a:p>
            <a:pPr/>
            <a:r>
              <a:rPr sz="1700" b="0">
                <a:latin typeface="Open Sans Light"/>
                <a:ea typeface="Open Sans Light"/>
                <a:cs typeface="Open Sans Light"/>
              </a:rPr>
              <a:t/>
            </a:r>
          </a:p>
          <a:p>
            <a:pPr/>
            <a:r>
              <a:rPr sz="1700" b="1">
                <a:latin typeface="Open Sans Light"/>
                <a:ea typeface="Open Sans Light"/>
                <a:cs typeface="Open Sans Light"/>
              </a:rPr>
              <a:t>Возможные ошибки слушателей: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Накладывать жгут «на всякий случай» при останавливаемом давлении;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Прятать жгут под повязкой/одеждой; не указывать время;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Использовать тонкую проволоку/шнур как импровизированный жгут;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Снимать жгут самостоятельно после долгого срока наложения.</a:t>
            </a:r>
          </a:p>
        </p:txBody>
      </p:sp>
      <p:sp>
        <p:nvSpPr>
          <p:cNvPr id="10" name="object 8"/>
          <p:cNvSpPr>
            <a:spLocks noChangeAspect="1"/>
          </p:cNvSpPr>
          <p:nvPr/>
        </p:nvSpPr>
        <p:spPr bwMode="auto">
          <a:xfrm>
            <a:off x="12988902" y="3561860"/>
            <a:ext cx="7066000" cy="3556004"/>
          </a:xfrm>
          <a:prstGeom prst="rect">
            <a:avLst/>
          </a:prstGeom>
          <a:blipFill>
            <a:blip r:embed="rId6"/>
            <a:stretch/>
          </a:blipFill>
        </p:spPr>
        <p:txBody>
          <a:bodyPr wrap="square" lIns="36000" tIns="36000" rIns="36000" bIns="36000" rtlCol="0"/>
          <a:lstStyle/>
          <a:p>
            <a:pPr>
              <a:defRPr/>
            </a:pPr>
            <a:endParaRPr/>
          </a:p>
        </p:txBody>
      </p:sp>
      <p:sp>
        <p:nvSpPr>
          <p:cNvPr id="14" name="object 9"/>
          <p:cNvSpPr>
            <a:spLocks noChangeAspect="1"/>
          </p:cNvSpPr>
          <p:nvPr/>
        </p:nvSpPr>
        <p:spPr bwMode="auto">
          <a:xfrm>
            <a:off x="13439066" y="7989792"/>
            <a:ext cx="6615835" cy="4848424"/>
          </a:xfrm>
          <a:prstGeom prst="rect">
            <a:avLst/>
          </a:prstGeom>
          <a:blipFill>
            <a:blip r:embed="rId5"/>
            <a:stretch/>
          </a:blipFill>
        </p:spPr>
        <p:txBody>
          <a:bodyPr wrap="square" lIns="36000" tIns="36000" rIns="36000" bIns="36000" rtlCol="0"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0" y="6516000"/>
            <a:ext cx="684000" cy="684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algn="ctr">
              <a:defRPr/>
            </a:pPr>
            <a:fld id="{86CB4B4D-7CA3-9044-876B-883B54F8677D}" type="slidenum">
              <a:rPr/>
              <a:t>10</a:t>
            </a:fld>
            <a:endParaRPr/>
          </a:p>
        </p:txBody>
      </p:sp>
      <p:sp>
        <p:nvSpPr>
          <p:cNvPr id="11" name="TextBox 6"/>
          <p:cNvSpPr txBox="1"/>
          <p:nvPr/>
        </p:nvSpPr>
        <p:spPr bwMode="auto">
          <a:xfrm>
            <a:off x="2054901" y="1370612"/>
            <a:ext cx="18720266" cy="1107996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 lang="ru-RU">
                <a:solidFill>
                  <a:schemeClr val="accent6"/>
                </a:solidFill>
              </a:rPr>
              <a:t>РЕКОМЕНДАЦИИ ДЛЯ ЭФФЕКТИВНОГО ОБУЧЕНИЯ</a:t>
            </a:r>
            <a:endParaRPr/>
          </a:p>
        </p:txBody>
      </p:sp>
      <p:sp>
        <p:nvSpPr>
          <p:cNvPr id="12" name="Rectangle 29"/>
          <p:cNvSpPr/>
          <p:nvPr/>
        </p:nvSpPr>
        <p:spPr bwMode="auto">
          <a:xfrm>
            <a:off x="2054901" y="2498546"/>
            <a:ext cx="18000000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" name="object 7"/>
          <p:cNvSpPr txBox="1"/>
          <p:nvPr/>
        </p:nvSpPr>
        <p:spPr bwMode="auto">
          <a:xfrm>
            <a:off x="2054901" y="3449164"/>
            <a:ext cx="9279467" cy="4599336"/>
          </a:xfrm>
          <a:prstGeom prst="rect">
            <a:avLst/>
          </a:prstGeom>
        </p:spPr>
        <p:txBody>
          <a:bodyPr vert="horz" wrap="square" lIns="36000" tIns="13335" rIns="36000" bIns="3600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defRPr/>
            </a:pPr>
            <a:r>
              <a:rPr sz="1700" b="1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ПОСЛЕДОВАТЕЛЬНОСТЬ ОСТАНОВКИ КРОВОТЕЧЕНИЯ</a:t>
            </a:r>
            <a:r>
              <a:rPr sz="3600" b="1" spc="3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/>
            </a:r>
            <a:r>
              <a:rPr sz="3600" b="1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/>
            </a:r>
            <a:endParaRPr sz="3600">
              <a:latin typeface="Open Sans Light"/>
              <a:ea typeface="Open Sans Light"/>
              <a:cs typeface="Open Sans Light"/>
            </a:endParaRPr>
          </a:p>
          <a:p>
            <a:pPr/>
            <a:r>
              <a:rPr sz="1700" b="0">
                <a:latin typeface="Open Sans Light"/>
                <a:ea typeface="Open Sans Light"/>
                <a:cs typeface="Open Sans Light"/>
              </a:rPr>
              <a:t/>
            </a:r>
          </a:p>
          <a:p>
            <a:pPr/>
            <a:r>
              <a:rPr sz="1700" b="1">
                <a:latin typeface="Open Sans Light"/>
                <a:ea typeface="Open Sans Light"/>
                <a:cs typeface="Open Sans Light"/>
              </a:rPr>
              <a:t>Важно заострить внимание: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Безопасность → обзорный осмотр → выбор способа;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Интенсивное кровотечение → сначала прямое давление;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Давление нельзя/опасно → повязка и/или жгут сразу;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Отрыв / разрушение конечности → жгут немедленно;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Давление помогло → повязка; не помогло → жгут выше раны.</a:t>
            </a:r>
          </a:p>
          <a:p>
            <a:pPr/>
            <a:r>
              <a:rPr sz="1700" b="0">
                <a:latin typeface="Open Sans Light"/>
                <a:ea typeface="Open Sans Light"/>
                <a:cs typeface="Open Sans Light"/>
              </a:rPr>
              <a:t/>
            </a:r>
          </a:p>
          <a:p>
            <a:pPr/>
            <a:r>
              <a:rPr sz="1700" b="1">
                <a:latin typeface="Open Sans Light"/>
                <a:ea typeface="Open Sans Light"/>
                <a:cs typeface="Open Sans Light"/>
              </a:rPr>
              <a:t>Возможные ошибки слушателей: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Нарушать порядок и начинать с жгута без показаний;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Останавливаться после «слабой» попытки давления;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Забывать контроль: остановилась ли кровь после приёма.</a:t>
            </a:r>
          </a:p>
        </p:txBody>
      </p:sp>
      <p:sp>
        <p:nvSpPr>
          <p:cNvPr id="13" name="object 8"/>
          <p:cNvSpPr>
            <a:spLocks noChangeAspect="1"/>
          </p:cNvSpPr>
          <p:nvPr/>
        </p:nvSpPr>
        <p:spPr bwMode="auto">
          <a:xfrm>
            <a:off x="5707726" y="8779419"/>
            <a:ext cx="11253284" cy="4076225"/>
          </a:xfrm>
          <a:prstGeom prst="rect">
            <a:avLst/>
          </a:prstGeom>
          <a:blipFill>
            <a:blip r:embed="rId5"/>
            <a:stretch/>
          </a:blipFill>
        </p:spPr>
        <p:txBody>
          <a:bodyPr wrap="square" lIns="36000" tIns="36000" rIns="36000" bIns="36000" rtlCol="0"/>
          <a:lstStyle/>
          <a:p>
            <a:pPr>
              <a:defRPr/>
            </a:pPr>
            <a:endParaRPr/>
          </a:p>
        </p:txBody>
      </p:sp>
      <p:sp>
        <p:nvSpPr>
          <p:cNvPr id="15" name="object 9"/>
          <p:cNvSpPr>
            <a:spLocks noChangeAspect="1"/>
          </p:cNvSpPr>
          <p:nvPr/>
        </p:nvSpPr>
        <p:spPr bwMode="auto">
          <a:xfrm>
            <a:off x="11694201" y="3272085"/>
            <a:ext cx="8613099" cy="4953493"/>
          </a:xfrm>
          <a:prstGeom prst="rect">
            <a:avLst/>
          </a:prstGeom>
          <a:blipFill>
            <a:blip r:embed="rId6"/>
            <a:srcRect l="0" t="0" r="0" b="9620"/>
            <a:stretch/>
          </a:blipFill>
        </p:spPr>
        <p:txBody>
          <a:bodyPr wrap="square" lIns="36000" tIns="36000" rIns="36000" bIns="36000" rtlCol="0"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0" y="6516000"/>
            <a:ext cx="684000" cy="684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algn="ctr">
              <a:defRPr/>
            </a:pPr>
            <a:fld id="{86CB4B4D-7CA3-9044-876B-883B54F8677D}" type="slidenum">
              <a:rPr/>
              <a:t>11</a:t>
            </a:fld>
            <a:endParaRPr/>
          </a:p>
        </p:txBody>
      </p:sp>
      <p:sp>
        <p:nvSpPr>
          <p:cNvPr id="11" name="TextBox 6"/>
          <p:cNvSpPr txBox="1"/>
          <p:nvPr/>
        </p:nvSpPr>
        <p:spPr bwMode="auto">
          <a:xfrm>
            <a:off x="2054901" y="1370612"/>
            <a:ext cx="18720266" cy="1107996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 lang="ru-RU">
                <a:solidFill>
                  <a:schemeClr val="accent6"/>
                </a:solidFill>
              </a:rPr>
              <a:t>РЕКОМЕНДАЦИИ ДЛЯ ЭФФЕКТИВНОГО ОБУЧЕНИЯ</a:t>
            </a:r>
            <a:endParaRPr/>
          </a:p>
        </p:txBody>
      </p:sp>
      <p:sp>
        <p:nvSpPr>
          <p:cNvPr id="12" name="Rectangle 29"/>
          <p:cNvSpPr/>
          <p:nvPr/>
        </p:nvSpPr>
        <p:spPr bwMode="auto">
          <a:xfrm>
            <a:off x="2054901" y="2498546"/>
            <a:ext cx="18000000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" name="object 7"/>
          <p:cNvSpPr txBox="1"/>
          <p:nvPr/>
        </p:nvSpPr>
        <p:spPr bwMode="auto">
          <a:xfrm>
            <a:off x="2054901" y="5469057"/>
            <a:ext cx="10949899" cy="4599336"/>
          </a:xfrm>
          <a:prstGeom prst="rect">
            <a:avLst/>
          </a:prstGeom>
        </p:spPr>
        <p:txBody>
          <a:bodyPr vert="horz" wrap="square" lIns="36000" tIns="13335" rIns="36000" bIns="3600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defRPr/>
            </a:pPr>
            <a:r>
              <a:rPr sz="1700" b="1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ГОЛОВА, ШЕЯ, ГРУДЬ, ЖИВОТ</a:t>
            </a:r>
            <a:r>
              <a:rPr sz="3600" b="1" spc="-5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/>
            </a:r>
            <a:r>
              <a:rPr sz="3600" b="1" spc="8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/>
            </a:r>
            <a:r>
              <a:rPr sz="3600" b="1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/>
            </a:r>
            <a:endParaRPr sz="3600">
              <a:latin typeface="Open Sans Light"/>
              <a:ea typeface="Open Sans Light"/>
              <a:cs typeface="Open Sans Light"/>
            </a:endParaRPr>
          </a:p>
          <a:p>
            <a:pPr/>
            <a:r>
              <a:rPr sz="1700" b="0">
                <a:latin typeface="Open Sans Light"/>
                <a:ea typeface="Open Sans Light"/>
                <a:cs typeface="Open Sans Light"/>
              </a:rPr>
              <a:t/>
            </a:r>
          </a:p>
          <a:p>
            <a:pPr/>
            <a:r>
              <a:rPr sz="1700" b="1">
                <a:latin typeface="Open Sans Light"/>
                <a:ea typeface="Open Sans Light"/>
                <a:cs typeface="Open Sans Light"/>
              </a:rPr>
              <a:t>Важно заострить внимание: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Голова: давление/повязка; при риске перелома черепа — без усиленного давления на кости;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Инородное в ране головы — фиксировать, не извлекать;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Шея: давление → повязка через противоположную подмышку;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Грудь/спина: остановить наружное; внутреннее крупных сосудов — только СМП/хирургия;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Живот/таз: не давить на выпавшие органы давящей повязкой.</a:t>
            </a:r>
          </a:p>
          <a:p>
            <a:pPr/>
            <a:r>
              <a:rPr sz="1700" b="0">
                <a:latin typeface="Open Sans Light"/>
                <a:ea typeface="Open Sans Light"/>
                <a:cs typeface="Open Sans Light"/>
              </a:rPr>
              <a:t/>
            </a:r>
          </a:p>
          <a:p>
            <a:pPr/>
            <a:r>
              <a:rPr sz="1700" b="1">
                <a:latin typeface="Open Sans Light"/>
                <a:ea typeface="Open Sans Light"/>
                <a:cs typeface="Open Sans Light"/>
              </a:rPr>
              <a:t>Возможные ошибки слушателей: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Сильно давить при подозрении на перелом черепа;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Накладывать круговую повязку на шею «как на конечность»;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Пытаться «остановить» внутреннее кровотечение груди подручными средствами;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Давить/бинтовать выпавшие органы живота.</a:t>
            </a:r>
          </a:p>
        </p:txBody>
      </p:sp>
      <p:sp>
        <p:nvSpPr>
          <p:cNvPr id="10" name="object 8"/>
          <p:cNvSpPr>
            <a:spLocks noChangeAspect="1"/>
          </p:cNvSpPr>
          <p:nvPr/>
        </p:nvSpPr>
        <p:spPr bwMode="auto">
          <a:xfrm>
            <a:off x="14530101" y="3288586"/>
            <a:ext cx="5524800" cy="4480139"/>
          </a:xfrm>
          <a:prstGeom prst="rect">
            <a:avLst/>
          </a:prstGeom>
          <a:blipFill>
            <a:blip r:embed="rId6"/>
            <a:stretch/>
          </a:blipFill>
        </p:spPr>
        <p:txBody>
          <a:bodyPr wrap="square" lIns="36000" tIns="36000" rIns="36000" bIns="36000" rtlCol="0"/>
          <a:lstStyle/>
          <a:p>
            <a:pPr>
              <a:defRPr/>
            </a:pPr>
            <a:endParaRPr/>
          </a:p>
        </p:txBody>
      </p:sp>
      <p:sp>
        <p:nvSpPr>
          <p:cNvPr id="14" name="object 9"/>
          <p:cNvSpPr>
            <a:spLocks noChangeAspect="1"/>
          </p:cNvSpPr>
          <p:nvPr/>
        </p:nvSpPr>
        <p:spPr bwMode="auto">
          <a:xfrm>
            <a:off x="14530102" y="8212838"/>
            <a:ext cx="5524799" cy="4826108"/>
          </a:xfrm>
          <a:prstGeom prst="rect">
            <a:avLst/>
          </a:prstGeom>
          <a:blipFill>
            <a:blip r:embed="rId5"/>
            <a:stretch/>
          </a:blipFill>
        </p:spPr>
        <p:txBody>
          <a:bodyPr wrap="square" lIns="36000" tIns="36000" rIns="36000" bIns="36000" rtlCol="0"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0" y="6516000"/>
            <a:ext cx="684000" cy="684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algn="ctr">
              <a:defRPr/>
            </a:pPr>
            <a:fld id="{86CB4B4D-7CA3-9044-876B-883B54F8677D}" type="slidenum">
              <a:rPr/>
              <a:t>12</a:t>
            </a:fld>
            <a:endParaRPr/>
          </a:p>
        </p:txBody>
      </p:sp>
      <p:sp>
        <p:nvSpPr>
          <p:cNvPr id="11" name="TextBox 6"/>
          <p:cNvSpPr txBox="1"/>
          <p:nvPr/>
        </p:nvSpPr>
        <p:spPr bwMode="auto">
          <a:xfrm>
            <a:off x="2054901" y="1370612"/>
            <a:ext cx="18720266" cy="1107996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 lang="ru-RU">
                <a:solidFill>
                  <a:schemeClr val="accent6"/>
                </a:solidFill>
              </a:rPr>
              <a:t>РЕКОМЕНДАЦИИ ДЛЯ ЭФФЕКТИВНОГО ОБУЧЕНИЯ</a:t>
            </a:r>
            <a:endParaRPr/>
          </a:p>
        </p:txBody>
      </p:sp>
      <p:sp>
        <p:nvSpPr>
          <p:cNvPr id="12" name="Rectangle 29"/>
          <p:cNvSpPr/>
          <p:nvPr/>
        </p:nvSpPr>
        <p:spPr bwMode="auto">
          <a:xfrm>
            <a:off x="2054901" y="2498546"/>
            <a:ext cx="18000000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" name="object 7"/>
          <p:cNvSpPr txBox="1"/>
          <p:nvPr/>
        </p:nvSpPr>
        <p:spPr bwMode="auto">
          <a:xfrm>
            <a:off x="11054901" y="5406327"/>
            <a:ext cx="8248545" cy="4045338"/>
          </a:xfrm>
          <a:prstGeom prst="rect">
            <a:avLst/>
          </a:prstGeom>
        </p:spPr>
        <p:txBody>
          <a:bodyPr vert="horz" wrap="square" lIns="36000" tIns="13335" rIns="36000" bIns="3600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defRPr/>
            </a:pPr>
            <a:r>
              <a:rPr sz="1700" b="1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КОНЕЧНОСТИ, ОТРЫВ, СМЕЖНЫЕ ЗОНЫ</a:t>
            </a:r>
            <a:r>
              <a:rPr sz="3600" b="1" spc="-1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/>
            </a:r>
            <a:r>
              <a:rPr sz="3600" b="1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/>
            </a:r>
            <a:endParaRPr sz="3600">
              <a:latin typeface="Open Sans Light"/>
              <a:ea typeface="Open Sans Light"/>
              <a:cs typeface="Open Sans Light"/>
            </a:endParaRPr>
          </a:p>
          <a:p>
            <a:pPr/>
            <a:r>
              <a:rPr sz="1700" b="0">
                <a:latin typeface="Open Sans Light"/>
                <a:ea typeface="Open Sans Light"/>
                <a:cs typeface="Open Sans Light"/>
              </a:rPr>
              <a:t/>
            </a:r>
          </a:p>
          <a:p>
            <a:pPr/>
            <a:r>
              <a:rPr sz="1700" b="1">
                <a:latin typeface="Open Sans Light"/>
                <a:ea typeface="Open Sans Light"/>
                <a:cs typeface="Open Sans Light"/>
              </a:rPr>
              <a:t>Важно заострить внимание: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Конечности: все способы по общей последовательности;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Выбор: интенсивность, место раны, наличие средств, срок СМП;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Отрыв части конечности — показание к немедленному жгуту;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Смежные зоны (пах, подмышка и т.п.): часто только прямое давление;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Жгут/повязку в смежных зонах наложить сложно — не терять время.</a:t>
            </a:r>
          </a:p>
          <a:p>
            <a:pPr/>
            <a:r>
              <a:rPr sz="1700" b="0">
                <a:latin typeface="Open Sans Light"/>
                <a:ea typeface="Open Sans Light"/>
                <a:cs typeface="Open Sans Light"/>
              </a:rPr>
              <a:t/>
            </a:r>
          </a:p>
          <a:p>
            <a:pPr/>
            <a:r>
              <a:rPr sz="1700" b="1">
                <a:latin typeface="Open Sans Light"/>
                <a:ea typeface="Open Sans Light"/>
                <a:cs typeface="Open Sans Light"/>
              </a:rPr>
              <a:t>Возможные ошибки слушателей: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Пытаться наложить жгут там, где анатомически нельзя;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При отрыве долго пробовать только давление;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Игнорировать сильное кровотечение из паха/подмышки.</a:t>
            </a:r>
          </a:p>
        </p:txBody>
      </p:sp>
      <p:sp>
        <p:nvSpPr>
          <p:cNvPr id="13" name="object 8"/>
          <p:cNvSpPr/>
          <p:nvPr/>
        </p:nvSpPr>
        <p:spPr bwMode="auto">
          <a:xfrm>
            <a:off x="3748235" y="3034259"/>
            <a:ext cx="5531232" cy="10076408"/>
          </a:xfrm>
          <a:prstGeom prst="rect">
            <a:avLst/>
          </a:prstGeom>
          <a:blipFill>
            <a:blip r:embed="rId4"/>
            <a:stretch/>
          </a:blipFill>
        </p:spPr>
        <p:txBody>
          <a:bodyPr wrap="square" lIns="36000" tIns="36000" rIns="36000" bIns="36000" rtlCol="0"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0" y="6516000"/>
            <a:ext cx="684000" cy="684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algn="ctr">
              <a:defRPr/>
            </a:pPr>
            <a:fld id="{86CB4B4D-7CA3-9044-876B-883B54F8677D}" type="slidenum">
              <a:rPr/>
              <a:t>13</a:t>
            </a:fld>
            <a:endParaRPr/>
          </a:p>
        </p:txBody>
      </p:sp>
      <p:sp>
        <p:nvSpPr>
          <p:cNvPr id="11" name="TextBox 6"/>
          <p:cNvSpPr txBox="1"/>
          <p:nvPr/>
        </p:nvSpPr>
        <p:spPr bwMode="auto">
          <a:xfrm>
            <a:off x="2054901" y="1370612"/>
            <a:ext cx="18720266" cy="1107996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 lang="ru-RU">
                <a:solidFill>
                  <a:schemeClr val="accent6"/>
                </a:solidFill>
              </a:rPr>
              <a:t>РЕКОМЕНДАЦИИ ДЛЯ ЭФФЕКТИВНОГО ОБУЧЕНИЯ</a:t>
            </a:r>
            <a:endParaRPr/>
          </a:p>
        </p:txBody>
      </p:sp>
      <p:sp>
        <p:nvSpPr>
          <p:cNvPr id="12" name="Rectangle 29"/>
          <p:cNvSpPr/>
          <p:nvPr/>
        </p:nvSpPr>
        <p:spPr bwMode="auto">
          <a:xfrm>
            <a:off x="2054901" y="2498546"/>
            <a:ext cx="18000000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7" name="object 7"/>
          <p:cNvSpPr txBox="1"/>
          <p:nvPr/>
        </p:nvSpPr>
        <p:spPr bwMode="auto">
          <a:xfrm>
            <a:off x="2054901" y="4232200"/>
            <a:ext cx="11220832" cy="5694508"/>
          </a:xfrm>
          <a:prstGeom prst="rect">
            <a:avLst/>
          </a:prstGeom>
        </p:spPr>
        <p:txBody>
          <a:bodyPr vert="horz" wrap="square" lIns="36000" tIns="13335" rIns="36000" bIns="36000" rtlCol="0">
            <a:spAutoFit/>
          </a:bodyPr>
          <a:lstStyle/>
          <a:p>
            <a:pPr marL="12700">
              <a:spcBef>
                <a:spcPts val="105"/>
              </a:spcBef>
              <a:defRPr/>
            </a:pPr>
            <a:r>
              <a:rPr sz="1700" b="1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ТИПИЧНЫЕ ОШИБКИ ПРИ ОБУЧЕНИИ ТЕМЕ</a:t>
            </a:r>
            <a:r>
              <a:rPr sz="3600" b="1" spc="-5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/>
            </a:r>
            <a:r>
              <a:rPr sz="3600" b="1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/>
            </a:r>
            <a:r>
              <a:rPr sz="3600" b="1" spc="9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/>
            </a:r>
            <a:r>
              <a:rPr sz="3600" b="1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/>
            </a:r>
            <a:endParaRPr sz="3600">
              <a:latin typeface="Open Sans Light"/>
              <a:ea typeface="Open Sans Light"/>
              <a:cs typeface="Open Sans Light"/>
            </a:endParaRPr>
          </a:p>
          <a:p>
            <a:pPr/>
            <a:r>
              <a:rPr sz="1700" b="0">
                <a:latin typeface="Open Sans Light"/>
                <a:ea typeface="Open Sans Light"/>
                <a:cs typeface="Open Sans Light"/>
              </a:rPr>
              <a:t/>
            </a:r>
          </a:p>
          <a:p>
            <a:pPr/>
            <a:r>
              <a:rPr sz="1700" b="1">
                <a:latin typeface="Open Sans Light"/>
                <a:ea typeface="Open Sans Light"/>
                <a:cs typeface="Open Sans Light"/>
              </a:rPr>
              <a:t>Важно заострить внимание: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Сначала отработать давление и повязку, жгут — осознанно как крайнюю меру;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Обязательно отработать жгут на практике (навык критичен);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Разбирать непереносимость вида крови и технику безопасности;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Закреплять алгоритм последовательности, а не «набор приёмов»;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Контролировать: перчатки, время жгута, видимость жгута, фиксация инородного тела.</a:t>
            </a:r>
          </a:p>
          <a:p>
            <a:pPr/>
            <a:r>
              <a:rPr sz="1700" b="0">
                <a:latin typeface="Open Sans Light"/>
                <a:ea typeface="Open Sans Light"/>
                <a:cs typeface="Open Sans Light"/>
              </a:rPr>
              <a:t/>
            </a:r>
          </a:p>
          <a:p>
            <a:pPr/>
            <a:r>
              <a:rPr sz="1700" b="1">
                <a:latin typeface="Open Sans Light"/>
                <a:ea typeface="Open Sans Light"/>
                <a:cs typeface="Open Sans Light"/>
              </a:rPr>
              <a:t>Возможные ошибки при обучении: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Свести практику к «намотали жгут» без сценариев выбора способа;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Пугать жгутом или, наоборот, подавать его как универсальный приём;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Не проверять указание времени и видимость жгута;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Пропустить особенности областей тела (шея, живот, смежные зоны).</a:t>
            </a:r>
          </a:p>
        </p:txBody>
      </p:sp>
      <p:sp>
        <p:nvSpPr>
          <p:cNvPr id="9" name="object 8"/>
          <p:cNvSpPr/>
          <p:nvPr/>
        </p:nvSpPr>
        <p:spPr bwMode="auto">
          <a:xfrm>
            <a:off x="14240234" y="3692733"/>
            <a:ext cx="6051733" cy="6330533"/>
          </a:xfrm>
          <a:prstGeom prst="rect">
            <a:avLst/>
          </a:prstGeom>
          <a:blipFill>
            <a:blip r:embed="rId4"/>
            <a:stretch/>
          </a:blipFill>
        </p:spPr>
        <p:txBody>
          <a:bodyPr wrap="square" lIns="36000" tIns="36000" rIns="36000" bIns="36000" rtlCol="0"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" name="Rectangle 13"/>
          <p:cNvSpPr/>
          <p:nvPr/>
        </p:nvSpPr>
        <p:spPr bwMode="auto">
          <a:xfrm>
            <a:off x="0" y="0"/>
            <a:ext cx="24371300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37" name="Rectangle 10"/>
          <p:cNvSpPr/>
          <p:nvPr/>
        </p:nvSpPr>
        <p:spPr bwMode="auto">
          <a:xfrm>
            <a:off x="0" y="0"/>
            <a:ext cx="7435515" cy="13716000"/>
          </a:xfrm>
          <a:prstGeom prst="rect">
            <a:avLst/>
          </a:prstGeom>
          <a:solidFill>
            <a:srgbClr val="6F6F6F">
              <a:alpha val="50195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86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" name="Text Placeholder 1"/>
          <p:cNvSpPr txBox="1"/>
          <p:nvPr/>
        </p:nvSpPr>
        <p:spPr bwMode="auto">
          <a:xfrm>
            <a:off x="10078695" y="5351780"/>
            <a:ext cx="11649423" cy="3012439"/>
          </a:xfrm>
          <a:prstGeom prst="rect">
            <a:avLst/>
          </a:prstGeom>
          <a:ln w="12700">
            <a:miter lim="400000"/>
          </a:ln>
        </p:spPr>
        <p:txBody>
          <a:bodyPr lIns="36000" tIns="36000" rIns="36000" bIns="3600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ts val="1000"/>
              </a:spcBef>
              <a:defRPr sz="7200" spc="300">
                <a:solidFill>
                  <a:schemeClr val="accent6"/>
                </a:solidFill>
                <a:latin typeface="Montserrat Semi Bold"/>
                <a:ea typeface="Montserrat Semi Bold"/>
                <a:cs typeface="Montserrat Semi Bold"/>
              </a:defRPr>
            </a:pPr>
            <a:r>
              <a:rPr lang="ru-RU" sz="6600" b="1" spc="300">
                <a:solidFill>
                  <a:schemeClr val="accent6"/>
                </a:solidFill>
                <a:latin typeface="Montserrat Semi Bold"/>
                <a:ea typeface="Montserrat Semi Bold"/>
                <a:cs typeface="Montserrat Semi Bold"/>
              </a:rPr>
              <a:t>БЛАГОДАРИМ ЗА ВНИМАНИЕ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 Theme">
      <a:dk1>
        <a:srgbClr val="000000"/>
      </a:dk1>
      <a:lt1>
        <a:srgbClr val="F8F8F8"/>
      </a:lt1>
      <a:dk2>
        <a:srgbClr val="A7A7A7"/>
      </a:dk2>
      <a:lt2>
        <a:srgbClr val="535353"/>
      </a:lt2>
      <a:accent1>
        <a:srgbClr val="7C7C7C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FFFFFF"/>
        </a:solidFill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127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7C7C7C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FFFFFF"/>
        </a:solidFill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127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r7-office/2025.4.1.1604</Application>
  <DocSecurity>0</DocSecurity>
  <PresentationFormat>Произвольный</PresentationFormat>
  <Paragraphs>0</Paragraphs>
  <Slides>17</Slides>
  <Notes>17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/>
  <dc:identifier/>
  <dc:language/>
  <cp:lastModifiedBy>Лукина Марина</cp:lastModifiedBy>
  <cp:revision>9</cp:revision>
  <dcterms:modified xsi:type="dcterms:W3CDTF">2026-08-19T09:35:45Z</dcterms:modified>
  <cp:category/>
  <cp:contentStatus/>
  <cp:version/>
</cp:coreProperties>
</file>