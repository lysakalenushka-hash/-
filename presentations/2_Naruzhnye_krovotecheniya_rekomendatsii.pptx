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2" r:id="rId20"/>
  </p:sldIdLst>
  <p:sldSz cx="24371300" cy="13716000"/>
  <p:notesSz cx="243713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433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3500" b="0" i="0" u="none" strike="noStrike" cap="none" spc="0">
        <a:ln>
          <a:noFill/>
        </a:ln>
        <a:solidFill>
          <a:srgbClr val="000000"/>
        </a:solidFill>
        <a:latin typeface="Open Sans Light"/>
        <a:ea typeface="Open Sans Light"/>
        <a:cs typeface="Open Sans Light"/>
      </a:defRPr>
    </a:lvl1pPr>
    <a:lvl2pPr marL="0" marR="0" indent="914216" algn="l" defTabSz="1828433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3500" b="0" i="0" u="none" strike="noStrike" cap="none" spc="0">
        <a:ln>
          <a:noFill/>
        </a:ln>
        <a:solidFill>
          <a:srgbClr val="000000"/>
        </a:solidFill>
        <a:latin typeface="Open Sans Light"/>
        <a:ea typeface="Open Sans Light"/>
        <a:cs typeface="Open Sans Light"/>
      </a:defRPr>
    </a:lvl2pPr>
    <a:lvl3pPr marL="0" marR="0" indent="1828433" algn="l" defTabSz="1828433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3500" b="0" i="0" u="none" strike="noStrike" cap="none" spc="0">
        <a:ln>
          <a:noFill/>
        </a:ln>
        <a:solidFill>
          <a:srgbClr val="000000"/>
        </a:solidFill>
        <a:latin typeface="Open Sans Light"/>
        <a:ea typeface="Open Sans Light"/>
        <a:cs typeface="Open Sans Light"/>
      </a:defRPr>
    </a:lvl3pPr>
    <a:lvl4pPr marL="0" marR="0" indent="2742651" algn="l" defTabSz="1828433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3500" b="0" i="0" u="none" strike="noStrike" cap="none" spc="0">
        <a:ln>
          <a:noFill/>
        </a:ln>
        <a:solidFill>
          <a:srgbClr val="000000"/>
        </a:solidFill>
        <a:latin typeface="Open Sans Light"/>
        <a:ea typeface="Open Sans Light"/>
        <a:cs typeface="Open Sans Light"/>
      </a:defRPr>
    </a:lvl4pPr>
    <a:lvl5pPr marL="0" marR="0" indent="3656867" algn="l" defTabSz="1828433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3500" b="0" i="0" u="none" strike="noStrike" cap="none" spc="0">
        <a:ln>
          <a:noFill/>
        </a:ln>
        <a:solidFill>
          <a:srgbClr val="000000"/>
        </a:solidFill>
        <a:latin typeface="Open Sans Light"/>
        <a:ea typeface="Open Sans Light"/>
        <a:cs typeface="Open Sans Light"/>
      </a:defRPr>
    </a:lvl5pPr>
    <a:lvl6pPr marL="0" marR="0" indent="4571086" algn="l" defTabSz="1828433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3500" b="0" i="0" u="none" strike="noStrike" cap="none" spc="0">
        <a:ln>
          <a:noFill/>
        </a:ln>
        <a:solidFill>
          <a:srgbClr val="000000"/>
        </a:solidFill>
        <a:latin typeface="Open Sans Light"/>
        <a:ea typeface="Open Sans Light"/>
        <a:cs typeface="Open Sans Light"/>
      </a:defRPr>
    </a:lvl6pPr>
    <a:lvl7pPr marL="0" marR="0" indent="5485303" algn="l" defTabSz="1828433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3500" b="0" i="0" u="none" strike="noStrike" cap="none" spc="0">
        <a:ln>
          <a:noFill/>
        </a:ln>
        <a:solidFill>
          <a:srgbClr val="000000"/>
        </a:solidFill>
        <a:latin typeface="Open Sans Light"/>
        <a:ea typeface="Open Sans Light"/>
        <a:cs typeface="Open Sans Light"/>
      </a:defRPr>
    </a:lvl7pPr>
    <a:lvl8pPr marL="0" marR="0" indent="6399519" algn="l" defTabSz="1828433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3500" b="0" i="0" u="none" strike="noStrike" cap="none" spc="0">
        <a:ln>
          <a:noFill/>
        </a:ln>
        <a:solidFill>
          <a:srgbClr val="000000"/>
        </a:solidFill>
        <a:latin typeface="Open Sans Light"/>
        <a:ea typeface="Open Sans Light"/>
        <a:cs typeface="Open Sans Light"/>
      </a:defRPr>
    </a:lvl8pPr>
    <a:lvl9pPr marL="0" marR="0" indent="7313737" algn="l" defTabSz="1828433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3500" b="0" i="0" u="none" strike="noStrike" cap="none" spc="0">
        <a:ln>
          <a:noFill/>
        </a:ln>
        <a:solidFill>
          <a:srgbClr val="000000"/>
        </a:solidFill>
        <a:latin typeface="Open Sans Light"/>
        <a:ea typeface="Open Sans Light"/>
        <a:cs typeface="Open Sans Ligh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29" d="100"/>
          <a:sy n="29" d="100"/>
        </p:scale>
        <p:origin x="300" y="78"/>
      </p:cViewPr>
      <p:guideLst>
        <p:guide pos="4320" orient="horz"/>
        <p:guide pos="7676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tableStyles" Target="tableStyles.xml"/><Relationship Id="rId2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" name="Shape 841"/>
          <p:cNvSpPr>
            <a:spLocks noChangeAspect="1" noGrp="1" noRo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" name="Shape 842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>
        <a:latin typeface="+mn-lt"/>
        <a:ea typeface="+mn-ea"/>
        <a:cs typeface="+mn-cs"/>
      </a:defRPr>
    </a:lvl1pPr>
    <a:lvl2pPr indent="228600">
      <a:defRPr sz="1200">
        <a:latin typeface="+mn-lt"/>
        <a:ea typeface="+mn-ea"/>
        <a:cs typeface="+mn-cs"/>
      </a:defRPr>
    </a:lvl2pPr>
    <a:lvl3pPr indent="457200">
      <a:defRPr sz="1200">
        <a:latin typeface="+mn-lt"/>
        <a:ea typeface="+mn-ea"/>
        <a:cs typeface="+mn-cs"/>
      </a:defRPr>
    </a:lvl3pPr>
    <a:lvl4pPr indent="685800">
      <a:defRPr sz="1200">
        <a:latin typeface="+mn-lt"/>
        <a:ea typeface="+mn-ea"/>
        <a:cs typeface="+mn-cs"/>
      </a:defRPr>
    </a:lvl4pPr>
    <a:lvl5pPr indent="914400">
      <a:defRPr sz="1200">
        <a:latin typeface="+mn-lt"/>
        <a:ea typeface="+mn-ea"/>
        <a:cs typeface="+mn-cs"/>
      </a:defRPr>
    </a:lvl5pPr>
    <a:lvl6pPr indent="1143000">
      <a:defRPr sz="1200">
        <a:latin typeface="+mn-lt"/>
        <a:ea typeface="+mn-ea"/>
        <a:cs typeface="+mn-cs"/>
      </a:defRPr>
    </a:lvl6pPr>
    <a:lvl7pPr indent="1371600">
      <a:defRPr sz="1200">
        <a:latin typeface="+mn-lt"/>
        <a:ea typeface="+mn-ea"/>
        <a:cs typeface="+mn-cs"/>
      </a:defRPr>
    </a:lvl7pPr>
    <a:lvl8pPr indent="1600200">
      <a:defRPr sz="1200">
        <a:latin typeface="+mn-lt"/>
        <a:ea typeface="+mn-ea"/>
        <a:cs typeface="+mn-cs"/>
      </a:defRPr>
    </a:lvl8pPr>
    <a:lvl9pPr indent="1828800">
      <a:defRPr sz="12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Тема 2. Оказание первой помощи при наружных кровотечениях</a:t>
            </a:r>
          </a:p>
          <a:p>
            <a:r>
              <a:t>Презентация для преподавателей: акценты и типичные ошибки.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ТЕМА 2. НАРУЖНЫЕ КРОВОТЕЧЕНИЯ</a:t>
            </a:r>
          </a:p>
          <a:p/>
          <a:p>
            <a:r>
              <a:t>Важно:</a:t>
            </a:r>
          </a:p>
          <a:p>
            <a:r>
              <a:t>- Цель: виды кровотечений и навыки временной остановки;</a:t>
            </a:r>
          </a:p>
          <a:p>
            <a:r>
              <a:t>- Формат: 4 часа (2 теория + 2 практика), демонстрация и задачи;</a:t>
            </a:r>
          </a:p>
          <a:p>
            <a:r>
              <a:t>- Учесть непереносимость вида крови у части обучающихся;</a:t>
            </a:r>
          </a:p>
          <a:p>
            <a:r>
              <a:t>- Донести: сильное кровотечение — одна из главных причин гибели на месте;</a:t>
            </a:r>
          </a:p>
          <a:p>
            <a:r>
              <a:t>- Приоритет способов: прямое давление → повязка; жгут — крайняя мера.</a:t>
            </a:r>
          </a:p>
          <a:p/>
          <a:p>
            <a:r>
              <a:t>Возможные ошибки при обучении:</a:t>
            </a:r>
          </a:p>
          <a:p>
            <a:r>
              <a:t>- Игнорировать реакцию на вид крови и не адаптировать практику;</a:t>
            </a:r>
          </a:p>
          <a:p>
            <a:r>
              <a:t>- Сразу учить жгут, минуя прямое давление и давящую повязку;</a:t>
            </a:r>
          </a:p>
          <a:p>
            <a:r>
              <a:t>- Не связать теорию с отработкой навыка на практике.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ОПАСНОСТЬ КРОВОПОТЕРИ</a:t>
            </a:r>
          </a:p>
          <a:p/>
          <a:p>
            <a:r>
              <a:t>Важно:</a:t>
            </a:r>
          </a:p>
          <a:p>
            <a:r>
              <a:t>- Развести понятия «кровотечение» и «острая кровопотеря»;</a:t>
            </a:r>
          </a:p>
          <a:p>
            <a:r>
              <a:t>- Признаки кровопотери возможны и без видимой крови;</a:t>
            </a:r>
          </a:p>
          <a:p>
            <a:r>
              <a:t>- Интенсивное кровотечение даёт минуты, а не «время до скорой»;</a:t>
            </a:r>
          </a:p>
          <a:p>
            <a:r>
              <a:t>- Ориентир на месте — интенсивность, а не точный «вид сосуда».</a:t>
            </a:r>
          </a:p>
          <a:p/>
          <a:p>
            <a:r>
              <a:t>Возможные ошибки слушателей:</a:t>
            </a:r>
          </a:p>
          <a:p>
            <a:r>
              <a:t>- Ждать «классический фонтан», игнорируя промокшую одежду и лужу крови;</a:t>
            </a:r>
          </a:p>
          <a:p>
            <a:r>
              <a:t>- Считать, что без явной струи кровь «неопасна»;</a:t>
            </a:r>
          </a:p>
          <a:p>
            <a:r>
              <a:t>- Путать внутреннюю кровопотерю с «отсутствием проблемы».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ПРИЗНАКИ НАРУЖНОГО КРОВОТЕЧЕНИЯ</a:t>
            </a:r>
          </a:p>
          <a:p/>
          <a:p>
            <a:r>
              <a:t>Важно:</a:t>
            </a:r>
          </a:p>
          <a:p>
            <a:r>
              <a:t>- Артериальное / венозное / капиллярное — кратко, по признакам;</a:t>
            </a:r>
          </a:p>
          <a:p>
            <a:r>
              <a:t>- На практике вид определить сложно — останавливать по интенсивности;</a:t>
            </a:r>
          </a:p>
          <a:p>
            <a:r>
              <a:t>- Смешанные кровотечения (в т.ч. при отрыве) особенно опасны;</a:t>
            </a:r>
          </a:p>
          <a:p>
            <a:r>
              <a:t>- Не тратить время на «точный диагноз вида» вместо остановки.</a:t>
            </a:r>
          </a:p>
          <a:p/>
          <a:p>
            <a:r>
              <a:t>Возможные ошибки слушателей:</a:t>
            </a:r>
          </a:p>
          <a:p>
            <a:r>
              <a:t>- Зацикливаться на определении вида вместо действий;</a:t>
            </a:r>
          </a:p>
          <a:p>
            <a:r>
              <a:t>- Недооценивать венозное кровотечение («ручьём»);</a:t>
            </a:r>
          </a:p>
          <a:p>
            <a:r>
              <a:t>- Считать капиллярное всегда «несерьёзным» без осмотра.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ОБЗОРНЫЙ ОСМОТР ПОСТРАДАВШЕГО</a:t>
            </a:r>
          </a:p>
          <a:p/>
          <a:p>
            <a:r>
              <a:t>Важно:</a:t>
            </a:r>
          </a:p>
          <a:p>
            <a:r>
              <a:t>- Цель осмотра — быстро найти угрожающее жизни кровотечение;</a:t>
            </a:r>
          </a:p>
          <a:p>
            <a:r>
              <a:t>- Признаки: промокшая одежда, лужа крови, видимая струя/рана;</a:t>
            </a:r>
          </a:p>
          <a:p>
            <a:r>
              <a:t>- Осмотр — за несколько секунд, с головы до ног;</a:t>
            </a:r>
          </a:p>
          <a:p>
            <a:r>
              <a:t>- Обнаружили — сразу к остановке всеми доступными способами;</a:t>
            </a:r>
          </a:p>
          <a:p>
            <a:r>
              <a:t>- Сначала безопасность места происшествия.</a:t>
            </a:r>
          </a:p>
          <a:p/>
          <a:p>
            <a:r>
              <a:t>Возможные ошибки слушателей:</a:t>
            </a:r>
          </a:p>
          <a:p>
            <a:r>
              <a:t>- Долго «диагностировать» вместо быстрого осмотра;</a:t>
            </a:r>
          </a:p>
          <a:p>
            <a:r>
              <a:t>- Пропустить кровотечение под одеждой / сзади;</a:t>
            </a:r>
          </a:p>
          <a:p>
            <a:r>
              <a:t>- Начать помощь, не оценив безопасность.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ПРЯМОЕ ДАВЛЕНИЕ НА РАНУ</a:t>
            </a:r>
          </a:p>
          <a:p/>
          <a:p>
            <a:r>
              <a:t>Важно:</a:t>
            </a:r>
          </a:p>
          <a:p>
            <a:r>
              <a:t>- Самый простой и приоритетный способ при интенсивном кровотечении;</a:t>
            </a:r>
          </a:p>
          <a:p>
            <a:r>
              <a:t>- Давление — через салфетки/бинт/ткань, в перчатках;</a:t>
            </a:r>
          </a:p>
          <a:p>
            <a:r>
              <a:t>- Сила достаточна, чтобы остановить кровь — не «слегка прижать»;</a:t>
            </a:r>
          </a:p>
          <a:p>
            <a:r>
              <a:t>- Если сработало — далее давящая повязка;</a:t>
            </a:r>
          </a:p>
          <a:p>
            <a:r>
              <a:t>- Если нет повязки/жгута — продолжать давление до СМП.</a:t>
            </a:r>
          </a:p>
          <a:p/>
          <a:p>
            <a:r>
              <a:t>Возможные ошибки слушателей:</a:t>
            </a:r>
          </a:p>
          <a:p>
            <a:r>
              <a:t>- Слабое давление «для вида», кровь продолжает течь;</a:t>
            </a:r>
          </a:p>
          <a:p>
            <a:r>
              <a:t>- Сразу хвататься за жгут при доступном давлении на рану;</a:t>
            </a:r>
          </a:p>
          <a:p>
            <a:r>
              <a:t>- Забыть перчатки / защиту от контакта с кровью.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ДАВЯЩАЯ ПОВЯЗКА</a:t>
            </a:r>
          </a:p>
          <a:p/>
          <a:p>
            <a:r>
              <a:t>Важно:</a:t>
            </a:r>
          </a:p>
          <a:p>
            <a:r>
              <a:t>- Задача повязки — остановить кровь: накладывать с усилием;</a:t>
            </a:r>
          </a:p>
          <a:p>
            <a:r>
              <a:t>- На рану — салфетки/бинт/ткань, затем тугие туры;</a:t>
            </a:r>
          </a:p>
          <a:p>
            <a:r>
              <a:t>- Слабо промокает — ещё одна давящая повязка сверху;</a:t>
            </a:r>
          </a:p>
          <a:p>
            <a:r>
              <a:t>- Быстро промокает / неэффективна — переход к жгуту;</a:t>
            </a:r>
          </a:p>
          <a:p>
            <a:r>
              <a:t>- Закрепить свободный конец; контролировать эффект.</a:t>
            </a:r>
          </a:p>
          <a:p/>
          <a:p>
            <a:r>
              <a:t>Возможные ошибки слушателей:</a:t>
            </a:r>
          </a:p>
          <a:p>
            <a:r>
              <a:t>- Накладывать «слабо», без давления на рану;</a:t>
            </a:r>
          </a:p>
          <a:p>
            <a:r>
              <a:t>- Считать любую повязку достаточной без контроля промокания;</a:t>
            </a:r>
          </a:p>
          <a:p>
            <a:r>
              <a:t>- Снимать промокшую повязку вместо усиления / смены тактики.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ИНОРОДНОЕ ТЕЛО И ОТКРЫТЫЙ ПЕРЕЛОМ</a:t>
            </a:r>
          </a:p>
          <a:p/>
          <a:p>
            <a:r>
              <a:t>Важно:</a:t>
            </a:r>
          </a:p>
          <a:p>
            <a:r>
              <a:t>- Инородный предмет из раны не извлекать;</a:t>
            </a:r>
          </a:p>
          <a:p>
            <a:r>
              <a:t>- Фиксировать предмет салфетками/бинттами и накладывать повязку;</a:t>
            </a:r>
          </a:p>
          <a:p>
            <a:r>
              <a:t>- Прямое давление на предмет / отломки — опасно или неэффективно;</a:t>
            </a:r>
          </a:p>
          <a:p>
            <a:r>
              <a:t>- В этих случаях — повязка с фиксацией и/или жгут по показаниям.</a:t>
            </a:r>
          </a:p>
          <a:p/>
          <a:p>
            <a:r>
              <a:t>Возможные ошибки слушателей:</a:t>
            </a:r>
          </a:p>
          <a:p>
            <a:r>
              <a:t>- Пытаться вытащить осколок / предмет из раны;</a:t>
            </a:r>
          </a:p>
          <a:p>
            <a:r>
              <a:t>- Давить прямо на инородное тело;</a:t>
            </a:r>
          </a:p>
          <a:p>
            <a:r>
              <a:t>- Тратить время на «идеальное» давление там, где оно противопоказано.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КРОВООСТАНАВЛИВАЮЩИЙ ЖГУТ</a:t>
            </a:r>
          </a:p>
          <a:p/>
          <a:p>
            <a:r>
              <a:t>Важно:</a:t>
            </a:r>
          </a:p>
          <a:p>
            <a:r>
              <a:t>- Жгут — когда давление/повязка невозможны, неэффективны или при отрыве;</a:t>
            </a:r>
          </a:p>
          <a:p>
            <a:r>
              <a:t>- Только на конечность; выше раны (5–7 см) или максимально к туловищу;</a:t>
            </a:r>
          </a:p>
          <a:p>
            <a:r>
              <a:t>- Обычно на прокладку/одежду; турникет — по инструкции (иногда на голое тело);</a:t>
            </a:r>
          </a:p>
          <a:p>
            <a:r>
              <a:t>- Остановка — первым растянутым туром; жгут на виду; время указано;</a:t>
            </a:r>
          </a:p>
          <a:p>
            <a:r>
              <a:t>- Срок до 2 часов; снятие &gt;2 ч вне медорганизации не рекомендуется.</a:t>
            </a:r>
          </a:p>
          <a:p/>
          <a:p>
            <a:r>
              <a:t>Возможные ошибки слушателей:</a:t>
            </a:r>
          </a:p>
          <a:p>
            <a:r>
              <a:t>- Накладывать жгут «на всякий случай» при останавливаемом давлении;</a:t>
            </a:r>
          </a:p>
          <a:p>
            <a:r>
              <a:t>- Прятать жгут под повязкой/одеждой; не указывать время;</a:t>
            </a:r>
          </a:p>
          <a:p>
            <a:r>
              <a:t>- Использовать тонкую проволоку/шнур как импровизированный жгут;</a:t>
            </a:r>
          </a:p>
          <a:p>
            <a:r>
              <a:t>- Снимать жгут самостоятельно после долгого срока наложения.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ПОСЛЕДОВАТЕЛЬНОСТЬ ОСТАНОВКИ КРОВОТЕЧЕНИЯ</a:t>
            </a:r>
          </a:p>
          <a:p/>
          <a:p>
            <a:r>
              <a:t>Важно:</a:t>
            </a:r>
          </a:p>
          <a:p>
            <a:r>
              <a:t>- Безопасность → обзорный осмотр → выбор способа;</a:t>
            </a:r>
          </a:p>
          <a:p>
            <a:r>
              <a:t>- Интенсивное кровотечение → сначала прямое давление;</a:t>
            </a:r>
          </a:p>
          <a:p>
            <a:r>
              <a:t>- Давление нельзя/опасно → повязка и/или жгут сразу;</a:t>
            </a:r>
          </a:p>
          <a:p>
            <a:r>
              <a:t>- Отрыв / разрушение конечности → жгут немедленно;</a:t>
            </a:r>
          </a:p>
          <a:p>
            <a:r>
              <a:t>- Давление помогло → повязка; не помогло → жгут выше раны.</a:t>
            </a:r>
          </a:p>
          <a:p/>
          <a:p>
            <a:r>
              <a:t>Возможные ошибки слушателей:</a:t>
            </a:r>
          </a:p>
          <a:p>
            <a:r>
              <a:t>- Нарушать порядок и начинать с жгута без показаний;</a:t>
            </a:r>
          </a:p>
          <a:p>
            <a:r>
              <a:t>- Останавливаться после «слабой» попытки давления;</a:t>
            </a:r>
          </a:p>
          <a:p>
            <a:r>
              <a:t>- Забывать контроль: остановилась ли кровь после приёма.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ГОЛОВА, ШЕЯ, ГРУДЬ, ЖИВОТ</a:t>
            </a:r>
          </a:p>
          <a:p/>
          <a:p>
            <a:r>
              <a:t>Важно:</a:t>
            </a:r>
          </a:p>
          <a:p>
            <a:r>
              <a:t>- Голова: давление/повязка; при риске перелома черепа — без усиленного давления на кости;</a:t>
            </a:r>
          </a:p>
          <a:p>
            <a:r>
              <a:t>- Инородное в ране головы — фиксировать, не извлекать;</a:t>
            </a:r>
          </a:p>
          <a:p>
            <a:r>
              <a:t>- Шея: давление → повязка через противоположную подмышку;</a:t>
            </a:r>
          </a:p>
          <a:p>
            <a:r>
              <a:t>- Грудь/спина: остановить наружное; внутреннее крупных сосудов — только СМП/хирургия;</a:t>
            </a:r>
          </a:p>
          <a:p>
            <a:r>
              <a:t>- Живот/таз: не давить на выпавшие органы давящей повязкой.</a:t>
            </a:r>
          </a:p>
          <a:p/>
          <a:p>
            <a:r>
              <a:t>Возможные ошибки слушателей:</a:t>
            </a:r>
          </a:p>
          <a:p>
            <a:r>
              <a:t>- Сильно давить при подозрении на перелом черепа;</a:t>
            </a:r>
          </a:p>
          <a:p>
            <a:r>
              <a:t>- Накладывать круговую повязку на шею «как на конечность»;</a:t>
            </a:r>
          </a:p>
          <a:p>
            <a:r>
              <a:t>- Пытаться «остановить» внутреннее кровотечение груди подручными средствами;</a:t>
            </a:r>
          </a:p>
          <a:p>
            <a:r>
              <a:t>- Давить/бинтовать выпавшие органы живота.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КОНЕЧНОСТИ, ОТРЫВ, СМЕЖНЫЕ ЗОНЫ</a:t>
            </a:r>
          </a:p>
          <a:p/>
          <a:p>
            <a:r>
              <a:t>Важно:</a:t>
            </a:r>
          </a:p>
          <a:p>
            <a:r>
              <a:t>- Конечности: все способы по общей последовательности;</a:t>
            </a:r>
          </a:p>
          <a:p>
            <a:r>
              <a:t>- Выбор: интенсивность, место раны, наличие средств, срок СМП;</a:t>
            </a:r>
          </a:p>
          <a:p>
            <a:r>
              <a:t>- Отрыв части конечности — показание к немедленному жгуту;</a:t>
            </a:r>
          </a:p>
          <a:p>
            <a:r>
              <a:t>- Смежные зоны (пах, подмышка и т.п.): часто только прямое давление;</a:t>
            </a:r>
          </a:p>
          <a:p>
            <a:r>
              <a:t>- Жгут/повязку в смежных зонах наложить сложно — не терять время.</a:t>
            </a:r>
          </a:p>
          <a:p/>
          <a:p>
            <a:r>
              <a:t>Возможные ошибки слушателей:</a:t>
            </a:r>
          </a:p>
          <a:p>
            <a:r>
              <a:t>- Пытаться наложить жгут там, где анатомически нельзя;</a:t>
            </a:r>
          </a:p>
          <a:p>
            <a:r>
              <a:t>- При отрыве долго пробовать только давление;</a:t>
            </a:r>
          </a:p>
          <a:p>
            <a:r>
              <a:t>- Игнорировать сильное кровотечение из паха/подмышки.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ТИПИЧНЫЕ ОШИБКИ ПРИ ОБУЧЕНИИ ТЕМЕ</a:t>
            </a:r>
          </a:p>
          <a:p/>
          <a:p>
            <a:r>
              <a:t>Важно:</a:t>
            </a:r>
          </a:p>
          <a:p>
            <a:r>
              <a:t>- Сначала отработать давление и повязку, жгут — осознанно как крайнюю меру;</a:t>
            </a:r>
          </a:p>
          <a:p>
            <a:r>
              <a:t>- Обязательно отработать жгут на практике (навык критичен);</a:t>
            </a:r>
          </a:p>
          <a:p>
            <a:r>
              <a:t>- Разбирать непереносимость вида крови и технику безопасности;</a:t>
            </a:r>
          </a:p>
          <a:p>
            <a:r>
              <a:t>- Закреплять алгоритм последовательности, а не «набор приёмов»;</a:t>
            </a:r>
          </a:p>
          <a:p>
            <a:r>
              <a:t>- Контролировать: перчатки, время жгута, видимость жгута, фиксация инородного тела.</a:t>
            </a:r>
          </a:p>
          <a:p/>
          <a:p>
            <a:r>
              <a:t>Возможные ошибки при обучении:</a:t>
            </a:r>
          </a:p>
          <a:p>
            <a:r>
              <a:t>- Свести практику к «намотали жгут» без сценариев выбора способа;</a:t>
            </a:r>
          </a:p>
          <a:p>
            <a:r>
              <a:t>- Пугать жгутом или, наоборот, подавать его как универсальный приём;</a:t>
            </a:r>
          </a:p>
          <a:p>
            <a:r>
              <a:t>- Не проверять указание времени и видимость жгута;</a:t>
            </a:r>
          </a:p>
          <a:p>
            <a:r>
              <a:t>- Пропустить особенности областей тела (шея, живот, смежные зоны).</a:t>
            </a:r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Благодарим за внимание</a:t>
            </a: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0" y="0"/>
            <a:ext cx="2437765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7206" y="5006973"/>
            <a:ext cx="18283238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7206" y="7204075"/>
            <a:ext cx="18283238" cy="595219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040" y="3708960"/>
            <a:ext cx="21025723" cy="1405967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040" y="5817082"/>
            <a:ext cx="21025723" cy="755169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24" name="Rectangle 8"/>
          <p:cNvSpPr/>
          <p:nvPr/>
        </p:nvSpPr>
        <p:spPr bwMode="auto">
          <a:xfrm>
            <a:off x="11448381" y="5305985"/>
            <a:ext cx="1553039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2"/>
                </a:solidFill>
              </a:defRPr>
            </a:pPr>
            <a:endParaRPr/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1825" y="7458075"/>
            <a:ext cx="18030826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59952" y="3938096"/>
            <a:ext cx="6923155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1844" y="3938096"/>
            <a:ext cx="7124369" cy="550330"/>
          </a:xfrm>
          <a:prstGeom prst="rect">
            <a:avLst/>
          </a:prstGeom>
        </p:spPr>
        <p:txBody>
          <a:bodyPr/>
          <a:lstStyle>
            <a:lvl1pPr defTabSz="1700359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59952" y="8556336"/>
            <a:ext cx="6977810" cy="146177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1844" y="4700099"/>
            <a:ext cx="7124369" cy="329104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5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657225"/>
            <a:ext cx="10058839" cy="1057275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5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1714500"/>
            <a:ext cx="10058839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57" name="Straight Connector 7"/>
          <p:cNvSpPr/>
          <p:nvPr/>
        </p:nvSpPr>
        <p:spPr bwMode="auto">
          <a:xfrm>
            <a:off x="1675963" y="2400300"/>
            <a:ext cx="5484973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19" rIns="45719"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37764" cy="10872329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625" y="1864518"/>
            <a:ext cx="22541411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626" y="1864518"/>
            <a:ext cx="22541410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3375" y="2775885"/>
            <a:ext cx="10512863" cy="144649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3375" y="2260787"/>
            <a:ext cx="10512863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628650"/>
            <a:ext cx="10058839" cy="1057275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1685925"/>
            <a:ext cx="10058839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5963" y="2371725"/>
            <a:ext cx="5484973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19" rIns="45719"/>
          <a:lstStyle/>
          <a:p>
            <a:pPr>
              <a:defRPr/>
            </a:pPr>
            <a:endParaRPr/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6333" y="3918317"/>
            <a:ext cx="2938097" cy="293809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0" y="0"/>
            <a:ext cx="14799733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799731" y="0"/>
            <a:ext cx="957791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02553" y="2931885"/>
            <a:ext cx="6399134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73475" y="4875212"/>
            <a:ext cx="6328212" cy="457201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601" y="-235852"/>
            <a:ext cx="6921904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6362" y="-235858"/>
            <a:ext cx="8737907" cy="14104257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9998092" y="-235854"/>
            <a:ext cx="9853494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57400" y="-235855"/>
            <a:ext cx="7234551" cy="14104257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272" y="-651331"/>
            <a:ext cx="25783598" cy="149352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5759451"/>
            <a:ext cx="21025723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6858000"/>
            <a:ext cx="21025723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618565"/>
            <a:ext cx="21025723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000250"/>
            <a:ext cx="21025723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5825" y="3899646"/>
            <a:ext cx="5077199" cy="575870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19234" y="3899646"/>
            <a:ext cx="5077199" cy="575870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2643" y="3899646"/>
            <a:ext cx="5077199" cy="575870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86052" y="3899646"/>
            <a:ext cx="5077199" cy="575870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7101" y="7772400"/>
            <a:ext cx="2673509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2347" y="7772399"/>
            <a:ext cx="2673510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1243" y="7772399"/>
            <a:ext cx="2673509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24651" y="7772399"/>
            <a:ext cx="2673509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1249" y="7897810"/>
            <a:ext cx="2311776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48172" y="7897810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72109" y="7897810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05519" y="7897810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5825" y="10004425"/>
            <a:ext cx="5077200" cy="415925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5825" y="10614027"/>
            <a:ext cx="5077200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2748" y="10004425"/>
            <a:ext cx="5077199" cy="415925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2748" y="10614027"/>
            <a:ext cx="5077199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2643" y="10001050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2643" y="10610653"/>
            <a:ext cx="5077199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49566" y="10001050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49566" y="10610653"/>
            <a:ext cx="5077199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479052"/>
            <a:ext cx="21025723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000250"/>
            <a:ext cx="21025723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3375" y="3978647"/>
            <a:ext cx="4178861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2539" y="3978647"/>
            <a:ext cx="4178861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3375" y="8104093"/>
            <a:ext cx="4178861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2539" y="8104093"/>
            <a:ext cx="4178861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14225" y="5293097"/>
            <a:ext cx="5077199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14224" y="6475348"/>
            <a:ext cx="5077200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14225" y="5884222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67940" y="5293097"/>
            <a:ext cx="5077199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67938" y="6475348"/>
            <a:ext cx="5077199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67940" y="5884222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06851" y="8097287"/>
            <a:ext cx="5077199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06850" y="9279536"/>
            <a:ext cx="5077200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06851" y="8688412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0565" y="8097287"/>
            <a:ext cx="5077199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0565" y="9279536"/>
            <a:ext cx="5077199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0565" y="8688412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529290"/>
            <a:ext cx="21025723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000250"/>
            <a:ext cx="21025723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180" y="3997140"/>
            <a:ext cx="3371851" cy="33718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59539" y="3997140"/>
            <a:ext cx="3371851" cy="33718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2899" y="3997140"/>
            <a:ext cx="3371851" cy="33718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46258" y="3997140"/>
            <a:ext cx="3371851" cy="33718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89616" y="3936819"/>
            <a:ext cx="3371851" cy="33718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289" y="8074521"/>
            <a:ext cx="3723341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289" y="9418135"/>
            <a:ext cx="3723341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289" y="8665647"/>
            <a:ext cx="3723341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5042" y="8074521"/>
            <a:ext cx="3723341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5041" y="9418135"/>
            <a:ext cx="3723341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5042" y="8665647"/>
            <a:ext cx="3723341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3791" y="8074521"/>
            <a:ext cx="3723341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3791" y="9418135"/>
            <a:ext cx="3723341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3791" y="8665647"/>
            <a:ext cx="3723341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12544" y="8044360"/>
            <a:ext cx="3723341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12542" y="9387974"/>
            <a:ext cx="3723341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12544" y="8635486"/>
            <a:ext cx="3723341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61294" y="8074521"/>
            <a:ext cx="3723341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61292" y="9418135"/>
            <a:ext cx="3723341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61294" y="8665647"/>
            <a:ext cx="3723341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695883"/>
            <a:ext cx="10058839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1753159"/>
            <a:ext cx="10058839" cy="457201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0" y="3854543"/>
            <a:ext cx="6454589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4588" y="3854543"/>
            <a:ext cx="6454589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0" y="7567613"/>
            <a:ext cx="6454589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4588" y="7567613"/>
            <a:ext cx="6454589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7309" y="6974299"/>
            <a:ext cx="2527279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6680" y="7073899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4588" y="7567613"/>
            <a:ext cx="2527279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3957" y="7667212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4588" y="6974299"/>
            <a:ext cx="2527279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3957" y="7073899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7309" y="7567613"/>
            <a:ext cx="2527279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6680" y="7667212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26927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0725" y="0"/>
            <a:ext cx="122269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0" y="457200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0725" y="4572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0" y="914400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2422" y="9144000"/>
            <a:ext cx="1224523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1722" y="1989342"/>
            <a:ext cx="2527279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1092" y="2088943"/>
            <a:ext cx="2311775" cy="365127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0548" y="6561342"/>
            <a:ext cx="2527279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19919" y="6660943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07856" y="11133342"/>
            <a:ext cx="2527278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7226" y="11232943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26927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0725" y="0"/>
            <a:ext cx="122269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0" y="457200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0725" y="4572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62450" y="1989342"/>
            <a:ext cx="2527278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81819" y="2088943"/>
            <a:ext cx="2311775" cy="365127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1724" y="6575837"/>
            <a:ext cx="2527279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1093" y="6675436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0857" y="12257089"/>
            <a:ext cx="2311775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7863" y="9466729"/>
            <a:ext cx="21025723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5" y="-1"/>
            <a:ext cx="24377655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19204" y="-17373600"/>
            <a:ext cx="243776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526473"/>
            <a:ext cx="21025723" cy="155690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083377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50281" y="7347745"/>
            <a:ext cx="2088356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88825" y="0"/>
            <a:ext cx="12188825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26927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3375" y="5349299"/>
            <a:ext cx="9120044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275" name="Rectangle 6"/>
          <p:cNvSpPr/>
          <p:nvPr/>
        </p:nvSpPr>
        <p:spPr bwMode="auto">
          <a:xfrm>
            <a:off x="0" y="0"/>
            <a:ext cx="12188825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3375" y="5444897"/>
            <a:ext cx="9120044" cy="3406775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88824" y="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88824" y="4572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88824" y="9144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45175" y="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45175" y="4572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45175" y="9144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05097" y="1041400"/>
            <a:ext cx="4783818" cy="415925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05097" y="1651000"/>
            <a:ext cx="4783818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05097" y="5499100"/>
            <a:ext cx="4783818" cy="415925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05097" y="6108701"/>
            <a:ext cx="4783818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05097" y="10127799"/>
            <a:ext cx="4783818" cy="415926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05097" y="10737401"/>
            <a:ext cx="4783818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6125" y="4229193"/>
            <a:ext cx="6454589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6520" y="7348949"/>
            <a:ext cx="3294194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1285" y="7448549"/>
            <a:ext cx="3013294" cy="365127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6125" y="4040935"/>
            <a:ext cx="6454589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38899" y="7160690"/>
            <a:ext cx="3301814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4315" y="7260290"/>
            <a:ext cx="3020264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496698" y="4040935"/>
            <a:ext cx="6454589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6124" y="8762999"/>
            <a:ext cx="6454590" cy="550866"/>
          </a:xfrm>
          <a:prstGeom prst="rect">
            <a:avLst/>
          </a:prstGeom>
        </p:spPr>
        <p:txBody>
          <a:bodyPr/>
          <a:lstStyle>
            <a:lvl1pPr defTabSz="1700359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6124" y="9442452"/>
            <a:ext cx="6454590" cy="2114921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496697" y="8716309"/>
            <a:ext cx="6454590" cy="550865"/>
          </a:xfrm>
          <a:prstGeom prst="rect">
            <a:avLst/>
          </a:prstGeom>
        </p:spPr>
        <p:txBody>
          <a:bodyPr/>
          <a:lstStyle>
            <a:lvl1pPr defTabSz="1700359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496697" y="9395762"/>
            <a:ext cx="6454590" cy="2114921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496698" y="7160690"/>
            <a:ext cx="3301814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2114" y="7260290"/>
            <a:ext cx="3020264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3550" y="4145279"/>
            <a:ext cx="5286375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3550" y="4886323"/>
            <a:ext cx="5286375" cy="203722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1749" y="4145279"/>
            <a:ext cx="2338023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3550" y="8208864"/>
            <a:ext cx="5286375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3550" y="8949908"/>
            <a:ext cx="5286375" cy="203722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1749" y="8208863"/>
            <a:ext cx="2338023" cy="233802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02553" y="4145279"/>
            <a:ext cx="5286376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02553" y="4886323"/>
            <a:ext cx="5286376" cy="203722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0753" y="4145279"/>
            <a:ext cx="233802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02553" y="8208864"/>
            <a:ext cx="5286376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02553" y="8949908"/>
            <a:ext cx="5286376" cy="203722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0753" y="8208863"/>
            <a:ext cx="2338022" cy="233802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0" y="0"/>
            <a:ext cx="1445895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58950" y="0"/>
            <a:ext cx="991870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0" y="6858000"/>
            <a:ext cx="991870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18700" y="6858000"/>
            <a:ext cx="1445895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6257" y="3390901"/>
            <a:ext cx="15331143" cy="6858001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1163" y="3950260"/>
            <a:ext cx="13818037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1163" y="5007534"/>
            <a:ext cx="13818037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0" y="0"/>
            <a:ext cx="8125201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52449" y="0"/>
            <a:ext cx="8125201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5200" y="0"/>
            <a:ext cx="8125201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0" y="6858000"/>
            <a:ext cx="8125201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0400" y="6858000"/>
            <a:ext cx="8125201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3149" y="6858000"/>
            <a:ext cx="8125202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1624" y="5873750"/>
            <a:ext cx="11506201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4375" y="6329362"/>
            <a:ext cx="10248900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88824" y="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88824" y="4572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88824" y="9144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45175" y="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45175" y="4572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45175" y="9144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05097" y="1041400"/>
            <a:ext cx="4783818" cy="4159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05097" y="1651000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05097" y="5499100"/>
            <a:ext cx="4783818" cy="415925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05097" y="61087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05097" y="10127799"/>
            <a:ext cx="4783818" cy="415926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05097" y="107374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0" y="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0" y="457200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0" y="914400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6351" y="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6351" y="4572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6351" y="9144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6273" y="1041400"/>
            <a:ext cx="4783818" cy="415925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6273" y="1651000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6273" y="5499100"/>
            <a:ext cx="4783818" cy="415925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6273" y="61087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6273" y="10127799"/>
            <a:ext cx="4783818" cy="415926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6273" y="107374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0" y="11145"/>
            <a:ext cx="12188825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2" y="8040913"/>
            <a:ext cx="12188826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88825" y="1"/>
            <a:ext cx="12188828" cy="1371599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88824" y="8036300"/>
            <a:ext cx="12188828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5963" y="9174289"/>
            <a:ext cx="8582462" cy="800141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5964" y="10014856"/>
            <a:ext cx="8582461" cy="1883457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5964" y="8510327"/>
            <a:ext cx="8582461" cy="51353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19225" y="9144810"/>
            <a:ext cx="8582461" cy="800141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19225" y="9985378"/>
            <a:ext cx="8582461" cy="1883457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19225" y="8480849"/>
            <a:ext cx="8582461" cy="51353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0" y="1"/>
            <a:ext cx="12188825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88825" y="1"/>
            <a:ext cx="12188825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0" y="6858000"/>
            <a:ext cx="12188825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88825" y="6858000"/>
            <a:ext cx="12188825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4813" y="4572000"/>
            <a:ext cx="955401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88825" y="4572000"/>
            <a:ext cx="9554011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4813" y="6829425"/>
            <a:ext cx="9554012" cy="225742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88825" y="6829425"/>
            <a:ext cx="9554011" cy="225742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1"/>
            <a:ext cx="13865870" cy="80083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49281" y="0"/>
            <a:ext cx="12728368" cy="800836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0"/>
            <a:ext cx="11649282" cy="473784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2049" y="8978151"/>
            <a:ext cx="11785600" cy="473784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8797" y="7922741"/>
            <a:ext cx="21080055" cy="1231527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9154268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88824" y="0"/>
            <a:ext cx="635635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88824" y="4572000"/>
            <a:ext cx="635635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88825" y="9144000"/>
            <a:ext cx="635635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45175" y="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45175" y="4572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45175" y="9144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05097" y="1041400"/>
            <a:ext cx="4783818" cy="4159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05097" y="1651000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05097" y="5499100"/>
            <a:ext cx="4783818" cy="415925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05097" y="61087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05097" y="10127799"/>
            <a:ext cx="4783818" cy="415926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05097" y="107374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2471" y="0"/>
            <a:ext cx="635635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2471" y="4572000"/>
            <a:ext cx="635635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2471" y="9144000"/>
            <a:ext cx="635635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2" y="31300"/>
            <a:ext cx="5832475" cy="4572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2" y="4603301"/>
            <a:ext cx="5832475" cy="4572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2" y="9175301"/>
            <a:ext cx="5832475" cy="4572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59921" y="1072700"/>
            <a:ext cx="4783817" cy="415926"/>
          </a:xfrm>
          <a:prstGeom prst="rect">
            <a:avLst/>
          </a:prstGeom>
        </p:spPr>
        <p:txBody>
          <a:bodyPr/>
          <a:lstStyle>
            <a:lvl1pPr algn="r"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59921" y="1682301"/>
            <a:ext cx="4783817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59921" y="5530401"/>
            <a:ext cx="4783817" cy="415926"/>
          </a:xfrm>
          <a:prstGeom prst="rect">
            <a:avLst/>
          </a:prstGeom>
        </p:spPr>
        <p:txBody>
          <a:bodyPr/>
          <a:lstStyle>
            <a:lvl1pPr algn="r"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59921" y="6140001"/>
            <a:ext cx="4783817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59921" y="10159099"/>
            <a:ext cx="4783817" cy="415926"/>
          </a:xfrm>
          <a:prstGeom prst="rect">
            <a:avLst/>
          </a:prstGeom>
        </p:spPr>
        <p:txBody>
          <a:bodyPr/>
          <a:lstStyle>
            <a:lvl1pPr algn="r" defTabSz="1426107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59921" y="10768702"/>
            <a:ext cx="4783817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0" y="3973605"/>
            <a:ext cx="12188825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441" y="7220229"/>
            <a:ext cx="7953376" cy="170488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183" y="7543240"/>
            <a:ext cx="5657851" cy="1087905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59676" y="3973605"/>
            <a:ext cx="7928723" cy="550865"/>
          </a:xfrm>
          <a:prstGeom prst="rect">
            <a:avLst/>
          </a:prstGeom>
        </p:spPr>
        <p:txBody>
          <a:bodyPr/>
          <a:lstStyle>
            <a:lvl1pPr defTabSz="1700359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59676" y="4653057"/>
            <a:ext cx="7928723" cy="428073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5963" y="10220322"/>
            <a:ext cx="10512861" cy="162989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795751" y="3993777"/>
            <a:ext cx="7591425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25" y="3993777"/>
            <a:ext cx="7572375" cy="385603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47003" y="3993777"/>
            <a:ext cx="12083644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400050"/>
            <a:ext cx="10058839" cy="1057275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1457325"/>
            <a:ext cx="10058839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5963" y="2143125"/>
            <a:ext cx="5484973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19" rIns="45719"/>
          <a:lstStyle/>
          <a:p>
            <a:pPr>
              <a:defRPr/>
            </a:pPr>
            <a:endParaRPr/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88825" y="-2"/>
            <a:ext cx="304920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38091" y="-2"/>
            <a:ext cx="3049201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87291" y="-2"/>
            <a:ext cx="3049201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36556" y="-2"/>
            <a:ext cx="3049201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88825" y="3441598"/>
            <a:ext cx="3049200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38091" y="3441598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87291" y="3441598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36556" y="3441598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88825" y="6832798"/>
            <a:ext cx="3049200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38091" y="6832798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87291" y="6832798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36556" y="6832798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88825" y="10274399"/>
            <a:ext cx="3049200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38091" y="10274399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87291" y="10274399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36556" y="10274399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0" y="4622612"/>
            <a:ext cx="24368125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0" y="3665156"/>
            <a:ext cx="24368125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1" y="3665156"/>
            <a:ext cx="24377651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3375" y="5850387"/>
            <a:ext cx="21134388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3375" y="7232071"/>
            <a:ext cx="21134388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0" y="0"/>
            <a:ext cx="24377650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47606" y="6130925"/>
            <a:ext cx="2533652" cy="42640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1200" y="2514600"/>
            <a:ext cx="10207625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1200" y="5673725"/>
            <a:ext cx="10207625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3600" y="6261101"/>
            <a:ext cx="2527300" cy="42545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09567" y="5902876"/>
            <a:ext cx="5560205" cy="282966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3028" y="7389627"/>
            <a:ext cx="5545289" cy="422030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38942" y="4658203"/>
            <a:ext cx="6231945" cy="455150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6179" y="5610225"/>
            <a:ext cx="6370321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0"/>
            <a:ext cx="24377650" cy="13716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3375" y="5476314"/>
            <a:ext cx="21134388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3375" y="6858000"/>
            <a:ext cx="21134388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62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3375" y="5400675"/>
            <a:ext cx="10585450" cy="2028825"/>
          </a:xfrm>
          <a:prstGeom prst="rect">
            <a:avLst/>
          </a:prstGeom>
        </p:spPr>
        <p:txBody>
          <a:bodyPr/>
          <a:lstStyle>
            <a:lvl1pPr>
              <a:defRPr sz="66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63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3375" y="7429500"/>
            <a:ext cx="10585450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2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6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88825" y="860612"/>
            <a:ext cx="10512861" cy="1623733"/>
          </a:xfrm>
          <a:prstGeom prst="rect">
            <a:avLst/>
          </a:prstGeom>
        </p:spPr>
        <p:txBody>
          <a:bodyPr/>
          <a:lstStyle>
            <a:lvl1pPr algn="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6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2188825" y="2484345"/>
            <a:ext cx="10512861" cy="457201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0"/>
            <a:ext cx="24377650" cy="13716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3374" y="6429375"/>
            <a:ext cx="21098311" cy="2028825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3374" y="8458200"/>
            <a:ext cx="21098311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3375" y="4829175"/>
            <a:ext cx="21098311" cy="2028825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3375" y="6858000"/>
            <a:ext cx="21098311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557246"/>
            <a:ext cx="5988862" cy="680199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5964" y="8237445"/>
            <a:ext cx="5988861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0" y="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2000" y="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04000" y="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06000" y="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0" y="4572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2000" y="4572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04000" y="4572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06000" y="4572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0" y="9144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2000" y="9144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04000" y="9144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06000" y="9144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3103" y="6994525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30251"/>
            <a:ext cx="21025724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5963" y="3651250"/>
            <a:ext cx="103605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9138" y="730251"/>
            <a:ext cx="21025724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9138" y="3362326"/>
            <a:ext cx="10312890" cy="1647825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1186" y="3362326"/>
            <a:ext cx="10363677" cy="1647825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5963" y="730251"/>
            <a:ext cx="21025724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4288" y="5297486"/>
            <a:ext cx="5299076" cy="1828801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1275" y="7423150"/>
            <a:ext cx="5272088" cy="153193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3722" y="5303839"/>
            <a:ext cx="5299076" cy="18288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9139" y="914400"/>
            <a:ext cx="7862428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3676" y="1974850"/>
            <a:ext cx="12341186" cy="9747251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79139" y="4114800"/>
            <a:ext cx="7862428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9139" y="914400"/>
            <a:ext cx="7862428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3676" y="1974850"/>
            <a:ext cx="12341186" cy="97472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9139" y="4114800"/>
            <a:ext cx="7862428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2026" y="4114800"/>
            <a:ext cx="8229601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36030" y="4297679"/>
            <a:ext cx="9141619" cy="54864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0" y="0"/>
            <a:ext cx="2437765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0" y="0"/>
            <a:ext cx="24377650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8F8F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64084" y="12828905"/>
            <a:ext cx="437603" cy="4978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>
              <a:defRPr/>
            </a:pPr>
            <a:fld id="{86CB4B4D-7CA3-9044-876B-883B54F8677D}" type="slidenum">
              <a:rPr/>
              <a:t/>
            </a:fld>
            <a:endParaRPr/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8565" y="184149"/>
            <a:ext cx="2193417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rPr/>
              <a:t>Текст заголовка</a:t>
            </a:r>
            <a:endParaRPr/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8565" y="3200400"/>
            <a:ext cx="2193417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rPr/>
              <a:t>Уровень текста 1</a:t>
            </a:r>
            <a:endParaRPr/>
          </a:p>
          <a:p>
            <a:pPr lvl="1">
              <a:defRPr/>
            </a:pPr>
            <a:r>
              <a:rPr/>
              <a:t>Уровень текста 2</a:t>
            </a:r>
            <a:endParaRPr/>
          </a:p>
          <a:p>
            <a:pPr lvl="2">
              <a:defRPr/>
            </a:pPr>
            <a:r>
              <a:rPr/>
              <a:t>Уровень текста 3</a:t>
            </a:r>
            <a:endParaRPr/>
          </a:p>
          <a:p>
            <a:pPr lvl="3">
              <a:defRPr/>
            </a:pPr>
            <a:r>
              <a:rPr/>
              <a:t>Уровень текста 4</a:t>
            </a:r>
            <a:endParaRPr/>
          </a:p>
          <a:p>
            <a:pPr lvl="4">
              <a:defRPr/>
            </a:pPr>
            <a:r>
              <a:rPr/>
              <a:t>Уровень текста 5</a:t>
            </a: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</p:sldLayoutIdLst>
  <p:txStyles>
    <p:titleStyle>
      <a:lvl1pPr marL="0" marR="0" indent="0" algn="l" defTabSz="1828343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3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3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3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3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3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3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3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3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3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1" algn="l" defTabSz="1828343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3" algn="l" defTabSz="1828343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3" algn="l" defTabSz="1828343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3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5" marR="0" indent="-365668" algn="l" defTabSz="1828343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3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69" marR="0" indent="-365668" algn="l" defTabSz="1828343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39" marR="0" indent="-365668" algn="l" defTabSz="1828343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3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3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3" algn="r" defTabSz="1828433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1" algn="r" defTabSz="1828433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7" algn="r" defTabSz="1828433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3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3" algn="r" defTabSz="1828433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19" algn="r" defTabSz="1828433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7" algn="r" defTabSz="1828433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2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6.png"/><Relationship Id="rId6" Type="http://schemas.openxmlformats.org/officeDocument/2006/relationships/image" Target="../media/image2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28.jpg"/><Relationship Id="rId6" Type="http://schemas.openxmlformats.org/officeDocument/2006/relationships/image" Target="../media/image2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28.jpg"/><Relationship Id="rId6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30.png"/><Relationship Id="rId6" Type="http://schemas.openxmlformats.org/officeDocument/2006/relationships/image" Target="../media/image2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32.jpg"/><Relationship Id="rId6" Type="http://schemas.openxmlformats.org/officeDocument/2006/relationships/image" Target="../media/image3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3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31443" y="5481332"/>
            <a:ext cx="4621489" cy="4445001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45" name="Rectangle 13"/>
          <p:cNvSpPr/>
          <p:nvPr/>
        </p:nvSpPr>
        <p:spPr bwMode="auto">
          <a:xfrm>
            <a:off x="13924280" y="0"/>
            <a:ext cx="1063625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46" name="Rectangle 5"/>
          <p:cNvSpPr/>
          <p:nvPr/>
        </p:nvSpPr>
        <p:spPr bwMode="auto">
          <a:xfrm>
            <a:off x="1664241" y="8700653"/>
            <a:ext cx="11649423" cy="108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664241" y="6712005"/>
            <a:ext cx="12903097" cy="1983653"/>
          </a:xfrm>
          <a:prstGeom prst="rect">
            <a:avLst/>
          </a:prstGeom>
          <a:ln w="12700">
            <a:miter lim="400000"/>
          </a:ln>
        </p:spPr>
        <p:txBody>
          <a:bodyPr lIns="36000" tIns="36000" rIns="36000" bIns="3600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5400" b="1" spc="30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</a:rPr>
              <a:t>ОБУЧЕНИЕ ПРЕПОДАВАТЕЛЕЙ </a:t>
            </a:r>
            <a:endParaRPr/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5400" b="1" spc="30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</a:rPr>
              <a:t>ПО ОКАЗАНИЮ ПЕРВОЙ  ПОМОЩИ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8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1" name="object 8"/>
          <p:cNvSpPr/>
          <p:nvPr/>
        </p:nvSpPr>
        <p:spPr bwMode="auto">
          <a:xfrm>
            <a:off x="14885256" y="3051861"/>
            <a:ext cx="7431143" cy="9776857"/>
          </a:xfrm>
          <a:prstGeom prst="rect">
            <a:avLst/>
          </a:prstGeom>
          <a:blipFill>
            <a:blip r:embed="rId4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  <p:sp>
        <p:nvSpPr>
          <p:cNvPr id="12" name="object 7"/>
          <p:cNvSpPr txBox="1"/>
          <p:nvPr/>
        </p:nvSpPr>
        <p:spPr bwMode="auto">
          <a:xfrm>
            <a:off x="2054901" y="3643922"/>
            <a:ext cx="9203800" cy="8038739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lnSpc>
                <a:spcPct val="100000"/>
              </a:lnSpc>
              <a:defRPr/>
            </a:pPr>
            <a:r>
              <a:rPr lang="ru-RU" sz="1700" b="1" spc="-5">
                <a:solidFill>
                  <a:schemeClr val="accent6"/>
                </a:solidFill>
                <a:latin typeface="Open Sans Light"/>
                <a:ea typeface="Open Sans Light"/>
                <a:cs typeface="Open Sans Light"/>
              </a:rPr>
              <a:t>ТЕМА 2. НАРУЖНЫЕ КРОВОТЕЧЕНИЯ</a:t>
            </a:r>
            <a:endParaRPr/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Цель: виды кровотечений и навыки временной остановки;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Формат: 4 часа (2 теория + 2 практика), демонстрация и задачи;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Учесть непереносимость вида крови у части обучающихся;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Донести: сильное кровотечение — одна из главных причин гибели на месте;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Приоритет способов: прямое давление → повязка; жгут — крайняя мера.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при обучении: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Игнорировать реакцию на вид крови и не адаптировать практику;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Сразу учить жгут, минуя прямое давление и давящую повязку;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Не связать теорию с отработкой навыка на практике.</a:t>
            </a:r>
          </a:p>
        </p:txBody>
      </p:sp>
      <p:sp>
        <p:nvSpPr>
          <p:cNvPr id="13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5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29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30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" name="object 7"/>
          <p:cNvSpPr txBox="1"/>
          <p:nvPr/>
        </p:nvSpPr>
        <p:spPr bwMode="auto">
          <a:xfrm>
            <a:off x="2054901" y="3761994"/>
            <a:ext cx="11441643" cy="7948971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ОПАСНОСТЬ КРОВОПОТЕРИ</a:t>
            </a:r>
            <a:r>
              <a:rPr sz="3600" b="1" spc="-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 spc="80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Развести понятия «кровотечение» и «острая кровопотеря»;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Признаки кровопотери возможны и без видимой крови;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Интенсивное кровотечение даёт минуты, а не «время до скорой»;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Ориентир на месте — интенсивность, а не точный «вид сосуда».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слушателей: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Ждать «классический фонтан», игнорируя промокшую одежду и лужу крови;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Считать, что без явной струи кровь «неопасна»;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Путать внутреннюю кровопотерю с «отсутствием проблемы».</a:t>
            </a:r>
          </a:p>
        </p:txBody>
      </p:sp>
      <p:sp>
        <p:nvSpPr>
          <p:cNvPr id="13" name="object 8"/>
          <p:cNvSpPr/>
          <p:nvPr/>
        </p:nvSpPr>
        <p:spPr bwMode="auto">
          <a:xfrm>
            <a:off x="14140964" y="4687614"/>
            <a:ext cx="8175435" cy="6220841"/>
          </a:xfrm>
          <a:prstGeom prst="rect">
            <a:avLst/>
          </a:prstGeom>
          <a:blipFill>
            <a:blip r:embed="rId4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7" name="object 7"/>
          <p:cNvSpPr txBox="1"/>
          <p:nvPr/>
        </p:nvSpPr>
        <p:spPr bwMode="auto">
          <a:xfrm>
            <a:off x="2054901" y="4684887"/>
            <a:ext cx="9203800" cy="5656036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spcBef>
                <a:spcPts val="105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ПРИЗНАКИ НАРУЖНОГО КРОВОТЕЧЕНИЯ</a:t>
            </a:r>
            <a:r>
              <a:rPr sz="3600" b="1" spc="-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 spc="90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 spc="-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Артериальное / венозное / капиллярное — кратко, по признакам;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На практике вид определить сложно — останавливать по интенсивности;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Смешанные кровотечения (в т.ч. при отрыве) особенно опасны;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Не тратить время на «точный диагноз вида» вместо остановки.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слушателей: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Зацикливаться на определении вида вместо действий;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Недооценивать венозное кровотечение («ручьём»);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Считать капиллярное всегда «несерьёзным» без осмотра.</a:t>
            </a:r>
          </a:p>
        </p:txBody>
      </p:sp>
      <p:sp>
        <p:nvSpPr>
          <p:cNvPr id="8" name="object 8"/>
          <p:cNvSpPr/>
          <p:nvPr/>
        </p:nvSpPr>
        <p:spPr bwMode="auto">
          <a:xfrm>
            <a:off x="14106640" y="3986529"/>
            <a:ext cx="8209759" cy="6426938"/>
          </a:xfrm>
          <a:prstGeom prst="rect">
            <a:avLst/>
          </a:prstGeom>
          <a:blipFill>
            <a:blip r:embed="rId4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  <p:sp>
        <p:nvSpPr>
          <p:cNvPr id="11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2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11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2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" name="object 7"/>
          <p:cNvSpPr txBox="1"/>
          <p:nvPr/>
        </p:nvSpPr>
        <p:spPr bwMode="auto">
          <a:xfrm>
            <a:off x="7332789" y="4325183"/>
            <a:ext cx="12722112" cy="6892271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ОБЗОРНЫЙ ОСМОТР ПОСТРАДАВШЕГО</a:t>
            </a:r>
            <a:r>
              <a:rPr sz="3600" b="1" spc="-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 spc="80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 spc="-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Цель осмотра — быстро найти угрожающее жизни кровотечение;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Признаки: промокшая одежда, лужа крови, видимая струя/рана;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Осмотр — за несколько секунд, с головы до ног;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Обнаружили — сразу к остановке всеми доступными способами;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Сначала безопасность места происшествия.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слушателей: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Долго «диагностировать» вместо быстрого осмотра;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Пропустить кровотечение под одеждой / сзади;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Начать помощь, не оценив безопасность.</a:t>
            </a:r>
          </a:p>
        </p:txBody>
      </p:sp>
      <p:sp>
        <p:nvSpPr>
          <p:cNvPr id="10" name="object 8"/>
          <p:cNvSpPr/>
          <p:nvPr/>
        </p:nvSpPr>
        <p:spPr bwMode="auto">
          <a:xfrm>
            <a:off x="2054901" y="2906487"/>
            <a:ext cx="3906987" cy="10476053"/>
          </a:xfrm>
          <a:prstGeom prst="rect">
            <a:avLst/>
          </a:prstGeom>
          <a:blipFill>
            <a:blip r:embed="rId4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11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2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" name="object 7"/>
          <p:cNvSpPr txBox="1"/>
          <p:nvPr/>
        </p:nvSpPr>
        <p:spPr bwMode="auto">
          <a:xfrm>
            <a:off x="2054901" y="3702059"/>
            <a:ext cx="11254698" cy="8111067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ПРЯМОЕ ДАВЛЕНИЕ НА РАНУ</a:t>
            </a:r>
            <a:r>
              <a:rPr sz="3600" b="1" spc="30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Самый простой и приоритетный способ при интенсивном кровотечении;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Давление — через салфетки/бинт/ткань, в перчатках;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Сила достаточна, чтобы остановить кровь — не «слегка прижать»;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Если сработало — далее давящая повязка;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Если нет повязки/жгута — продолжать давление до СМП.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слушателей: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Слабое давление «для вида», кровь продолжает течь;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Сразу хвататься за жгут при доступном давлении на рану;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Забыть перчатки / защиту от контакта с кровью.</a:t>
            </a:r>
          </a:p>
        </p:txBody>
      </p:sp>
      <p:sp>
        <p:nvSpPr>
          <p:cNvPr id="8" name="object 8"/>
          <p:cNvSpPr>
            <a:spLocks noChangeAspect="1"/>
          </p:cNvSpPr>
          <p:nvPr/>
        </p:nvSpPr>
        <p:spPr bwMode="auto">
          <a:xfrm>
            <a:off x="12586235" y="3202874"/>
            <a:ext cx="6755722" cy="6626252"/>
          </a:xfrm>
          <a:prstGeom prst="rect">
            <a:avLst/>
          </a:prstGeom>
          <a:blipFill>
            <a:blip r:embed="rId5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  <p:sp>
        <p:nvSpPr>
          <p:cNvPr id="13" name="object 9"/>
          <p:cNvSpPr>
            <a:spLocks noChangeAspect="1"/>
          </p:cNvSpPr>
          <p:nvPr/>
        </p:nvSpPr>
        <p:spPr bwMode="auto">
          <a:xfrm>
            <a:off x="18559799" y="8986808"/>
            <a:ext cx="4430735" cy="4200898"/>
          </a:xfrm>
          <a:prstGeom prst="rect">
            <a:avLst/>
          </a:prstGeom>
          <a:blipFill>
            <a:blip r:embed="rId6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7</a:t>
            </a:fld>
            <a:endParaRPr/>
          </a:p>
        </p:txBody>
      </p:sp>
      <p:sp>
        <p:nvSpPr>
          <p:cNvPr id="11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2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" name="object 7"/>
          <p:cNvSpPr txBox="1"/>
          <p:nvPr/>
        </p:nvSpPr>
        <p:spPr bwMode="auto">
          <a:xfrm>
            <a:off x="2054901" y="4747309"/>
            <a:ext cx="11585890" cy="3537379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marR="5080">
              <a:lnSpc>
                <a:spcPct val="110400"/>
              </a:lnSpc>
              <a:spcBef>
                <a:spcPts val="100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ДАВЯЩАЯ ПОВЯЗКА</a:t>
            </a:r>
            <a:r>
              <a:rPr sz="3600" b="1" spc="-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 spc="40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Задача повязки — остановить кровь: накладывать с усилием;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На рану — салфетки/бинт/ткань, затем тугие туры;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Слабо промокает — ещё одна давящая повязка сверху;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Быстро промокает / неэффективна — переход к жгуту;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Закрепить свободный конец; контролировать эффект.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слушателей: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Накладывать «слабо», без давления на рану;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Считать любую повязку достаточной без контроля промокания;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Снимать промокшую повязку вместо усиления / смены тактики.</a:t>
            </a:r>
          </a:p>
        </p:txBody>
      </p:sp>
      <p:sp>
        <p:nvSpPr>
          <p:cNvPr id="10" name="object 8"/>
          <p:cNvSpPr>
            <a:spLocks noChangeAspect="1"/>
          </p:cNvSpPr>
          <p:nvPr/>
        </p:nvSpPr>
        <p:spPr bwMode="auto">
          <a:xfrm>
            <a:off x="11042595" y="5643872"/>
            <a:ext cx="6843069" cy="7596707"/>
          </a:xfrm>
          <a:prstGeom prst="rect">
            <a:avLst/>
          </a:prstGeom>
          <a:blipFill>
            <a:blip r:embed="rId5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  <p:sp>
        <p:nvSpPr>
          <p:cNvPr id="14" name="object 9"/>
          <p:cNvSpPr>
            <a:spLocks noChangeAspect="1"/>
          </p:cNvSpPr>
          <p:nvPr/>
        </p:nvSpPr>
        <p:spPr bwMode="auto">
          <a:xfrm>
            <a:off x="17885664" y="6822570"/>
            <a:ext cx="4718304" cy="6192712"/>
          </a:xfrm>
          <a:prstGeom prst="rect">
            <a:avLst/>
          </a:prstGeom>
          <a:blipFill>
            <a:blip r:embed="rId6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8</a:t>
            </a:fld>
            <a:endParaRPr/>
          </a:p>
        </p:txBody>
      </p:sp>
      <p:sp>
        <p:nvSpPr>
          <p:cNvPr id="11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2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" name="object 7"/>
          <p:cNvSpPr txBox="1"/>
          <p:nvPr/>
        </p:nvSpPr>
        <p:spPr bwMode="auto">
          <a:xfrm>
            <a:off x="9931414" y="4773268"/>
            <a:ext cx="10123487" cy="6338274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ИНОРОДНОЕ ТЕЛО И ОТКРЫТЫЙ ПЕРЕЛОМ</a:t>
            </a:r>
            <a:r>
              <a:rPr sz="3600" b="1" spc="4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 spc="-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Инородный предмет из раны не извлекать;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Фиксировать предмет салфетками/бинттами и накладывать повязку;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Прямое давление на предмет / отломки — опасно или неэффективно;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В этих случаях — повязка с фиксацией и/или жгут по показаниям.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слушателей: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Пытаться вытащить осколок / предмет из раны;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Давить прямо на инородное тело;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Тратить время на «идеальное» давление там, где оно противопоказано.</a:t>
            </a:r>
          </a:p>
        </p:txBody>
      </p:sp>
      <p:sp>
        <p:nvSpPr>
          <p:cNvPr id="13" name="object 8"/>
          <p:cNvSpPr>
            <a:spLocks noChangeAspect="1"/>
          </p:cNvSpPr>
          <p:nvPr/>
        </p:nvSpPr>
        <p:spPr bwMode="auto">
          <a:xfrm>
            <a:off x="2054900" y="9070848"/>
            <a:ext cx="5764086" cy="4081389"/>
          </a:xfrm>
          <a:prstGeom prst="rect">
            <a:avLst/>
          </a:prstGeom>
          <a:blipFill>
            <a:blip r:embed="rId6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  <p:sp>
        <p:nvSpPr>
          <p:cNvPr id="15" name="object 9"/>
          <p:cNvSpPr>
            <a:spLocks noChangeAspect="1"/>
          </p:cNvSpPr>
          <p:nvPr/>
        </p:nvSpPr>
        <p:spPr bwMode="auto">
          <a:xfrm>
            <a:off x="2054900" y="3196630"/>
            <a:ext cx="6505614" cy="5874218"/>
          </a:xfrm>
          <a:prstGeom prst="rect">
            <a:avLst/>
          </a:prstGeom>
          <a:blipFill>
            <a:blip r:embed="rId5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11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2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" name="object 7"/>
          <p:cNvSpPr txBox="1"/>
          <p:nvPr/>
        </p:nvSpPr>
        <p:spPr bwMode="auto">
          <a:xfrm>
            <a:off x="2054901" y="4803727"/>
            <a:ext cx="9563100" cy="6372129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КРОВООСТАНАВЛИВАЮЩИЙ ЖГУТ</a:t>
            </a:r>
            <a:r>
              <a:rPr sz="3600" b="1" spc="-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 spc="70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Жгут — когда давление/повязка невозможны, неэффективны или при отрыве;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Только на конечность; выше раны (5–7 см) или максимально к туловищу;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Обычно на прокладку/одежду; турникет — по инструкции (иногда на голое тело);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Остановка — первым растянутым туром; жгут на виду; время указано;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Срок до 2 часов; снятие &gt;2 ч вне медорганизации не рекомендуется.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слушателей: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Накладывать жгут «на всякий случай» при останавливаемом давлении;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Прятать жгут под повязкой/одеждой; не указывать время;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Использовать тонкую проволоку/шнур как импровизированный жгут;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Снимать жгут самостоятельно после долгого срока наложения.</a:t>
            </a:r>
          </a:p>
        </p:txBody>
      </p:sp>
      <p:sp>
        <p:nvSpPr>
          <p:cNvPr id="10" name="object 8"/>
          <p:cNvSpPr>
            <a:spLocks noChangeAspect="1"/>
          </p:cNvSpPr>
          <p:nvPr/>
        </p:nvSpPr>
        <p:spPr bwMode="auto">
          <a:xfrm>
            <a:off x="12988902" y="3561860"/>
            <a:ext cx="7066000" cy="3556004"/>
          </a:xfrm>
          <a:prstGeom prst="rect">
            <a:avLst/>
          </a:prstGeom>
          <a:blipFill>
            <a:blip r:embed="rId6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  <p:sp>
        <p:nvSpPr>
          <p:cNvPr id="14" name="object 9"/>
          <p:cNvSpPr>
            <a:spLocks noChangeAspect="1"/>
          </p:cNvSpPr>
          <p:nvPr/>
        </p:nvSpPr>
        <p:spPr bwMode="auto">
          <a:xfrm>
            <a:off x="13439066" y="7989792"/>
            <a:ext cx="6615835" cy="4848424"/>
          </a:xfrm>
          <a:prstGeom prst="rect">
            <a:avLst/>
          </a:prstGeom>
          <a:blipFill>
            <a:blip r:embed="rId5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11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2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" name="object 7"/>
          <p:cNvSpPr txBox="1"/>
          <p:nvPr/>
        </p:nvSpPr>
        <p:spPr bwMode="auto">
          <a:xfrm>
            <a:off x="2054901" y="3449164"/>
            <a:ext cx="9279467" cy="4599336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ПОСЛЕДОВАТЕЛЬНОСТЬ ОСТАНОВКИ КРОВОТЕЧЕНИЯ</a:t>
            </a:r>
            <a:r>
              <a:rPr sz="3600" b="1" spc="30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Безопасность → обзорный осмотр → выбор способа;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Интенсивное кровотечение → сначала прямое давление;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Давление нельзя/опасно → повязка и/или жгут сразу;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Отрыв / разрушение конечности → жгут немедленно;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Давление помогло → повязка; не помогло → жгут выше раны.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слушателей: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Нарушать порядок и начинать с жгута без показаний;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Останавливаться после «слабой» попытки давления;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Забывать контроль: остановилась ли кровь после приёма.</a:t>
            </a:r>
          </a:p>
        </p:txBody>
      </p:sp>
      <p:sp>
        <p:nvSpPr>
          <p:cNvPr id="13" name="object 8"/>
          <p:cNvSpPr>
            <a:spLocks noChangeAspect="1"/>
          </p:cNvSpPr>
          <p:nvPr/>
        </p:nvSpPr>
        <p:spPr bwMode="auto">
          <a:xfrm>
            <a:off x="5707726" y="8779419"/>
            <a:ext cx="11253284" cy="4076225"/>
          </a:xfrm>
          <a:prstGeom prst="rect">
            <a:avLst/>
          </a:prstGeom>
          <a:blipFill>
            <a:blip r:embed="rId5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  <p:sp>
        <p:nvSpPr>
          <p:cNvPr id="15" name="object 9"/>
          <p:cNvSpPr>
            <a:spLocks noChangeAspect="1"/>
          </p:cNvSpPr>
          <p:nvPr/>
        </p:nvSpPr>
        <p:spPr bwMode="auto">
          <a:xfrm>
            <a:off x="11694201" y="3272085"/>
            <a:ext cx="8613099" cy="4953493"/>
          </a:xfrm>
          <a:prstGeom prst="rect">
            <a:avLst/>
          </a:prstGeom>
          <a:blipFill>
            <a:blip r:embed="rId6"/>
            <a:srcRect l="0" t="0" r="0" b="9620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11</a:t>
            </a:fld>
            <a:endParaRPr/>
          </a:p>
        </p:txBody>
      </p:sp>
      <p:sp>
        <p:nvSpPr>
          <p:cNvPr id="11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2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" name="object 7"/>
          <p:cNvSpPr txBox="1"/>
          <p:nvPr/>
        </p:nvSpPr>
        <p:spPr bwMode="auto">
          <a:xfrm>
            <a:off x="2054901" y="5469057"/>
            <a:ext cx="10949899" cy="4599336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ГОЛОВА, ШЕЯ, ГРУДЬ, ЖИВОТ</a:t>
            </a:r>
            <a:r>
              <a:rPr sz="3600" b="1" spc="-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 spc="80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Голова: давление/повязка; при риске перелома черепа — без усиленного давления на кости;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Инородное в ране головы — фиксировать, не извлекать;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Шея: давление → повязка через противоположную подмышку;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Грудь/спина: остановить наружное; внутреннее крупных сосудов — только СМП/хирургия;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Живот/таз: не давить на выпавшие органы давящей повязкой.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слушателей: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Сильно давить при подозрении на перелом черепа;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Накладывать круговую повязку на шею «как на конечность»;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Пытаться «остановить» внутреннее кровотечение груди подручными средствами;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Давить/бинтовать выпавшие органы живота.</a:t>
            </a:r>
          </a:p>
        </p:txBody>
      </p:sp>
      <p:sp>
        <p:nvSpPr>
          <p:cNvPr id="10" name="object 8"/>
          <p:cNvSpPr>
            <a:spLocks noChangeAspect="1"/>
          </p:cNvSpPr>
          <p:nvPr/>
        </p:nvSpPr>
        <p:spPr bwMode="auto">
          <a:xfrm>
            <a:off x="14530101" y="3288586"/>
            <a:ext cx="5524800" cy="4480139"/>
          </a:xfrm>
          <a:prstGeom prst="rect">
            <a:avLst/>
          </a:prstGeom>
          <a:blipFill>
            <a:blip r:embed="rId6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  <p:sp>
        <p:nvSpPr>
          <p:cNvPr id="14" name="object 9"/>
          <p:cNvSpPr>
            <a:spLocks noChangeAspect="1"/>
          </p:cNvSpPr>
          <p:nvPr/>
        </p:nvSpPr>
        <p:spPr bwMode="auto">
          <a:xfrm>
            <a:off x="14530102" y="8212838"/>
            <a:ext cx="5524799" cy="4826108"/>
          </a:xfrm>
          <a:prstGeom prst="rect">
            <a:avLst/>
          </a:prstGeom>
          <a:blipFill>
            <a:blip r:embed="rId5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12</a:t>
            </a:fld>
            <a:endParaRPr/>
          </a:p>
        </p:txBody>
      </p:sp>
      <p:sp>
        <p:nvSpPr>
          <p:cNvPr id="11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2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" name="object 7"/>
          <p:cNvSpPr txBox="1"/>
          <p:nvPr/>
        </p:nvSpPr>
        <p:spPr bwMode="auto">
          <a:xfrm>
            <a:off x="11054901" y="5406327"/>
            <a:ext cx="8248545" cy="4045338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КОНЕЧНОСТИ, ОТРЫВ, СМЕЖНЫЕ ЗОНЫ</a:t>
            </a:r>
            <a:r>
              <a:rPr sz="3600" b="1" spc="-10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Конечности: все способы по общей последовательности;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Выбор: интенсивность, место раны, наличие средств, срок СМП;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Отрыв части конечности — показание к немедленному жгуту;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Смежные зоны (пах, подмышка и т.п.): часто только прямое давление;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Жгут/повязку в смежных зонах наложить сложно — не терять время.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слушателей: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Пытаться наложить жгут там, где анатомически нельзя;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При отрыве долго пробовать только давление;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Игнорировать сильное кровотечение из паха/подмышки.</a:t>
            </a:r>
          </a:p>
        </p:txBody>
      </p:sp>
      <p:sp>
        <p:nvSpPr>
          <p:cNvPr id="13" name="object 8"/>
          <p:cNvSpPr/>
          <p:nvPr/>
        </p:nvSpPr>
        <p:spPr bwMode="auto">
          <a:xfrm>
            <a:off x="3748235" y="3034259"/>
            <a:ext cx="5531232" cy="10076408"/>
          </a:xfrm>
          <a:prstGeom prst="rect">
            <a:avLst/>
          </a:prstGeom>
          <a:blipFill>
            <a:blip r:embed="rId4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>
              <a:defRPr/>
            </a:pPr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11" name="TextBox 6"/>
          <p:cNvSpPr txBox="1"/>
          <p:nvPr/>
        </p:nvSpPr>
        <p:spPr bwMode="auto">
          <a:xfrm>
            <a:off x="2054901" y="1370612"/>
            <a:ext cx="18720266" cy="1107996"/>
          </a:xfrm>
          <a:prstGeom prst="rect">
            <a:avLst/>
          </a:prstGeom>
          <a:ln w="12700">
            <a:miter lim="400000"/>
          </a:ln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 lang="ru-RU">
                <a:solidFill>
                  <a:schemeClr val="accent6"/>
                </a:solidFill>
              </a:rPr>
              <a:t>РЕКОМЕНДАЦИИ ДЛЯ ЭФФЕКТИВНОГО ОБУЧЕНИЯ</a:t>
            </a:r>
            <a:endParaRPr/>
          </a:p>
        </p:txBody>
      </p:sp>
      <p:sp>
        <p:nvSpPr>
          <p:cNvPr id="12" name="Rectangle 29"/>
          <p:cNvSpPr/>
          <p:nvPr/>
        </p:nvSpPr>
        <p:spPr bwMode="auto">
          <a:xfrm>
            <a:off x="2054901" y="2498546"/>
            <a:ext cx="1800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" name="object 7"/>
          <p:cNvSpPr txBox="1"/>
          <p:nvPr/>
        </p:nvSpPr>
        <p:spPr bwMode="auto">
          <a:xfrm>
            <a:off x="2054901" y="4232200"/>
            <a:ext cx="11220832" cy="5694508"/>
          </a:xfrm>
          <a:prstGeom prst="rect">
            <a:avLst/>
          </a:prstGeom>
        </p:spPr>
        <p:txBody>
          <a:bodyPr vert="horz" wrap="square" lIns="36000" tIns="13335" rIns="36000" bIns="36000" rtlCol="0">
            <a:spAutoFit/>
          </a:bodyPr>
          <a:lstStyle/>
          <a:p>
            <a:pPr marL="12700">
              <a:spcBef>
                <a:spcPts val="105"/>
              </a:spcBef>
              <a:defRPr/>
            </a:pPr>
            <a:r>
              <a:rPr sz="17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>ТИПИЧНЫЕ ОШИБКИ ПРИ ОБУЧЕНИИ ТЕМЕ</a:t>
            </a:r>
            <a:r>
              <a:rPr sz="3600" b="1" spc="-5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 spc="90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r>
              <a:rPr sz="3600" b="1">
                <a:solidFill>
                  <a:srgbClr val="525252"/>
                </a:solidFill>
                <a:latin typeface="Open Sans Light"/>
                <a:ea typeface="Open Sans Light"/>
                <a:cs typeface="Open Sans Light"/>
              </a:rPr>
              <a:t/>
            </a:r>
            <a:endParaRPr sz="3600">
              <a:latin typeface="Open Sans Light"/>
              <a:ea typeface="Open Sans Light"/>
              <a:cs typeface="Open Sans Light"/>
            </a:endParaRP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Важно заострить внимание: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Сначала отработать давление и повязку, жгут — осознанно как крайнюю меру;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Обязательно отработать жгут на практике (навык критичен);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Разбирать непереносимость вида крови и технику безопасности;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Закреплять алгоритм последовательности, а не «набор приёмов»;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Контролировать: перчатки, время жгута, видимость жгута, фиксация инородного тела.</a:t>
            </a:r>
          </a:p>
          <a:p>
            <a:pPr/>
            <a:r>
              <a:rPr sz="1700" b="0">
                <a:latin typeface="Open Sans Light"/>
                <a:ea typeface="Open Sans Light"/>
                <a:cs typeface="Open Sans Light"/>
              </a:rPr>
              <a:t/>
            </a:r>
          </a:p>
          <a:p>
            <a:pPr/>
            <a:r>
              <a:rPr sz="1700" b="1">
                <a:latin typeface="Open Sans Light"/>
                <a:ea typeface="Open Sans Light"/>
                <a:cs typeface="Open Sans Light"/>
              </a:rPr>
              <a:t>Возможные ошибки при обучении: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Свести практику к «намотали жгут» без сценариев выбора способа;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Пугать жгутом или, наоборот, подавать его как универсальный приём;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Не проверять указание времени и видимость жгута;</a:t>
            </a:r>
          </a:p>
          <a:p>
            <a:pPr>
              <a:spcBef>
                <a:spcPts val="240"/>
              </a:spcBef>
            </a:pPr>
            <a:r>
              <a:rPr sz="1700" b="0">
                <a:latin typeface="Open Sans Light"/>
                <a:ea typeface="Open Sans Light"/>
                <a:cs typeface="Open Sans Light"/>
              </a:rPr>
              <a:t>Пропустить особенности областей тела (шея, живот, смежные зоны).</a:t>
            </a:r>
          </a:p>
        </p:txBody>
      </p:sp>
      <p:sp>
        <p:nvSpPr>
          <p:cNvPr id="9" name="object 8"/>
          <p:cNvSpPr/>
          <p:nvPr/>
        </p:nvSpPr>
        <p:spPr bwMode="auto">
          <a:xfrm>
            <a:off x="14240234" y="3692733"/>
            <a:ext cx="6051733" cy="6330533"/>
          </a:xfrm>
          <a:prstGeom prst="rect">
            <a:avLst/>
          </a:prstGeom>
          <a:blipFill>
            <a:blip r:embed="rId4"/>
            <a:stretch/>
          </a:blipFill>
        </p:spPr>
        <p:txBody>
          <a:bodyPr wrap="square" lIns="36000" tIns="36000" rIns="36000" bIns="36000" rtlCol="0"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7" name="Rectangle 10"/>
          <p:cNvSpPr/>
          <p:nvPr/>
        </p:nvSpPr>
        <p:spPr bwMode="auto">
          <a:xfrm>
            <a:off x="0" y="0"/>
            <a:ext cx="7435515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8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10078695" y="5351780"/>
            <a:ext cx="11649423" cy="3012439"/>
          </a:xfrm>
          <a:prstGeom prst="rect">
            <a:avLst/>
          </a:prstGeom>
          <a:ln w="12700">
            <a:miter lim="400000"/>
          </a:ln>
        </p:spPr>
        <p:txBody>
          <a:bodyPr lIns="36000" tIns="36000" rIns="36000" bIns="3600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</a:rPr>
              <a:t>БЛАГОДАРИМ ЗА ВНИМАНИЕ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r7-office/2025.4.1.1604</Application>
  <DocSecurity>0</DocSecurity>
  <PresentationFormat>Произвольный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dc:identifier/>
  <dc:language/>
  <cp:lastModifiedBy>Лукина Марина</cp:lastModifiedBy>
  <cp:revision>9</cp:revision>
  <dcterms:modified xsi:type="dcterms:W3CDTF">2026-08-19T09:35:45Z</dcterms:modified>
  <cp:category/>
  <cp:contentStatus/>
  <cp:version/>
</cp:coreProperties>
</file>