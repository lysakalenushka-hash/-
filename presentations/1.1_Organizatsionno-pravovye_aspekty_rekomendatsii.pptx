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20"/>
  </p:sldIdLst>
  <p:sldSz cx="24371300" cy="13716000"/>
  <p:notesSz cx="243713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1pPr>
    <a:lvl2pPr marL="0" marR="0" indent="91421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2pPr>
    <a:lvl3pPr marL="0" marR="0" indent="182843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3pPr>
    <a:lvl4pPr marL="0" marR="0" indent="2742651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4pPr>
    <a:lvl5pPr marL="0" marR="0" indent="365686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5pPr>
    <a:lvl6pPr marL="0" marR="0" indent="457108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6pPr>
    <a:lvl7pPr marL="0" marR="0" indent="548530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7pPr>
    <a:lvl8pPr marL="0" marR="0" indent="6399519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8pPr>
    <a:lvl9pPr marL="0" marR="0" indent="731373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29" d="100"/>
          <a:sy n="29" d="100"/>
        </p:scale>
        <p:origin x="300" y="78"/>
      </p:cViewPr>
      <p:guideLst>
        <p:guide pos="4320" orient="horz"/>
        <p:guide pos="767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" name="Shape 84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+mn-lt"/>
        <a:ea typeface="+mn-ea"/>
        <a:cs typeface="+mn-cs"/>
      </a:defRPr>
    </a:lvl1pPr>
    <a:lvl2pPr indent="228600">
      <a:defRPr sz="1200">
        <a:latin typeface="+mn-lt"/>
        <a:ea typeface="+mn-ea"/>
        <a:cs typeface="+mn-cs"/>
      </a:defRPr>
    </a:lvl2pPr>
    <a:lvl3pPr indent="457200">
      <a:defRPr sz="1200">
        <a:latin typeface="+mn-lt"/>
        <a:ea typeface="+mn-ea"/>
        <a:cs typeface="+mn-cs"/>
      </a:defRPr>
    </a:lvl3pPr>
    <a:lvl4pPr indent="685800">
      <a:defRPr sz="1200">
        <a:latin typeface="+mn-lt"/>
        <a:ea typeface="+mn-ea"/>
        <a:cs typeface="+mn-cs"/>
      </a:defRPr>
    </a:lvl4pPr>
    <a:lvl5pPr indent="914400">
      <a:defRPr sz="1200">
        <a:latin typeface="+mn-lt"/>
        <a:ea typeface="+mn-ea"/>
        <a:cs typeface="+mn-cs"/>
      </a:defRPr>
    </a:lvl5pPr>
    <a:lvl6pPr indent="1143000">
      <a:defRPr sz="1200">
        <a:latin typeface="+mn-lt"/>
        <a:ea typeface="+mn-ea"/>
        <a:cs typeface="+mn-cs"/>
      </a:defRPr>
    </a:lvl6pPr>
    <a:lvl7pPr indent="1371600">
      <a:defRPr sz="1200">
        <a:latin typeface="+mn-lt"/>
        <a:ea typeface="+mn-ea"/>
        <a:cs typeface="+mn-cs"/>
      </a:defRPr>
    </a:lvl7pPr>
    <a:lvl8pPr indent="1600200">
      <a:defRPr sz="1200">
        <a:latin typeface="+mn-lt"/>
        <a:ea typeface="+mn-ea"/>
        <a:cs typeface="+mn-cs"/>
      </a:defRPr>
    </a:lvl8pPr>
    <a:lvl9pPr indent="1828800">
      <a:defRPr sz="12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Тема 1. Организационно-правовые аспекты оказания первой помощи</a:t>
            </a:r>
          </a:p>
          <a:p>
            <a:r>
              <a:t>Презентация для преподавателей: на что обратить внимание и типичные ошибки.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ТЕМА 1. ОРГАНИЗАЦИОННО-ПРАВОВЫЕ АСПЕКТЫ</a:t>
            </a:r>
          </a:p>
          <a:p/>
          <a:p>
            <a:r>
              <a:t>Важно:</a:t>
            </a:r>
          </a:p>
          <a:p>
            <a:r>
              <a:t>- Цель занятия: понятия, НПА, важность ПП, алгоритм и оснащение;</a:t>
            </a:r>
          </a:p>
          <a:p>
            <a:r>
              <a:t>- Формат: интерактивная лекция (2 часа), диалог, а не монолог;</a:t>
            </a:r>
          </a:p>
          <a:p>
            <a:r>
              <a:t>- Особый акцент — актуальное российское законодательство;</a:t>
            </a:r>
          </a:p>
          <a:p>
            <a:r>
              <a:t>- Развеять миф о наказании за оказание первой помощи;</a:t>
            </a:r>
          </a:p>
          <a:p>
            <a:r>
              <a:t>- Итог темы: значимость ПП и её законодательно установленный объём.</a:t>
            </a:r>
          </a:p>
          <a:p/>
          <a:p>
            <a:r>
              <a:t>Возможные ошибки при обучении:</a:t>
            </a:r>
          </a:p>
          <a:p>
            <a:r>
              <a:t>- Свести занятие к «чтению закона» без разбора страхов очевидцев;</a:t>
            </a:r>
          </a:p>
          <a:p>
            <a:r>
              <a:t>- Не связать правовые нормы с действиями на месте происшествия;</a:t>
            </a:r>
          </a:p>
          <a:p>
            <a:r>
              <a:t>- Не зафиксировать понимание объёма ПП после разбора темы.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ВАЖНОСТЬ ПЕРВОЙ ПОМОЩИ</a:t>
            </a:r>
          </a:p>
          <a:p/>
          <a:p>
            <a:r>
              <a:t>Важно:</a:t>
            </a:r>
          </a:p>
          <a:p>
            <a:r>
              <a:t>- ПП — отдельный вид помощи до медицинской помощи;</a:t>
            </a:r>
          </a:p>
          <a:p>
            <a:r>
              <a:t>- Около 25% погибших в ДТП могли выжить при своевременной ПП;</a:t>
            </a:r>
          </a:p>
          <a:p>
            <a:r>
              <a:t>- Критическое окно: остановка сердца ~10 мин; сильное кровотечение 1,5–2 мин;</a:t>
            </a:r>
          </a:p>
          <a:p>
            <a:r>
              <a:t>- Главные барьеры очевидцев: «сделаю хуже» и страх ответственности;</a:t>
            </a:r>
          </a:p>
          <a:p>
            <a:r>
              <a:t>- ПП полезна пострадавшему и юридически защищает оказывающего.</a:t>
            </a:r>
          </a:p>
          <a:p/>
          <a:p>
            <a:r>
              <a:t>Возможные ошибки слушателей:</a:t>
            </a:r>
          </a:p>
          <a:p>
            <a:r>
              <a:t>- Надеяться, что «скорая успеет»;</a:t>
            </a:r>
          </a:p>
          <a:p>
            <a:r>
              <a:t>- Отказываться помогать из страха юридической ответственности;</a:t>
            </a:r>
          </a:p>
          <a:p>
            <a:r>
              <a:t>- Путать первую помощь со скорой медицинской помощью.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ОРГАНИЗАЦИЯ СИСТЕМЫ ПЕРВОЙ ПОМОЩИ В РФ</a:t>
            </a:r>
          </a:p>
          <a:p/>
          <a:p>
            <a:r>
              <a:t>Важно:</a:t>
            </a:r>
          </a:p>
          <a:p>
            <a:r>
              <a:t>- Пять компонентов системы: НПА, обучение, оснащение, мотивация, учёт;</a:t>
            </a:r>
          </a:p>
          <a:p>
            <a:r>
              <a:t>- Три категории участников: обязанные; само-/взаимопомощь; добровольные;</a:t>
            </a:r>
          </a:p>
          <a:p>
            <a:r>
              <a:t>- Роль очевидцев до прибытия специалистов и передачи бригаде СМП;</a:t>
            </a:r>
          </a:p>
          <a:p>
            <a:r>
              <a:t>- Даже простые действия без аптечки могут спасти жизнь.</a:t>
            </a:r>
          </a:p>
          <a:p/>
          <a:p>
            <a:r>
              <a:t>Возможные ошибки слушателей:</a:t>
            </a:r>
          </a:p>
          <a:p>
            <a:r>
              <a:t>- Путать право и обязанность оказывать первую помощь;</a:t>
            </a:r>
          </a:p>
          <a:p>
            <a:r>
              <a:t>- Считать, что без аптечки «нельзя ничего делать»;</a:t>
            </a:r>
          </a:p>
          <a:p>
            <a:r>
              <a:t>- Забывать про передачу пострадавшего прибывшей бригаде СМП.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НОРМАТИВНО-ПРАВОВАЯ БАЗА (СТ. 31 323-ФЗ, ПРИКАЗ 220н)</a:t>
            </a:r>
          </a:p>
          <a:p/>
          <a:p>
            <a:r>
              <a:t>Важно:</a:t>
            </a:r>
          </a:p>
          <a:p>
            <a:r>
              <a:t>- ПП оказывается только по порядкам Минздрава России;</a:t>
            </a:r>
          </a:p>
          <a:p>
            <a:r>
              <a:t>- Не по правилам ОТ, памяткам, программам и «личному опыту»;</a:t>
            </a:r>
          </a:p>
          <a:p>
            <a:r>
              <a:t>- Приказ № 220н: 9 состояний и 9 мероприятий + последовательность;</a:t>
            </a:r>
          </a:p>
          <a:p>
            <a:r>
              <a:t>- С 01.09.2024 — новая редакция ст. 31 (ФЗ № 135-ФЗ);</a:t>
            </a:r>
          </a:p>
          <a:p>
            <a:r>
              <a:t>- Показывать НПА и короткие цитаты на слайдах.</a:t>
            </a:r>
          </a:p>
          <a:p/>
          <a:p>
            <a:r>
              <a:t>Возможные ошибки слушателей:</a:t>
            </a:r>
          </a:p>
          <a:p>
            <a:r>
              <a:t>- Опираться на устаревший приказ № 477н;</a:t>
            </a:r>
          </a:p>
          <a:p>
            <a:r>
              <a:t>- Учить объём ПП «по интернету» вне Порядка;</a:t>
            </a:r>
          </a:p>
          <a:p>
            <a:r>
              <a:t>- Подменять Порядок локальными инструкциями и памятками.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ПРАВА, ОБЯЗАННОСТИ И ОТВЕТСТВЕННОСТЬ</a:t>
            </a:r>
          </a:p>
          <a:p/>
          <a:p>
            <a:r>
              <a:t>Важно:</a:t>
            </a:r>
          </a:p>
          <a:p>
            <a:r>
              <a:t>- «Вправе» — право выбора, а не обязанность для добровольцев;</a:t>
            </a:r>
          </a:p>
          <a:p>
            <a:r>
              <a:t>- Обязанные: полиция, пожарные, спасатели и др. по НПА;</a:t>
            </a:r>
          </a:p>
          <a:p>
            <a:r>
              <a:t>- Водитель — участник ДТП с пострадавшими обязан принять меры;</a:t>
            </a:r>
          </a:p>
          <a:p>
            <a:r>
              <a:t>- Медработник во внерабочее время: право, не обязанность по ПП;</a:t>
            </a:r>
          </a:p>
          <a:p>
            <a:r>
              <a:t>- Крайняя необходимость; ПП — смягчающее обстоятельство;</a:t>
            </a:r>
          </a:p>
          <a:p>
            <a:r>
              <a:t>- Риск ответственности — при выходе за рамки Порядка.</a:t>
            </a:r>
          </a:p>
          <a:p/>
          <a:p>
            <a:r>
              <a:t>Возможные ошибки слушателей:</a:t>
            </a:r>
          </a:p>
          <a:p>
            <a:r>
              <a:t>- Утверждать, что «за любую ошибку при ПП посадят»;</a:t>
            </a:r>
          </a:p>
          <a:p>
            <a:r>
              <a:t>- Путать неоказание помощи обязанным лицом и добровольным очевидцем;</a:t>
            </a:r>
          </a:p>
          <a:p>
            <a:r>
              <a:t>- Считать медработников всегда обязанными оказывать именно ПП.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АПТЕЧКИ, УКЛАДКИ И ПОДРУЧНЫЕ СРЕДСТВА</a:t>
            </a:r>
          </a:p>
          <a:p/>
          <a:p>
            <a:r>
              <a:t>Важно:</a:t>
            </a:r>
          </a:p>
          <a:p>
            <a:r>
              <a:t>- Ключевые аптечки: автомобильная (260н), работников (262н), образования (261н);</a:t>
            </a:r>
          </a:p>
          <a:p>
            <a:r>
              <a:t>- Состав обязательный — замена компонентов не допускается;</a:t>
            </a:r>
          </a:p>
          <a:p>
            <a:r>
              <a:t>- С 2024 г. в комплектацию по приказам могут входить лекарственные средства;</a:t>
            </a:r>
          </a:p>
          <a:p>
            <a:r>
              <a:t>- Подручные средства допустимы;</a:t>
            </a:r>
          </a:p>
          <a:p>
            <a:r>
              <a:t>- Пополнение — по расходу и истечении срока годности.</a:t>
            </a:r>
          </a:p>
          <a:p/>
          <a:p>
            <a:r>
              <a:t>Возможные ошибки слушателей:</a:t>
            </a:r>
          </a:p>
          <a:p>
            <a:r>
              <a:t>- Заменять компоненты аптечки «на своё усмотрение»;</a:t>
            </a:r>
          </a:p>
          <a:p>
            <a:r>
              <a:t>- Использовать медицинскую маску для искусственного дыхания;</a:t>
            </a:r>
          </a:p>
          <a:p>
            <a:r>
              <a:t>- Не контролировать доступность и готовность аптечки.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ПОРЯДОК 220н И УНИВЕРСАЛЬНЫЙ АЛГОРИТМ</a:t>
            </a:r>
          </a:p>
          <a:p/>
          <a:p>
            <a:r>
              <a:t>Важно:</a:t>
            </a:r>
          </a:p>
          <a:p>
            <a:r>
              <a:t>- Соблюдать последовательность мероприятий Приложения № 2;</a:t>
            </a:r>
          </a:p>
          <a:p>
            <a:r>
              <a:t>- Приоритет: безопасность → кровотечение → признаки жизни → СЛР;</a:t>
            </a:r>
          </a:p>
          <a:p>
            <a:r>
              <a:t>- Признаки жизни: сознание и дыхание (пульс не проверяется);</a:t>
            </a:r>
          </a:p>
          <a:p>
            <a:r>
              <a:t>- Нет назначения лекарств; допустимо содействие в приёме своих препаратов;</a:t>
            </a:r>
          </a:p>
          <a:p>
            <a:r>
              <a:t>- Устное информирование о начале ПП; учёт выраженного отказа.</a:t>
            </a:r>
          </a:p>
          <a:p/>
          <a:p>
            <a:r>
              <a:t>Возможные ошибки слушателей:</a:t>
            </a:r>
          </a:p>
          <a:p>
            <a:r>
              <a:t>- Начинать «лечение» без оценки обстановки и безопасности;</a:t>
            </a:r>
          </a:p>
          <a:p>
            <a:r>
              <a:t>- Назначать/давать чужие лекарственные препараты;</a:t>
            </a:r>
          </a:p>
          <a:p>
            <a:r>
              <a:t>- Делать проверку пульса обязательным шагом алгоритма.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ОБЕСПЕЧЕНИЕ БЕЗОПАСНЫХ УСЛОВИЙ</a:t>
            </a:r>
          </a:p>
          <a:p/>
          <a:p>
            <a:r>
              <a:t>Важно:</a:t>
            </a:r>
          </a:p>
          <a:p>
            <a:r>
              <a:t>- Собственная безопасность — условие оказания ПП (п. 4 Порядка);</a:t>
            </a:r>
          </a:p>
          <a:p>
            <a:r>
              <a:t>- Типичные угрозы: ток, движение, пожар/взрыв, токсины, агрессия, обрушение;</a:t>
            </a:r>
          </a:p>
          <a:p>
            <a:r>
              <a:t>- Сначала устранить/снизить опасность, затем помогать;</a:t>
            </a:r>
          </a:p>
          <a:p>
            <a:r>
              <a:t>- Обезопасить пострадавшего и прекратить действие повреждающих факторов;</a:t>
            </a:r>
          </a:p>
          <a:p>
            <a:r>
              <a:t>- При сохраняющейся угрозе — вызов спецслужб, а не героизм.</a:t>
            </a:r>
          </a:p>
          <a:p/>
          <a:p>
            <a:r>
              <a:t>Возможные ошибки слушателей:</a:t>
            </a:r>
          </a:p>
          <a:p>
            <a:r>
              <a:t>- Забыть устранить опасный фактор;</a:t>
            </a:r>
          </a:p>
          <a:p>
            <a:r>
              <a:t>- Бросаться к пострадавшему и становиться вторым пострадавшим;</a:t>
            </a:r>
          </a:p>
          <a:p>
            <a:r>
              <a:t>- Игнорировать информирование окружающих о начале оказания ПП.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ПРОФИЛАКТИКА ИНФЕКЦИОННЫХ ЗАБОЛЕВАНИЙ</a:t>
            </a:r>
          </a:p>
          <a:p/>
          <a:p>
            <a:r>
              <a:t>Важно:</a:t>
            </a:r>
          </a:p>
          <a:p>
            <a:r>
              <a:t>- Обязательно: перчатки и устройство «Рот–Устройство–Рот»;</a:t>
            </a:r>
          </a:p>
          <a:p>
            <a:r>
              <a:t>- Маска из аптечки — для защиты оказывающего, не для ИВЛ;</a:t>
            </a:r>
          </a:p>
          <a:p>
            <a:r>
              <a:t>- При контакте с биожидкостями — сразу промыть кожу/руки;</a:t>
            </a:r>
          </a:p>
          <a:p>
            <a:r>
              <a:t>- После ИВЛ рекомендуется прополоскать рот.</a:t>
            </a:r>
          </a:p>
          <a:p/>
          <a:p>
            <a:r>
              <a:t>Возможные ошибки слушателей:</a:t>
            </a:r>
          </a:p>
          <a:p>
            <a:r>
              <a:t>- Пренебрегать средствами индивидуальной защиты;</a:t>
            </a:r>
          </a:p>
          <a:p>
            <a:r>
              <a:t>- Путать назначение маски и устройства для искусственного дыхания;</a:t>
            </a:r>
          </a:p>
          <a:p>
            <a:r>
              <a:t>- Игнорировать контакт с кровью и другими биожидкостями.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ИЗВЛЕЧЕНИЕ И ПЕРЕМЕЩЕНИЕ ПОСТРАДАВШИХ</a:t>
            </a:r>
          </a:p>
          <a:p/>
          <a:p>
            <a:r>
              <a:t>Важно:</a:t>
            </a:r>
          </a:p>
          <a:p>
            <a:r>
              <a:t>- Экстренное извлечение — только при угрозе жизни/невозможности помочь на месте;</a:t>
            </a:r>
          </a:p>
          <a:p>
            <a:r>
              <a:t>- Перед извлечением из автомобиля: стояночный тормоз, выключить зажигание;</a:t>
            </a:r>
          </a:p>
          <a:p>
            <a:r>
              <a:t>- Приём Раутека; при подозрении на травму ШОП — фиксация головы и шеи;</a:t>
            </a:r>
          </a:p>
          <a:p>
            <a:r>
              <a:t>- Способ перемещения выбирать по состоянию, травмам и числу участников;</a:t>
            </a:r>
          </a:p>
          <a:p>
            <a:r>
              <a:t>- Приоритет при нескольких пострадавших: тяжёлые и дети.</a:t>
            </a:r>
          </a:p>
          <a:p/>
          <a:p>
            <a:r>
              <a:t>Возможные ошибки слушателей:</a:t>
            </a:r>
          </a:p>
          <a:p>
            <a:r>
              <a:t>- Извлекать «на всякий случай» без реальной угрозы;</a:t>
            </a:r>
          </a:p>
          <a:p>
            <a:r>
              <a:t>- Не фиксировать голову/шею при подозрении на травму позвоночника;</a:t>
            </a:r>
          </a:p>
          <a:p>
            <a:r>
              <a:t>- Выбирать травмоопасный способ переноски «для скорости».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ВЫЗОВ СКОРОЙ МЕДИЦИНСКОЙ ПОМОЩИ</a:t>
            </a:r>
          </a:p>
          <a:p/>
          <a:p>
            <a:r>
              <a:t>Важно:</a:t>
            </a:r>
          </a:p>
          <a:p>
            <a:r>
              <a:t>- Единый номер 112 (также 103 и региональные номера);</a:t>
            </a:r>
          </a:p>
          <a:p>
            <a:r>
              <a:t>- Сообщить: место и что произошло; число пострадавших; повреждения; какая помощь оказывается;</a:t>
            </a:r>
          </a:p>
          <a:p>
            <a:r>
              <a:t>- Вызов — после оценки состояния, чтобы точнее передать информацию;</a:t>
            </a:r>
          </a:p>
          <a:p>
            <a:r>
              <a:t>- Не класть трубку первым: дождаться подтверждения принятия вызова;</a:t>
            </a:r>
          </a:p>
          <a:p>
            <a:r>
              <a:t>- Диспетчер может давать команды по оказанию ПП.</a:t>
            </a:r>
          </a:p>
          <a:p/>
          <a:p>
            <a:r>
              <a:t>Возможные ошибки слушателей:</a:t>
            </a:r>
          </a:p>
          <a:p>
            <a:r>
              <a:t>- Забыть вызвать скорую медицинскую помощь;</a:t>
            </a:r>
          </a:p>
          <a:p>
            <a:r>
              <a:t>- Не сообщить число пострадавших и характер повреждений;</a:t>
            </a:r>
          </a:p>
          <a:p>
            <a:r>
              <a:t>- Положить трубку до подтверждения, что вызов принят.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ТИПИЧНЫЕ ОШИБКИ ПРИ ОБУЧЕНИИ ТЕМЕ</a:t>
            </a:r>
          </a:p>
          <a:p/>
          <a:p>
            <a:r>
              <a:t>Важно:</a:t>
            </a:r>
          </a:p>
          <a:p>
            <a:r>
              <a:t>- Держать фокус на актуальных НПА и коротких цитатах;</a:t>
            </a:r>
          </a:p>
          <a:p>
            <a:r>
              <a:t>- Интерактивно разбирать страхи («сделаю хуже», «посадят»);</a:t>
            </a:r>
          </a:p>
          <a:p>
            <a:r>
              <a:t>- Связывать право → алгоритм → оснащение → вызов СМП;</a:t>
            </a:r>
          </a:p>
          <a:p>
            <a:r>
              <a:t>- Закреплять контрольными вопросами из учебного пособия;</a:t>
            </a:r>
          </a:p>
          <a:p>
            <a:r>
              <a:t>- Подчеркнуть итог: ПП проста, законна и спасает жизни.</a:t>
            </a:r>
          </a:p>
          <a:p/>
          <a:p>
            <a:r>
              <a:t>Возможные ошибки при обучении:</a:t>
            </a:r>
          </a:p>
          <a:p>
            <a:r>
              <a:t>- Уходить в «юридический ликбез» без связи с практикой;</a:t>
            </a:r>
          </a:p>
          <a:p>
            <a:r>
              <a:t>- Пугать ответственностью вместо развенчания мифа;</a:t>
            </a:r>
          </a:p>
          <a:p>
            <a:r>
              <a:t>- Давать устаревшие перечни состояний и мероприятий;</a:t>
            </a:r>
          </a:p>
          <a:p>
            <a:r>
              <a:t>- Пропускать безопасность, инфекцию и вызов СМП как «очевидное».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Благодарим за внимание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7206" y="5006973"/>
            <a:ext cx="18283238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7206" y="7204075"/>
            <a:ext cx="18283238" cy="595219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040" y="3708960"/>
            <a:ext cx="21025723" cy="140596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040" y="5817082"/>
            <a:ext cx="21025723" cy="75516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4" name="Rectangle 8"/>
          <p:cNvSpPr/>
          <p:nvPr/>
        </p:nvSpPr>
        <p:spPr bwMode="auto">
          <a:xfrm>
            <a:off x="11448381" y="5305985"/>
            <a:ext cx="1553039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1825" y="7458075"/>
            <a:ext cx="18030826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59952" y="3938096"/>
            <a:ext cx="6923155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1844" y="3938096"/>
            <a:ext cx="7124369" cy="550330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59952" y="8556336"/>
            <a:ext cx="6977810" cy="146177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1844" y="4700099"/>
            <a:ext cx="7124369" cy="329104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57225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14500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" name="Straight Connector 7"/>
          <p:cNvSpPr/>
          <p:nvPr/>
        </p:nvSpPr>
        <p:spPr bwMode="auto">
          <a:xfrm>
            <a:off x="1675963" y="2400300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37764" cy="1087232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625" y="1864518"/>
            <a:ext cx="22541411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626" y="1864518"/>
            <a:ext cx="22541410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2775885"/>
            <a:ext cx="10512863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2260787"/>
            <a:ext cx="10512863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286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6859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5963" y="23717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6333" y="3918317"/>
            <a:ext cx="2938097" cy="293809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14799733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799731" y="0"/>
            <a:ext cx="957791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02553" y="2931885"/>
            <a:ext cx="6399134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73475" y="4875212"/>
            <a:ext cx="6328212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601" y="-235852"/>
            <a:ext cx="692190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6362" y="-235858"/>
            <a:ext cx="8737907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9998092" y="-235854"/>
            <a:ext cx="985349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57400" y="-235855"/>
            <a:ext cx="7234551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272" y="-651331"/>
            <a:ext cx="25783598" cy="14935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759451"/>
            <a:ext cx="21025723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685800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18565"/>
            <a:ext cx="21025723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5825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19234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2643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86052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7101" y="7772400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2347" y="7772399"/>
            <a:ext cx="2673510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1243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24651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1249" y="7897810"/>
            <a:ext cx="2311776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48172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7210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0551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5825" y="10004425"/>
            <a:ext cx="5077200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5825" y="10614027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2748" y="10004425"/>
            <a:ext cx="5077199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2748" y="10614027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2643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2643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49566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49566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79052"/>
            <a:ext cx="21025723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3375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2539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3375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2539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14225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14224" y="6475348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14225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67940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67938" y="6475348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67940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06851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06850" y="9279536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06851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0565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0565" y="9279536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0565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9290"/>
            <a:ext cx="21025723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18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5953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289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46258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89616" y="3936819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289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289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289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5042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504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5042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3791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379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3791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12544" y="8044360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12542" y="9387974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12544" y="8635486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61294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61292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61294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95883"/>
            <a:ext cx="10058839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53159"/>
            <a:ext cx="10058839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4588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4588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7309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6680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4588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3957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4588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3957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7309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6680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2422" y="9144000"/>
            <a:ext cx="1224523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1722" y="1989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1092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0548" y="6561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19919" y="6660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07856" y="11133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7226" y="11232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62450" y="1989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81819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1724" y="6575837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1093" y="6675436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0857" y="1225708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7863" y="9466729"/>
            <a:ext cx="21025723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5" y="-1"/>
            <a:ext cx="24377655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19204" y="-17373600"/>
            <a:ext cx="243776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6473"/>
            <a:ext cx="21025723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83377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50281" y="7347745"/>
            <a:ext cx="2088356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88825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26927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349299"/>
            <a:ext cx="9120044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75" name="Rectangle 6"/>
          <p:cNvSpPr/>
          <p:nvPr/>
        </p:nvSpPr>
        <p:spPr bwMode="auto">
          <a:xfrm>
            <a:off x="0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44897"/>
            <a:ext cx="9120044" cy="3406775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22919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6520" y="7348949"/>
            <a:ext cx="329419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1285" y="7448549"/>
            <a:ext cx="3013294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38899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4315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496698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6124" y="8762999"/>
            <a:ext cx="6454590" cy="550866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6124" y="944245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496697" y="8716309"/>
            <a:ext cx="6454590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496697" y="939576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496698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2114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3550" y="4145279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3550" y="4886323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1749" y="4145279"/>
            <a:ext cx="2338023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3550" y="8208864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3550" y="8949908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1749" y="8208863"/>
            <a:ext cx="2338023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02553" y="4145279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02553" y="4886323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0753" y="4145279"/>
            <a:ext cx="233802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02553" y="8208864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02553" y="8949908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0753" y="8208863"/>
            <a:ext cx="2338022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58950" y="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18700" y="685800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6257" y="3390901"/>
            <a:ext cx="15331143" cy="6858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1163" y="3950260"/>
            <a:ext cx="13818037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1163" y="5007534"/>
            <a:ext cx="13818037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52449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520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040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3149" y="6858000"/>
            <a:ext cx="8125202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1624" y="5873750"/>
            <a:ext cx="11506201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4375" y="6329362"/>
            <a:ext cx="10248900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0" y="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6351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6351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6351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6273" y="10414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6273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6273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6273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6273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6273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11145"/>
            <a:ext cx="12188825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2" y="8040913"/>
            <a:ext cx="12188826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88825" y="1"/>
            <a:ext cx="12188828" cy="137159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4" y="8036300"/>
            <a:ext cx="12188828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5963" y="9174289"/>
            <a:ext cx="8582462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5964" y="10014856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4" y="8510327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19225" y="9144810"/>
            <a:ext cx="8582461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9225" y="9985378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19225" y="8480849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88825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5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4813" y="4572000"/>
            <a:ext cx="955401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88825" y="4572000"/>
            <a:ext cx="9554011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4813" y="6829425"/>
            <a:ext cx="9554012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88825" y="6829425"/>
            <a:ext cx="9554011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13865870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49281" y="0"/>
            <a:ext cx="12728368" cy="80083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0"/>
            <a:ext cx="1164928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2049" y="8978151"/>
            <a:ext cx="11785600" cy="47378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8797" y="7922741"/>
            <a:ext cx="21080055" cy="1231527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9154268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635635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635635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5" y="9144000"/>
            <a:ext cx="635635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2471" y="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2471" y="4572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2471" y="9144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2" y="31300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2" y="4603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2" y="9175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59921" y="10727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59921" y="16823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59921" y="5530401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59921" y="61400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59921" y="10159099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59921" y="10768702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3973605"/>
            <a:ext cx="12188825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441" y="7220229"/>
            <a:ext cx="7953376" cy="170488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183" y="7543240"/>
            <a:ext cx="5657851" cy="10879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59676" y="3973605"/>
            <a:ext cx="7928723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59676" y="4653057"/>
            <a:ext cx="7928723" cy="428073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3" y="10220322"/>
            <a:ext cx="10512861" cy="16298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795751" y="3993777"/>
            <a:ext cx="7591425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25" y="3993777"/>
            <a:ext cx="7572375" cy="3856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47003" y="3993777"/>
            <a:ext cx="12083644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000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4573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5963" y="21431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5" y="-2"/>
            <a:ext cx="304920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380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872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36556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88825" y="34415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380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872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36556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88825" y="68327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380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872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36556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88825" y="102743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380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872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36556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4622612"/>
            <a:ext cx="24368125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3665156"/>
            <a:ext cx="24368125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1" y="3665156"/>
            <a:ext cx="24377651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3375" y="5850387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232071"/>
            <a:ext cx="21134388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47606" y="6130925"/>
            <a:ext cx="2533652" cy="42640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1200" y="2514600"/>
            <a:ext cx="10207625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1200" y="5673725"/>
            <a:ext cx="10207625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3600" y="6261101"/>
            <a:ext cx="2527300" cy="42545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09567" y="5902876"/>
            <a:ext cx="5560205" cy="28296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3028" y="7389627"/>
            <a:ext cx="5545289" cy="4220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38942" y="4658203"/>
            <a:ext cx="6231945" cy="45515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6179" y="5610225"/>
            <a:ext cx="6370321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76314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134388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2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00675"/>
            <a:ext cx="10585450" cy="2028825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429500"/>
            <a:ext cx="1058545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8825" y="860612"/>
            <a:ext cx="10512861" cy="1623733"/>
          </a:xfrm>
          <a:prstGeom prst="rect">
            <a:avLst/>
          </a:prstGeom>
        </p:spPr>
        <p:txBody>
          <a:bodyPr/>
          <a:lstStyle>
            <a:lvl1pPr algn="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188825" y="2484345"/>
            <a:ext cx="10512861" cy="457201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4" y="64293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4" y="84582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48291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57246"/>
            <a:ext cx="5988862" cy="680199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4" y="8237445"/>
            <a:ext cx="5988861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2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04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06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2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04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06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2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04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06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3103" y="6994525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5963" y="3651250"/>
            <a:ext cx="103605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8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8" y="3362326"/>
            <a:ext cx="10312890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1186" y="3362326"/>
            <a:ext cx="10363677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4288" y="5297486"/>
            <a:ext cx="5299076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1275" y="7423150"/>
            <a:ext cx="5272088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3722" y="5303839"/>
            <a:ext cx="5299076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2026" y="4114800"/>
            <a:ext cx="8229601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36030" y="4297679"/>
            <a:ext cx="9141619" cy="548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8F8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4084" y="12828905"/>
            <a:ext cx="437603" cy="497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565" y="184149"/>
            <a:ext cx="2193417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8565" y="3200400"/>
            <a:ext cx="2193417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txStyles>
    <p:titleStyle>
      <a:lvl1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1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6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3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1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19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31443" y="5481332"/>
            <a:ext cx="4621489" cy="4445001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5" name="Rectangle 13"/>
          <p:cNvSpPr/>
          <p:nvPr/>
        </p:nvSpPr>
        <p:spPr bwMode="auto">
          <a:xfrm>
            <a:off x="13924280" y="0"/>
            <a:ext cx="1063625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6" name="Rectangle 5"/>
          <p:cNvSpPr/>
          <p:nvPr/>
        </p:nvSpPr>
        <p:spPr bwMode="auto">
          <a:xfrm>
            <a:off x="1664241" y="8700653"/>
            <a:ext cx="11649423" cy="108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664241" y="6712005"/>
            <a:ext cx="12903097" cy="1983653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ОБУЧЕНИЕ ПРЕПОДАВАТЕЛЕЙ </a:t>
            </a:r>
            <a:endParaRPr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ПО ОКАЗАНИЮ ПЕРВОЙ  ПОМОЩИ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1" name="object 8"/>
          <p:cNvSpPr/>
          <p:nvPr/>
        </p:nvSpPr>
        <p:spPr bwMode="auto">
          <a:xfrm>
            <a:off x="14885256" y="3051861"/>
            <a:ext cx="7431143" cy="9776857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2" name="object 7"/>
          <p:cNvSpPr txBox="1"/>
          <p:nvPr/>
        </p:nvSpPr>
        <p:spPr bwMode="auto">
          <a:xfrm>
            <a:off x="2054901" y="3643922"/>
            <a:ext cx="9203800" cy="803873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lang="ru-RU" sz="18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ТЕМА 1. ОРГАНИЗАЦИОННО-ПРАВОВЫЕ АСПЕКТЫ</a:t>
            </a:r>
            <a:endParaRPr/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Цель занятия: понятия, НПА, важность ПП, алгоритм и оснащение;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Формат: интерактивная лекция (2 часа), диалог, а не монолог;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Особый акцент — актуальное российское законодательство;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Развеять миф о наказании за оказание первой помощи;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Итог темы: значимость ПП и её законодательно установленный объём.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Свести занятие к «чтению закона» без разбора страхов очевидцев;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 связать правовые нормы с действиями на месте происшествия;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 зафиксировать понимание объёма ПП после разбора темы.</a:t>
            </a:r>
          </a:p>
        </p:txBody>
      </p:sp>
      <p:sp>
        <p:nvSpPr>
          <p:cNvPr id="13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5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9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2054901" y="3761994"/>
            <a:ext cx="11441643" cy="79489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ВАЖНОСТЬ ПЕРВОЙ ПОМОЩИ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ПП — отдельный вид помощи до медицинской помощи;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Около 25% погибших в ДТП могли выжить при своевременной ПП;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Критическое окно: остановка сердца ~10 мин; сильное кровотечение 1,5–2 мин;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Главные барьеры очевидцев: «сделаю хуже» и страх ответственности;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ПП полезна пострадавшему и юридически защищает оказывающего.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Надеяться, что «скорая успеет»;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Отказываться помогать из страха юридической ответственности;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Путать первую помощь со скорой медицинской помощью.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14140964" y="4687614"/>
            <a:ext cx="8175435" cy="6220841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684887"/>
            <a:ext cx="9203800" cy="56560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ОРГАНИЗАЦИЯ СИСТЕМЫ ПЕРВОЙ ПОМОЩИ В РФ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Пять компонентов системы: НПА, обучение, оснащение, мотивация, учёт;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Три категории участников: обязанные; само-/взаимопомощь; добровольные;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Роль очевидцев до прибытия специалистов и передачи бригаде СМП;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Даже простые действия без аптечки могут спасти жизнь.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Путать право и обязанность оказывать первую помощь;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Считать, что без аптечки «нельзя ничего делать»;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Забывать про передачу пострадавшего прибывшей бригаде СМП.</a:t>
            </a:r>
          </a:p>
        </p:txBody>
      </p:sp>
      <p:sp>
        <p:nvSpPr>
          <p:cNvPr id="8" name="object 8"/>
          <p:cNvSpPr/>
          <p:nvPr/>
        </p:nvSpPr>
        <p:spPr bwMode="auto">
          <a:xfrm>
            <a:off x="14106640" y="3986529"/>
            <a:ext cx="8209759" cy="6426938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7332789" y="4325183"/>
            <a:ext cx="12722112" cy="68922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НОРМАТИВНО-ПРАВОВАЯ БАЗА (СТ. 31 323-ФЗ, ПРИКАЗ 220н)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ПП оказывается только по порядкам Минздрава России;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 по правилам ОТ, памяткам, программам и «личному опыту»;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Приказ № 220н: 9 состояний и 9 мероприятий + последовательность;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 01.09.2024 — новая редакция ст. 31 (ФЗ № 135-ФЗ);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Показывать НПА и короткие цитаты на слайдах.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Опираться на устаревший приказ № 477н;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Учить объём ПП «по интернету» вне Порядка;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Подменять Порядок локальными инструкциями и памятками.</a:t>
            </a:r>
          </a:p>
        </p:txBody>
      </p:sp>
      <p:sp>
        <p:nvSpPr>
          <p:cNvPr id="10" name="object 8"/>
          <p:cNvSpPr/>
          <p:nvPr/>
        </p:nvSpPr>
        <p:spPr bwMode="auto">
          <a:xfrm>
            <a:off x="2054901" y="2906487"/>
            <a:ext cx="3906987" cy="10476053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3702059"/>
            <a:ext cx="11254698" cy="8111067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ПРАВА, ОБЯЗАННОСТИ И ОТВЕТСТВЕННОСТЬ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«Вправе» — право выбора, а не обязанность для добровольцев;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Обязанные: полиция, пожарные, спасатели и др. по НПА;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Водитель — участник ДТП с пострадавшими обязан принять меры;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Медработник во внерабочее время: право, не обязанность по ПП;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Крайняя необходимость; ПП — смягчающее обстоятельство;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Риск ответственности — при выходе за рамки Порядка.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Утверждать, что «за любую ошибку при ПП посадят»;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Путать неоказание помощи обязанным лицом и добровольным очевидцем;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Считать медработников всегда обязанными оказывать именно ПП.</a:t>
            </a:r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12586235" y="3202874"/>
            <a:ext cx="6755722" cy="662625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3" name="object 9"/>
          <p:cNvSpPr>
            <a:spLocks noChangeAspect="1"/>
          </p:cNvSpPr>
          <p:nvPr/>
        </p:nvSpPr>
        <p:spPr bwMode="auto">
          <a:xfrm>
            <a:off x="18559799" y="8986808"/>
            <a:ext cx="4430735" cy="420089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747309"/>
            <a:ext cx="11585890" cy="3537379"/>
          </a:xfrm>
          <a:prstGeom prst="rect">
            <a:avLst/>
          </a:prstGeom>
        </p:spPr>
        <p:txBody>
          <a:bodyPr vert="horz" wrap="square" lIns="36000" tIns="12700" rIns="36000" bIns="3600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АПТЕЧКИ, УКЛАДКИ И ПОДРУЧНЫЕ СРЕДСТВА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Ключевые аптечки: автомобильная (260н), работников (262н), образования (261н);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Состав обязательный — замена компонентов не допускается;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 2024 г. в комплектацию по приказам могут входить лекарственные средства;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Подручные средства допустимы;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Пополнение — по расходу и истечении срока годности.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Заменять компоненты аптечки «на своё усмотрение»;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Использовать медицинскую маску для искусственного дыхания;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 контролировать доступность и готовность аптечки.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1042595" y="5643872"/>
            <a:ext cx="6843069" cy="7596707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7885664" y="6822570"/>
            <a:ext cx="4718304" cy="6192712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9931414" y="4773268"/>
            <a:ext cx="10123487" cy="6338274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ПОРЯДОК 220н И УНИВЕРСАЛЬНЫЙ АЛГОРИТМ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Соблюдать последовательность мероприятий Приложения № 2;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Приоритет: безопасность → кровотечение → признаки жизни → СЛР;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Признаки жизни: сознание и дыхание (пульс не проверяется);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Нет назначения лекарств; допустимо содействие в приёме своих препаратов;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Устное информирование о начале ПП; учёт выраженного отказа.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Начинать «лечение» без оценки обстановки и безопасности;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Назначать/давать чужие лекарственные препараты;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Делать проверку пульса обязательным шагом алгоритма.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2054900" y="9070848"/>
            <a:ext cx="5764086" cy="4081389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2054900" y="3196630"/>
            <a:ext cx="6505614" cy="587421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803727"/>
            <a:ext cx="9563100" cy="637212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ОБЕСПЕЧЕНИЕ БЕЗОПАСНЫХ УСЛОВИЙ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7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Собственная безопасность — условие оказания ПП (п. 4 Порядка);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Типичные угрозы: ток, движение, пожар/взрыв, токсины, агрессия, обрушение;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Сначала устранить/снизить опасность, затем помогать;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Обезопасить пострадавшего и прекратить действие повреждающих факторов;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При сохраняющейся угрозе — вызов спецслужб, а не героизм.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Забыть устранить опасный фактор;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Бросаться к пострадавшему и становиться вторым пострадавшим;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Игнорировать информирование окружающих о начале оказания ПП.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2988902" y="3561860"/>
            <a:ext cx="7066000" cy="355600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3439066" y="7989792"/>
            <a:ext cx="6615835" cy="4848424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2054901" y="3449164"/>
            <a:ext cx="9279467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ПРОФИЛАКТИКА ИНФЕКЦИОННЫХ ЗАБОЛЕВАНИЙ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Обязательно: перчатки и устройство «Рот–Устройство–Рот»;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Маска из аптечки — для защиты оказывающего, не для ИВЛ;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При контакте с биожидкостями — сразу промыть кожу/руки;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После ИВЛ рекомендуется прополоскать рот.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Пренебрегать средствами индивидуальной защиты;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Путать назначение маски и устройства для искусственного дыхания;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Игнорировать контакт с кровью и другими биожидкостями.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5707726" y="8779419"/>
            <a:ext cx="11253284" cy="4076225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11694201" y="3272085"/>
            <a:ext cx="8613099" cy="4953493"/>
          </a:xfrm>
          <a:prstGeom prst="rect">
            <a:avLst/>
          </a:prstGeom>
          <a:blipFill>
            <a:blip r:embed="rId4"/>
            <a:srcRect l="0" t="0" r="0" b="9620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5469057"/>
            <a:ext cx="10949899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ИЗВЛЕЧЕНИЕ И ПЕРЕМЕЩЕНИЕ ПОСТРАДАВШИХ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Экстренное извлечение — только при угрозе жизни/невозможности помочь на месте;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Перед извлечением из автомобиля: стояночный тормоз, выключить зажигание;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Приём Раутека; при подозрении на травму ШОП — фиксация головы и шеи;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Способ перемещения выбирать по состоянию, травмам и числу участников;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Приоритет при нескольких пострадавших: тяжёлые и дети.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Извлекать «на всякий случай» без реальной угрозы;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 фиксировать голову/шею при подозрении на травму позвоночника;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Выбирать травмоопасный способ переноски «для скорости».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4530101" y="3288586"/>
            <a:ext cx="5524800" cy="4480139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4530102" y="8212838"/>
            <a:ext cx="5524799" cy="482610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11054901" y="5406327"/>
            <a:ext cx="8248545" cy="404533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ВЫЗОВ СКОРОЙ МЕДИЦИНСКОЙ ПОМОЩИ</a:t>
            </a:r>
            <a:r>
              <a:rPr sz="3600" b="1" spc="-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Единый номер 112 (также 103 и региональные номера);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Сообщить: место и что произошло; число пострадавших; повреждения; какая помощь оказывается;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Вызов — после оценки состояния, чтобы точнее передать информацию;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 класть трубку первым: дождаться подтверждения принятия вызова;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Диспетчер может давать команды по оказанию ПП.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Забыть вызвать скорую медицинскую помощь;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Не сообщить число пострадавших и характер повреждений;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Положить трубку до подтверждения, что вызов принят.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3748235" y="3034259"/>
            <a:ext cx="5531232" cy="10076408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232200"/>
            <a:ext cx="11220832" cy="569450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8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ТИПИЧНЫЕ ОШИБКИ ПРИ ОБУЧЕНИИ ТЕМЕ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Держать фокус на актуальных НПА и коротких цитатах;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Интерактивно разбирать страхи («сделаю хуже», «посадят»);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Связывать право → алгоритм → оснащение → вызов СМП;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Закреплять контрольными вопросами из учебного пособия;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Подчеркнуть итог: ПП проста, законна и спасает жизни.</a:t>
            </a:r>
          </a:p>
          <a:p>
            <a:pPr/>
            <a:r>
              <a:rPr sz="18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8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Уходить в «юридический ликбез» без связи с практикой;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Пугать ответственностью вместо развенчания мифа;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Давать устаревшие перечни состояний и мероприятий;</a:t>
            </a:r>
          </a:p>
          <a:p>
            <a:pPr>
              <a:spcBef>
                <a:spcPts val="280"/>
              </a:spcBef>
            </a:pPr>
            <a:r>
              <a:rPr sz="1800" b="0">
                <a:latin typeface="Open Sans Light"/>
                <a:ea typeface="Open Sans Light"/>
                <a:cs typeface="Open Sans Light"/>
              </a:rPr>
              <a:t>Пропускать безопасность, инфекцию и вызов СМП как «очевидное».</a:t>
            </a:r>
          </a:p>
        </p:txBody>
      </p:sp>
      <p:sp>
        <p:nvSpPr>
          <p:cNvPr id="9" name="object 8"/>
          <p:cNvSpPr/>
          <p:nvPr/>
        </p:nvSpPr>
        <p:spPr bwMode="auto">
          <a:xfrm>
            <a:off x="14240234" y="3692733"/>
            <a:ext cx="6051733" cy="6330533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Rectangle 10"/>
          <p:cNvSpPr/>
          <p:nvPr/>
        </p:nvSpPr>
        <p:spPr bwMode="auto">
          <a:xfrm>
            <a:off x="0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78695" y="5351780"/>
            <a:ext cx="11649423" cy="3012439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Произвольный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dc:identifier/>
  <dc:language/>
  <cp:lastModifiedBy>Лукина Марина</cp:lastModifiedBy>
  <cp:revision>9</cp:revision>
  <dcterms:modified xsi:type="dcterms:W3CDTF">2026-08-19T09:35:45Z</dcterms:modified>
  <cp:category/>
  <cp:contentStatus/>
  <cp:version/>
</cp:coreProperties>
</file>