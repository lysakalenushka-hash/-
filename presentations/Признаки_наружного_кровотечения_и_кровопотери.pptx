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НАРУЖНОГО
КРОВОТЕЧЕНИЯ И КРОВОПОТЕРИ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600000"/>
            <a:ext cx="5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800000"/>
            <a:ext cx="75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000" y="1500000"/>
            <a:ext cx="10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Чем тема дополняет обзорный осмотр</a:t>
            </a:r>
          </a:p>
        </p:txBody>
      </p:sp>
      <p:sp>
        <p:nvSpPr>
          <p:cNvPr id="11" name="Oval 10"/>
          <p:cNvSpPr/>
          <p:nvPr/>
        </p:nvSpPr>
        <p:spPr>
          <a:xfrm>
            <a:off x="700000" y="228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0000" y="228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0000" y="2280000"/>
            <a:ext cx="10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кровопотери по группам</a:t>
            </a:r>
          </a:p>
        </p:txBody>
      </p:sp>
      <p:sp>
        <p:nvSpPr>
          <p:cNvPr id="14" name="Oval 13"/>
          <p:cNvSpPr/>
          <p:nvPr/>
        </p:nvSpPr>
        <p:spPr>
          <a:xfrm>
            <a:off x="700000" y="306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000" y="306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0000" y="3060000"/>
            <a:ext cx="10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признаки есть без видимой крови</a:t>
            </a:r>
          </a:p>
        </p:txBody>
      </p:sp>
      <p:sp>
        <p:nvSpPr>
          <p:cNvPr id="17" name="Oval 16"/>
          <p:cNvSpPr/>
          <p:nvPr/>
        </p:nvSpPr>
        <p:spPr>
          <a:xfrm>
            <a:off x="700000" y="384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000" y="384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0000" y="3840000"/>
            <a:ext cx="10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Оценка интенсивности и сравнение видов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62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62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0000" y="4620000"/>
            <a:ext cx="100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Смешанное кровотечение, маскировка, объём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ЧЕМ ЭТА ТЕМА ДОПОЛНЯЕТ ОБЗОРНЫЙ 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00000"/>
            <a:ext cx="54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00000"/>
            <a:ext cx="5400000" cy="7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000" y="160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Уже в теме «Обзорный осмотр»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000" y="245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понятие кровотечения;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 выглядят виды кровотечения;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 провести обзорный осмотр;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что делать при обнаружении крови.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00000" y="1500000"/>
            <a:ext cx="54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00000" y="1500000"/>
            <a:ext cx="5400000" cy="7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0000" y="1600000"/>
            <a:ext cx="5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Разбираем сейчас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0000" y="2450000"/>
            <a:ext cx="4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 читать признаки кровопотери;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когда крови «не видно», а угроза есть;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 оценить интенсивность;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сравнение видов и смешанное кровотечение;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что маскирует признаки.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КРОВОПОТЕРИ — ПО ГРУППАМ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00000"/>
            <a:ext cx="40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00000"/>
            <a:ext cx="4000000" cy="7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000" y="1600000"/>
            <a:ext cx="3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Самочувствие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000" y="2450000"/>
            <a:ext cx="37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резкая общая слабость;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чувство жажды;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головокружение;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мелькание «мушек» перед глазами;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обморок (чаще при попытке встать).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0000" y="1500000"/>
            <a:ext cx="32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0000" y="1500000"/>
            <a:ext cx="3200000" cy="7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0000" y="1600000"/>
            <a:ext cx="30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Кожа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000" y="2450000"/>
            <a:ext cx="29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бледная;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влажная;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холодная на ощупь.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00000" y="1500000"/>
            <a:ext cx="3400000" cy="4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00000" y="1500000"/>
            <a:ext cx="3400000" cy="70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0000" y="1600000"/>
            <a:ext cx="3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Дыхание и сердце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0000" y="2450000"/>
            <a:ext cx="31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учащённое сердцебиение;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☐  частое дыхание.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КОГДА ПОЯВЛЯЮТСЯ ПРИЗНАКИ КРОВОПОТЕРИ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50000"/>
            <a:ext cx="11000000" cy="1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50000"/>
            <a:ext cx="90000" cy="13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70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 продолжается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000" y="2150000"/>
            <a:ext cx="10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Признаки нарастают на фоне видимой крови.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0000" y="3050000"/>
            <a:ext cx="11000000" cy="1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0000" y="3050000"/>
            <a:ext cx="90000" cy="13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00" y="320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Кровотечение уже остановлено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00" y="3650000"/>
            <a:ext cx="10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Признаки могут сохраняться — потерянная кровь не возвращается сразу.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0000" y="4550000"/>
            <a:ext cx="11000000" cy="1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0000" y="4550000"/>
            <a:ext cx="90000" cy="13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000" y="4700000"/>
            <a:ext cx="10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Видимой крови нет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000" y="5150000"/>
            <a:ext cx="10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Возможно внутреннее (скрытое) кровотечение — оценивайте состояние.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СКРЫТАЯ (ВНУТРЕННЯЯ) КРОВОПОТЕРЯ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Снаружи крови может не быть видно, но состояние ухудшается. Ориентируйтесь на признаки кровопотери и механизм травмы.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00" y="2600000"/>
            <a:ext cx="110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Настораживающие ситуации: удар в живот / грудь, падение с высоты, ДТП.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Боль и напряжение живота, нарастающая слабость, холодный пот, жажда.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 месте происшествия внутреннее кровотечение не останавливают — нужны вызов СМП, покой, положение, контроль состояния.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5600000"/>
            <a:ext cx="11000000" cy="9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000" y="575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D1C24"/>
                </a:solidFill>
                <a:latin typeface="Open Sans"/>
                <a:ea typeface="Open Sans"/>
                <a:cs typeface="Open Sans"/>
              </a:rPr>
              <a:t>Нет видимой крови ≠ нет угрозы. Смотрите на состояние пострадавшего.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КАК ОЦЕНИТЬ ИНТЕНСИВНОСТЬ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650000"/>
            <a:ext cx="550000" cy="550000"/>
          </a:xfrm>
          <a:prstGeom prst="ellipse">
            <a:avLst/>
          </a:prstGeom>
          <a:solidFill>
            <a:srgbClr val="0055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6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0000" y="15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Слабая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0000" y="195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Капиллярное сочение, небольшие ссадины/порезы. Угрозы жизни обычно нет, но остановить нужно.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3100000"/>
            <a:ext cx="550000" cy="55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310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50000" y="295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Средняя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50000" y="340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Стойкий «ручей», пропитывание повязки/ткани. Без остановки возможна значительная кровопотеря.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4550000"/>
            <a:ext cx="550000" cy="55000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4550000"/>
            <a:ext cx="550000" cy="5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0000" y="4400000"/>
            <a:ext cx="10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Интенсивная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50000" y="4850000"/>
            <a:ext cx="10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Струя / быстрое пропитывание одежды, лужа крови, рана с сильным истечением — останавливать немедленно.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СРАВНЕНИЕ ПРИЗНАКОВ ПО ВИДАМ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110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Детализация к уже известным видам (артериальное / венозное / капиллярное).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00000" y="1900000"/>
          <a:ext cx="11000000" cy="4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0000"/>
                <a:gridCol w="2750000"/>
                <a:gridCol w="2750000"/>
                <a:gridCol w="2750000"/>
              </a:tblGrid>
              <a:tr h="71666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Признак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Артериальное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Венозное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Капиллярное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Цвет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Open Sans"/>
                          <a:ea typeface="Open Sans"/>
                          <a:cs typeface="Open Sans"/>
                        </a:rPr>
                        <a:t>Алый, яркий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Тёмный, вишнёвый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Красный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Характер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Open Sans"/>
                          <a:ea typeface="Open Sans"/>
                          <a:cs typeface="Open Sans"/>
                        </a:rPr>
                        <a:t>Пульсирующая струя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Равномерный «ручей»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Сочится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Скорость потери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Open Sans"/>
                          <a:ea typeface="Open Sans"/>
                          <a:cs typeface="Open Sans"/>
                        </a:rPr>
                        <a:t>Очень быстрая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Умеренная / быстрая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Медленная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66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Опасность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D1C24"/>
                          </a:solidFill>
                          <a:latin typeface="Open Sans"/>
                          <a:ea typeface="Open Sans"/>
                          <a:cs typeface="Open Sans"/>
                        </a:rPr>
                        <a:t>Критическая — минуты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Высокая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Обычно низкая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166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Типичная картина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Лужа алого цвета, одежда быстро мокнет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Стойкое истечение без пульсации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Ссадина, порез, царапина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СМЕШАННОЕ КРОВОТЕЧЕНИЕ — КОГДА ПОДОЗРЕВАТЬ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50000"/>
            <a:ext cx="110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Одновременно признаки артериального, венозного и капиллярного кровотечения.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Частый пример — отрыв (ампутация) конечности или обширное размозжение.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Опасно из‑за артериального компонента: быстрая массивная кровопотеря.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тратьте время на «точную классификацию» — останавливайте по интенсивности.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4700000"/>
            <a:ext cx="11000000" cy="15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000" y="4700000"/>
            <a:ext cx="100000" cy="15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00" y="4950000"/>
            <a:ext cx="104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Правило: есть интенсивное истечение крови — действуйте как при угрозе жизни.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МАСКИРУЕТ ПРИЗНАКИ КРОВОТЕЧЕНИЯ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000" y="15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Тёмная / плотная одежда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00" y="19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Кровь плохо видна — ощупайте, приподнимите одежду при осмотре.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6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00" y="27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Кровь под пострадавшим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00" y="31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Лужа может быть сзади / под телом — осмотрите вокруг.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8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000" y="39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Холод, дождь, грязь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000" y="43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Сложно оценить цвет кожи и объём крови — опирайтесь на слабость, пульс, дыхание.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5050000"/>
            <a:ext cx="11000000" cy="11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000" y="5170000"/>
            <a:ext cx="104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Несколько пострадавших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000" y="5550000"/>
            <a:ext cx="104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Интенсивное кровотечение ищите в первую очередь у каждого.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ОРИЕНТИРЫ ПО ОБЪЁМУ КРОВОПОТЕРИ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0000" y="1550000"/>
          <a:ext cx="11000000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666"/>
                <a:gridCol w="3666666"/>
                <a:gridCol w="3666668"/>
              </a:tblGrid>
              <a:tr h="76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Объём (ориентир)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Доля ОЦК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</a:rPr>
                        <a:t>Типичное состояние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До ~500 мл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≈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Слабость, жажда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500–1000 мл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≈ 10–20%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Бледность, учащённый пульс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1000–1500 мл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≈ 20–30%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</a:rPr>
                        <a:t>Обмороки, холодный пот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D1C24"/>
                          </a:solidFill>
                          <a:latin typeface="Open Sans"/>
                          <a:ea typeface="Open Sans"/>
                          <a:cs typeface="Open Sans"/>
                        </a:rPr>
                        <a:t>&gt;1500–2000 мл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D1C24"/>
                          </a:solidFill>
                          <a:latin typeface="Open Sans"/>
                          <a:ea typeface="Open Sans"/>
                          <a:cs typeface="Open Sans"/>
                        </a:rPr>
                        <a:t>&gt; 30%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ED1C24"/>
                          </a:solidFill>
                          <a:latin typeface="Open Sans"/>
                          <a:ea typeface="Open Sans"/>
                          <a:cs typeface="Open Sans"/>
                        </a:rPr>
                        <a:t>Шок, угроза жизни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0000" y="5600000"/>
            <a:ext cx="11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На месте точный объём измерить нельзя — таблица помогает понять тяжесть по признакам состояния пострадавшего.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80000"/>
            <a:ext cx="110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80000"/>
            <a:ext cx="9000000" cy="25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5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0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00000"/>
            <a:ext cx="90000" cy="10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650000"/>
            <a:ext cx="104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кровопотери смотрите по самочувствию, коже, дыханию и пульсу.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65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650000"/>
            <a:ext cx="90000" cy="10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800000"/>
            <a:ext cx="104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возможны и без видимой крови — думайте о скрытой кровопотере.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80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800000"/>
            <a:ext cx="90000" cy="10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950000"/>
            <a:ext cx="104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Интенсивность важнее «точного вида сосуда» для решения об остановке.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95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950000"/>
            <a:ext cx="90000" cy="1000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5100000"/>
            <a:ext cx="104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Тёмная одежда, положение тела и погода могут маскировать кровь — осматривайте внимательно.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000" y="0"/>
            <a:ext cx="90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