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ot_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00000"/>
            <a:ext cx="12191695" cy="2000000"/>
          </a:xfrm>
          <a:prstGeom prst="rect">
            <a:avLst/>
          </a:prstGeom>
          <a:solidFill>
            <a:srgbClr val="415762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2900000"/>
            <a:ext cx="105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ПРИЗНАКИ НАРУЖНОГО
КРОВОТЕЧЕНИЯ И КРОВОПОТЕРИ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1550000"/>
            <a:ext cx="520000" cy="52000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15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00000" y="1550000"/>
            <a:ext cx="10000000" cy="52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0000" y="1550000"/>
            <a:ext cx="95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Чем тема дополняет обзорный осмотр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2400000"/>
            <a:ext cx="520000" cy="52000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24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00000" y="2400000"/>
            <a:ext cx="10000000" cy="52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50000" y="2400000"/>
            <a:ext cx="95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Признаки кровопотери по группам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250000"/>
            <a:ext cx="520000" cy="52000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32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00000" y="3250000"/>
            <a:ext cx="10000000" cy="52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50000" y="3250000"/>
            <a:ext cx="95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Когда признаки есть без видимой крови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4100000"/>
            <a:ext cx="520000" cy="52000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000" y="41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00000" y="4100000"/>
            <a:ext cx="10000000" cy="52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50000" y="4100000"/>
            <a:ext cx="95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Оценка интенсивности и сравнение видов</a:t>
            </a:r>
          </a:p>
        </p:txBody>
      </p:sp>
      <p:sp>
        <p:nvSpPr>
          <p:cNvPr id="25" name="Oval 24"/>
          <p:cNvSpPr/>
          <p:nvPr/>
        </p:nvSpPr>
        <p:spPr>
          <a:xfrm>
            <a:off x="700000" y="4950000"/>
            <a:ext cx="520000" cy="52000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0000" y="49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00000" y="4950000"/>
            <a:ext cx="10000000" cy="52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50000" y="4950000"/>
            <a:ext cx="95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Смешанное кровотечение, маскировка, объём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ЧЕМ ЭТА ТЕМА ДОПОЛНЯЕТ ОБЗОРНЫЙ ОСМОТР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1500000"/>
            <a:ext cx="5400000" cy="48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000" y="1500000"/>
            <a:ext cx="5400000" cy="70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1600000"/>
            <a:ext cx="5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Уже в теме «Обзорный осмотр»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000" y="2450000"/>
            <a:ext cx="49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понятие кровотечения;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как выглядят виды кровотечения;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как провести обзорный осмотр;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что делать при обнаружении крови.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00000" y="1500000"/>
            <a:ext cx="5400000" cy="48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0000" y="1500000"/>
            <a:ext cx="5400000" cy="7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0000" y="1600000"/>
            <a:ext cx="5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Разбираем сейчас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50000" y="2450000"/>
            <a:ext cx="49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как читать признаки кровопотери;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когда крови «не видно», а угроза есть;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как оценить интенсивность;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сравнение видов и смешанное кровотечение;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что маскирует признаки.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ПРИЗНАКИ КРОВОПОТЕРИ — ПО ГРУППАМ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1500000"/>
            <a:ext cx="4000000" cy="48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000" y="1500000"/>
            <a:ext cx="4000000" cy="7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00" y="1600000"/>
            <a:ext cx="3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Самочувствие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000" y="2450000"/>
            <a:ext cx="37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резкая общая слабость;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чувство жажды;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головокружение;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мелькание «мушек»;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обморок при попытке встать.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0000" y="1500000"/>
            <a:ext cx="3200000" cy="48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0000" y="1500000"/>
            <a:ext cx="3200000" cy="7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0000" y="1600000"/>
            <a:ext cx="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Кожа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0000" y="2450000"/>
            <a:ext cx="29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бледная;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влажная;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холодная на ощупь.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00000" y="1500000"/>
            <a:ext cx="3400000" cy="48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00000" y="1500000"/>
            <a:ext cx="3400000" cy="7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0000" y="1600000"/>
            <a:ext cx="3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Дыхание и сердце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0000" y="2450000"/>
            <a:ext cx="31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учащённое сердцебиение;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☐  частое дыхание.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КОГДА ПОЯВЛЯЮТСЯ ПРИЗНАКИ КРОВОПОТЕРИ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1550000"/>
            <a:ext cx="11000000" cy="13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00000" y="1900000"/>
            <a:ext cx="550000" cy="55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00000" y="1750000"/>
            <a:ext cx="96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Кровотечение продолжается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000" y="2200000"/>
            <a:ext cx="9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Признаки нарастают на фоне видимой крови.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3050000"/>
            <a:ext cx="11000000" cy="13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0000" y="3400000"/>
            <a:ext cx="550000" cy="55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0000" y="3250000"/>
            <a:ext cx="96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Кровотечение уже остановлено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000" y="3700000"/>
            <a:ext cx="9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Признаки могут сохраняться — потерянная кровь не возвращается сразу.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0000" y="4550000"/>
            <a:ext cx="11000000" cy="13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0000" y="4900000"/>
            <a:ext cx="550000" cy="55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0000" y="4750000"/>
            <a:ext cx="96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Видимой крови нет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0000" y="5200000"/>
            <a:ext cx="9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Возможно внутреннее (скрытое) кровотечение — оценивайте состояние.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СКРЫТАЯ (ВНУТРЕННЯЯ) КРОВОПОТЕРЯ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1500000"/>
            <a:ext cx="11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Снаружи крови может не быть видно, но состояние ухудшается. Ориентируйтесь на признаки кровопотери и механизм травмы.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2600000"/>
            <a:ext cx="110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Настораживающие ситуации: удар в живот / грудь, падение с высоты, ДТП.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Боль и напряжение живота, нарастающая слабость, холодный пот, жажда.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На месте внутреннее кровотечение не останавливают — СМП, покой, контроль.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0000" y="5300000"/>
            <a:ext cx="11000000" cy="1100000"/>
          </a:xfrm>
          <a:prstGeom prst="roundRect">
            <a:avLst/>
          </a:prstGeom>
          <a:solidFill>
            <a:srgbClr val="DDDDDD"/>
          </a:solidFill>
          <a:ln w="158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5480000"/>
            <a:ext cx="10600000" cy="7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Нет видимой крови ≠ нет угрозы. Смотрите на состояние пострадавшего.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КАК ОЦЕНИТЬ ИНТЕНСИВНОСТЬ КРОВОТЕЧЕНИЯ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1650000"/>
            <a:ext cx="550000" cy="55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165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0000" y="1500000"/>
            <a:ext cx="10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Слабая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0000" y="1950000"/>
            <a:ext cx="10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Капиллярное сочение, небольшие ссадины/порезы. Угрозы жизни обычно нет.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3100000"/>
            <a:ext cx="550000" cy="550000"/>
          </a:xfrm>
          <a:prstGeom prst="ellipse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310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0000" y="2950000"/>
            <a:ext cx="10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Средняя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0000" y="3400000"/>
            <a:ext cx="10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Стойкий «ручей», пропитывание повязки/ткани. Без остановки — значительная потеря.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4550000"/>
            <a:ext cx="550000" cy="550000"/>
          </a:xfrm>
          <a:prstGeom prst="ellipse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455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0000" y="4400000"/>
            <a:ext cx="10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Интенсивная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0000" y="4850000"/>
            <a:ext cx="10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Струя / быстрое пропитывание одежды, лужа крови — останавливать немедленно.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СРАВНЕНИЕ ПРИЗНАКОВ ПО ВИДАМ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140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Детализация к видам из темы «Обзорный осмотр».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00000" y="1850000"/>
          <a:ext cx="11000000" cy="4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00"/>
                <a:gridCol w="2750000"/>
                <a:gridCol w="2750000"/>
                <a:gridCol w="2750000"/>
              </a:tblGrid>
              <a:tr h="71666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Признак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Артериальное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Венозное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Капиллярное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71666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Цвет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D1C24"/>
                          </a:solidFill>
                          <a:latin typeface="Calibri"/>
                          <a:ea typeface="Calibri"/>
                          <a:cs typeface="Calibri"/>
                        </a:rPr>
                        <a:t>Алый, яркий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Тёмный, вишнёвый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Красный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66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Характер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D1C24"/>
                          </a:solidFill>
                          <a:latin typeface="Calibri"/>
                          <a:ea typeface="Calibri"/>
                          <a:cs typeface="Calibri"/>
                        </a:rPr>
                        <a:t>Пульсирующая струя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Равномерный «ручей»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Сочится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1666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Скорость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D1C24"/>
                          </a:solidFill>
                          <a:latin typeface="Calibri"/>
                          <a:ea typeface="Calibri"/>
                          <a:cs typeface="Calibri"/>
                        </a:rPr>
                        <a:t>Очень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Умеренная /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Медленная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66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Опасность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D1C24"/>
                          </a:solidFill>
                          <a:latin typeface="Calibri"/>
                          <a:ea typeface="Calibri"/>
                          <a:cs typeface="Calibri"/>
                        </a:rPr>
                        <a:t>Критическая — минуты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Высокая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Обычно низкая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166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Картина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Лужа алого, одежда мокнет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Стойкое истечение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Ссадина, порез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СМЕШАННОЕ КРОВОТЕЧЕНИЕ — КОГДА ПОДОЗРЕВАТЬ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1550000"/>
            <a:ext cx="1100000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Одновременно признаки артериального, венозного и капиллярного кровотечения.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Частый пример — отрыв конечности или обширное размозжение.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Опасно из‑за артериального компонента: быстрая массивная кровопотеря.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Не тратьте время на «точную классификацию» — останавливайте по интенсивности.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000" y="4700000"/>
            <a:ext cx="11000000" cy="1500000"/>
          </a:xfrm>
          <a:prstGeom prst="roundRect">
            <a:avLst/>
          </a:prstGeom>
          <a:solidFill>
            <a:srgbClr val="DDDDDD"/>
          </a:solidFill>
          <a:ln w="158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4880000"/>
            <a:ext cx="10600000" cy="11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Правило: есть интенсивное истечение крови — действуйте как при угрозе жизни.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ЧТО МАСКИРУЕТ ПРИЗНАКИ КРОВОТЕЧЕНИЯ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1450000"/>
            <a:ext cx="11000000" cy="11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00" y="1570000"/>
            <a:ext cx="104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Тёмная / плотная одежда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000" y="1950000"/>
            <a:ext cx="104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Кровь плохо видна — ощупайте, приподнимите одежду при осмотре.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0000" y="2650000"/>
            <a:ext cx="11000000" cy="11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000" y="2770000"/>
            <a:ext cx="104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Кровь под пострадавшим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" y="3150000"/>
            <a:ext cx="104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Лужа может быть сзади / под телом — осмотрите вокруг.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000" y="3850000"/>
            <a:ext cx="11000000" cy="11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000" y="3970000"/>
            <a:ext cx="104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Холод, дождь, грязь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00" y="4350000"/>
            <a:ext cx="104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Сложно оценить цвет кожи — опирайтесь на слабость, пульс, дыхание.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0000" y="5050000"/>
            <a:ext cx="11000000" cy="11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000" y="5170000"/>
            <a:ext cx="104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Несколько пострадавших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000" y="5550000"/>
            <a:ext cx="104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Интенсивное кровотечение ищите в первую очередь у каждого.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ОРИЕНТИРЫ ПО ОБЪЁМУ КРОВОПОТЕРИ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0000" y="1550000"/>
          <a:ext cx="11000000" cy="3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666"/>
                <a:gridCol w="3666666"/>
                <a:gridCol w="3666668"/>
              </a:tblGrid>
              <a:tr h="76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Объём (ориентир)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Доля ОЦК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Типичное состояние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До ~500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≈ 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Слабость, жажда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500–1000 мл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≈ 10–20%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Бледность, учащённый пульс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1000–1500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≈ 20–30%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</a:rPr>
                        <a:t>Обмороки, холодный пот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D1C24"/>
                          </a:solidFill>
                          <a:latin typeface="Calibri"/>
                          <a:ea typeface="Calibri"/>
                          <a:cs typeface="Calibri"/>
                        </a:rPr>
                        <a:t>&gt;1500–2000 мл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D1C24"/>
                          </a:solidFill>
                          <a:latin typeface="Calibri"/>
                          <a:ea typeface="Calibri"/>
                          <a:cs typeface="Calibri"/>
                        </a:rPr>
                        <a:t>&gt; 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D1C24"/>
                          </a:solidFill>
                          <a:latin typeface="Calibri"/>
                          <a:ea typeface="Calibri"/>
                          <a:cs typeface="Calibri"/>
                        </a:rPr>
                        <a:t>Шок, угроза жизни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0000" y="5600000"/>
            <a:ext cx="11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На месте точный объём измерить нельзя — таблица помогает понять тяжесть по признакам состояния.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0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2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ГЛАВНОЕ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820000"/>
            <a:ext cx="8500000" cy="28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88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Оказание первой помощи при наружных кровотечениях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700000"/>
            <a:ext cx="400000" cy="40000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700000"/>
            <a:ext cx="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1500000"/>
            <a:ext cx="11000000" cy="10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00000" y="1750000"/>
            <a:ext cx="500000" cy="50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000" y="1700000"/>
            <a:ext cx="9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Признаки кровопотери — по самочувствию, коже, дыханию и пульсу.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0000" y="2650000"/>
            <a:ext cx="11000000" cy="10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0000" y="2900000"/>
            <a:ext cx="500000" cy="50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000" y="2850000"/>
            <a:ext cx="9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Признаки возможны и без видимой крови — думайте о скрытой кровопотере.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000" y="3800000"/>
            <a:ext cx="11000000" cy="10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0000" y="4050000"/>
            <a:ext cx="500000" cy="50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000" y="4000000"/>
            <a:ext cx="9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Интенсивность важнее «точного вида сосуда» для решения об остановке.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0000" y="4950000"/>
            <a:ext cx="11000000" cy="1000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0000" y="5200000"/>
            <a:ext cx="500000" cy="50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000" y="5150000"/>
            <a:ext cx="9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Одежда, положение тела и погода могут маскировать кровь — осматривайте внимательно.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0" cy="6858000"/>
          </a:xfrm>
          <a:prstGeom prst="rect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00000" y="0"/>
            <a:ext cx="860000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00000" y="3000000"/>
            <a:ext cx="72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БЛАГОДАРИМ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