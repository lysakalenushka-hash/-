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800000" y="0"/>
            <a:ext cx="3400000" cy="68580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800000"/>
            <a:ext cx="2800000" cy="18000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0000" y="3000000"/>
            <a:ext cx="78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ПОМОЩЬ В ПРИНЯТИИ
ЛЕКАРСТВ</a:t>
            </a:r>
          </a:p>
        </p:txBody>
      </p:sp>
      <p:sp>
        <p:nvSpPr>
          <p:cNvPr id="6" name="Rectangle 5"/>
          <p:cNvSpPr/>
          <p:nvPr/>
        </p:nvSpPr>
        <p:spPr>
          <a:xfrm>
            <a:off x="700000" y="4700000"/>
            <a:ext cx="5200000" cy="300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4900000"/>
            <a:ext cx="7500000" cy="4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66666"/>
                </a:solidFill>
                <a:latin typeface="Open Sans"/>
                <a:ea typeface="Open Sans"/>
                <a:cs typeface="Open Sans"/>
              </a:rPr>
              <a:t>Тема 4 · Травмы, ранения, поражения и прочие состояния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0000" y="250000"/>
            <a:ext cx="11200000" cy="5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СОДЕРЖАНИЕ</a:t>
            </a:r>
          </a:p>
        </p:txBody>
      </p:sp>
      <p:sp>
        <p:nvSpPr>
          <p:cNvPr id="4" name="Rectangle 3"/>
          <p:cNvSpPr/>
          <p:nvPr/>
        </p:nvSpPr>
        <p:spPr>
          <a:xfrm>
            <a:off x="700000" y="850000"/>
            <a:ext cx="9000000" cy="28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0000" y="920000"/>
            <a:ext cx="11000000" cy="3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Open Sans"/>
                <a:ea typeface="Open Sans"/>
                <a:cs typeface="Open Sans"/>
              </a:rPr>
              <a:t>Оказание первой помощи при травмах, ранениях и поражениях, прочих состояниях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2800000"/>
            <a:ext cx="420000" cy="420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0" y="2800000"/>
            <a:ext cx="420000" cy="4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2</a:t>
            </a:r>
          </a:p>
        </p:txBody>
      </p:sp>
      <p:sp>
        <p:nvSpPr>
          <p:cNvPr id="8" name="Oval 7"/>
          <p:cNvSpPr/>
          <p:nvPr/>
        </p:nvSpPr>
        <p:spPr>
          <a:xfrm>
            <a:off x="700000" y="1550000"/>
            <a:ext cx="520000" cy="520000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0000" y="1550000"/>
            <a:ext cx="520000" cy="5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1</a:t>
            </a:r>
          </a:p>
        </p:txBody>
      </p:sp>
      <p:sp>
        <p:nvSpPr>
          <p:cNvPr id="10" name="Rectangle 9"/>
          <p:cNvSpPr/>
          <p:nvPr/>
        </p:nvSpPr>
        <p:spPr>
          <a:xfrm>
            <a:off x="1400000" y="1550000"/>
            <a:ext cx="10000000" cy="5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600000" y="1550000"/>
            <a:ext cx="9600000" cy="5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Три обязательных условия</a:t>
            </a:r>
          </a:p>
        </p:txBody>
      </p:sp>
      <p:sp>
        <p:nvSpPr>
          <p:cNvPr id="12" name="Oval 11"/>
          <p:cNvSpPr/>
          <p:nvPr/>
        </p:nvSpPr>
        <p:spPr>
          <a:xfrm>
            <a:off x="700000" y="2400000"/>
            <a:ext cx="520000" cy="520000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00000" y="2400000"/>
            <a:ext cx="520000" cy="5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400000" y="2400000"/>
            <a:ext cx="10000000" cy="5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600000" y="2400000"/>
            <a:ext cx="9600000" cy="5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Что может сделать помощник</a:t>
            </a:r>
          </a:p>
        </p:txBody>
      </p:sp>
      <p:sp>
        <p:nvSpPr>
          <p:cNvPr id="16" name="Oval 15"/>
          <p:cNvSpPr/>
          <p:nvPr/>
        </p:nvSpPr>
        <p:spPr>
          <a:xfrm>
            <a:off x="700000" y="3250000"/>
            <a:ext cx="520000" cy="520000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0000" y="3250000"/>
            <a:ext cx="520000" cy="5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400000" y="3250000"/>
            <a:ext cx="10000000" cy="5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00000" y="3250000"/>
            <a:ext cx="9600000" cy="5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Что нельзя делать</a:t>
            </a:r>
          </a:p>
        </p:txBody>
      </p:sp>
      <p:sp>
        <p:nvSpPr>
          <p:cNvPr id="20" name="Oval 19"/>
          <p:cNvSpPr/>
          <p:nvPr/>
        </p:nvSpPr>
        <p:spPr>
          <a:xfrm>
            <a:off x="700000" y="4100000"/>
            <a:ext cx="520000" cy="520000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00000" y="4100000"/>
            <a:ext cx="520000" cy="5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400000" y="4100000"/>
            <a:ext cx="10000000" cy="5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600000" y="4100000"/>
            <a:ext cx="9600000" cy="5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Контроль состояния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0000" y="250000"/>
            <a:ext cx="11200000" cy="5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ГРАНИЦА ПЕРВОЙ ПОМОЩИ</a:t>
            </a:r>
          </a:p>
        </p:txBody>
      </p:sp>
      <p:sp>
        <p:nvSpPr>
          <p:cNvPr id="4" name="Rectangle 3"/>
          <p:cNvSpPr/>
          <p:nvPr/>
        </p:nvSpPr>
        <p:spPr>
          <a:xfrm>
            <a:off x="700000" y="850000"/>
            <a:ext cx="9000000" cy="28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0000" y="920000"/>
            <a:ext cx="11000000" cy="3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Open Sans"/>
                <a:ea typeface="Open Sans"/>
                <a:cs typeface="Open Sans"/>
              </a:rPr>
              <a:t>Оказание первой помощи при травмах, ранениях и поражениях, прочих состояниях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2800000"/>
            <a:ext cx="420000" cy="420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0" y="2800000"/>
            <a:ext cx="420000" cy="4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0000" y="1600000"/>
            <a:ext cx="11000000" cy="4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Оказывающий первую помощь не назначает лекарства. Он может лишь помочь пострадавшему принять его собственный препарат при выполнении всех обязательных условий.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0000" y="250000"/>
            <a:ext cx="11200000" cy="5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ТРИ ОБЯЗАТЕЛЬНЫХ УСЛОВИЯ</a:t>
            </a:r>
          </a:p>
        </p:txBody>
      </p:sp>
      <p:sp>
        <p:nvSpPr>
          <p:cNvPr id="4" name="Rectangle 3"/>
          <p:cNvSpPr/>
          <p:nvPr/>
        </p:nvSpPr>
        <p:spPr>
          <a:xfrm>
            <a:off x="700000" y="850000"/>
            <a:ext cx="9000000" cy="28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0000" y="920000"/>
            <a:ext cx="11000000" cy="3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Open Sans"/>
                <a:ea typeface="Open Sans"/>
                <a:cs typeface="Open Sans"/>
              </a:rPr>
              <a:t>Оказание первой помощи при травмах, ранениях и поражениях, прочих состояниях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2800000"/>
            <a:ext cx="420000" cy="420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0" y="2800000"/>
            <a:ext cx="420000" cy="4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4</a:t>
            </a:r>
          </a:p>
        </p:txBody>
      </p:sp>
      <p:sp>
        <p:nvSpPr>
          <p:cNvPr id="8" name="Rectangle 7"/>
          <p:cNvSpPr/>
          <p:nvPr/>
        </p:nvSpPr>
        <p:spPr>
          <a:xfrm>
            <a:off x="700000" y="1450000"/>
            <a:ext cx="3500000" cy="48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50000" y="1650000"/>
            <a:ext cx="500000" cy="500000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0000" y="1650000"/>
            <a:ext cx="500000" cy="5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50000" y="1700000"/>
            <a:ext cx="2600000" cy="4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Принадлежит пострадавшему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000" y="2300000"/>
            <a:ext cx="3200000" cy="3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Open Sans"/>
                <a:ea typeface="Open Sans"/>
                <a:cs typeface="Open Sans"/>
              </a:rPr>
              <a:t>Препарат взят из его вещей, сумки или одежды.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50000" y="1450000"/>
            <a:ext cx="3500000" cy="48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600000" y="1650000"/>
            <a:ext cx="500000" cy="500000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00000" y="1650000"/>
            <a:ext cx="500000" cy="5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00000" y="1700000"/>
            <a:ext cx="2600000" cy="4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Назначен врачом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00000" y="2300000"/>
            <a:ext cx="3200000" cy="3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Open Sans"/>
                <a:ea typeface="Open Sans"/>
                <a:cs typeface="Open Sans"/>
              </a:rPr>
              <a:t>Пострадавший подтверждает медицинское назначение.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00000" y="1450000"/>
            <a:ext cx="3500000" cy="48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350000" y="1650000"/>
            <a:ext cx="500000" cy="500000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50000" y="1650000"/>
            <a:ext cx="500000" cy="5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50000" y="1700000"/>
            <a:ext cx="2600000" cy="4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Нужен для лечения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50000" y="2300000"/>
            <a:ext cx="3200000" cy="3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Open Sans"/>
                <a:ea typeface="Open Sans"/>
                <a:cs typeface="Open Sans"/>
              </a:rPr>
              <a:t>Лекарство принимается в предусмотренных медицинских целях.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0000" y="250000"/>
            <a:ext cx="11200000" cy="5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ДОПУСТИМАЯ ПОМОЩЬ</a:t>
            </a:r>
          </a:p>
        </p:txBody>
      </p:sp>
      <p:sp>
        <p:nvSpPr>
          <p:cNvPr id="4" name="Rectangle 3"/>
          <p:cNvSpPr/>
          <p:nvPr/>
        </p:nvSpPr>
        <p:spPr>
          <a:xfrm>
            <a:off x="700000" y="850000"/>
            <a:ext cx="9000000" cy="28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0000" y="920000"/>
            <a:ext cx="11000000" cy="3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Open Sans"/>
                <a:ea typeface="Open Sans"/>
                <a:cs typeface="Open Sans"/>
              </a:rPr>
              <a:t>Оказание первой помощи при травмах, ранениях и поражениях, прочих состояниях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2800000"/>
            <a:ext cx="420000" cy="420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0" y="2800000"/>
            <a:ext cx="420000" cy="4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0000" y="1450000"/>
            <a:ext cx="54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Можно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00000" y="1450000"/>
            <a:ext cx="54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Нельзя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0000" y="1950000"/>
            <a:ext cx="5400000" cy="4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найти препарат в сумке или одежде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открыть упаковку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подать лекарство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дать воду для запивания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помочь занять удобное положение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00000" y="1950000"/>
            <a:ext cx="5400000" cy="4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предлагать свое лекарство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самостоятельно выбирать препарат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изменять назначенную дозу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заставлять человека принять лекарство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давать что-либо через рот без сознания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0000" y="250000"/>
            <a:ext cx="11200000" cy="5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ПОСЛЕ ПРИЕМА</a:t>
            </a:r>
          </a:p>
        </p:txBody>
      </p:sp>
      <p:sp>
        <p:nvSpPr>
          <p:cNvPr id="4" name="Rectangle 3"/>
          <p:cNvSpPr/>
          <p:nvPr/>
        </p:nvSpPr>
        <p:spPr>
          <a:xfrm>
            <a:off x="700000" y="850000"/>
            <a:ext cx="9000000" cy="28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0000" y="920000"/>
            <a:ext cx="11000000" cy="3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Open Sans"/>
                <a:ea typeface="Open Sans"/>
                <a:cs typeface="Open Sans"/>
              </a:rPr>
              <a:t>Оказание первой помощи при травмах, ранениях и поражениях, прочих состояниях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2800000"/>
            <a:ext cx="420000" cy="420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0" y="2800000"/>
            <a:ext cx="420000" cy="4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0000" y="1500000"/>
            <a:ext cx="11000000" cy="4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Уточните название и время приема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Наблюдайте за состоянием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При ухудшении вызовите скорую помощь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Передайте сведения прибывшим специалистам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0000" y="250000"/>
            <a:ext cx="11200000" cy="5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ГЛАВНОЕ ЗАПОМНИТЬ</a:t>
            </a:r>
          </a:p>
        </p:txBody>
      </p:sp>
      <p:sp>
        <p:nvSpPr>
          <p:cNvPr id="4" name="Rectangle 3"/>
          <p:cNvSpPr/>
          <p:nvPr/>
        </p:nvSpPr>
        <p:spPr>
          <a:xfrm>
            <a:off x="700000" y="850000"/>
            <a:ext cx="9000000" cy="28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0000" y="920000"/>
            <a:ext cx="11000000" cy="3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Open Sans"/>
                <a:ea typeface="Open Sans"/>
                <a:cs typeface="Open Sans"/>
              </a:rPr>
              <a:t>Оказание первой помощи при травмах, ранениях и поражениях, прочих состояниях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2800000"/>
            <a:ext cx="420000" cy="420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0" y="2800000"/>
            <a:ext cx="420000" cy="4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7</a:t>
            </a:r>
          </a:p>
        </p:txBody>
      </p:sp>
      <p:sp>
        <p:nvSpPr>
          <p:cNvPr id="8" name="Rectangle 7"/>
          <p:cNvSpPr/>
          <p:nvPr/>
        </p:nvSpPr>
        <p:spPr>
          <a:xfrm>
            <a:off x="700000" y="1450000"/>
            <a:ext cx="11000000" cy="85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00000" y="1450000"/>
            <a:ext cx="90000" cy="850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0000" y="1550000"/>
            <a:ext cx="10400000" cy="65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Только лекарство пострадавшего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00000" y="2400000"/>
            <a:ext cx="11000000" cy="85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00000" y="2400000"/>
            <a:ext cx="90000" cy="850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2500000"/>
            <a:ext cx="10400000" cy="65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Только назначенное врачом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00000" y="3350000"/>
            <a:ext cx="11000000" cy="85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00000" y="3350000"/>
            <a:ext cx="90000" cy="850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0000" y="3450000"/>
            <a:ext cx="10400000" cy="65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Только для медицинской цели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00000" y="4300000"/>
            <a:ext cx="11000000" cy="85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00000" y="4300000"/>
            <a:ext cx="90000" cy="850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0000" y="4400000"/>
            <a:ext cx="10400000" cy="65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Не выбирайте препарат и дозу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00000" y="5250000"/>
            <a:ext cx="11000000" cy="85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00000" y="5250000"/>
            <a:ext cx="90000" cy="850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0000" y="5350000"/>
            <a:ext cx="10400000" cy="65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Помогите достать и запить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0000" y="250000"/>
            <a:ext cx="11200000" cy="5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ПАМЯТКА</a:t>
            </a:r>
          </a:p>
        </p:txBody>
      </p:sp>
      <p:sp>
        <p:nvSpPr>
          <p:cNvPr id="4" name="Rectangle 3"/>
          <p:cNvSpPr/>
          <p:nvPr/>
        </p:nvSpPr>
        <p:spPr>
          <a:xfrm>
            <a:off x="700000" y="850000"/>
            <a:ext cx="9000000" cy="28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0000" y="920000"/>
            <a:ext cx="11000000" cy="3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Open Sans"/>
                <a:ea typeface="Open Sans"/>
                <a:cs typeface="Open Sans"/>
              </a:rPr>
              <a:t>Оказание первой помощи при травмах, ранениях и поражениях, прочих состояниях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2800000"/>
            <a:ext cx="420000" cy="420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0" y="2800000"/>
            <a:ext cx="420000" cy="4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8</a:t>
            </a:r>
          </a:p>
        </p:txBody>
      </p:sp>
      <p:pic>
        <p:nvPicPr>
          <p:cNvPr id="8" name="Picture 7" descr="pamyatka-tema4-lekarstva-16x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0000" y="1400000"/>
            <a:ext cx="7800000" cy="5200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400000" cy="68580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400000" y="0"/>
            <a:ext cx="8800000" cy="68580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000000" y="3000000"/>
            <a:ext cx="7500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БЛАГОДАРИМ ЗА ВНИМАНИЕ</a:t>
            </a:r>
          </a:p>
        </p:txBody>
      </p:sp>
      <p:sp>
        <p:nvSpPr>
          <p:cNvPr id="5" name="Rectangle 4"/>
          <p:cNvSpPr/>
          <p:nvPr/>
        </p:nvSpPr>
        <p:spPr>
          <a:xfrm>
            <a:off x="4000000" y="4100000"/>
            <a:ext cx="4500000" cy="300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