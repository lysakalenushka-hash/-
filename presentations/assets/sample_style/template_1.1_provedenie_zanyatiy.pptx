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7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Layouts/slideLayout52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Layouts/slideLayout4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3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8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20.xml" ContentType="application/vnd.openxmlformats-officedocument.presentationml.slideLayout+xml"/>
  <Override PartName="/ppt/notesSlides/notesSlide9.xml" ContentType="application/vnd.openxmlformats-officedocument.presentationml.notesSlid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notesSlides/notesSlide17.xml" ContentType="application/vnd.openxmlformats-officedocument.presentationml.notes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53.xml" ContentType="application/vnd.openxmlformats-officedocument.presentationml.slideLayout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5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55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24371300" cy="13716000"/>
  <p:notesSz cx="243713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1pPr>
    <a:lvl2pPr marL="0" marR="0" indent="914216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2pPr>
    <a:lvl3pPr marL="0" marR="0" indent="1828433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3pPr>
    <a:lvl4pPr marL="0" marR="0" indent="2742651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4pPr>
    <a:lvl5pPr marL="0" marR="0" indent="3656867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5pPr>
    <a:lvl6pPr marL="0" marR="0" indent="4571086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6pPr>
    <a:lvl7pPr marL="0" marR="0" indent="5485303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7pPr>
    <a:lvl8pPr marL="0" marR="0" indent="6399519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8pPr>
    <a:lvl9pPr marL="0" marR="0" indent="7313737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29" d="100"/>
          <a:sy n="29" d="100"/>
        </p:scale>
        <p:origin x="300" y="78"/>
      </p:cViewPr>
      <p:guideLst>
        <p:guide pos="4320" orient="horz"/>
        <p:guide pos="7676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" name="Shape 84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" name="Shape 84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>
        <a:latin typeface="+mn-lt"/>
        <a:ea typeface="+mn-ea"/>
        <a:cs typeface="+mn-cs"/>
      </a:defRPr>
    </a:lvl1pPr>
    <a:lvl2pPr indent="228600">
      <a:defRPr sz="1200">
        <a:latin typeface="+mn-lt"/>
        <a:ea typeface="+mn-ea"/>
        <a:cs typeface="+mn-cs"/>
      </a:defRPr>
    </a:lvl2pPr>
    <a:lvl3pPr indent="457200">
      <a:defRPr sz="1200">
        <a:latin typeface="+mn-lt"/>
        <a:ea typeface="+mn-ea"/>
        <a:cs typeface="+mn-cs"/>
      </a:defRPr>
    </a:lvl3pPr>
    <a:lvl4pPr indent="685800">
      <a:defRPr sz="1200">
        <a:latin typeface="+mn-lt"/>
        <a:ea typeface="+mn-ea"/>
        <a:cs typeface="+mn-cs"/>
      </a:defRPr>
    </a:lvl4pPr>
    <a:lvl5pPr indent="914400">
      <a:defRPr sz="1200">
        <a:latin typeface="+mn-lt"/>
        <a:ea typeface="+mn-ea"/>
        <a:cs typeface="+mn-cs"/>
      </a:defRPr>
    </a:lvl5pPr>
    <a:lvl6pPr indent="1143000">
      <a:defRPr sz="1200">
        <a:latin typeface="+mn-lt"/>
        <a:ea typeface="+mn-ea"/>
        <a:cs typeface="+mn-cs"/>
      </a:defRPr>
    </a:lvl6pPr>
    <a:lvl7pPr indent="1371600">
      <a:defRPr sz="1200">
        <a:latin typeface="+mn-lt"/>
        <a:ea typeface="+mn-ea"/>
        <a:cs typeface="+mn-cs"/>
      </a:defRPr>
    </a:lvl7pPr>
    <a:lvl8pPr indent="1600200">
      <a:defRPr sz="1200">
        <a:latin typeface="+mn-lt"/>
        <a:ea typeface="+mn-ea"/>
        <a:cs typeface="+mn-cs"/>
      </a:defRPr>
    </a:lvl8pPr>
    <a:lvl9pPr indent="1828800">
      <a:defRPr sz="1200"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>
              <a:defRPr/>
            </a:pPr>
            <a:r>
              <a:rPr lang="ru-RU" sz="1200" b="1" i="0">
                <a:latin typeface="Calibri"/>
                <a:ea typeface="Calibri"/>
                <a:cs typeface="Calibri"/>
              </a:rPr>
              <a:t>Организационно-правовые аспекты оказания первой помощи</a:t>
            </a:r>
            <a:endParaRPr/>
          </a:p>
          <a:p>
            <a:pPr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r>
              <a:rPr lang="ru-RU" sz="1200" b="1"/>
              <a:t>На сегодняшний день система оказания первой помощи в Российской Федерации состоит из трех основных компонентов</a:t>
            </a:r>
            <a:r>
              <a:rPr lang="ru-RU" sz="1200" b="1"/>
              <a:t> - </a:t>
            </a:r>
            <a:r>
              <a:rPr lang="ru-RU" sz="1200" b="0"/>
              <a:t>н</a:t>
            </a:r>
            <a:r>
              <a:rPr lang="ru-RU" sz="1200"/>
              <a:t>ормативно-правовое обеспечение,</a:t>
            </a:r>
            <a:r>
              <a:rPr lang="ru-RU" sz="1200"/>
              <a:t> о</a:t>
            </a:r>
            <a:r>
              <a:rPr lang="ru-RU" sz="1200"/>
              <a:t>бучение участников оказания первой помощи правилам и навыкам ее оказания, оснащение участников оказания первой помощи средствами для ее оказания (аптечками и укладками).</a:t>
            </a:r>
            <a:endParaRPr/>
          </a:p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r>
              <a:rPr lang="ru-RU" sz="1200" b="1"/>
              <a:t>На сегодняшний день система оказания первой помощи в Российской Федерации состоит из трех основных компонентов</a:t>
            </a:r>
            <a:r>
              <a:rPr lang="ru-RU" sz="1200" b="1"/>
              <a:t> - </a:t>
            </a:r>
            <a:r>
              <a:rPr lang="ru-RU" sz="1200" b="0"/>
              <a:t>н</a:t>
            </a:r>
            <a:r>
              <a:rPr lang="ru-RU" sz="1200"/>
              <a:t>ормативно-правовое обеспечение,</a:t>
            </a:r>
            <a:r>
              <a:rPr lang="ru-RU" sz="1200"/>
              <a:t> о</a:t>
            </a:r>
            <a:r>
              <a:rPr lang="ru-RU" sz="1200"/>
              <a:t>бучение участников оказания первой помощи правилам и навыкам ее оказания, оснащение участников оказания первой помощи средствами для ее оказания (аптечками и укладками).</a:t>
            </a:r>
            <a:endParaRPr/>
          </a:p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r>
              <a:rPr lang="ru-RU" sz="1200" b="1"/>
              <a:t>На сегодняшний день система оказания первой помощи в Российской Федерации состоит из трех основных компонентов</a:t>
            </a:r>
            <a:r>
              <a:rPr lang="ru-RU" sz="1200" b="1"/>
              <a:t> - </a:t>
            </a:r>
            <a:r>
              <a:rPr lang="ru-RU" sz="1200" b="0"/>
              <a:t>н</a:t>
            </a:r>
            <a:r>
              <a:rPr lang="ru-RU" sz="1200"/>
              <a:t>ормативно-правовое обеспечение,</a:t>
            </a:r>
            <a:r>
              <a:rPr lang="ru-RU" sz="1200"/>
              <a:t> о</a:t>
            </a:r>
            <a:r>
              <a:rPr lang="ru-RU" sz="1200"/>
              <a:t>бучение участников оказания первой помощи правилам и навыкам ее оказания, оснащение участников оказания первой помощи средствами для ее оказания (аптечками и укладками).</a:t>
            </a:r>
            <a:endParaRPr/>
          </a:p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r>
              <a:rPr lang="ru-RU" sz="1200" b="1"/>
              <a:t>На сегодняшний день система оказания первой помощи в Российской Федерации состоит из трех основных компонентов</a:t>
            </a:r>
            <a:r>
              <a:rPr lang="ru-RU" sz="1200" b="1"/>
              <a:t> - </a:t>
            </a:r>
            <a:r>
              <a:rPr lang="ru-RU" sz="1200" b="0"/>
              <a:t>н</a:t>
            </a:r>
            <a:r>
              <a:rPr lang="ru-RU" sz="1200"/>
              <a:t>ормативно-правовое обеспечение,</a:t>
            </a:r>
            <a:r>
              <a:rPr lang="ru-RU" sz="1200"/>
              <a:t> о</a:t>
            </a:r>
            <a:r>
              <a:rPr lang="ru-RU" sz="1200"/>
              <a:t>бучение участников оказания первой помощи правилам и навыкам ее оказания, оснащение участников оказания первой помощи средствами для ее оказания (аптечками и укладками).</a:t>
            </a:r>
            <a:endParaRPr/>
          </a:p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r>
              <a:rPr lang="ru-RU" sz="1200" b="1"/>
              <a:t>На сегодняшний день система оказания первой помощи в Российской Федерации состоит из трех основных компонентов</a:t>
            </a:r>
            <a:r>
              <a:rPr lang="ru-RU" sz="1200" b="1"/>
              <a:t> - </a:t>
            </a:r>
            <a:r>
              <a:rPr lang="ru-RU" sz="1200" b="0"/>
              <a:t>н</a:t>
            </a:r>
            <a:r>
              <a:rPr lang="ru-RU" sz="1200"/>
              <a:t>ормативно-правовое обеспечение,</a:t>
            </a:r>
            <a:r>
              <a:rPr lang="ru-RU" sz="1200"/>
              <a:t> о</a:t>
            </a:r>
            <a:r>
              <a:rPr lang="ru-RU" sz="1200"/>
              <a:t>бучение участников оказания первой помощи правилам и навыкам ее оказания, оснащение участников оказания первой помощи средствами для ее оказания (аптечками и укладками).</a:t>
            </a:r>
            <a:endParaRPr/>
          </a:p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r>
              <a:rPr lang="ru-RU" sz="1200" b="1"/>
              <a:t>На сегодняшний день система оказания первой помощи в Российской Федерации состоит из трех основных компонентов</a:t>
            </a:r>
            <a:r>
              <a:rPr lang="ru-RU" sz="1200" b="1"/>
              <a:t> - </a:t>
            </a:r>
            <a:r>
              <a:rPr lang="ru-RU" sz="1200" b="0"/>
              <a:t>н</a:t>
            </a:r>
            <a:r>
              <a:rPr lang="ru-RU" sz="1200"/>
              <a:t>ормативно-правовое обеспечение,</a:t>
            </a:r>
            <a:r>
              <a:rPr lang="ru-RU" sz="1200"/>
              <a:t> о</a:t>
            </a:r>
            <a:r>
              <a:rPr lang="ru-RU" sz="1200"/>
              <a:t>бучение участников оказания первой помощи правилам и навыкам ее оказания, оснащение участников оказания первой помощи средствами для ее оказания (аптечками и укладками).</a:t>
            </a:r>
            <a:endParaRPr/>
          </a:p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r>
              <a:rPr lang="ru-RU" sz="1200" b="1"/>
              <a:t>На сегодняшний день система оказания первой помощи в Российской Федерации состоит из трех основных компонентов</a:t>
            </a:r>
            <a:r>
              <a:rPr lang="ru-RU" sz="1200" b="1"/>
              <a:t> - </a:t>
            </a:r>
            <a:r>
              <a:rPr lang="ru-RU" sz="1200" b="0"/>
              <a:t>н</a:t>
            </a:r>
            <a:r>
              <a:rPr lang="ru-RU" sz="1200"/>
              <a:t>ормативно-правовое обеспечение,</a:t>
            </a:r>
            <a:r>
              <a:rPr lang="ru-RU" sz="1200"/>
              <a:t> о</a:t>
            </a:r>
            <a:r>
              <a:rPr lang="ru-RU" sz="1200"/>
              <a:t>бучение участников оказания первой помощи правилам и навыкам ее оказания, оснащение участников оказания первой помощи средствами для ее оказания (аптечками и укладками).</a:t>
            </a:r>
            <a:endParaRPr/>
          </a:p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r>
              <a:rPr lang="ru-RU" sz="1200" b="1"/>
              <a:t>На сегодняшний день система оказания первой помощи в Российской Федерации состоит из трех основных компонентов</a:t>
            </a:r>
            <a:r>
              <a:rPr lang="ru-RU" sz="1200" b="1"/>
              <a:t> - </a:t>
            </a:r>
            <a:r>
              <a:rPr lang="ru-RU" sz="1200" b="0"/>
              <a:t>н</a:t>
            </a:r>
            <a:r>
              <a:rPr lang="ru-RU" sz="1200"/>
              <a:t>ормативно-правовое обеспечение,</a:t>
            </a:r>
            <a:r>
              <a:rPr lang="ru-RU" sz="1200"/>
              <a:t> о</a:t>
            </a:r>
            <a:r>
              <a:rPr lang="ru-RU" sz="1200"/>
              <a:t>бучение участников оказания первой помощи правилам и навыкам ее оказания, оснащение участников оказания первой помощи средствами для ее оказания (аптечками и укладками).</a:t>
            </a:r>
            <a:endParaRPr/>
          </a:p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r>
              <a:rPr lang="ru-RU" sz="1200" b="1"/>
              <a:t>На сегодняшний день система оказания первой помощи в Российской Федерации состоит из трех основных компонентов</a:t>
            </a:r>
            <a:r>
              <a:rPr lang="ru-RU" sz="1200" b="1"/>
              <a:t> - </a:t>
            </a:r>
            <a:r>
              <a:rPr lang="ru-RU" sz="1200" b="0"/>
              <a:t>н</a:t>
            </a:r>
            <a:r>
              <a:rPr lang="ru-RU" sz="1200"/>
              <a:t>ормативно-правовое обеспечение,</a:t>
            </a:r>
            <a:r>
              <a:rPr lang="ru-RU" sz="1200"/>
              <a:t> о</a:t>
            </a:r>
            <a:r>
              <a:rPr lang="ru-RU" sz="1200"/>
              <a:t>бучение участников оказания первой помощи правилам и навыкам ее оказания, оснащение участников оказания первой помощи средствами для ее оказания (аптечками и укладками).</a:t>
            </a:r>
            <a:endParaRPr/>
          </a:p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r>
              <a:rPr lang="ru-RU" sz="1200" b="1"/>
              <a:t>На сегодняшний день система оказания первой помощи в Российской Федерации состоит из трех основных компонентов</a:t>
            </a:r>
            <a:r>
              <a:rPr lang="ru-RU" sz="1200" b="1"/>
              <a:t> - </a:t>
            </a:r>
            <a:r>
              <a:rPr lang="ru-RU" sz="1200" b="0"/>
              <a:t>н</a:t>
            </a:r>
            <a:r>
              <a:rPr lang="ru-RU" sz="1200"/>
              <a:t>ормативно-правовое обеспечение,</a:t>
            </a:r>
            <a:r>
              <a:rPr lang="ru-RU" sz="1200"/>
              <a:t> о</a:t>
            </a:r>
            <a:r>
              <a:rPr lang="ru-RU" sz="1200"/>
              <a:t>бучение участников оказания первой помощи правилам и навыкам ее оказания, оснащение участников оказания первой помощи средствами для ее оказания (аптечками и укладками).</a:t>
            </a:r>
            <a:endParaRPr/>
          </a:p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r>
              <a:rPr lang="ru-RU" sz="1200" b="1"/>
              <a:t>На сегодняшний день система оказания первой помощи в Российской Федерации состоит из трех основных компонентов</a:t>
            </a:r>
            <a:r>
              <a:rPr lang="ru-RU" sz="1200" b="1"/>
              <a:t> - </a:t>
            </a:r>
            <a:r>
              <a:rPr lang="ru-RU" sz="1200" b="0"/>
              <a:t>н</a:t>
            </a:r>
            <a:r>
              <a:rPr lang="ru-RU" sz="1200"/>
              <a:t>ормативно-правовое обеспечение,</a:t>
            </a:r>
            <a:r>
              <a:rPr lang="ru-RU" sz="1200"/>
              <a:t> о</a:t>
            </a:r>
            <a:r>
              <a:rPr lang="ru-RU" sz="1200"/>
              <a:t>бучение участников оказания первой помощи правилам и навыкам ее оказания, оснащение участников оказания первой помощи средствами для ее оказания (аптечками и укладками).</a:t>
            </a:r>
            <a:endParaRPr/>
          </a:p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r>
              <a:rPr lang="ru-RU" sz="1200" b="1"/>
              <a:t>На сегодняшний день система оказания первой помощи в Российской Федерации состоит из трех основных компонентов</a:t>
            </a:r>
            <a:r>
              <a:rPr lang="ru-RU" sz="1200" b="1"/>
              <a:t> - </a:t>
            </a:r>
            <a:r>
              <a:rPr lang="ru-RU" sz="1200" b="0"/>
              <a:t>н</a:t>
            </a:r>
            <a:r>
              <a:rPr lang="ru-RU" sz="1200"/>
              <a:t>ормативно-правовое обеспечение,</a:t>
            </a:r>
            <a:r>
              <a:rPr lang="ru-RU" sz="1200"/>
              <a:t> о</a:t>
            </a:r>
            <a:r>
              <a:rPr lang="ru-RU" sz="1200"/>
              <a:t>бучение участников оказания первой помощи правилам и навыкам ее оказания, оснащение участников оказания первой помощи средствами для ее оказания (аптечками и укладками).</a:t>
            </a:r>
            <a:endParaRPr/>
          </a:p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r>
              <a:rPr lang="ru-RU" sz="1200" b="1"/>
              <a:t>На сегодняшний день система оказания первой помощи в Российской Федерации состоит из трех основных компонентов</a:t>
            </a:r>
            <a:r>
              <a:rPr lang="ru-RU" sz="1200" b="1"/>
              <a:t> - </a:t>
            </a:r>
            <a:r>
              <a:rPr lang="ru-RU" sz="1200" b="0"/>
              <a:t>н</a:t>
            </a:r>
            <a:r>
              <a:rPr lang="ru-RU" sz="1200"/>
              <a:t>ормативно-правовое обеспечение,</a:t>
            </a:r>
            <a:r>
              <a:rPr lang="ru-RU" sz="1200"/>
              <a:t> о</a:t>
            </a:r>
            <a:r>
              <a:rPr lang="ru-RU" sz="1200"/>
              <a:t>бучение участников оказания первой помощи правилам и навыкам ее оказания, оснащение участников оказания первой помощи средствами для ее оказания (аптечками и укладками).</a:t>
            </a:r>
            <a:endParaRPr/>
          </a:p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r>
              <a:rPr lang="ru-RU" sz="1200" b="1"/>
              <a:t>На сегодняшний день система оказания первой помощи в Российской Федерации состоит из трех основных компонентов</a:t>
            </a:r>
            <a:r>
              <a:rPr lang="ru-RU" sz="1200" b="1"/>
              <a:t> - </a:t>
            </a:r>
            <a:r>
              <a:rPr lang="ru-RU" sz="1200" b="0"/>
              <a:t>н</a:t>
            </a:r>
            <a:r>
              <a:rPr lang="ru-RU" sz="1200"/>
              <a:t>ормативно-правовое обеспечение,</a:t>
            </a:r>
            <a:r>
              <a:rPr lang="ru-RU" sz="1200"/>
              <a:t> о</a:t>
            </a:r>
            <a:r>
              <a:rPr lang="ru-RU" sz="1200"/>
              <a:t>бучение участников оказания первой помощи правилам и навыкам ее оказания, оснащение участников оказания первой помощи средствами для ее оказания (аптечками и укладками).</a:t>
            </a:r>
            <a:endParaRPr/>
          </a:p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r>
              <a:rPr lang="ru-RU" sz="1200" b="1"/>
              <a:t>На сегодняшний день система оказания первой помощи в Российской Федерации состоит из трех основных компонентов</a:t>
            </a:r>
            <a:r>
              <a:rPr lang="ru-RU" sz="1200" b="1"/>
              <a:t> - </a:t>
            </a:r>
            <a:r>
              <a:rPr lang="ru-RU" sz="1200" b="0"/>
              <a:t>н</a:t>
            </a:r>
            <a:r>
              <a:rPr lang="ru-RU" sz="1200"/>
              <a:t>ормативно-правовое обеспечение,</a:t>
            </a:r>
            <a:r>
              <a:rPr lang="ru-RU" sz="1200"/>
              <a:t> о</a:t>
            </a:r>
            <a:r>
              <a:rPr lang="ru-RU" sz="1200"/>
              <a:t>бучение участников оказания первой помощи правилам и навыкам ее оказания, оснащение участников оказания первой помощи средствами для ее оказания (аптечками и укладками).</a:t>
            </a:r>
            <a:endParaRPr/>
          </a:p>
          <a:p>
            <a:pPr marL="0" marR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Благодарим</a:t>
            </a:r>
            <a:r>
              <a:rPr lang="ru-RU" b="1">
                <a:solidFill>
                  <a:schemeClr val="accent1"/>
                </a:solidFill>
              </a:rPr>
              <a:t> за внимание</a:t>
            </a:r>
            <a:endParaRPr lang="ru-RU" b="1">
              <a:solidFill>
                <a:schemeClr val="accent1"/>
              </a:solidFill>
            </a:endParaRP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7206" y="5006973"/>
            <a:ext cx="18283238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7206" y="7204075"/>
            <a:ext cx="18283238" cy="595219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040" y="3708960"/>
            <a:ext cx="21025723" cy="1405967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040" y="5817082"/>
            <a:ext cx="21025723" cy="755169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4" name="Rectangle 8"/>
          <p:cNvSpPr/>
          <p:nvPr/>
        </p:nvSpPr>
        <p:spPr bwMode="auto">
          <a:xfrm>
            <a:off x="11448381" y="5305985"/>
            <a:ext cx="1553039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1825" y="7458075"/>
            <a:ext cx="18030826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59952" y="3938096"/>
            <a:ext cx="6923155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1844" y="3938096"/>
            <a:ext cx="7124369" cy="550330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59952" y="8556336"/>
            <a:ext cx="6977810" cy="146177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1844" y="4700099"/>
            <a:ext cx="7124369" cy="329104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5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57225"/>
            <a:ext cx="10058839" cy="1057275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714500"/>
            <a:ext cx="10058839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7" name="Straight Connector 7"/>
          <p:cNvSpPr/>
          <p:nvPr/>
        </p:nvSpPr>
        <p:spPr bwMode="auto">
          <a:xfrm>
            <a:off x="1675963" y="2400300"/>
            <a:ext cx="5484973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19" rIns="45719"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37764" cy="10872329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625" y="1864518"/>
            <a:ext cx="22541411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626" y="1864518"/>
            <a:ext cx="22541410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2775885"/>
            <a:ext cx="10512863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2260787"/>
            <a:ext cx="10512863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28650"/>
            <a:ext cx="10058839" cy="1057275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685925"/>
            <a:ext cx="10058839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5963" y="2371725"/>
            <a:ext cx="5484973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19" rIns="45719"/>
          <a:lstStyle/>
          <a:p>
            <a:pPr>
              <a:defRPr/>
            </a:pPr>
            <a:endParaRPr/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6333" y="3918317"/>
            <a:ext cx="2938097" cy="293809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14799733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799731" y="0"/>
            <a:ext cx="957791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02553" y="2931885"/>
            <a:ext cx="6399134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73475" y="4875212"/>
            <a:ext cx="6328212" cy="4572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601" y="-235852"/>
            <a:ext cx="6921904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6362" y="-235858"/>
            <a:ext cx="8737907" cy="1410425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9998092" y="-235854"/>
            <a:ext cx="9853494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57400" y="-235855"/>
            <a:ext cx="7234551" cy="1410425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272" y="-651331"/>
            <a:ext cx="25783598" cy="149352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5759451"/>
            <a:ext cx="21025723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685800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18565"/>
            <a:ext cx="21025723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0025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5825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19234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2643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86052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7101" y="7772400"/>
            <a:ext cx="2673509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2347" y="7772399"/>
            <a:ext cx="2673510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1243" y="7772399"/>
            <a:ext cx="2673509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24651" y="7772399"/>
            <a:ext cx="2673509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1249" y="7897810"/>
            <a:ext cx="2311776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48172" y="7897810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72109" y="7897810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05519" y="7897810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5825" y="10004425"/>
            <a:ext cx="5077200" cy="415925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5825" y="10614027"/>
            <a:ext cx="5077200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2748" y="10004425"/>
            <a:ext cx="5077199" cy="415925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2748" y="10614027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2643" y="10001050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2643" y="10610653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49566" y="10001050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49566" y="10610653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479052"/>
            <a:ext cx="21025723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0025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3375" y="3978647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2539" y="3978647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3375" y="8104093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2539" y="8104093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14225" y="529309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14224" y="6475348"/>
            <a:ext cx="5077200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14225" y="588422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67940" y="529309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67938" y="6475348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67940" y="588422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06851" y="809728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06850" y="9279536"/>
            <a:ext cx="5077200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06851" y="868841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0565" y="809728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0565" y="9279536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0565" y="868841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529290"/>
            <a:ext cx="21025723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0025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180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59539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2899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46258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89616" y="3936819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289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289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289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5042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5041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5042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3791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3791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3791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12544" y="8044360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12542" y="9387974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12544" y="8635486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61294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61292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61294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95883"/>
            <a:ext cx="10058839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753159"/>
            <a:ext cx="10058839" cy="4572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0" y="3854543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4588" y="3854543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0" y="7567613"/>
            <a:ext cx="6454589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4588" y="7567613"/>
            <a:ext cx="6454589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7309" y="6974299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6680" y="7073899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4588" y="7567613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3957" y="7667212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4588" y="6974299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3957" y="7073899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7309" y="7567613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6680" y="7667212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26927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0725" y="0"/>
            <a:ext cx="122269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0" y="4572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0725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0" y="9144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2422" y="9144000"/>
            <a:ext cx="1224523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1722" y="1989342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1092" y="2088943"/>
            <a:ext cx="2311775" cy="365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0548" y="6561342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19919" y="6660943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07856" y="11133342"/>
            <a:ext cx="2527278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7226" y="11232943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26927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0725" y="0"/>
            <a:ext cx="122269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0" y="4572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0725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62450" y="1989342"/>
            <a:ext cx="2527278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81819" y="2088943"/>
            <a:ext cx="2311775" cy="365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1724" y="6575837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1093" y="6675436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0857" y="12257089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7863" y="9466729"/>
            <a:ext cx="21025723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5" y="-1"/>
            <a:ext cx="24377655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19204" y="-17373600"/>
            <a:ext cx="243776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526473"/>
            <a:ext cx="21025723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83377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50281" y="7347745"/>
            <a:ext cx="2088356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88825" y="0"/>
            <a:ext cx="12188825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26927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349299"/>
            <a:ext cx="9120044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75" name="Rectangle 6"/>
          <p:cNvSpPr/>
          <p:nvPr/>
        </p:nvSpPr>
        <p:spPr bwMode="auto">
          <a:xfrm>
            <a:off x="0" y="0"/>
            <a:ext cx="12188825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444897"/>
            <a:ext cx="9120044" cy="3406775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4" y="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88824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88824" y="9144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45175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45175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45175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05097" y="1041400"/>
            <a:ext cx="4783818" cy="4159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05097" y="1651000"/>
            <a:ext cx="4783818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05097" y="5499100"/>
            <a:ext cx="4783818" cy="415925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05097" y="6108701"/>
            <a:ext cx="4783818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05097" y="10127799"/>
            <a:ext cx="4783818" cy="415926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05097" y="10737401"/>
            <a:ext cx="4783818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6125" y="4229193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6520" y="7348949"/>
            <a:ext cx="3294194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1285" y="7448549"/>
            <a:ext cx="3013294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6125" y="4040935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38899" y="7160690"/>
            <a:ext cx="3301814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4315" y="7260290"/>
            <a:ext cx="3020264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496698" y="4040935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6124" y="8762999"/>
            <a:ext cx="6454590" cy="550866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6124" y="9442452"/>
            <a:ext cx="6454590" cy="211492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496697" y="8716309"/>
            <a:ext cx="6454590" cy="550865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496697" y="9395762"/>
            <a:ext cx="6454590" cy="211492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496698" y="7160690"/>
            <a:ext cx="3301814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2114" y="7260290"/>
            <a:ext cx="3020264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3550" y="4145279"/>
            <a:ext cx="5286375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3550" y="4886323"/>
            <a:ext cx="5286375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1749" y="4145279"/>
            <a:ext cx="2338023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3550" y="8208864"/>
            <a:ext cx="5286375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3550" y="8949908"/>
            <a:ext cx="5286375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1749" y="8208863"/>
            <a:ext cx="2338023" cy="233802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02553" y="4145279"/>
            <a:ext cx="5286376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02553" y="4886323"/>
            <a:ext cx="5286376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0753" y="4145279"/>
            <a:ext cx="233802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02553" y="8208864"/>
            <a:ext cx="5286376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02553" y="8949908"/>
            <a:ext cx="5286376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0753" y="8208863"/>
            <a:ext cx="2338022" cy="233802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0"/>
            <a:ext cx="1445895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58950" y="0"/>
            <a:ext cx="991870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0" y="6858000"/>
            <a:ext cx="991870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18700" y="6858000"/>
            <a:ext cx="1445895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6257" y="3390901"/>
            <a:ext cx="15331143" cy="6858001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1163" y="3950260"/>
            <a:ext cx="13818037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1163" y="5007534"/>
            <a:ext cx="13818037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0" y="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52449" y="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5200" y="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0" y="685800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0400" y="685800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3149" y="6858000"/>
            <a:ext cx="8125202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1624" y="5873750"/>
            <a:ext cx="11506201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4375" y="6329362"/>
            <a:ext cx="10248900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4" y="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88824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88824" y="9144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45175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45175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45175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05097" y="1041400"/>
            <a:ext cx="4783818" cy="415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05097" y="1651000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05097" y="54991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05097" y="61087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05097" y="10127799"/>
            <a:ext cx="4783818" cy="415926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05097" y="107374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0" y="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0" y="4572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0" y="9144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6351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6351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6351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6273" y="10414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6273" y="1651000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6273" y="54991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6273" y="61087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6273" y="10127799"/>
            <a:ext cx="4783818" cy="415926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6273" y="107374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11145"/>
            <a:ext cx="12188825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2" y="8040913"/>
            <a:ext cx="12188826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88825" y="1"/>
            <a:ext cx="12188828" cy="1371599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88824" y="8036300"/>
            <a:ext cx="12188828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5963" y="9174289"/>
            <a:ext cx="8582462" cy="800141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5964" y="10014856"/>
            <a:ext cx="8582461" cy="1883457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5964" y="8510327"/>
            <a:ext cx="8582461" cy="51353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19225" y="9144810"/>
            <a:ext cx="8582461" cy="800141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19225" y="9985378"/>
            <a:ext cx="8582461" cy="1883457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19225" y="8480849"/>
            <a:ext cx="8582461" cy="51353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1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88825" y="1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0" y="6858000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88825" y="6858000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4813" y="4572000"/>
            <a:ext cx="955401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88825" y="4572000"/>
            <a:ext cx="9554011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4813" y="6829425"/>
            <a:ext cx="9554012" cy="225742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88825" y="6829425"/>
            <a:ext cx="9554011" cy="225742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1"/>
            <a:ext cx="13865870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49281" y="0"/>
            <a:ext cx="12728368" cy="800836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0"/>
            <a:ext cx="1164928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2049" y="8978151"/>
            <a:ext cx="11785600" cy="473784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8797" y="7922741"/>
            <a:ext cx="21080055" cy="1231527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9154268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4" y="0"/>
            <a:ext cx="635635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88824" y="4572000"/>
            <a:ext cx="635635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88825" y="9144000"/>
            <a:ext cx="635635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45175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45175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45175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05097" y="1041400"/>
            <a:ext cx="4783818" cy="415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05097" y="1651000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05097" y="54991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05097" y="61087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05097" y="10127799"/>
            <a:ext cx="4783818" cy="415926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05097" y="107374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2471" y="0"/>
            <a:ext cx="635635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2471" y="4572000"/>
            <a:ext cx="635635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2471" y="9144000"/>
            <a:ext cx="635635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2" y="31300"/>
            <a:ext cx="5832475" cy="4572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2" y="4603301"/>
            <a:ext cx="5832475" cy="4572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2" y="9175301"/>
            <a:ext cx="5832475" cy="4572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59921" y="1072700"/>
            <a:ext cx="4783817" cy="415926"/>
          </a:xfrm>
          <a:prstGeom prst="rect">
            <a:avLst/>
          </a:prstGeom>
        </p:spPr>
        <p:txBody>
          <a:bodyPr/>
          <a:lstStyle>
            <a:lvl1pPr algn="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59921" y="1682301"/>
            <a:ext cx="4783817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59921" y="5530401"/>
            <a:ext cx="4783817" cy="415926"/>
          </a:xfrm>
          <a:prstGeom prst="rect">
            <a:avLst/>
          </a:prstGeom>
        </p:spPr>
        <p:txBody>
          <a:bodyPr/>
          <a:lstStyle>
            <a:lvl1pPr algn="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59921" y="6140001"/>
            <a:ext cx="4783817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59921" y="10159099"/>
            <a:ext cx="4783817" cy="415926"/>
          </a:xfrm>
          <a:prstGeom prst="rect">
            <a:avLst/>
          </a:prstGeom>
        </p:spPr>
        <p:txBody>
          <a:bodyPr/>
          <a:lstStyle>
            <a:lvl1pPr algn="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59921" y="10768702"/>
            <a:ext cx="4783817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3973605"/>
            <a:ext cx="12188825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441" y="7220229"/>
            <a:ext cx="7953376" cy="170488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183" y="7543240"/>
            <a:ext cx="5657851" cy="1087905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59676" y="3973605"/>
            <a:ext cx="7928723" cy="550865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59676" y="4653057"/>
            <a:ext cx="7928723" cy="428073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5963" y="10220322"/>
            <a:ext cx="10512861" cy="162989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795751" y="3993777"/>
            <a:ext cx="7591425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25" y="3993777"/>
            <a:ext cx="7572375" cy="385603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47003" y="3993777"/>
            <a:ext cx="12083644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400050"/>
            <a:ext cx="10058839" cy="1057275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457325"/>
            <a:ext cx="10058839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5963" y="2143125"/>
            <a:ext cx="5484973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19" rIns="45719"/>
          <a:lstStyle/>
          <a:p>
            <a:pPr>
              <a:defRPr/>
            </a:pPr>
            <a:endParaRPr/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5" y="-2"/>
            <a:ext cx="304920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38091" y="-2"/>
            <a:ext cx="3049201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87291" y="-2"/>
            <a:ext cx="3049201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36556" y="-2"/>
            <a:ext cx="3049201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88825" y="3441598"/>
            <a:ext cx="3049200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38091" y="34415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87291" y="34415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36556" y="34415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88825" y="6832798"/>
            <a:ext cx="3049200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38091" y="68327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87291" y="68327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36556" y="68327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88825" y="10274399"/>
            <a:ext cx="3049200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38091" y="102743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87291" y="102743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36556" y="102743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4622612"/>
            <a:ext cx="24368125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3665156"/>
            <a:ext cx="24368125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1" y="3665156"/>
            <a:ext cx="24377651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3375" y="5850387"/>
            <a:ext cx="21134388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7232071"/>
            <a:ext cx="21134388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47606" y="6130925"/>
            <a:ext cx="2533652" cy="42640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1200" y="2514600"/>
            <a:ext cx="10207625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1200" y="5673725"/>
            <a:ext cx="10207625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3600" y="6261101"/>
            <a:ext cx="2527300" cy="42545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09567" y="5902876"/>
            <a:ext cx="5560205" cy="282966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3028" y="7389627"/>
            <a:ext cx="5545289" cy="422030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38942" y="4658203"/>
            <a:ext cx="6231945" cy="455150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6179" y="5610225"/>
            <a:ext cx="6370321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0"/>
            <a:ext cx="24377650" cy="1371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476314"/>
            <a:ext cx="21134388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6858000"/>
            <a:ext cx="21134388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2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400675"/>
            <a:ext cx="10585450" cy="2028825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3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7429500"/>
            <a:ext cx="10585450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88825" y="860612"/>
            <a:ext cx="10512861" cy="1623733"/>
          </a:xfrm>
          <a:prstGeom prst="rect">
            <a:avLst/>
          </a:prstGeom>
        </p:spPr>
        <p:txBody>
          <a:bodyPr/>
          <a:lstStyle>
            <a:lvl1pPr algn="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2188825" y="2484345"/>
            <a:ext cx="10512861" cy="457201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0"/>
            <a:ext cx="24377650" cy="1371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4" y="6429375"/>
            <a:ext cx="21098311" cy="2028825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4" y="8458200"/>
            <a:ext cx="21098311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4829175"/>
            <a:ext cx="21098311" cy="2028825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6858000"/>
            <a:ext cx="21098311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57246"/>
            <a:ext cx="5988862" cy="680199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4" y="8237445"/>
            <a:ext cx="5988861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200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0400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0600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200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0400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0600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200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0400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0600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3103" y="6994525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30251"/>
            <a:ext cx="21025724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5963" y="3651250"/>
            <a:ext cx="103605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9138" y="730251"/>
            <a:ext cx="21025724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9138" y="3362326"/>
            <a:ext cx="10312890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1186" y="3362326"/>
            <a:ext cx="10363677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30251"/>
            <a:ext cx="21025724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4288" y="5297486"/>
            <a:ext cx="5299076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1275" y="7423150"/>
            <a:ext cx="5272088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3722" y="5303839"/>
            <a:ext cx="5299076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9139" y="914400"/>
            <a:ext cx="7862428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3676" y="1974850"/>
            <a:ext cx="12341186" cy="9747251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79139" y="4114800"/>
            <a:ext cx="7862428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9139" y="914400"/>
            <a:ext cx="7862428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3676" y="1974850"/>
            <a:ext cx="12341186" cy="97472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9139" y="4114800"/>
            <a:ext cx="7862428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2026" y="4114800"/>
            <a:ext cx="8229601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36030" y="4297679"/>
            <a:ext cx="9141619" cy="54864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8F8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4084" y="12828905"/>
            <a:ext cx="437603" cy="4978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8565" y="184149"/>
            <a:ext cx="2193417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8565" y="3200400"/>
            <a:ext cx="2193417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</p:sldLayoutIdLst>
  <p:txStyles>
    <p:titleStyle>
      <a:lvl1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1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3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3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69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39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3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1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7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3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19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7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31443" y="5481332"/>
            <a:ext cx="4621489" cy="4445001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5" name="Rectangle 13"/>
          <p:cNvSpPr/>
          <p:nvPr/>
        </p:nvSpPr>
        <p:spPr bwMode="auto">
          <a:xfrm>
            <a:off x="13924280" y="0"/>
            <a:ext cx="1063625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6" name="Rectangle 5"/>
          <p:cNvSpPr/>
          <p:nvPr/>
        </p:nvSpPr>
        <p:spPr bwMode="auto">
          <a:xfrm>
            <a:off x="1664241" y="8700653"/>
            <a:ext cx="11649423" cy="108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664241" y="6712005"/>
            <a:ext cx="12903097" cy="1983653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5400" b="1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rPr>
              <a:t>ОБУЧЕНИЕ ПРЕПОДАВАТЕЛЕЙ </a:t>
            </a:r>
            <a:endParaRPr/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5400" b="1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rPr>
              <a:t>ПО ОКАЗАНИЮ ПЕРВОЙ  ПОМОЩИ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1" name="object 8"/>
          <p:cNvSpPr/>
          <p:nvPr/>
        </p:nvSpPr>
        <p:spPr bwMode="auto">
          <a:xfrm>
            <a:off x="14885256" y="3051861"/>
            <a:ext cx="7431143" cy="9776857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2" name="object 7"/>
          <p:cNvSpPr txBox="1"/>
          <p:nvPr/>
        </p:nvSpPr>
        <p:spPr bwMode="auto">
          <a:xfrm>
            <a:off x="2054901" y="3643922"/>
            <a:ext cx="9203800" cy="8038739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defRPr/>
            </a:pPr>
            <a:r>
              <a:rPr lang="ru-RU" sz="3600" b="1" spc="-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АЛГОРИТМ ОКАЗАНИЯ ПЕРВОЙ ПОМОЩИ</a:t>
            </a:r>
            <a:endParaRPr/>
          </a:p>
          <a:p>
            <a:pPr marL="12700">
              <a:lnSpc>
                <a:spcPct val="100000"/>
              </a:lnSpc>
              <a:defRPr/>
            </a:pPr>
            <a:endParaRPr lang="ru-RU" sz="3600" b="1" spc="-5">
              <a:solidFill>
                <a:schemeClr val="accent6"/>
              </a:solidFill>
              <a:latin typeface="Open Sans Light"/>
              <a:ea typeface="Open Sans Light"/>
              <a:cs typeface="Open Sans Light"/>
            </a:endParaRPr>
          </a:p>
          <a:p>
            <a:pPr marL="12700">
              <a:lnSpc>
                <a:spcPct val="100000"/>
              </a:lnSpc>
              <a:defRPr/>
            </a:pPr>
            <a:r>
              <a:rPr sz="3600" b="1" spc="-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Важно</a:t>
            </a:r>
            <a:r>
              <a:rPr sz="3600" b="1" spc="-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 заострить</a:t>
            </a:r>
            <a:r>
              <a:rPr sz="3600" b="1" spc="4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внимание:</a:t>
            </a:r>
            <a:endParaRPr sz="3600">
              <a:solidFill>
                <a:schemeClr val="accent6"/>
              </a:solidFill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Как обеспечить собственную</a:t>
            </a:r>
            <a:r>
              <a:rPr sz="3600" spc="2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безопасность;</a:t>
            </a:r>
            <a:endParaRPr/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Терминальные</a:t>
            </a:r>
            <a:r>
              <a:rPr sz="3600" spc="3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состояния;</a:t>
            </a:r>
            <a:endParaRPr/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 spc="-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Анатомические</a:t>
            </a:r>
            <a:r>
              <a:rPr sz="3600" spc="3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ориентиры;</a:t>
            </a:r>
            <a:endParaRPr/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Порядок </a:t>
            </a:r>
            <a:r>
              <a:rPr sz="3600" spc="-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вызова </a:t>
            </a:r>
            <a:r>
              <a:rPr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скорой</a:t>
            </a:r>
            <a:r>
              <a:rPr sz="3600" spc="4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помощи;</a:t>
            </a:r>
            <a:endParaRPr/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Важность предварительной</a:t>
            </a:r>
            <a:r>
              <a:rPr sz="3600" spc="3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диагностики</a:t>
            </a:r>
            <a:r>
              <a:rPr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.</a:t>
            </a:r>
            <a:endParaRPr/>
          </a:p>
          <a:p>
            <a:pPr>
              <a:lnSpc>
                <a:spcPct val="100000"/>
              </a:lnSpc>
              <a:buClr>
                <a:srgbClr val="525252"/>
              </a:buClr>
              <a:buFont typeface="Arial"/>
              <a:buChar char="•"/>
              <a:defRPr/>
            </a:pPr>
            <a:endParaRPr sz="3600">
              <a:solidFill>
                <a:schemeClr val="accent6"/>
              </a:solidFill>
              <a:latin typeface="Open Sans Light"/>
              <a:ea typeface="Open Sans Light"/>
              <a:cs typeface="Open Sans Light"/>
            </a:endParaRPr>
          </a:p>
          <a:p>
            <a:pPr marL="12700">
              <a:lnSpc>
                <a:spcPct val="100000"/>
              </a:lnSpc>
              <a:defRPr/>
            </a:pPr>
            <a:r>
              <a:rPr sz="3600" b="1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Возможные ошибки</a:t>
            </a:r>
            <a:r>
              <a:rPr sz="3600" b="1" spc="4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 spc="-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слушателей:</a:t>
            </a:r>
            <a:endParaRPr sz="3600">
              <a:solidFill>
                <a:schemeClr val="accent6"/>
              </a:solidFill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Забыть устранить опасный</a:t>
            </a:r>
            <a:r>
              <a:rPr sz="3600" spc="2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фактор</a:t>
            </a:r>
            <a:endParaRPr/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Забыть вызвать</a:t>
            </a:r>
            <a:r>
              <a:rPr sz="3600" spc="3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скорую</a:t>
            </a:r>
            <a:endParaRPr/>
          </a:p>
        </p:txBody>
      </p:sp>
      <p:sp>
        <p:nvSpPr>
          <p:cNvPr id="13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5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29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30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object 7"/>
          <p:cNvSpPr txBox="1"/>
          <p:nvPr/>
        </p:nvSpPr>
        <p:spPr bwMode="auto">
          <a:xfrm>
            <a:off x="2054901" y="3761994"/>
            <a:ext cx="11441643" cy="7948971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ПЕРВАЯ ПОМОЩЬ В 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СОСТОЯНИИ</a:t>
            </a:r>
            <a:r>
              <a:rPr sz="3600" b="1" spc="8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ОБМОРОКА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>
              <a:lnSpc>
                <a:spcPct val="100000"/>
              </a:lnSpc>
              <a:defRPr/>
            </a:pPr>
            <a:endParaRPr sz="3600">
              <a:latin typeface="Open Sans Light"/>
              <a:ea typeface="Open Sans Light"/>
              <a:cs typeface="Open Sans Light"/>
            </a:endParaRPr>
          </a:p>
          <a:p>
            <a:pPr marL="12700">
              <a:lnSpc>
                <a:spcPct val="100000"/>
              </a:lnSpc>
              <a:defRPr/>
            </a:pPr>
            <a:r>
              <a:rPr lang="ru-RU"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Важно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lang="ru-RU"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заострить</a:t>
            </a:r>
            <a:r>
              <a:rPr sz="3600" b="1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lang="ru-RU"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внимание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:</a:t>
            </a:r>
            <a:endParaRPr lang="ru-RU" sz="3600" b="1">
              <a:solidFill>
                <a:srgbClr val="525252"/>
              </a:solidFill>
              <a:latin typeface="Open Sans Light"/>
              <a:ea typeface="Open Sans Light"/>
              <a:cs typeface="Open Sans Light"/>
            </a:endParaRPr>
          </a:p>
          <a:p>
            <a:pPr marL="583565" marR="5080" indent="-571500">
              <a:spcBef>
                <a:spcPts val="14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Самодиагностика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: резкая слабость, головокружение, звон в ушах и  потемнение в</a:t>
            </a:r>
            <a:r>
              <a:rPr sz="3600" spc="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глазах;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spcBef>
                <a:spcPts val="13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Способы проверки сознания, </a:t>
            </a: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дыхания, </a:t>
            </a:r>
            <a:r>
              <a:rPr lang="ru-RU"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кровообращения</a:t>
            </a:r>
            <a:r>
              <a:rPr sz="3600" spc="2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у</a:t>
            </a:r>
            <a:r>
              <a:rPr lang="ru-RU" sz="3600">
                <a:latin typeface="Open Sans Light"/>
                <a:ea typeface="Open Sans Light"/>
                <a:cs typeface="Open Sans Light"/>
              </a:rPr>
              <a:t> </a:t>
            </a:r>
            <a:r>
              <a:rPr lang="ru-RU"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пострадавшего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Способы подготовки к возможной</a:t>
            </a:r>
            <a:r>
              <a:rPr sz="3600" spc="2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реанимации.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>
              <a:buClr>
                <a:srgbClr val="525252"/>
              </a:buClr>
              <a:buFont typeface="Arial"/>
              <a:buChar char="•"/>
              <a:defRPr/>
            </a:pPr>
            <a:endParaRPr sz="3600">
              <a:latin typeface="Open Sans Light"/>
              <a:ea typeface="Open Sans Light"/>
              <a:cs typeface="Open Sans Light"/>
            </a:endParaRPr>
          </a:p>
          <a:p>
            <a:pPr marL="12700">
              <a:spcBef>
                <a:spcPts val="5"/>
              </a:spcBef>
              <a:defRPr/>
            </a:pP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Возможные ошибки</a:t>
            </a:r>
            <a:r>
              <a:rPr sz="3600" b="1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слушателей: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Забыть проверить</a:t>
            </a:r>
            <a:r>
              <a:rPr sz="3600" spc="2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пульс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Забыть расстегнуть поясной</a:t>
            </a:r>
            <a:r>
              <a:rPr sz="3600" spc="2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ремень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Забыть приподнять</a:t>
            </a:r>
            <a:r>
              <a:rPr sz="3600" spc="4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ноги</a:t>
            </a:r>
            <a:endParaRPr sz="3600"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13" name="object 8"/>
          <p:cNvSpPr/>
          <p:nvPr/>
        </p:nvSpPr>
        <p:spPr bwMode="auto">
          <a:xfrm>
            <a:off x="14140964" y="4687614"/>
            <a:ext cx="8175435" cy="6220841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7" name="object 7"/>
          <p:cNvSpPr txBox="1"/>
          <p:nvPr/>
        </p:nvSpPr>
        <p:spPr bwMode="auto">
          <a:xfrm>
            <a:off x="2054901" y="4684887"/>
            <a:ext cx="9203800" cy="5656036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ПЕРВАЯ ПОМОЩЬ ПРИ 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ТЕПЛОВОМ</a:t>
            </a:r>
            <a:r>
              <a:rPr sz="3600" b="1" spc="9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УДАРЕ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>
              <a:defRPr/>
            </a:pPr>
            <a:endParaRPr sz="3600">
              <a:latin typeface="Open Sans Light"/>
              <a:ea typeface="Open Sans Light"/>
              <a:cs typeface="Open Sans Light"/>
            </a:endParaRPr>
          </a:p>
          <a:p>
            <a:pPr marL="12700">
              <a:defRPr/>
            </a:pP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Важно заострить</a:t>
            </a:r>
            <a:r>
              <a:rPr sz="3600" b="1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внимание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:</a:t>
            </a:r>
            <a:endParaRPr lang="ru-RU" sz="3600" b="1">
              <a:solidFill>
                <a:srgbClr val="525252"/>
              </a:solidFill>
              <a:latin typeface="Open Sans Light"/>
              <a:ea typeface="Open Sans Light"/>
              <a:cs typeface="Open Sans Light"/>
            </a:endParaRPr>
          </a:p>
          <a:p>
            <a:pPr marL="583565" marR="5080" indent="-571500">
              <a:spcBef>
                <a:spcPts val="14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Состояния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вызванные повышенной температурой (Тепловая сыпь,  тепловые судороги, тепловое истощение, тепловой</a:t>
            </a:r>
            <a:r>
              <a:rPr sz="3600" spc="5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удар);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spcBef>
                <a:spcPts val="13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Признаки и</a:t>
            </a:r>
            <a:r>
              <a:rPr sz="3600" spc="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симптомы;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Что понадобится </a:t>
            </a: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для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первой</a:t>
            </a:r>
            <a:r>
              <a:rPr sz="3600" spc="2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помощи;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Как предотвратить</a:t>
            </a:r>
            <a:r>
              <a:rPr sz="3600" spc="2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риски.</a:t>
            </a:r>
            <a:endParaRPr sz="3600"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8" name="object 8"/>
          <p:cNvSpPr/>
          <p:nvPr/>
        </p:nvSpPr>
        <p:spPr bwMode="auto">
          <a:xfrm>
            <a:off x="14106640" y="3986529"/>
            <a:ext cx="8209759" cy="6426938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7332789" y="4325183"/>
            <a:ext cx="12722112" cy="6892271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ПЕРВАЯ ПОМОЩЬ В 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СОСТОЯНИИ</a:t>
            </a:r>
            <a:r>
              <a:rPr sz="3600" b="1" spc="8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КОМЫ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>
              <a:lnSpc>
                <a:spcPct val="100000"/>
              </a:lnSpc>
              <a:defRPr/>
            </a:pPr>
            <a:endParaRPr sz="3600">
              <a:latin typeface="Open Sans Light"/>
              <a:ea typeface="Open Sans Light"/>
              <a:cs typeface="Open Sans Light"/>
            </a:endParaRPr>
          </a:p>
          <a:p>
            <a:pPr marL="584200" indent="-571500">
              <a:lnSpc>
                <a:spcPct val="100000"/>
              </a:lnSpc>
              <a:buFont typeface="Wingdings"/>
              <a:buChar char="q"/>
              <a:defRPr/>
            </a:pP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Важно заострить</a:t>
            </a:r>
            <a:r>
              <a:rPr sz="3600" b="1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внимание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: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Признаки состояния комы;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Способ придания устойчивого бокового</a:t>
            </a:r>
            <a:r>
              <a:rPr sz="3600" spc="4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положения;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Проверить состояние </a:t>
            </a: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дыхательных</a:t>
            </a:r>
            <a:r>
              <a:rPr sz="3600" spc="6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путей.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71500" indent="-571500">
              <a:lnSpc>
                <a:spcPct val="100000"/>
              </a:lnSpc>
              <a:buClr>
                <a:srgbClr val="525252"/>
              </a:buClr>
              <a:buFont typeface="Wingdings"/>
              <a:buChar char="q"/>
              <a:defRPr/>
            </a:pPr>
            <a:endParaRPr sz="3600">
              <a:latin typeface="Open Sans Light"/>
              <a:ea typeface="Open Sans Light"/>
              <a:cs typeface="Open Sans Light"/>
            </a:endParaRPr>
          </a:p>
          <a:p>
            <a:pPr marL="584200" indent="-571500">
              <a:lnSpc>
                <a:spcPct val="100000"/>
              </a:lnSpc>
              <a:buFont typeface="Wingdings"/>
              <a:buChar char="q"/>
              <a:defRPr/>
            </a:pP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Возможные ошибки</a:t>
            </a:r>
            <a:r>
              <a:rPr sz="3600" b="1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слушателей: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Неправильно выполнить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мероприятия по приданию бокового</a:t>
            </a:r>
            <a:r>
              <a:rPr sz="3600" spc="22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положения;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Забыть приложить холод к</a:t>
            </a:r>
            <a:r>
              <a:rPr sz="3600" spc="4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голове;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Перестать контролировать состояние</a:t>
            </a:r>
            <a:r>
              <a:rPr sz="3600" spc="5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пострадавшего.</a:t>
            </a:r>
            <a:endParaRPr sz="3600"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10" name="object 8"/>
          <p:cNvSpPr/>
          <p:nvPr/>
        </p:nvSpPr>
        <p:spPr bwMode="auto">
          <a:xfrm>
            <a:off x="2054901" y="2906487"/>
            <a:ext cx="3906987" cy="10476053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object 7"/>
          <p:cNvSpPr txBox="1"/>
          <p:nvPr/>
        </p:nvSpPr>
        <p:spPr bwMode="auto">
          <a:xfrm>
            <a:off x="2054901" y="3702059"/>
            <a:ext cx="11254698" cy="8111067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СЕРДЕЧНО-ЛЕГОЧНАЯ</a:t>
            </a:r>
            <a:r>
              <a:rPr sz="3600" b="1" spc="3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РЕАНИМАЦИЯ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>
              <a:lnSpc>
                <a:spcPct val="100000"/>
              </a:lnSpc>
              <a:defRPr/>
            </a:pPr>
            <a:endParaRPr sz="3600">
              <a:latin typeface="Open Sans Light"/>
              <a:ea typeface="Open Sans Light"/>
              <a:cs typeface="Open Sans Light"/>
            </a:endParaRPr>
          </a:p>
          <a:p>
            <a:pPr marL="12700">
              <a:lnSpc>
                <a:spcPct val="100000"/>
              </a:lnSpc>
              <a:defRPr/>
            </a:pP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Важно заострить</a:t>
            </a:r>
            <a:r>
              <a:rPr sz="3600" b="1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внимание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:</a:t>
            </a:r>
            <a:endParaRPr lang="ru-RU" sz="3600" b="1">
              <a:solidFill>
                <a:srgbClr val="525252"/>
              </a:solidFill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Признаки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биологической</a:t>
            </a:r>
            <a:r>
              <a:rPr sz="3600" spc="4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смерти;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Эффективность</a:t>
            </a:r>
            <a:r>
              <a:rPr sz="3600" spc="1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ИВЛ.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>
              <a:lnSpc>
                <a:spcPct val="100000"/>
              </a:lnSpc>
              <a:buClr>
                <a:srgbClr val="525252"/>
              </a:buClr>
              <a:buFont typeface="Arial"/>
              <a:buChar char="•"/>
              <a:defRPr/>
            </a:pPr>
            <a:endParaRPr sz="3600">
              <a:latin typeface="Open Sans Light"/>
              <a:ea typeface="Open Sans Light"/>
              <a:cs typeface="Open Sans Light"/>
            </a:endParaRPr>
          </a:p>
          <a:p>
            <a:pPr marL="12700">
              <a:lnSpc>
                <a:spcPct val="100000"/>
              </a:lnSpc>
              <a:defRPr/>
            </a:pP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Возможные ошибки</a:t>
            </a:r>
            <a:r>
              <a:rPr sz="3600" b="1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слушателей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:</a:t>
            </a:r>
            <a:endParaRPr lang="ru-RU" sz="3600" b="1" spc="-5">
              <a:solidFill>
                <a:srgbClr val="525252"/>
              </a:solidFill>
              <a:latin typeface="Open Sans Light"/>
              <a:ea typeface="Open Sans Light"/>
              <a:cs typeface="Open Sans Light"/>
            </a:endParaRPr>
          </a:p>
          <a:p>
            <a:pPr marL="583565" marR="5080" indent="-571500">
              <a:lnSpc>
                <a:spcPct val="110400"/>
              </a:lnSpc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Неправильная</a:t>
            </a: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постановка рук и корпуса при проведении непрямого  массажа</a:t>
            </a: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сердца;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Чрезмерная интенсивность или глубина</a:t>
            </a:r>
            <a:r>
              <a:rPr sz="3600" spc="5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надавливания;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Слабая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интенсивность и глубина</a:t>
            </a:r>
            <a:r>
              <a:rPr sz="3600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надавливания;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Забыть запрокинуть</a:t>
            </a:r>
            <a:r>
              <a:rPr sz="3600" spc="2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голову;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Чрезмерно интенсивный</a:t>
            </a:r>
            <a:r>
              <a:rPr sz="3600" spc="2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выдох.</a:t>
            </a:r>
            <a:endParaRPr sz="3600"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8" name="object 8"/>
          <p:cNvSpPr>
            <a:spLocks noChangeAspect="1"/>
          </p:cNvSpPr>
          <p:nvPr/>
        </p:nvSpPr>
        <p:spPr bwMode="auto">
          <a:xfrm>
            <a:off x="12586235" y="3202874"/>
            <a:ext cx="6755722" cy="6626252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3" name="object 9"/>
          <p:cNvSpPr>
            <a:spLocks noChangeAspect="1"/>
          </p:cNvSpPr>
          <p:nvPr/>
        </p:nvSpPr>
        <p:spPr bwMode="auto">
          <a:xfrm>
            <a:off x="18559799" y="8986808"/>
            <a:ext cx="4430735" cy="4200898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2054901" y="4747309"/>
            <a:ext cx="11585890" cy="3537379"/>
          </a:xfrm>
          <a:prstGeom prst="rect">
            <a:avLst/>
          </a:prstGeom>
        </p:spPr>
        <p:txBody>
          <a:bodyPr vert="horz" wrap="square" lIns="36000" tIns="12700" rIns="36000" bIns="3600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100"/>
              </a:spcBef>
              <a:defRPr/>
            </a:pP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ПЕРВАЯ ПОМОЩЬ ПРИ 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НАРУШЕНИИ ПРОХОДИМОСТИ ВЕРХНИХ  ДЫХАТЕЛЬНЫХ</a:t>
            </a:r>
            <a:r>
              <a:rPr sz="3600" b="1" spc="4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ПУТЕЙ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defRPr/>
            </a:pPr>
            <a:endParaRPr sz="3600">
              <a:latin typeface="Open Sans Light"/>
              <a:ea typeface="Open Sans Light"/>
              <a:cs typeface="Open Sans Light"/>
            </a:endParaRPr>
          </a:p>
          <a:p>
            <a:pPr marL="12700">
              <a:lnSpc>
                <a:spcPct val="100000"/>
              </a:lnSpc>
              <a:defRPr/>
            </a:pP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Важно заострить</a:t>
            </a:r>
            <a:r>
              <a:rPr sz="3600" b="1" spc="3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внимание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:</a:t>
            </a:r>
            <a:endParaRPr lang="ru-RU" sz="3600" b="1" spc="-5">
              <a:solidFill>
                <a:srgbClr val="525252"/>
              </a:solidFill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Ограничения</a:t>
            </a:r>
            <a:r>
              <a:rPr sz="3600" spc="2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методов;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Особенность оказания помощи</a:t>
            </a:r>
            <a:r>
              <a:rPr sz="3600" spc="1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детям.</a:t>
            </a:r>
            <a:endParaRPr sz="3600"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10" name="object 8"/>
          <p:cNvSpPr>
            <a:spLocks noChangeAspect="1"/>
          </p:cNvSpPr>
          <p:nvPr/>
        </p:nvSpPr>
        <p:spPr bwMode="auto">
          <a:xfrm>
            <a:off x="11042595" y="5643872"/>
            <a:ext cx="6843069" cy="7596707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4" name="object 9"/>
          <p:cNvSpPr>
            <a:spLocks noChangeAspect="1"/>
          </p:cNvSpPr>
          <p:nvPr/>
        </p:nvSpPr>
        <p:spPr bwMode="auto">
          <a:xfrm>
            <a:off x="17885664" y="6822570"/>
            <a:ext cx="4718304" cy="6192712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object 7"/>
          <p:cNvSpPr txBox="1"/>
          <p:nvPr/>
        </p:nvSpPr>
        <p:spPr bwMode="auto">
          <a:xfrm>
            <a:off x="9931414" y="4773268"/>
            <a:ext cx="10123487" cy="6338274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ПЕРВАЯ ПОМОЩЬ ПРИ</a:t>
            </a:r>
            <a:r>
              <a:rPr sz="3600" b="1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КРОВОТЕЧЕНИЯХ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>
              <a:lnSpc>
                <a:spcPct val="100000"/>
              </a:lnSpc>
              <a:defRPr/>
            </a:pPr>
            <a:endParaRPr sz="3600">
              <a:latin typeface="Open Sans Light"/>
              <a:ea typeface="Open Sans Light"/>
              <a:cs typeface="Open Sans Light"/>
            </a:endParaRPr>
          </a:p>
          <a:p>
            <a:pPr marL="12700">
              <a:lnSpc>
                <a:spcPct val="100000"/>
              </a:lnSpc>
              <a:defRPr/>
            </a:pP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Важно заострить</a:t>
            </a:r>
            <a:r>
              <a:rPr sz="3600" b="1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внимание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:</a:t>
            </a:r>
            <a:endParaRPr lang="ru-RU" sz="3600" b="1">
              <a:solidFill>
                <a:srgbClr val="525252"/>
              </a:solidFill>
              <a:latin typeface="Open Sans Light"/>
              <a:ea typeface="Open Sans Light"/>
              <a:cs typeface="Open Sans Light"/>
            </a:endParaRPr>
          </a:p>
          <a:p>
            <a:pPr marL="755015" indent="-74295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Травматический</a:t>
            </a:r>
            <a:r>
              <a:rPr sz="3600" spc="2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шок;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755015" indent="-74295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Понятия «кровотечение» и «острая</a:t>
            </a:r>
            <a:r>
              <a:rPr sz="3600" spc="3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кровопотеря»;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755015" indent="-74295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Признаки </a:t>
            </a: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различных видов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наружного</a:t>
            </a:r>
            <a:r>
              <a:rPr sz="3600" spc="16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кровотечения;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755015" indent="-74295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Пережатие</a:t>
            </a:r>
            <a:r>
              <a:rPr sz="3600" spc="1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артерий;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755015" indent="-74295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Эффективность разных</a:t>
            </a:r>
            <a:r>
              <a:rPr sz="3600" spc="2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жгутов;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755015" indent="-74295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Правильность наложения</a:t>
            </a:r>
            <a:r>
              <a:rPr sz="3600" spc="5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повязок.</a:t>
            </a:r>
            <a:endParaRPr sz="3600"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13" name="object 8"/>
          <p:cNvSpPr>
            <a:spLocks noChangeAspect="1"/>
          </p:cNvSpPr>
          <p:nvPr/>
        </p:nvSpPr>
        <p:spPr bwMode="auto">
          <a:xfrm>
            <a:off x="2054900" y="9070848"/>
            <a:ext cx="5764086" cy="4081389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5" name="object 9"/>
          <p:cNvSpPr>
            <a:spLocks noChangeAspect="1"/>
          </p:cNvSpPr>
          <p:nvPr/>
        </p:nvSpPr>
        <p:spPr bwMode="auto">
          <a:xfrm>
            <a:off x="2054900" y="3196630"/>
            <a:ext cx="6505614" cy="5874218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2054901" y="4803727"/>
            <a:ext cx="9563100" cy="6372129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ПЕРВАЯ ПОМОЩЬ ПРИ РАСТЯЖЕНИЯХ, 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ВЫВИХАХ,</a:t>
            </a:r>
            <a:r>
              <a:rPr sz="3600" b="1" spc="7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ПЕРЕЛОМАХ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>
              <a:lnSpc>
                <a:spcPct val="100000"/>
              </a:lnSpc>
              <a:defRPr/>
            </a:pPr>
            <a:endParaRPr sz="3600">
              <a:latin typeface="Open Sans Light"/>
              <a:ea typeface="Open Sans Light"/>
              <a:cs typeface="Open Sans Light"/>
            </a:endParaRPr>
          </a:p>
          <a:p>
            <a:pPr marL="12700">
              <a:lnSpc>
                <a:spcPct val="100000"/>
              </a:lnSpc>
              <a:defRPr/>
            </a:pP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Важно заострить</a:t>
            </a:r>
            <a:r>
              <a:rPr sz="3600" b="1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внимание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:</a:t>
            </a:r>
            <a:endParaRPr lang="ru-RU" sz="3600" b="1">
              <a:solidFill>
                <a:srgbClr val="525252"/>
              </a:solidFill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Травматический</a:t>
            </a:r>
            <a:r>
              <a:rPr sz="3600" spc="2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шок;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marR="292735" indent="-571500">
              <a:lnSpc>
                <a:spcPct val="110400"/>
              </a:lnSpc>
              <a:spcBef>
                <a:spcPts val="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Если мы </a:t>
            </a:r>
            <a:r>
              <a:rPr sz="3600" spc="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не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можем определить, что случилось, то предполагаем  перелом;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Обеспечить</a:t>
            </a:r>
            <a:r>
              <a:rPr sz="3600" spc="2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неподвижность;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Когда от </a:t>
            </a: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шины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больше </a:t>
            </a: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вреда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чем</a:t>
            </a:r>
            <a:r>
              <a:rPr sz="3600" spc="8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пользы;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 spc="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Перелом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костей</a:t>
            </a:r>
            <a:r>
              <a:rPr sz="3600" spc="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таза</a:t>
            </a:r>
            <a:r>
              <a:rPr lang="ru-RU"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.</a:t>
            </a:r>
            <a:endParaRPr sz="3600"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10" name="object 8"/>
          <p:cNvSpPr>
            <a:spLocks noChangeAspect="1"/>
          </p:cNvSpPr>
          <p:nvPr/>
        </p:nvSpPr>
        <p:spPr bwMode="auto">
          <a:xfrm>
            <a:off x="12988902" y="3561860"/>
            <a:ext cx="7066000" cy="3556004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4" name="object 9"/>
          <p:cNvSpPr>
            <a:spLocks noChangeAspect="1"/>
          </p:cNvSpPr>
          <p:nvPr/>
        </p:nvSpPr>
        <p:spPr bwMode="auto">
          <a:xfrm>
            <a:off x="13439066" y="7989792"/>
            <a:ext cx="6615835" cy="4848424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object 7"/>
          <p:cNvSpPr txBox="1"/>
          <p:nvPr/>
        </p:nvSpPr>
        <p:spPr bwMode="auto">
          <a:xfrm>
            <a:off x="2054901" y="3449164"/>
            <a:ext cx="9279467" cy="4599336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ПЕРВАЯ ПОМОЩЬ ПРИ РАНЕНИЯХ ГРУДИ И</a:t>
            </a:r>
            <a:r>
              <a:rPr sz="3600" b="1" spc="3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ЖИВОТА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>
              <a:lnSpc>
                <a:spcPct val="100000"/>
              </a:lnSpc>
              <a:defRPr/>
            </a:pPr>
            <a:endParaRPr sz="3600">
              <a:latin typeface="Open Sans Light"/>
              <a:ea typeface="Open Sans Light"/>
              <a:cs typeface="Open Sans Light"/>
            </a:endParaRPr>
          </a:p>
          <a:p>
            <a:pPr marL="12700">
              <a:lnSpc>
                <a:spcPct val="100000"/>
              </a:lnSpc>
              <a:defRPr/>
            </a:pP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Важно заострить</a:t>
            </a:r>
            <a:r>
              <a:rPr sz="3600" b="1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внимание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:</a:t>
            </a:r>
            <a:endParaRPr lang="ru-RU" sz="3600" b="1">
              <a:solidFill>
                <a:srgbClr val="525252"/>
              </a:solidFill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Нельзя</a:t>
            </a: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вытаскивать</a:t>
            </a:r>
            <a:r>
              <a:rPr sz="3600" spc="3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предметы;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Пневмоторакс,</a:t>
            </a:r>
            <a:r>
              <a:rPr sz="3600" spc="2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гемоторакс;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Выпавшие</a:t>
            </a:r>
            <a:r>
              <a:rPr sz="3600" spc="2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органы;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Положения </a:t>
            </a: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для</a:t>
            </a:r>
            <a:r>
              <a:rPr sz="3600" spc="1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транспортировки.</a:t>
            </a:r>
            <a:endParaRPr sz="3600"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13" name="object 8"/>
          <p:cNvSpPr>
            <a:spLocks noChangeAspect="1"/>
          </p:cNvSpPr>
          <p:nvPr/>
        </p:nvSpPr>
        <p:spPr bwMode="auto">
          <a:xfrm>
            <a:off x="5707726" y="8779419"/>
            <a:ext cx="11253284" cy="4076225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5" name="object 9"/>
          <p:cNvSpPr>
            <a:spLocks noChangeAspect="1"/>
          </p:cNvSpPr>
          <p:nvPr/>
        </p:nvSpPr>
        <p:spPr bwMode="auto">
          <a:xfrm>
            <a:off x="11694201" y="3272085"/>
            <a:ext cx="8613099" cy="4953493"/>
          </a:xfrm>
          <a:prstGeom prst="rect">
            <a:avLst/>
          </a:prstGeom>
          <a:blipFill>
            <a:blip r:embed="rId4"/>
            <a:srcRect l="0" t="0" r="0" b="9620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2054901" y="5469057"/>
            <a:ext cx="10949899" cy="4599336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ПЕРВАЯ ПОМОЩЬ ПРИ 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ТРАВМАХ</a:t>
            </a:r>
            <a:r>
              <a:rPr sz="3600" b="1" spc="8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ГЛАЗ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>
              <a:lnSpc>
                <a:spcPct val="100000"/>
              </a:lnSpc>
              <a:defRPr/>
            </a:pPr>
            <a:endParaRPr sz="3600">
              <a:latin typeface="Open Sans Light"/>
              <a:ea typeface="Open Sans Light"/>
              <a:cs typeface="Open Sans Light"/>
            </a:endParaRPr>
          </a:p>
          <a:p>
            <a:pPr marL="12700">
              <a:lnSpc>
                <a:spcPct val="100000"/>
              </a:lnSpc>
              <a:defRPr/>
            </a:pP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Важно заострить</a:t>
            </a:r>
            <a:r>
              <a:rPr sz="3600" b="1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внимание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: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Способы промывания</a:t>
            </a:r>
            <a:r>
              <a:rPr sz="3600" spc="1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глаза;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Нельзя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тереть</a:t>
            </a:r>
            <a:r>
              <a:rPr sz="3600" spc="4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глаз;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Нельзя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лезть в глаз предметами (пинцетом, тампоном</a:t>
            </a:r>
            <a:r>
              <a:rPr sz="3600" spc="15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итд);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Повязку на </a:t>
            </a: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оба</a:t>
            </a:r>
            <a:r>
              <a:rPr sz="3600" spc="2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глаза.</a:t>
            </a:r>
            <a:endParaRPr sz="3600"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10" name="object 8"/>
          <p:cNvSpPr>
            <a:spLocks noChangeAspect="1"/>
          </p:cNvSpPr>
          <p:nvPr/>
        </p:nvSpPr>
        <p:spPr bwMode="auto">
          <a:xfrm>
            <a:off x="14530101" y="3288586"/>
            <a:ext cx="5524800" cy="4480139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4" name="object 9"/>
          <p:cNvSpPr>
            <a:spLocks noChangeAspect="1"/>
          </p:cNvSpPr>
          <p:nvPr/>
        </p:nvSpPr>
        <p:spPr bwMode="auto">
          <a:xfrm>
            <a:off x="14530102" y="8212838"/>
            <a:ext cx="5524799" cy="4826108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object 7"/>
          <p:cNvSpPr txBox="1"/>
          <p:nvPr/>
        </p:nvSpPr>
        <p:spPr bwMode="auto">
          <a:xfrm>
            <a:off x="11054901" y="5406327"/>
            <a:ext cx="8248545" cy="4045338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ПЕРВАЯ ПОМОЩЬ ПРИ</a:t>
            </a:r>
            <a:r>
              <a:rPr sz="3600" b="1" spc="-1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ОЖОГАХ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>
              <a:lnSpc>
                <a:spcPct val="100000"/>
              </a:lnSpc>
              <a:defRPr/>
            </a:pPr>
            <a:endParaRPr sz="3600">
              <a:latin typeface="Open Sans Light"/>
              <a:ea typeface="Open Sans Light"/>
              <a:cs typeface="Open Sans Light"/>
            </a:endParaRPr>
          </a:p>
          <a:p>
            <a:pPr marL="12700">
              <a:lnSpc>
                <a:spcPct val="100000"/>
              </a:lnSpc>
              <a:defRPr/>
            </a:pP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Важно заострить</a:t>
            </a:r>
            <a:r>
              <a:rPr sz="3600" b="1" spc="4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внимание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:</a:t>
            </a:r>
            <a:endParaRPr lang="ru-RU" sz="3600" b="1">
              <a:solidFill>
                <a:srgbClr val="525252"/>
              </a:solidFill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Как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различать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степень</a:t>
            </a:r>
            <a:r>
              <a:rPr sz="3600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ожога;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Опасность</a:t>
            </a:r>
            <a:r>
              <a:rPr sz="3600" spc="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заражения;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Когда можно накладывать</a:t>
            </a:r>
            <a:r>
              <a:rPr sz="3600" spc="3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мази;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Как сбивать</a:t>
            </a:r>
            <a:r>
              <a:rPr sz="3600" spc="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пламя.</a:t>
            </a:r>
            <a:endParaRPr sz="3600"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13" name="object 8"/>
          <p:cNvSpPr/>
          <p:nvPr/>
        </p:nvSpPr>
        <p:spPr bwMode="auto">
          <a:xfrm>
            <a:off x="3748235" y="3034259"/>
            <a:ext cx="5531232" cy="10076408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object 7"/>
          <p:cNvSpPr txBox="1"/>
          <p:nvPr/>
        </p:nvSpPr>
        <p:spPr bwMode="auto">
          <a:xfrm>
            <a:off x="2054901" y="4232200"/>
            <a:ext cx="11220832" cy="5694508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ПЕРВАЯ ПОМОЩЬ ПРИ 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ПЕРЕОХЛАЖДЕНИИ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И</a:t>
            </a:r>
            <a:r>
              <a:rPr sz="3600" b="1" spc="9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ОБМОРОЖЕНИИ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>
              <a:defRPr/>
            </a:pPr>
            <a:endParaRPr sz="3600">
              <a:latin typeface="Open Sans Light"/>
              <a:ea typeface="Open Sans Light"/>
              <a:cs typeface="Open Sans Light"/>
            </a:endParaRPr>
          </a:p>
          <a:p>
            <a:pPr marL="12700">
              <a:defRPr/>
            </a:pP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Важно заострить</a:t>
            </a:r>
            <a:r>
              <a:rPr sz="3600" b="1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внимание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: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marR="5080" indent="-571500">
              <a:spcBef>
                <a:spcPts val="14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Самодиагностика и способы предотвращения получения холодовых  травм;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spcBef>
                <a:spcPts val="13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Гипотермия;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Как </a:t>
            </a: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организм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теряет</a:t>
            </a:r>
            <a:r>
              <a:rPr sz="3600" spc="3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тепло;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Запрет на употребление</a:t>
            </a:r>
            <a:r>
              <a:rPr sz="3600" spc="3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алкоголя;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Запрет на растирание обмороженных</a:t>
            </a:r>
            <a:r>
              <a:rPr sz="3600" spc="4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участков.</a:t>
            </a:r>
            <a:endParaRPr sz="3600"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9" name="object 8"/>
          <p:cNvSpPr/>
          <p:nvPr/>
        </p:nvSpPr>
        <p:spPr bwMode="auto">
          <a:xfrm>
            <a:off x="14240234" y="3692733"/>
            <a:ext cx="6051733" cy="6330533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object 8"/>
          <p:cNvSpPr>
            <a:spLocks noChangeAspect="1"/>
          </p:cNvSpPr>
          <p:nvPr/>
        </p:nvSpPr>
        <p:spPr bwMode="auto">
          <a:xfrm>
            <a:off x="2054901" y="3707064"/>
            <a:ext cx="7588325" cy="7510389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0" name="object 7"/>
          <p:cNvSpPr txBox="1"/>
          <p:nvPr/>
        </p:nvSpPr>
        <p:spPr bwMode="auto">
          <a:xfrm>
            <a:off x="10377042" y="4930475"/>
            <a:ext cx="9677859" cy="5063566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  <a:defRPr/>
            </a:pP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ПЕРВАЯ ПОМОЩЬ ПРИ</a:t>
            </a:r>
            <a:r>
              <a:rPr sz="3600" b="1" spc="5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ОТРАВЛЕНИЯХ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algn="just">
              <a:lnSpc>
                <a:spcPct val="100000"/>
              </a:lnSpc>
              <a:defRPr/>
            </a:pPr>
            <a:endParaRPr sz="3600">
              <a:latin typeface="Open Sans Light"/>
              <a:ea typeface="Open Sans Light"/>
              <a:cs typeface="Open Sans Light"/>
            </a:endParaRPr>
          </a:p>
          <a:p>
            <a:pPr marL="12700" algn="just">
              <a:lnSpc>
                <a:spcPct val="100000"/>
              </a:lnSpc>
              <a:defRPr/>
            </a:pP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Важно заострить</a:t>
            </a:r>
            <a:r>
              <a:rPr sz="3600" b="1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внимание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: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marR="5080" indent="-571500" algn="just">
              <a:spcBef>
                <a:spcPts val="14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Способы проникновения ядов в организм (проглотить, вдохнуть, впитать  через кожу,</a:t>
            </a:r>
            <a:r>
              <a:rPr sz="3600" spc="1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инъекция</a:t>
            </a: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);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 algn="just">
              <a:spcBef>
                <a:spcPts val="13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Способы оказания помощи в зависимости от</a:t>
            </a:r>
            <a:r>
              <a:rPr sz="3600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отравления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 algn="just"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Как самому избежать</a:t>
            </a:r>
            <a:r>
              <a:rPr sz="3600" spc="2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отравления.</a:t>
            </a:r>
            <a:endParaRPr sz="3600">
              <a:latin typeface="Open Sans Light"/>
              <a:ea typeface="Open Sans Light"/>
              <a:cs typeface="Open Sans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object 7"/>
          <p:cNvSpPr txBox="1"/>
          <p:nvPr/>
        </p:nvSpPr>
        <p:spPr bwMode="auto">
          <a:xfrm>
            <a:off x="9614338" y="3708880"/>
            <a:ext cx="10440562" cy="8038739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ПЕРВАЯ ПОМОЩЬ ПРИ 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УКУСАХ НАСЕКОМЫХ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И</a:t>
            </a:r>
            <a:r>
              <a:rPr sz="3600" b="1" spc="1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ЗМЕЙ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>
              <a:lnSpc>
                <a:spcPct val="100000"/>
              </a:lnSpc>
              <a:defRPr/>
            </a:pPr>
            <a:endParaRPr sz="3600">
              <a:latin typeface="Open Sans Light"/>
              <a:ea typeface="Open Sans Light"/>
              <a:cs typeface="Open Sans Light"/>
            </a:endParaRPr>
          </a:p>
          <a:p>
            <a:pPr marL="12700">
              <a:lnSpc>
                <a:spcPct val="100000"/>
              </a:lnSpc>
              <a:defRPr/>
            </a:pP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Важно заострить</a:t>
            </a:r>
            <a:r>
              <a:rPr sz="3600" b="1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внимание: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Профилактика (выбор</a:t>
            </a:r>
            <a:r>
              <a:rPr sz="3600" spc="3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одежды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)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Признаки ядовитого</a:t>
            </a:r>
            <a:r>
              <a:rPr sz="3600" spc="3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укуса;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Не используйте</a:t>
            </a:r>
            <a:r>
              <a:rPr sz="3600" spc="1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жгут;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Не режьте рану и не пытайтесь удалить</a:t>
            </a:r>
            <a:r>
              <a:rPr sz="3600" spc="6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яд;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Не пейте </a:t>
            </a:r>
            <a:r>
              <a:rPr sz="3600" spc="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кофеин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или алкоголь. Это только ускорит всасывание</a:t>
            </a:r>
            <a:r>
              <a:rPr sz="3600" spc="12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яда;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Не ловите</a:t>
            </a:r>
            <a:r>
              <a:rPr sz="3600" spc="1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змею</a:t>
            </a:r>
            <a:r>
              <a:rPr sz="3600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.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Аллергия;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90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Перенос болезней через</a:t>
            </a:r>
            <a:r>
              <a:rPr sz="3600" spc="3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укусы;</a:t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 marL="583565" indent="-571500">
              <a:lnSpc>
                <a:spcPct val="100000"/>
              </a:lnSpc>
              <a:spcBef>
                <a:spcPts val="285"/>
              </a:spcBef>
              <a:buFont typeface="Wingdings"/>
              <a:buChar char="q"/>
              <a:tabLst>
                <a:tab pos="389255" algn="l"/>
                <a:tab pos="389890" algn="l"/>
              </a:tabLst>
              <a:defRPr/>
            </a:pP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Способ удаления</a:t>
            </a:r>
            <a:r>
              <a:rPr sz="3600" spc="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sz="360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клеща.</a:t>
            </a:r>
            <a:endParaRPr sz="3600"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9" name="object 8"/>
          <p:cNvSpPr>
            <a:spLocks noChangeAspect="1"/>
          </p:cNvSpPr>
          <p:nvPr/>
        </p:nvSpPr>
        <p:spPr bwMode="auto">
          <a:xfrm>
            <a:off x="2054901" y="3657093"/>
            <a:ext cx="6623265" cy="3542907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3" name="object 9"/>
          <p:cNvSpPr>
            <a:spLocks noChangeAspect="1"/>
          </p:cNvSpPr>
          <p:nvPr/>
        </p:nvSpPr>
        <p:spPr bwMode="auto">
          <a:xfrm>
            <a:off x="3176650" y="7661750"/>
            <a:ext cx="4379766" cy="4683638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object 7"/>
          <p:cNvSpPr txBox="1"/>
          <p:nvPr/>
        </p:nvSpPr>
        <p:spPr bwMode="auto">
          <a:xfrm>
            <a:off x="2054901" y="3734234"/>
            <a:ext cx="20195499" cy="8278292"/>
          </a:xfrm>
          <a:prstGeom prst="rect">
            <a:avLst/>
          </a:prstGeom>
        </p:spPr>
        <p:txBody>
          <a:bodyPr vert="horz" wrap="square" lIns="36000" tIns="12700" rIns="36000" bIns="36000" rtlCol="0">
            <a:spAutoFit/>
          </a:bodyPr>
          <a:lstStyle>
            <a:lvl1pPr marL="0" marR="0" indent="0" algn="l" defTabSz="1828343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1" algn="l" defTabSz="1828343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3" algn="l" defTabSz="1828343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3" algn="l" defTabSz="1828343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3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3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3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69" marR="0" indent="-365668" algn="l" defTabSz="1828343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39" marR="0" indent="-365668" algn="l" defTabSz="1828343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R="5080">
              <a:lnSpc>
                <a:spcPct val="110400"/>
              </a:lnSpc>
              <a:spcBef>
                <a:spcPts val="100"/>
              </a:spcBef>
              <a:defRPr/>
            </a:pPr>
            <a:r>
              <a:rPr lang="ru-RU" sz="3600" b="1" spc="-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Ситуации, которые </a:t>
            </a:r>
            <a:r>
              <a:rPr lang="ru-RU" sz="3600" b="1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рекомендуется дополнительно </a:t>
            </a:r>
            <a:r>
              <a:rPr lang="ru-RU" sz="3600" b="1" spc="-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включать </a:t>
            </a:r>
            <a:r>
              <a:rPr lang="ru-RU" sz="3600" b="1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в </a:t>
            </a:r>
            <a:r>
              <a:rPr lang="ru-RU" sz="3600" b="1" spc="-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курс подготовки работников </a:t>
            </a:r>
            <a:r>
              <a:rPr lang="ru-RU" sz="3600" b="1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по первой  помощи:</a:t>
            </a:r>
            <a:endParaRPr/>
          </a:p>
          <a:p>
            <a:pPr indent="-457200">
              <a:lnSpc>
                <a:spcPct val="150000"/>
              </a:lnSpc>
              <a:buFont typeface="Wingdings"/>
              <a:buChar char="q"/>
              <a:tabLst>
                <a:tab pos="1220470" algn="l"/>
                <a:tab pos="1221105" algn="l"/>
              </a:tabLst>
              <a:defRPr/>
            </a:pPr>
            <a:r>
              <a:rPr lang="ru-RU"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Электротравма;</a:t>
            </a:r>
            <a:endParaRPr/>
          </a:p>
          <a:p>
            <a:pPr indent="-457200">
              <a:lnSpc>
                <a:spcPct val="150000"/>
              </a:lnSpc>
              <a:spcBef>
                <a:spcPts val="290"/>
              </a:spcBef>
              <a:buFont typeface="Wingdings"/>
              <a:buChar char="q"/>
              <a:tabLst>
                <a:tab pos="1220470" algn="l"/>
                <a:tab pos="1221105" algn="l"/>
              </a:tabLst>
              <a:defRPr/>
            </a:pPr>
            <a:r>
              <a:rPr lang="ru-RU"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Утопление;</a:t>
            </a:r>
            <a:endParaRPr/>
          </a:p>
          <a:p>
            <a:pPr indent="-457200">
              <a:lnSpc>
                <a:spcPct val="150000"/>
              </a:lnSpc>
              <a:spcBef>
                <a:spcPts val="285"/>
              </a:spcBef>
              <a:buFont typeface="Wingdings"/>
              <a:buChar char="q"/>
              <a:tabLst>
                <a:tab pos="1220470" algn="l"/>
                <a:tab pos="1221105" algn="l"/>
              </a:tabLst>
              <a:defRPr/>
            </a:pPr>
            <a:r>
              <a:rPr lang="ru-RU"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Бледное</a:t>
            </a:r>
            <a:r>
              <a:rPr lang="ru-RU" sz="3600" spc="1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lang="ru-RU" sz="3600" spc="-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утопление;</a:t>
            </a:r>
            <a:endParaRPr/>
          </a:p>
          <a:p>
            <a:pPr indent="-457200">
              <a:lnSpc>
                <a:spcPct val="150000"/>
              </a:lnSpc>
              <a:spcBef>
                <a:spcPts val="290"/>
              </a:spcBef>
              <a:buFont typeface="Wingdings"/>
              <a:buChar char="q"/>
              <a:tabLst>
                <a:tab pos="1220470" algn="l"/>
                <a:tab pos="1221105" algn="l"/>
              </a:tabLst>
              <a:defRPr/>
            </a:pPr>
            <a:r>
              <a:rPr lang="ru-RU" sz="3600" spc="-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Длительное </a:t>
            </a:r>
            <a:r>
              <a:rPr lang="ru-RU"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сдавливание</a:t>
            </a:r>
            <a:r>
              <a:rPr lang="ru-RU" sz="3600" spc="7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lang="ru-RU"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конечностей.</a:t>
            </a:r>
            <a:endParaRPr/>
          </a:p>
          <a:p>
            <a:pPr indent="-457200">
              <a:lnSpc>
                <a:spcPct val="150000"/>
              </a:lnSpc>
              <a:spcBef>
                <a:spcPts val="290"/>
              </a:spcBef>
              <a:buFont typeface="Wingdings"/>
              <a:buChar char="q"/>
              <a:tabLst>
                <a:tab pos="1220470" algn="l"/>
                <a:tab pos="1221105" algn="l"/>
              </a:tabLst>
              <a:defRPr/>
            </a:pPr>
            <a:r>
              <a:rPr lang="ru-RU" sz="3600" spc="-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Умение </a:t>
            </a:r>
            <a:r>
              <a:rPr lang="ru-RU"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диагностировать инсульт и сердечный</a:t>
            </a:r>
            <a:r>
              <a:rPr lang="ru-RU" sz="3600" spc="6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lang="ru-RU"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приступ</a:t>
            </a:r>
            <a:endParaRPr/>
          </a:p>
          <a:p>
            <a:pPr indent="-457200">
              <a:lnSpc>
                <a:spcPct val="150000"/>
              </a:lnSpc>
              <a:spcBef>
                <a:spcPts val="290"/>
              </a:spcBef>
              <a:buFont typeface="Wingdings"/>
              <a:buChar char="q"/>
              <a:tabLst>
                <a:tab pos="1220470" algn="l"/>
                <a:tab pos="1221105" algn="l"/>
              </a:tabLst>
              <a:defRPr/>
            </a:pPr>
            <a:r>
              <a:rPr lang="ru-RU"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Знать применение предметов, </a:t>
            </a:r>
            <a:r>
              <a:rPr lang="ru-RU" sz="3600" spc="-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входящих </a:t>
            </a:r>
            <a:r>
              <a:rPr lang="ru-RU"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в состав </a:t>
            </a:r>
            <a:r>
              <a:rPr lang="ru-RU" sz="3600" spc="-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аптечки </a:t>
            </a:r>
            <a:r>
              <a:rPr lang="ru-RU"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по первой</a:t>
            </a:r>
            <a:r>
              <a:rPr lang="ru-RU" sz="3600" spc="9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lang="ru-RU"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помощи.</a:t>
            </a:r>
            <a:endParaRPr/>
          </a:p>
          <a:p>
            <a:pPr indent="-457200">
              <a:lnSpc>
                <a:spcPct val="150000"/>
              </a:lnSpc>
              <a:spcBef>
                <a:spcPts val="290"/>
              </a:spcBef>
              <a:buFont typeface="Wingdings"/>
              <a:buChar char="q"/>
              <a:tabLst>
                <a:tab pos="1220470" algn="l"/>
                <a:tab pos="1221105" algn="l"/>
              </a:tabLst>
              <a:defRPr/>
            </a:pPr>
            <a:r>
              <a:rPr lang="ru-RU"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Знать применение предметов, не </a:t>
            </a:r>
            <a:r>
              <a:rPr lang="ru-RU" sz="3600" spc="-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входящих </a:t>
            </a:r>
            <a:r>
              <a:rPr lang="ru-RU"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в состав </a:t>
            </a:r>
            <a:r>
              <a:rPr lang="ru-RU" sz="3600" spc="-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аптечки, </a:t>
            </a:r>
            <a:r>
              <a:rPr lang="ru-RU"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но использующихся при оказании первой</a:t>
            </a:r>
            <a:r>
              <a:rPr lang="ru-RU" sz="3600" spc="21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lang="ru-RU" sz="3600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помощи.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7" name="Rectangle 10"/>
          <p:cNvSpPr/>
          <p:nvPr/>
        </p:nvSpPr>
        <p:spPr bwMode="auto">
          <a:xfrm>
            <a:off x="0" y="0"/>
            <a:ext cx="7435515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8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10078695" y="5351780"/>
            <a:ext cx="11649423" cy="3012439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rPr>
              <a:t>БЛАГОДАРИМ ЗА ВНИМАНИЕ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r7-office/2025.4.1.1604</Application>
  <DocSecurity>0</DocSecurity>
  <PresentationFormat>Произвольный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dc:identifier/>
  <dc:language/>
  <cp:lastModifiedBy>Лукина Марина</cp:lastModifiedBy>
  <cp:revision>9</cp:revision>
  <dcterms:modified xsi:type="dcterms:W3CDTF">2026-08-19T09:35:45Z</dcterms:modified>
  <cp:category/>
  <cp:contentStatus/>
  <cp:version/>
</cp:coreProperties>
</file>