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00000" y="0"/>
            <a:ext cx="3400000" cy="6858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800000"/>
            <a:ext cx="2800000" cy="1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3000000"/>
            <a:ext cx="78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КРОВОТЕЧЕНИЕ.
ОБЗОРНЫЙ ОСМОТР ПОСТРАДАВШЕГО
(ПОСТРАДАВШИХ)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4600000"/>
            <a:ext cx="5500000" cy="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4800000"/>
            <a:ext cx="75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11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80000"/>
            <a:ext cx="9000000" cy="2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5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700000" y="1600000"/>
            <a:ext cx="550000" cy="5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160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50000" y="1600000"/>
            <a:ext cx="100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Понятие «кровотечение» и признаки кровопотери</a:t>
            </a:r>
          </a:p>
        </p:txBody>
      </p:sp>
      <p:sp>
        <p:nvSpPr>
          <p:cNvPr id="11" name="Oval 10"/>
          <p:cNvSpPr/>
          <p:nvPr/>
        </p:nvSpPr>
        <p:spPr>
          <a:xfrm>
            <a:off x="700000" y="2500000"/>
            <a:ext cx="550000" cy="5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0000" y="250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50000" y="2500000"/>
            <a:ext cx="100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Виды наружного кровотечения</a:t>
            </a:r>
          </a:p>
        </p:txBody>
      </p:sp>
      <p:sp>
        <p:nvSpPr>
          <p:cNvPr id="14" name="Oval 13"/>
          <p:cNvSpPr/>
          <p:nvPr/>
        </p:nvSpPr>
        <p:spPr>
          <a:xfrm>
            <a:off x="700000" y="3400000"/>
            <a:ext cx="550000" cy="5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0000" y="340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0000" y="3400000"/>
            <a:ext cx="100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Цель и признаки для обзорного осмотра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4300000"/>
            <a:ext cx="550000" cy="5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0000" y="430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0000" y="4300000"/>
            <a:ext cx="100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Как проводится обзорный осмотр</a:t>
            </a:r>
          </a:p>
        </p:txBody>
      </p:sp>
      <p:sp>
        <p:nvSpPr>
          <p:cNvPr id="20" name="Oval 19"/>
          <p:cNvSpPr/>
          <p:nvPr/>
        </p:nvSpPr>
        <p:spPr>
          <a:xfrm>
            <a:off x="700000" y="5200000"/>
            <a:ext cx="550000" cy="55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000" y="5200000"/>
            <a:ext cx="55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50000" y="5200000"/>
            <a:ext cx="10000000" cy="5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Действия при обнаружении кровотечения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11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ПОНЯТИЕ «КРОВОТЕЧЕНИЕ»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80000"/>
            <a:ext cx="9000000" cy="2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5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pic>
        <p:nvPicPr>
          <p:cNvPr id="8" name="Picture 7" descr="def_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000" y="1500000"/>
            <a:ext cx="2496000" cy="520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400000" y="1700000"/>
            <a:ext cx="4200000" cy="26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0000" y="1900000"/>
            <a:ext cx="3700000" cy="2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 </a:t>
            </a:r>
            <a:r>
              <a:rPr sz="1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кровотечением понимают</a:t>
            </a: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 ситуацию, когда кровь по разным причинам (чаще всего в результате травмы) покидает сосудистое русло, что приводит к кровопотере — безвозвратной утрате части крови.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0000" y="1600000"/>
            <a:ext cx="48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Основные признаки острой кровопотери: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0000" y="2150000"/>
            <a:ext cx="48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резкая общая слабость;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чувство жажды;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головокружение;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мелькание «мушек» перед глазами;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обморок (чаще при попытке встать);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бледная, влажная и холодная кожа;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учащённое сердцебиение;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частое дыхание.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11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ОСТРАЯ МАССИВНАЯ КРОВОПОТЕРЯ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80000"/>
            <a:ext cx="9000000" cy="2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5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000" y="1600000"/>
            <a:ext cx="11000000" cy="16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000" y="1800000"/>
            <a:ext cx="105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Наиболее опасным является интенсивное кровотечение, приводящее к быстрой потере большого количества крови, — острая массивная кровопотеря.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000" y="3600000"/>
            <a:ext cx="11000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повреждении крупных сосудов без остановки кровотечения гибель может наступить в течение нескольких минут.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Признаки кровопотери возможны и при уже остановленном кровотечении, и при отсутствии видимой крови (внутреннее кровотечение).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Кровотечения слабой и средней интенсивности тоже нужно останавливать — чтобы не допустить поздних осложнений.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11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ВИДЫ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80000"/>
            <a:ext cx="9000000" cy="2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5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450000"/>
            <a:ext cx="11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Наружное кровотечение: кровь изливается наружу при повреждении кожи и слизистых.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2050000"/>
            <a:ext cx="3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Артериальное</a:t>
            </a:r>
          </a:p>
        </p:txBody>
      </p:sp>
      <p:pic>
        <p:nvPicPr>
          <p:cNvPr id="10" name="Picture 9" descr="bleed_arte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361" y="2550000"/>
            <a:ext cx="2203278" cy="28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0000" y="5500000"/>
            <a:ext cx="36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Пульсирующая алая струя; быстро растекающаяся лужа; одежда быстро пропитывается кровью. Наиболее опасно.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0000" y="2050000"/>
            <a:ext cx="3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Венозное</a:t>
            </a:r>
          </a:p>
        </p:txBody>
      </p:sp>
      <p:pic>
        <p:nvPicPr>
          <p:cNvPr id="13" name="Picture 12" descr="bleed_veno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8361" y="2550000"/>
            <a:ext cx="2203278" cy="28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00000" y="5500000"/>
            <a:ext cx="36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Кровь тёмно-вишнёвая, вытекает «ручьём». Скорость кровопотери меньше, но остановка обязательна.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0000" y="2050000"/>
            <a:ext cx="3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Капиллярное</a:t>
            </a:r>
          </a:p>
        </p:txBody>
      </p:sp>
      <p:pic>
        <p:nvPicPr>
          <p:cNvPr id="16" name="Picture 15" descr="bleed_capill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6557" y="2550000"/>
            <a:ext cx="2386885" cy="280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500000" y="5500000"/>
            <a:ext cx="3600000" cy="1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Ссадины, порезы, царапины. Как правило, непосредственной угрозы жизни не представляет.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11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ОРИЕНТИР — ИНТЕНСИВНОСТЬ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80000"/>
            <a:ext cx="9000000" cy="2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5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600000"/>
            <a:ext cx="110000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Смешанные кровотечения (артериальное + венозное + капиллярное) часто бывают при отрыве конечности и опасны из‑за артериального компонента.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оказании первой помощи вид кровотечения определить сложно.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Ориентируйтесь на интенсивность и останавливайте кровотечение любым доступным способом или их комбинацией.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0000" y="4800000"/>
            <a:ext cx="11000000" cy="14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000" y="4800000"/>
            <a:ext cx="100000" cy="1400000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0000" y="5050000"/>
            <a:ext cx="104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ED1C24"/>
                </a:solidFill>
                <a:latin typeface="Open Sans"/>
                <a:ea typeface="Open Sans"/>
                <a:cs typeface="Open Sans"/>
              </a:rPr>
              <a:t>Приоритет: угрожающее жизни кровотечение останавливают немедленно.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11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ЦЕЛЬ ОБЗОРНОГО ОСМОТРА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80000"/>
            <a:ext cx="9000000" cy="2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5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" y="1600000"/>
            <a:ext cx="110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осмотр пострадавшего (пострадавших) проводится прежде всего для определения наличия и расположения ранений с интенсивным наружным кровотечением, требующим немедленной остановки.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" y="3100000"/>
            <a:ext cx="11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интенсивного наружного кровотечения: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000" y="3650000"/>
            <a:ext cx="11000000" cy="2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одежда, пропитанная кровью;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скопление значительного количества крови на земле возле пострадавшего;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видимые раны с интенсивно вытекающей из них кровью.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11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ОСМОТР ПОСТРАДАВШЕГО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80000"/>
            <a:ext cx="9000000" cy="2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5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8</a:t>
            </a:r>
          </a:p>
        </p:txBody>
      </p:sp>
      <p:pic>
        <p:nvPicPr>
          <p:cNvPr id="8" name="Picture 7" descr="overview_ex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1533333"/>
            <a:ext cx="6000000" cy="51333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00000" y="2400000"/>
            <a:ext cx="5800000" cy="2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осмотр</a:t>
            </a:r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 производится очень быстро, в течение </a:t>
            </a:r>
            <a:r>
              <a:rPr sz="2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нескольких секунд</a:t>
            </a:r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, с головы до ног.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00000" y="4800000"/>
            <a:ext cx="5800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Сразу после обнаружения признаков угрожающего жизни кровотечения приступают к его остановке всеми доступными способами.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11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ДЕЙСТВИЯ ПРИ ОБНАРУЖЕНИИ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80000"/>
            <a:ext cx="9000000" cy="2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5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9</a:t>
            </a:r>
          </a:p>
        </p:txBody>
      </p:sp>
      <p:sp>
        <p:nvSpPr>
          <p:cNvPr id="8" name="Oval 7"/>
          <p:cNvSpPr/>
          <p:nvPr/>
        </p:nvSpPr>
        <p:spPr>
          <a:xfrm>
            <a:off x="700000" y="1550000"/>
            <a:ext cx="500000" cy="500000"/>
          </a:xfrm>
          <a:prstGeom prst="ellipse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155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0000" y="1550000"/>
            <a:ext cx="100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Оценить обстановку и безопасность.</a:t>
            </a:r>
          </a:p>
        </p:txBody>
      </p:sp>
      <p:sp>
        <p:nvSpPr>
          <p:cNvPr id="11" name="Oval 10"/>
          <p:cNvSpPr/>
          <p:nvPr/>
        </p:nvSpPr>
        <p:spPr>
          <a:xfrm>
            <a:off x="700000" y="2300000"/>
            <a:ext cx="500000" cy="500000"/>
          </a:xfrm>
          <a:prstGeom prst="ellipse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0000" y="23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0000" y="2300000"/>
            <a:ext cx="100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Провести обзорный осмотр — найти интенсивное наружное кровотечение.</a:t>
            </a:r>
          </a:p>
        </p:txBody>
      </p:sp>
      <p:sp>
        <p:nvSpPr>
          <p:cNvPr id="14" name="Oval 13"/>
          <p:cNvSpPr/>
          <p:nvPr/>
        </p:nvSpPr>
        <p:spPr>
          <a:xfrm>
            <a:off x="700000" y="3050000"/>
            <a:ext cx="500000" cy="500000"/>
          </a:xfrm>
          <a:prstGeom prst="ellipse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0000" y="305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00000" y="3050000"/>
            <a:ext cx="100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Немедленно начать временную остановку кровотечения.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38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0000" y="38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0000" y="3800000"/>
            <a:ext cx="100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Прямое давление на рану → давящая повязка → жгут (по показаниям).</a:t>
            </a:r>
          </a:p>
        </p:txBody>
      </p:sp>
      <p:sp>
        <p:nvSpPr>
          <p:cNvPr id="20" name="Oval 19"/>
          <p:cNvSpPr/>
          <p:nvPr/>
        </p:nvSpPr>
        <p:spPr>
          <a:xfrm>
            <a:off x="700000" y="455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000" y="455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0000" y="4550000"/>
            <a:ext cx="100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Вызвать скорую медицинскую помощь (если ещё не вызвана).</a:t>
            </a:r>
          </a:p>
        </p:txBody>
      </p:sp>
      <p:sp>
        <p:nvSpPr>
          <p:cNvPr id="23" name="Oval 22"/>
          <p:cNvSpPr/>
          <p:nvPr/>
        </p:nvSpPr>
        <p:spPr>
          <a:xfrm>
            <a:off x="700000" y="5300000"/>
            <a:ext cx="500000" cy="500000"/>
          </a:xfrm>
          <a:prstGeom prst="ellips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0000" y="5300000"/>
            <a:ext cx="5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00000" y="5300000"/>
            <a:ext cx="100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Контролировать состояние пострадавшего до прибытия СМП.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11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И ПОДРОБНЫЙ ОСМОТР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80000"/>
            <a:ext cx="9000000" cy="2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5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1550000"/>
            <a:ext cx="5400000" cy="4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1550000"/>
            <a:ext cx="5400000" cy="70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000" y="1650000"/>
            <a:ext cx="5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Обзорный осмотр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000" y="2500000"/>
            <a:ext cx="49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Цель: найти наружное кровотечение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Время: несколько секунд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Объём: быстро с головы до ног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Когда: сразу после оценки обстановки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00000" y="1550000"/>
            <a:ext cx="5400000" cy="4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00000" y="1550000"/>
            <a:ext cx="5400000" cy="7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0000" y="1650000"/>
            <a:ext cx="50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0000" y="2500000"/>
            <a:ext cx="49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Цель: выявить травмы и другие угрозы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Время: несколько минут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Объём: голова → шея → грудь → … → руки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Когда: после остановки кровотечения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11000000" cy="5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880000"/>
            <a:ext cx="9000000" cy="2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950000"/>
            <a:ext cx="11000000" cy="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00000"/>
            <a:ext cx="420000" cy="420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800000"/>
            <a:ext cx="420000" cy="4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1600000"/>
            <a:ext cx="11000000" cy="1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1600000"/>
            <a:ext cx="90000" cy="1000000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1800000"/>
            <a:ext cx="104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Кровотечение — выход крови из сосудов с риском кровопотери.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2750000"/>
            <a:ext cx="11000000" cy="1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0000" y="2750000"/>
            <a:ext cx="90000" cy="1000000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2950000"/>
            <a:ext cx="104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осмотр — быстрый поиск интенсивного наружного кровотечения.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3900000"/>
            <a:ext cx="11000000" cy="1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0000" y="3900000"/>
            <a:ext cx="90000" cy="1000000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0000" y="4100000"/>
            <a:ext cx="104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Осмотр — за несколько секунд, с головы до ног.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0000" y="5050000"/>
            <a:ext cx="11000000" cy="10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0000" y="5050000"/>
            <a:ext cx="90000" cy="1000000"/>
          </a:xfrm>
          <a:prstGeom prst="rect">
            <a:avLst/>
          </a:prstGeom>
          <a:solidFill>
            <a:srgbClr val="ED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0000" y="5250000"/>
            <a:ext cx="104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Сначала останавливаем угрожающее жизни кровотечение, затем — подробный осмотр.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000" cy="6858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000" y="0"/>
            <a:ext cx="9000000" cy="68580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00000" y="3000000"/>
            <a:ext cx="7500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3800000" y="4100000"/>
            <a:ext cx="4500000" cy="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