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ot_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00000"/>
            <a:ext cx="12191695" cy="2000000"/>
          </a:xfrm>
          <a:prstGeom prst="rect">
            <a:avLst/>
          </a:prstGeom>
          <a:solidFill>
            <a:srgbClr val="415762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2900000"/>
            <a:ext cx="10500000" cy="1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КРОВОТЕЧЕНИЕ.
ОБЗОРНЫЙ ОСМОТР ПОСТРАДАВШЕГО
(ПОСТРАДАВШИХ)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СОДЕРЖАНИЕ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00000" y="155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0000" y="155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Понятие «кровотечение» и признаки кровопотери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00000" y="240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50000" y="240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Виды наружного кровотечения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00000" y="325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50000" y="325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Цель и признаки для обзорного осмотра</a:t>
            </a:r>
          </a:p>
        </p:txBody>
      </p:sp>
      <p:sp>
        <p:nvSpPr>
          <p:cNvPr id="21" name="Oval 20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00000" y="410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50000" y="410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Как проводится обзорный осмотр</a:t>
            </a:r>
          </a:p>
        </p:txBody>
      </p:sp>
      <p:sp>
        <p:nvSpPr>
          <p:cNvPr id="25" name="Oval 24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00000" y="4950000"/>
            <a:ext cx="10000000" cy="52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0000" y="4950000"/>
            <a:ext cx="95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Действия при обнаружении кровотечения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ПОНЯТИЕ «КРОВОТЕЧЕНИЕ»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300000"/>
            <a:ext cx="4200000" cy="555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uot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900000"/>
            <a:ext cx="2800000" cy="4200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000000" y="1800000"/>
            <a:ext cx="4000000" cy="2400000"/>
          </a:xfrm>
          <a:prstGeom prst="roundRect">
            <a:avLst/>
          </a:prstGeom>
          <a:solidFill>
            <a:srgbClr val="8DDBCD"/>
          </a:solidFill>
          <a:ln w="15875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000" y="1980000"/>
            <a:ext cx="3600000" cy="2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Под кровотечением понимают ситуацию, когда кровь покидает сосудистое русло, что приводит к кровопотере — безвозвратной утрате части крови.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0000" y="1600000"/>
            <a:ext cx="5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A090"/>
                </a:solidFill>
                <a:latin typeface="Calibri"/>
                <a:ea typeface="Calibri"/>
                <a:cs typeface="Calibri"/>
              </a:rPr>
              <a:t>Признаки острой кровопотери: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0000" y="2150000"/>
            <a:ext cx="5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резкая общая слабость;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чувство жажды;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головокружение;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мелькание «мушек» перед глазами;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обморок (чаще при попытке встать);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бледная, влажная и холодная кожа;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учащённое сердцебиение;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☐  частое дыхание.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ОСТРАЯ МАССИВНАЯ КРОВОПОТЕРЯ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550000"/>
            <a:ext cx="11000000" cy="1400000"/>
          </a:xfrm>
          <a:prstGeom prst="roundRect">
            <a:avLst/>
          </a:prstGeom>
          <a:solidFill>
            <a:srgbClr val="8DDBCD"/>
          </a:solidFill>
          <a:ln w="15875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730000"/>
            <a:ext cx="106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Наиболее опасно интенсивное кровотечение, приводящее к быстрой потере большого количества крови, — острая массивная кровопотеря.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3300000"/>
            <a:ext cx="11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При повреждении крупных сосудов без остановки гибель может наступить в течение нескольких минут.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Признаки кровопотери возможны и при остановленном кровотечении, и при отсутствии видимой крови.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Кровотечения слабой и средней интенсивности тоже нужно останавливать.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ВИДЫ НАРУЖНОГО КРОВОТЕЧЕНИЯ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500000"/>
            <a:ext cx="3600000" cy="50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0000" y="1650000"/>
            <a:ext cx="800000" cy="4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00" y="2150000"/>
            <a:ext cx="3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Артериальное</a:t>
            </a:r>
          </a:p>
        </p:txBody>
      </p:sp>
      <p:pic>
        <p:nvPicPr>
          <p:cNvPr id="12" name="Picture 11" descr="bleed_art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38" y="2700000"/>
            <a:ext cx="1888524" cy="24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000" y="5300000"/>
            <a:ext cx="33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Пульсирующая алая струя; быстро растекающаяся лужа; одежда быстро мокнет.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0000" y="1500000"/>
            <a:ext cx="3600000" cy="50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50000" y="1650000"/>
            <a:ext cx="800000" cy="4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0000" y="2150000"/>
            <a:ext cx="3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Венозное</a:t>
            </a:r>
          </a:p>
        </p:txBody>
      </p:sp>
      <p:pic>
        <p:nvPicPr>
          <p:cNvPr id="17" name="Picture 16" descr="bleed_veno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738" y="2700000"/>
            <a:ext cx="1888524" cy="240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00000" y="5300000"/>
            <a:ext cx="33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Кровь тёмно-вишнёвая, вытекает «ручьём». Остановка обязательна.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0000" y="1500000"/>
            <a:ext cx="3600000" cy="50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00000" y="1650000"/>
            <a:ext cx="800000" cy="4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0000" y="2150000"/>
            <a:ext cx="3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Капиллярное</a:t>
            </a:r>
          </a:p>
        </p:txBody>
      </p:sp>
      <p:pic>
        <p:nvPicPr>
          <p:cNvPr id="22" name="Picture 21" descr="bleed_capill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049" y="2700000"/>
            <a:ext cx="2045901" cy="240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50000" y="5300000"/>
            <a:ext cx="33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Ссадины, порезы, царапины. Обычно без угрозы жизни.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ОРИЕНТИР — ИНТЕНСИВНОСТЬ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1600000"/>
            <a:ext cx="11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Смешанные кровотечения часто бывают при отрыве конечности и опасны из‑за артериального компонента.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Вид кровотечения на месте определить сложно.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Ориентируйтесь на интенсивность и останавливайте любым доступным способом.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4500000"/>
            <a:ext cx="11000000" cy="1600000"/>
          </a:xfrm>
          <a:prstGeom prst="roundRect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4800000"/>
            <a:ext cx="104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Приоритет: угрожающее жизни кровотечение останавливают немедленно.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ЦЕЛЬ ОБЗОРНОГО ОСМОТРА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110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Обзорный осмотр пострадавшего (пострадавших) — чтобы найти ранения с интенсивным наружным кровотечением, требующим немедленной остановки.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2800000"/>
            <a:ext cx="11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A090"/>
                </a:solidFill>
                <a:latin typeface="Calibri"/>
                <a:ea typeface="Calibri"/>
                <a:cs typeface="Calibri"/>
              </a:rPr>
              <a:t>Признаки интенсивного наружного кровотечения: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3500000"/>
            <a:ext cx="3600000" cy="2200000"/>
          </a:xfrm>
          <a:prstGeom prst="roundRect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3900000"/>
            <a:ext cx="3200000" cy="1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одежда, пропитанная кровью;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0" y="3500000"/>
            <a:ext cx="3600000" cy="2200000"/>
          </a:xfrm>
          <a:prstGeom prst="roundRect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00" y="3900000"/>
            <a:ext cx="3200000" cy="1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скопление крови на земле возле пострадавшего;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0000" y="3500000"/>
            <a:ext cx="3600000" cy="2200000"/>
          </a:xfrm>
          <a:prstGeom prst="roundRect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0000" y="3900000"/>
            <a:ext cx="3200000" cy="1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видимые раны с интенсивно вытекающей кровью.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ОБЗОРНЫЙ ОСМОТР ПОСТРАДАВШЕГО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9" name="Picture 8" descr="overview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518889"/>
            <a:ext cx="5800000" cy="496222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00000" y="2200000"/>
            <a:ext cx="5600000" cy="2200000"/>
          </a:xfrm>
          <a:prstGeom prst="roundRect">
            <a:avLst/>
          </a:prstGeom>
          <a:solidFill>
            <a:srgbClr val="8DDBCD"/>
          </a:solidFill>
          <a:ln w="15875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0000" y="2380000"/>
            <a:ext cx="5200000" cy="18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Обзорный осмотр производится очень быстро, в течение нескольких секунд, с головы до ног.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000" y="4800000"/>
            <a:ext cx="56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Сразу после обнаружения признаков угрожающего жизни кровотечения приступают к его остановке всеми доступными способами.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ДЕЙСТВИЯ ПРИ ОБНАРУЖЕНИИ КРОВОТЕЧЕНИЯ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700000" y="1500000"/>
            <a:ext cx="480000" cy="48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1500000"/>
            <a:ext cx="48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50000" y="1500000"/>
            <a:ext cx="10000000" cy="4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0000" y="1500000"/>
            <a:ext cx="96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Оценить обстановку и безопасность.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2220000"/>
            <a:ext cx="480000" cy="48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000" y="2220000"/>
            <a:ext cx="48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50000" y="2220000"/>
            <a:ext cx="10000000" cy="4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0000" y="2220000"/>
            <a:ext cx="96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Провести обзорный осмотр — найти интенсивное кровотечение.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2940000"/>
            <a:ext cx="480000" cy="48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000" y="2940000"/>
            <a:ext cx="48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2940000"/>
            <a:ext cx="10000000" cy="4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0000" y="2940000"/>
            <a:ext cx="96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Немедленно начать временную остановку кровотечения.</a:t>
            </a:r>
          </a:p>
        </p:txBody>
      </p:sp>
      <p:sp>
        <p:nvSpPr>
          <p:cNvPr id="21" name="Oval 20"/>
          <p:cNvSpPr/>
          <p:nvPr/>
        </p:nvSpPr>
        <p:spPr>
          <a:xfrm>
            <a:off x="700000" y="3660000"/>
            <a:ext cx="480000" cy="48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00" y="3660000"/>
            <a:ext cx="48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0000" y="3660000"/>
            <a:ext cx="10000000" cy="4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0000" y="3660000"/>
            <a:ext cx="96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Давление на рану → давящая повязка → жгут (по показаниям).</a:t>
            </a:r>
          </a:p>
        </p:txBody>
      </p:sp>
      <p:sp>
        <p:nvSpPr>
          <p:cNvPr id="25" name="Oval 24"/>
          <p:cNvSpPr/>
          <p:nvPr/>
        </p:nvSpPr>
        <p:spPr>
          <a:xfrm>
            <a:off x="700000" y="4380000"/>
            <a:ext cx="480000" cy="48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000" y="4380000"/>
            <a:ext cx="48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50000" y="4380000"/>
            <a:ext cx="10000000" cy="4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0000" y="4380000"/>
            <a:ext cx="96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Вызвать скорую медицинскую помощь.</a:t>
            </a:r>
          </a:p>
        </p:txBody>
      </p:sp>
      <p:sp>
        <p:nvSpPr>
          <p:cNvPr id="29" name="Oval 28"/>
          <p:cNvSpPr/>
          <p:nvPr/>
        </p:nvSpPr>
        <p:spPr>
          <a:xfrm>
            <a:off x="700000" y="5100000"/>
            <a:ext cx="480000" cy="480000"/>
          </a:xfrm>
          <a:prstGeom prst="ellipse">
            <a:avLst/>
          </a:prstGeom>
          <a:solidFill>
            <a:srgbClr val="8DDBCD"/>
          </a:solidFill>
          <a:ln w="12700">
            <a:solidFill>
              <a:srgbClr val="1AA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0000" y="5100000"/>
            <a:ext cx="48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50000" y="5100000"/>
            <a:ext cx="10000000" cy="4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0000" y="5100000"/>
            <a:ext cx="96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Контролировать состояние до прибытия СМП.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ОБЗОРНЫЙ И ПОДРОБНЫЙ ОСМОТР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550000"/>
            <a:ext cx="5400000" cy="48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D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000" y="1550000"/>
            <a:ext cx="5400000" cy="700000"/>
          </a:xfrm>
          <a:prstGeom prst="rect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165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D6B60"/>
                </a:solidFill>
                <a:latin typeface="Calibri"/>
                <a:ea typeface="Calibri"/>
                <a:cs typeface="Calibri"/>
              </a:rPr>
              <a:t>Обзорный осмотр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000" y="2500000"/>
            <a:ext cx="4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Цель: найти наружное кровотечение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Время: несколько секунд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Объём: быстро с головы до ног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Когда: сразу после оценки обстановки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0000" y="1550000"/>
            <a:ext cx="5400000" cy="48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0000" y="1550000"/>
            <a:ext cx="5400000" cy="70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0000" y="165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Подробный осмотр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0000" y="2500000"/>
            <a:ext cx="4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Цель: выявить травмы и другие угрозы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Время: несколько минут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Объём: голова → шея → грудь → … → руки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Когда: после остановки кровотечения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00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ГЛАВНОЕ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820000"/>
            <a:ext cx="8500000" cy="2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880000"/>
            <a:ext cx="11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Оказание первой помощи при наружных кровотечениях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00000"/>
            <a:ext cx="400000" cy="4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700000"/>
            <a:ext cx="4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550000"/>
            <a:ext cx="11000000" cy="10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0000" y="1800000"/>
            <a:ext cx="500000" cy="5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750000"/>
            <a:ext cx="9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Кровотечение — выход крови из сосудов с риском кровопотери.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2700000"/>
            <a:ext cx="11000000" cy="10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0000" y="2950000"/>
            <a:ext cx="500000" cy="5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000" y="2900000"/>
            <a:ext cx="9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Обзорный осмотр — быстрый поиск интенсивного наружного кровотечения.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" y="3850000"/>
            <a:ext cx="11000000" cy="10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0000" y="4100000"/>
            <a:ext cx="500000" cy="5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000" y="4050000"/>
            <a:ext cx="9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Осмотр — за несколько секунд, с головы до ног.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5000000"/>
            <a:ext cx="11000000" cy="100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0000" y="5250000"/>
            <a:ext cx="500000" cy="500000"/>
          </a:xfrm>
          <a:prstGeom prst="ellipse">
            <a:avLst/>
          </a:prstGeom>
          <a:solidFill>
            <a:srgbClr val="8DD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000" y="5200000"/>
            <a:ext cx="9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Сначала останавливаем угрожающее жизни кровотечение, затем — подробный осмотр.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0" y="0"/>
            <a:ext cx="86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0000" y="3000000"/>
            <a:ext cx="72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БЛАГОДАРИМ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