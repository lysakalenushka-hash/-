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00000" y="0"/>
            <a:ext cx="3400000" cy="6858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800000"/>
            <a:ext cx="2800000" cy="180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3000000"/>
            <a:ext cx="78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ПОЛОЖЕНИЕ, КОНТРОЛЬ
И ПСИХОЛОГИЧЕСКАЯ ПОДДЕРЖКА</a:t>
            </a:r>
          </a:p>
        </p:txBody>
      </p:sp>
      <p:sp>
        <p:nvSpPr>
          <p:cNvPr id="6" name="Rectangle 5"/>
          <p:cNvSpPr/>
          <p:nvPr/>
        </p:nvSpPr>
        <p:spPr>
          <a:xfrm>
            <a:off x="700000" y="4700000"/>
            <a:ext cx="52000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4900000"/>
            <a:ext cx="75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Тема 4 · Травмы, ранения, поражения и прочие состояния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СОДЕРЖАНИЕ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700000" y="15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15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00000" y="15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000" y="15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Положение по виду травмы</a:t>
            </a:r>
          </a:p>
        </p:txBody>
      </p:sp>
      <p:sp>
        <p:nvSpPr>
          <p:cNvPr id="12" name="Oval 11"/>
          <p:cNvSpPr/>
          <p:nvPr/>
        </p:nvSpPr>
        <p:spPr>
          <a:xfrm>
            <a:off x="700000" y="240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000" y="240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240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000" y="240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Защита от холода</a:t>
            </a:r>
          </a:p>
        </p:txBody>
      </p:sp>
      <p:sp>
        <p:nvSpPr>
          <p:cNvPr id="16" name="Oval 15"/>
          <p:cNvSpPr/>
          <p:nvPr/>
        </p:nvSpPr>
        <p:spPr>
          <a:xfrm>
            <a:off x="700000" y="32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000" y="32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00000" y="32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000" y="32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Контроль состояния</a:t>
            </a:r>
          </a:p>
        </p:txBody>
      </p:sp>
      <p:sp>
        <p:nvSpPr>
          <p:cNvPr id="20" name="Oval 19"/>
          <p:cNvSpPr/>
          <p:nvPr/>
        </p:nvSpPr>
        <p:spPr>
          <a:xfrm>
            <a:off x="700000" y="410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0000" y="410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00000" y="410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000" y="410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Основы поддержки</a:t>
            </a:r>
          </a:p>
        </p:txBody>
      </p:sp>
      <p:sp>
        <p:nvSpPr>
          <p:cNvPr id="24" name="Oval 23"/>
          <p:cNvSpPr/>
          <p:nvPr/>
        </p:nvSpPr>
        <p:spPr>
          <a:xfrm>
            <a:off x="700000" y="49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0000" y="49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00000" y="49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000" y="49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Реакции на стресс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ТРАВМА ГРУДИ: ПОЛУСИДЯЧЕЕ ПОЛОЖЕНИЕ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pic>
        <p:nvPicPr>
          <p:cNvPr id="8" name="Picture 7" descr="fig7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121" y="1450000"/>
            <a:ext cx="3001757" cy="400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00000" y="1450000"/>
            <a:ext cx="62000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Помогите пострадавшему с нормальным сознанием сесть с опорой под спину.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Ноги можно слегка согнуть, чтобы положение было устойчивым.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При односторонней травме допустим осторожный наклон к поврежденной стороне.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 заставляйте лежать, если в положении сидя дышать легче.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Контролируйте дыхание, сознание и герметизирующую повязку.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00000" y="5400000"/>
            <a:ext cx="6200000" cy="11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50000" y="5600000"/>
            <a:ext cx="57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При ухудшении сознания положение немедленно пересматривают.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ТРАВМА ТАЗА: НОГИ СОГНУТЫ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pic>
        <p:nvPicPr>
          <p:cNvPr id="8" name="Picture 7" descr="fig7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2494898"/>
            <a:ext cx="5200000" cy="19102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00000" y="1450000"/>
            <a:ext cx="62000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Уложите пострадавшего на спину на ровную поверхность.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Осторожно согните и немного разведите ноги, если это не усиливает боль.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Под колени поместите валик из одежды или одеяла.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 сдавливайте таз и не проверяйте его подвижность.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 разрешайте вставать, садиться или поворачиваться самостоятельно.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00000" y="5400000"/>
            <a:ext cx="6200000" cy="11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50000" y="5600000"/>
            <a:ext cx="57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Положение уменьшает напряжение мышц, но его не навязывают при резкой боли или сочетанной травме.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БЕЗ СОЗНАНИЯ, НО ДЫШИТ: НА БОК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pic>
        <p:nvPicPr>
          <p:cNvPr id="8" name="Picture 7" descr="fig8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1993594"/>
            <a:ext cx="5200000" cy="29128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00000" y="1450000"/>
            <a:ext cx="62000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Убедитесь, что дыхание нормальное.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Поверните пострадавшего в устойчивое боковое положение.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Откройте рот и направьте лицо вниз для свободного оттока жидкости.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Поддерживайте проходимость дыхательных путей и избегайте давления на грудь.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Регулярно проверяйте дыхание; при его прекращении переверните на спину.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00000" y="5400000"/>
            <a:ext cx="6200000" cy="11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50000" y="5600000"/>
            <a:ext cx="57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При подозрении на позвоночник поворачивайте только для защиты дыхательных путей, по возможности несколькими помощниками.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ПРИЗНАКИ ШОКА: НОГИ ПРИПОДНЯТЫ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6</a:t>
            </a:r>
          </a:p>
        </p:txBody>
      </p:sp>
      <p:pic>
        <p:nvPicPr>
          <p:cNvPr id="8" name="Picture 7" descr="fig8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2478869"/>
            <a:ext cx="5200000" cy="194226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00000" y="1450000"/>
            <a:ext cx="62000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Уложите пострадавшего на спину, если дыхание и характер травм это позволяют.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Можно умеренно приподнять ноги при отсутствии травмы таза, позвоночника и конечностей.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Остановите кровотечение, укройте и успокаивайте человека.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 давайте пищу или питье при тяжелой травме и возможной операции.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Контролируйте сознание и дыхание до прибытия скорой помощи.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00000" y="5400000"/>
            <a:ext cx="6200000" cy="11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50000" y="5600000"/>
            <a:ext cx="57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Не поднимайте ноги при боли, одышке, травме груди, живота, таза, позвоночника или нижних конечностей.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ТРАВМА ПОЗВОНОЧНИКА: ТВЕРДАЯ ПОВЕРХНОСТЬ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7</a:t>
            </a:r>
          </a:p>
        </p:txBody>
      </p:sp>
      <p:pic>
        <p:nvPicPr>
          <p:cNvPr id="8" name="Picture 7" descr="fig8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1757869"/>
            <a:ext cx="5200000" cy="33842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00000" y="1450000"/>
            <a:ext cx="62000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Если место безопасно, не перемещайте пострадавшего без необходимости.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Удерживайте голову и попросите человека сохранять неподвижность.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Для вынужденного переноса используйте жесткую ровную поверхность.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Голову, шею и туловище перемещайте по одной оси.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После укладки заполните пустоты мягкими валиками и продолжайте контроль.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00000" y="5400000"/>
            <a:ext cx="6200000" cy="11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50000" y="5600000"/>
            <a:ext cx="57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Дыхательные пути и реанимация имеют приоритет перед иммобилизацией.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ЗАЩИТА ОТ ХОЛОДА: УКУТЫВАНИЕ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8</a:t>
            </a:r>
          </a:p>
        </p:txBody>
      </p:sp>
      <p:pic>
        <p:nvPicPr>
          <p:cNvPr id="8" name="Picture 7" descr="fig8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2523598"/>
            <a:ext cx="5200000" cy="185280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00000" y="1450000"/>
            <a:ext cx="62000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Изолируйте пострадавшего от холодной земли и ветра.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Укройте одеялом, одеждой или теплоизолирующим покрывалом.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Оставьте лицо открытым и не затрудняйте наблюдение за дыханием.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 закрывайте доступ к повязкам, жгуту и поврежденной конечности.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 перегревайте человека и не помещайте источник сильного тепла на поврежденную кожу.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00000" y="5400000"/>
            <a:ext cx="6200000" cy="11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50000" y="5600000"/>
            <a:ext cx="57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Сохранение тепла особенно важно при кровопотере, ожоге, травме и длительном ожидании помощи.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КОНТРОЛЬ СОСТОЯНИЯ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9</a:t>
            </a:r>
          </a:p>
        </p:txBody>
      </p:sp>
      <p:sp>
        <p:nvSpPr>
          <p:cNvPr id="8" name="Oval 7"/>
          <p:cNvSpPr/>
          <p:nvPr/>
        </p:nvSpPr>
        <p:spPr>
          <a:xfrm>
            <a:off x="700000" y="1400000"/>
            <a:ext cx="500000" cy="5000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14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00000" y="14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000" y="14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Регулярно обращайтесь к пострадавшему и оценивайте уровень сознания.</a:t>
            </a:r>
          </a:p>
        </p:txBody>
      </p:sp>
      <p:sp>
        <p:nvSpPr>
          <p:cNvPr id="12" name="Oval 11"/>
          <p:cNvSpPr/>
          <p:nvPr/>
        </p:nvSpPr>
        <p:spPr>
          <a:xfrm>
            <a:off x="700000" y="210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000" y="21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21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000" y="21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Наблюдайте за частотой, глубиной и шумностью дыхания.</a:t>
            </a:r>
          </a:p>
        </p:txBody>
      </p:sp>
      <p:sp>
        <p:nvSpPr>
          <p:cNvPr id="16" name="Oval 15"/>
          <p:cNvSpPr/>
          <p:nvPr/>
        </p:nvSpPr>
        <p:spPr>
          <a:xfrm>
            <a:off x="700000" y="280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000" y="28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00000" y="28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000" y="28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Следите за цветом, температурой и влажностью кожи.</a:t>
            </a:r>
          </a:p>
        </p:txBody>
      </p:sp>
      <p:sp>
        <p:nvSpPr>
          <p:cNvPr id="20" name="Oval 19"/>
          <p:cNvSpPr/>
          <p:nvPr/>
        </p:nvSpPr>
        <p:spPr>
          <a:xfrm>
            <a:off x="700000" y="350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0000" y="35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00000" y="35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000" y="35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Проверяйте повязки, остановленное кровотечение и время наложения жгута.</a:t>
            </a:r>
          </a:p>
        </p:txBody>
      </p:sp>
      <p:sp>
        <p:nvSpPr>
          <p:cNvPr id="24" name="Oval 23"/>
          <p:cNvSpPr/>
          <p:nvPr/>
        </p:nvSpPr>
        <p:spPr>
          <a:xfrm>
            <a:off x="700000" y="420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0000" y="42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00000" y="42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000" y="42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Контролируйте цвет, тепло и чувствительность пальцев после иммобилизации.</a:t>
            </a:r>
          </a:p>
        </p:txBody>
      </p:sp>
      <p:sp>
        <p:nvSpPr>
          <p:cNvPr id="28" name="Oval 27"/>
          <p:cNvSpPr/>
          <p:nvPr/>
        </p:nvSpPr>
        <p:spPr>
          <a:xfrm>
            <a:off x="700000" y="490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0000" y="49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00000" y="49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00000" y="49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Отмечайте новые жалобы и будьте готовы изменить положение или начать реанимацию.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ОСНОВЫ ПСИХОЛОГИЧЕСКОЙ ПОДДЕРЖКИ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000" y="1400000"/>
            <a:ext cx="5400000" cy="2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0000" y="1550000"/>
            <a:ext cx="450000" cy="4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1550000"/>
            <a:ext cx="45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0000" y="1580000"/>
            <a:ext cx="46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Контакт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000" y="2100000"/>
            <a:ext cx="5160000" cy="157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Представьтесь, спросите имя и получите согласие на помощь, если это возможно.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1400000"/>
            <a:ext cx="5400000" cy="2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0000" y="1550000"/>
            <a:ext cx="450000" cy="4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0000" y="1550000"/>
            <a:ext cx="45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0000" y="1580000"/>
            <a:ext cx="46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Спокойная речь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0000" y="2100000"/>
            <a:ext cx="5160000" cy="157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Говорите короткими понятными фразами, не повышайте голос и объясняйте каждое действие.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0000" y="3980000"/>
            <a:ext cx="5400000" cy="2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0000" y="4130000"/>
            <a:ext cx="450000" cy="4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000" y="4130000"/>
            <a:ext cx="45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0000" y="4160000"/>
            <a:ext cx="46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Опора на факты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000" y="4680000"/>
            <a:ext cx="5160000" cy="157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Сообщайте, какая помощь вызвана и что происходит сейчас, не делайте пугающих прогнозов.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0000" y="3980000"/>
            <a:ext cx="5400000" cy="2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20000" y="4130000"/>
            <a:ext cx="450000" cy="4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20000" y="4130000"/>
            <a:ext cx="45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50000" y="4160000"/>
            <a:ext cx="46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Присутствие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0000" y="4680000"/>
            <a:ext cx="5160000" cy="157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Оставайтесь рядом, защищайте личное пространство и привлекайте близкого человека по желанию пострадавшего.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ОСТРЫЕ РЕАКЦИИ НА СТРЕСС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400000"/>
            <a:ext cx="5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Возможные реакции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400000"/>
            <a:ext cx="5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Как отвечать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000" y="1850000"/>
            <a:ext cx="54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страх, плач, тревога и дрожь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растерянность, молчание или заторможенность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возбуждение, повторяющиеся действия или агрессия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сужение внимания и трудности с выполнением инструкций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000" y="1850000"/>
            <a:ext cx="54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обеспечьте физическую безопасность и уменьшите число раздражителей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говорите по одному действию за раз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выслушивайте без давления и спора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сохраняйте уважительную дистанцию и привлекайте помощь при угрозе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ЧЕГО ИЗБЕГАТЬ ПРИ ПОДДЕРЖКЕ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450000"/>
            <a:ext cx="110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Не обесценивайте страх, боль и переживания.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Не требуйте «взять себя в руки» и не спорьте с чувствами.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Не заставляйте подробно рассказывать о происшествии.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Не обещайте результат, в котором не уверены.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Не сообщайте диагнозы и пугающие предположения.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Не оставляйте человека одного без необходимости.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ГЛАВНОЕ ЗАПОМНИТЬ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000" y="145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0000" y="145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1530000"/>
            <a:ext cx="10400000" cy="69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Положение должно облегчать дыхание и не усиливать травму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0000" y="238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0000" y="238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2460000"/>
            <a:ext cx="10400000" cy="69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Без сознания, но при нормальном дыхании — на бок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0000" y="331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0000" y="331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0000" y="3390000"/>
            <a:ext cx="10400000" cy="69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Регулярно проверяйте дыхание, повязки и жалобы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0000" y="424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0000" y="424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0000" y="4320000"/>
            <a:ext cx="10400000" cy="69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Говорите спокойно, кратко и объясняйте действия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0000" y="517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0000" y="517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0000" y="5250000"/>
            <a:ext cx="10400000" cy="69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Не оставляйте пострадавшего одного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ПАМЯТКА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14</a:t>
            </a:r>
          </a:p>
        </p:txBody>
      </p:sp>
      <p:pic>
        <p:nvPicPr>
          <p:cNvPr id="8" name="Picture 7" descr="pamyatka-tema4-polozhenie-psihologiya-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000" y="1400000"/>
            <a:ext cx="7800000" cy="5200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00000" cy="6858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00000" y="0"/>
            <a:ext cx="8800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00000" y="3000000"/>
            <a:ext cx="7500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БЛАГОДАРИМ ЗА ВНИМАНИЕ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0000" y="4100000"/>
            <a:ext cx="45000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