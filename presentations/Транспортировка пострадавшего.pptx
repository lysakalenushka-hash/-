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800000" y="0"/>
            <a:ext cx="3400000" cy="68580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800000"/>
            <a:ext cx="2800000" cy="18000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00000" y="3000000"/>
            <a:ext cx="78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ТРАНСПОРТИРОВКА
ПОСТРАДАВШЕГО</a:t>
            </a:r>
          </a:p>
        </p:txBody>
      </p:sp>
      <p:sp>
        <p:nvSpPr>
          <p:cNvPr id="6" name="Rectangle 5"/>
          <p:cNvSpPr/>
          <p:nvPr/>
        </p:nvSpPr>
        <p:spPr>
          <a:xfrm>
            <a:off x="700000" y="4700000"/>
            <a:ext cx="5200000" cy="3000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4900000"/>
            <a:ext cx="7500000" cy="4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66666"/>
                </a:solidFill>
                <a:latin typeface="Open Sans"/>
                <a:ea typeface="Open Sans"/>
                <a:cs typeface="Open Sans"/>
              </a:rPr>
              <a:t>Тема 4 · Травмы, ранения, поражения и прочие состояния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00000" y="250000"/>
            <a:ext cx="11200000" cy="5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СОДЕРЖАНИЕ</a:t>
            </a:r>
          </a:p>
        </p:txBody>
      </p:sp>
      <p:sp>
        <p:nvSpPr>
          <p:cNvPr id="4" name="Rectangle 3"/>
          <p:cNvSpPr/>
          <p:nvPr/>
        </p:nvSpPr>
        <p:spPr>
          <a:xfrm>
            <a:off x="700000" y="850000"/>
            <a:ext cx="9000000" cy="28000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00000" y="920000"/>
            <a:ext cx="11000000" cy="3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66666"/>
                </a:solidFill>
                <a:latin typeface="Open Sans"/>
                <a:ea typeface="Open Sans"/>
                <a:cs typeface="Open Sans"/>
              </a:rPr>
              <a:t>Оказание первой помощи при травмах, ранениях и поражениях, прочих состояниях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2800000"/>
            <a:ext cx="420000" cy="420000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0" y="2800000"/>
            <a:ext cx="420000" cy="4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2</a:t>
            </a:r>
          </a:p>
        </p:txBody>
      </p:sp>
      <p:sp>
        <p:nvSpPr>
          <p:cNvPr id="8" name="Oval 7"/>
          <p:cNvSpPr/>
          <p:nvPr/>
        </p:nvSpPr>
        <p:spPr>
          <a:xfrm>
            <a:off x="700000" y="1550000"/>
            <a:ext cx="520000" cy="520000"/>
          </a:xfrm>
          <a:prstGeom prst="ellipse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0000" y="1550000"/>
            <a:ext cx="520000" cy="5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1</a:t>
            </a:r>
          </a:p>
        </p:txBody>
      </p:sp>
      <p:sp>
        <p:nvSpPr>
          <p:cNvPr id="10" name="Rectangle 9"/>
          <p:cNvSpPr/>
          <p:nvPr/>
        </p:nvSpPr>
        <p:spPr>
          <a:xfrm>
            <a:off x="1400000" y="1550000"/>
            <a:ext cx="10000000" cy="5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600000" y="1550000"/>
            <a:ext cx="9600000" cy="5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Предпочтение скорой помощи</a:t>
            </a:r>
          </a:p>
        </p:txBody>
      </p:sp>
      <p:sp>
        <p:nvSpPr>
          <p:cNvPr id="12" name="Oval 11"/>
          <p:cNvSpPr/>
          <p:nvPr/>
        </p:nvSpPr>
        <p:spPr>
          <a:xfrm>
            <a:off x="700000" y="2400000"/>
            <a:ext cx="520000" cy="520000"/>
          </a:xfrm>
          <a:prstGeom prst="ellipse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00000" y="2400000"/>
            <a:ext cx="520000" cy="5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400000" y="2400000"/>
            <a:ext cx="10000000" cy="5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600000" y="2400000"/>
            <a:ext cx="9600000" cy="5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Самостоятельная доставка</a:t>
            </a:r>
          </a:p>
        </p:txBody>
      </p:sp>
      <p:sp>
        <p:nvSpPr>
          <p:cNvPr id="16" name="Oval 15"/>
          <p:cNvSpPr/>
          <p:nvPr/>
        </p:nvSpPr>
        <p:spPr>
          <a:xfrm>
            <a:off x="700000" y="3250000"/>
            <a:ext cx="520000" cy="520000"/>
          </a:xfrm>
          <a:prstGeom prst="ellipse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00000" y="3250000"/>
            <a:ext cx="520000" cy="5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3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400000" y="3250000"/>
            <a:ext cx="10000000" cy="5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600000" y="3250000"/>
            <a:ext cx="9600000" cy="5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Выбор места</a:t>
            </a:r>
          </a:p>
        </p:txBody>
      </p:sp>
      <p:sp>
        <p:nvSpPr>
          <p:cNvPr id="20" name="Oval 19"/>
          <p:cNvSpPr/>
          <p:nvPr/>
        </p:nvSpPr>
        <p:spPr>
          <a:xfrm>
            <a:off x="700000" y="4100000"/>
            <a:ext cx="520000" cy="520000"/>
          </a:xfrm>
          <a:prstGeom prst="ellipse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00000" y="4100000"/>
            <a:ext cx="520000" cy="5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4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400000" y="4100000"/>
            <a:ext cx="10000000" cy="5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600000" y="4100000"/>
            <a:ext cx="9600000" cy="5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Подготовка и фиксация</a:t>
            </a:r>
          </a:p>
        </p:txBody>
      </p:sp>
      <p:sp>
        <p:nvSpPr>
          <p:cNvPr id="24" name="Oval 23"/>
          <p:cNvSpPr/>
          <p:nvPr/>
        </p:nvSpPr>
        <p:spPr>
          <a:xfrm>
            <a:off x="700000" y="4950000"/>
            <a:ext cx="520000" cy="520000"/>
          </a:xfrm>
          <a:prstGeom prst="ellipse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00000" y="4950000"/>
            <a:ext cx="520000" cy="5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5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400000" y="4950000"/>
            <a:ext cx="10000000" cy="5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600000" y="4950000"/>
            <a:ext cx="9600000" cy="5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Наблюдение в пути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00000" y="250000"/>
            <a:ext cx="11200000" cy="5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ПОЧЕМУ ПРЕДПОЧТИТЕЛЬНА СКОРАЯ ПОМОЩЬ</a:t>
            </a:r>
          </a:p>
        </p:txBody>
      </p:sp>
      <p:sp>
        <p:nvSpPr>
          <p:cNvPr id="4" name="Rectangle 3"/>
          <p:cNvSpPr/>
          <p:nvPr/>
        </p:nvSpPr>
        <p:spPr>
          <a:xfrm>
            <a:off x="700000" y="850000"/>
            <a:ext cx="9000000" cy="28000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00000" y="920000"/>
            <a:ext cx="11000000" cy="3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66666"/>
                </a:solidFill>
                <a:latin typeface="Open Sans"/>
                <a:ea typeface="Open Sans"/>
                <a:cs typeface="Open Sans"/>
              </a:rPr>
              <a:t>Оказание первой помощи при травмах, ранениях и поражениях, прочих состояниях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2800000"/>
            <a:ext cx="420000" cy="420000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0" y="2800000"/>
            <a:ext cx="420000" cy="4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0000" y="1500000"/>
            <a:ext cx="11000000" cy="4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Бригада скорой медицинской помощи располагает обученным персоналом, средствами иммобилизации, кислородом и оборудованием для наблюдения и реанимации. При тяжелой травме самостоятельное перемещение может усилить кровотечение, сместить отломки или повредить позвоночник.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00000" y="250000"/>
            <a:ext cx="11200000" cy="5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КОГДА РАССМАТРИВАЮТ САМОСТОЯТЕЛЬНУЮ ДОСТАВКУ</a:t>
            </a:r>
          </a:p>
        </p:txBody>
      </p:sp>
      <p:sp>
        <p:nvSpPr>
          <p:cNvPr id="4" name="Rectangle 3"/>
          <p:cNvSpPr/>
          <p:nvPr/>
        </p:nvSpPr>
        <p:spPr>
          <a:xfrm>
            <a:off x="700000" y="850000"/>
            <a:ext cx="9000000" cy="28000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00000" y="920000"/>
            <a:ext cx="11000000" cy="3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66666"/>
                </a:solidFill>
                <a:latin typeface="Open Sans"/>
                <a:ea typeface="Open Sans"/>
                <a:cs typeface="Open Sans"/>
              </a:rPr>
              <a:t>Оказание первой помощи при травмах, ранениях и поражениях, прочих состояниях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2800000"/>
            <a:ext cx="420000" cy="420000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0" y="2800000"/>
            <a:ext cx="420000" cy="4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4</a:t>
            </a:r>
          </a:p>
        </p:txBody>
      </p:sp>
      <p:sp>
        <p:nvSpPr>
          <p:cNvPr id="8" name="Rectangle 7"/>
          <p:cNvSpPr/>
          <p:nvPr/>
        </p:nvSpPr>
        <p:spPr>
          <a:xfrm>
            <a:off x="700000" y="1400000"/>
            <a:ext cx="5400000" cy="24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20000" y="1550000"/>
            <a:ext cx="450000" cy="450000"/>
          </a:xfrm>
          <a:prstGeom prst="ellipse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1550000"/>
            <a:ext cx="450000" cy="45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50000" y="1580000"/>
            <a:ext cx="46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Нет связи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0000" y="2100000"/>
            <a:ext cx="5160000" cy="157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66666"/>
                </a:solidFill>
                <a:latin typeface="Open Sans"/>
                <a:ea typeface="Open Sans"/>
                <a:cs typeface="Open Sans"/>
              </a:rPr>
              <a:t>Вызвать скорую помощь невозможно, а оставаться без медицинской помощи опаснее перевозки.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00000" y="1400000"/>
            <a:ext cx="5400000" cy="24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20000" y="1550000"/>
            <a:ext cx="450000" cy="450000"/>
          </a:xfrm>
          <a:prstGeom prst="ellipse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20000" y="1550000"/>
            <a:ext cx="450000" cy="45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50000" y="1580000"/>
            <a:ext cx="46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Бригада недоступна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20000" y="2100000"/>
            <a:ext cx="5160000" cy="157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66666"/>
                </a:solidFill>
                <a:latin typeface="Open Sans"/>
                <a:ea typeface="Open Sans"/>
                <a:cs typeface="Open Sans"/>
              </a:rPr>
              <a:t>Расстояние, погода или местность не позволяют специалистам добраться до пострадавшего.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00000" y="3980000"/>
            <a:ext cx="5400000" cy="24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20000" y="4130000"/>
            <a:ext cx="450000" cy="450000"/>
          </a:xfrm>
          <a:prstGeom prst="ellipse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0000" y="4130000"/>
            <a:ext cx="450000" cy="45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50000" y="4160000"/>
            <a:ext cx="46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Непосредственная опасность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0000" y="4680000"/>
            <a:ext cx="5160000" cy="157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66666"/>
                </a:solidFill>
                <a:latin typeface="Open Sans"/>
                <a:ea typeface="Open Sans"/>
                <a:cs typeface="Open Sans"/>
              </a:rPr>
              <a:t>Место происшествия нельзя сделать безопасным и требуется эвакуация.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300000" y="3980000"/>
            <a:ext cx="5400000" cy="24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20000" y="4130000"/>
            <a:ext cx="450000" cy="450000"/>
          </a:xfrm>
          <a:prstGeom prst="ellipse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20000" y="4130000"/>
            <a:ext cx="450000" cy="45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50000" y="4160000"/>
            <a:ext cx="46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Легкое состояние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20000" y="4680000"/>
            <a:ext cx="5160000" cy="157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66666"/>
                </a:solidFill>
                <a:latin typeface="Open Sans"/>
                <a:ea typeface="Open Sans"/>
                <a:cs typeface="Open Sans"/>
              </a:rPr>
              <a:t>Травма допускает безопасную поездку без специальной медицинской транспортировки.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00000" y="250000"/>
            <a:ext cx="11200000" cy="5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КОГДА ПЕРЕВОЗКА ОСОБЕННО РИСКОВАННА</a:t>
            </a:r>
          </a:p>
        </p:txBody>
      </p:sp>
      <p:sp>
        <p:nvSpPr>
          <p:cNvPr id="4" name="Rectangle 3"/>
          <p:cNvSpPr/>
          <p:nvPr/>
        </p:nvSpPr>
        <p:spPr>
          <a:xfrm>
            <a:off x="700000" y="850000"/>
            <a:ext cx="9000000" cy="28000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00000" y="920000"/>
            <a:ext cx="11000000" cy="3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66666"/>
                </a:solidFill>
                <a:latin typeface="Open Sans"/>
                <a:ea typeface="Open Sans"/>
                <a:cs typeface="Open Sans"/>
              </a:rPr>
              <a:t>Оказание первой помощи при травмах, ранениях и поражениях, прочих состояниях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2800000"/>
            <a:ext cx="420000" cy="420000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0" y="2800000"/>
            <a:ext cx="420000" cy="4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0000" y="1450000"/>
            <a:ext cx="11000000" cy="4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1">
                <a:solidFill>
                  <a:srgbClr val="CC0000"/>
                </a:solidFill>
                <a:latin typeface="Open Sans"/>
                <a:ea typeface="Open Sans"/>
                <a:cs typeface="Open Sans"/>
              </a:rPr>
              <a:t>•  Нарушено сознание или дыхание нестабильно</a:t>
            </a:r>
          </a:p>
          <a:p>
            <a:pPr algn="l">
              <a:spcAft>
                <a:spcPts val="800"/>
              </a:spcAft>
            </a:pPr>
            <a:r>
              <a:rPr sz="1400" b="1">
                <a:solidFill>
                  <a:srgbClr val="CC0000"/>
                </a:solidFill>
                <a:latin typeface="Open Sans"/>
                <a:ea typeface="Open Sans"/>
                <a:cs typeface="Open Sans"/>
              </a:rPr>
              <a:t>•  Есть массивное или продолжающееся кровотечение</a:t>
            </a:r>
          </a:p>
          <a:p>
            <a:pPr algn="l">
              <a:spcAft>
                <a:spcPts val="800"/>
              </a:spcAft>
            </a:pPr>
            <a:r>
              <a:rPr sz="1400" b="1">
                <a:solidFill>
                  <a:srgbClr val="CC0000"/>
                </a:solidFill>
                <a:latin typeface="Open Sans"/>
                <a:ea typeface="Open Sans"/>
                <a:cs typeface="Open Sans"/>
              </a:rPr>
              <a:t>•  Подозревается травма головы, шеи, позвоночника или таза</a:t>
            </a:r>
          </a:p>
          <a:p>
            <a:pPr algn="l">
              <a:spcAft>
                <a:spcPts val="800"/>
              </a:spcAft>
            </a:pPr>
            <a:r>
              <a:rPr sz="1400" b="1">
                <a:solidFill>
                  <a:srgbClr val="CC0000"/>
                </a:solidFill>
                <a:latin typeface="Open Sans"/>
                <a:ea typeface="Open Sans"/>
                <a:cs typeface="Open Sans"/>
              </a:rPr>
              <a:t>•  Есть открытая травма груди или живота</a:t>
            </a:r>
          </a:p>
          <a:p>
            <a:pPr algn="l">
              <a:spcAft>
                <a:spcPts val="800"/>
              </a:spcAft>
            </a:pPr>
            <a:r>
              <a:rPr sz="1400" b="1">
                <a:solidFill>
                  <a:srgbClr val="CC0000"/>
                </a:solidFill>
                <a:latin typeface="Open Sans"/>
                <a:ea typeface="Open Sans"/>
                <a:cs typeface="Open Sans"/>
              </a:rPr>
              <a:t>•  Состояние быстро ухудшается или возможна реанимация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00000" y="5600000"/>
            <a:ext cx="11000000" cy="1000000"/>
          </a:xfrm>
          <a:prstGeom prst="roundRect">
            <a:avLst/>
          </a:prstGeom>
          <a:solidFill>
            <a:srgbClr val="F5F0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50000" y="5800000"/>
            <a:ext cx="10500000" cy="6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В этих случаях предпочтительно не перемещать пострадавшего и дождаться профессиональной помощи, если место безопасно.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00000" y="250000"/>
            <a:ext cx="11200000" cy="5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КУДА ДОСТАВЛЯТЬ</a:t>
            </a:r>
          </a:p>
        </p:txBody>
      </p:sp>
      <p:sp>
        <p:nvSpPr>
          <p:cNvPr id="4" name="Rectangle 3"/>
          <p:cNvSpPr/>
          <p:nvPr/>
        </p:nvSpPr>
        <p:spPr>
          <a:xfrm>
            <a:off x="700000" y="850000"/>
            <a:ext cx="9000000" cy="28000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00000" y="920000"/>
            <a:ext cx="11000000" cy="3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66666"/>
                </a:solidFill>
                <a:latin typeface="Open Sans"/>
                <a:ea typeface="Open Sans"/>
                <a:cs typeface="Open Sans"/>
              </a:rPr>
              <a:t>Оказание первой помощи при травмах, ранениях и поражениях, прочих состояниях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2800000"/>
            <a:ext cx="420000" cy="420000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0" y="2800000"/>
            <a:ext cx="420000" cy="4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0000" y="1450000"/>
            <a:ext cx="11000000" cy="4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•  В ближайшую медицинскую организацию, способную оказать необходимую помощь.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•  В травматологический пункт — при подходящей по тяжести изолированной травме.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•  В учреждение, которое указал диспетчер скорой медицинской помощи.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•  По наиболее безопасному маршруту с минимальным риском задержки.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•  Не тратьте время на дальнюю поездку только из-за личных предпочтений.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00000" y="5600000"/>
            <a:ext cx="11000000" cy="1000000"/>
          </a:xfrm>
          <a:prstGeom prst="roundRect">
            <a:avLst/>
          </a:prstGeom>
          <a:solidFill>
            <a:srgbClr val="F5F0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50000" y="5800000"/>
            <a:ext cx="10500000" cy="6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Заранее уточните адрес, подъезд, приемное отделение и возможность немедленного приема.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00000" y="250000"/>
            <a:ext cx="11200000" cy="5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ПОДГОТОВКА ПЕРЕД ДОРОГОЙ</a:t>
            </a:r>
          </a:p>
        </p:txBody>
      </p:sp>
      <p:sp>
        <p:nvSpPr>
          <p:cNvPr id="4" name="Rectangle 3"/>
          <p:cNvSpPr/>
          <p:nvPr/>
        </p:nvSpPr>
        <p:spPr>
          <a:xfrm>
            <a:off x="700000" y="850000"/>
            <a:ext cx="9000000" cy="28000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00000" y="920000"/>
            <a:ext cx="11000000" cy="3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66666"/>
                </a:solidFill>
                <a:latin typeface="Open Sans"/>
                <a:ea typeface="Open Sans"/>
                <a:cs typeface="Open Sans"/>
              </a:rPr>
              <a:t>Оказание первой помощи при травмах, ранениях и поражениях, прочих состояниях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2800000"/>
            <a:ext cx="420000" cy="420000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0" y="2800000"/>
            <a:ext cx="420000" cy="4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7</a:t>
            </a:r>
          </a:p>
        </p:txBody>
      </p:sp>
      <p:sp>
        <p:nvSpPr>
          <p:cNvPr id="8" name="Oval 7"/>
          <p:cNvSpPr/>
          <p:nvPr/>
        </p:nvSpPr>
        <p:spPr>
          <a:xfrm>
            <a:off x="700000" y="1400000"/>
            <a:ext cx="500000" cy="500000"/>
          </a:xfrm>
          <a:prstGeom prst="ellipse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0000" y="1400000"/>
            <a:ext cx="500000" cy="5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1</a:t>
            </a:r>
          </a:p>
        </p:txBody>
      </p:sp>
      <p:sp>
        <p:nvSpPr>
          <p:cNvPr id="10" name="Rectangle 9"/>
          <p:cNvSpPr/>
          <p:nvPr/>
        </p:nvSpPr>
        <p:spPr>
          <a:xfrm>
            <a:off x="1400000" y="1400000"/>
            <a:ext cx="10550000" cy="6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600000" y="1400000"/>
            <a:ext cx="10150000" cy="6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Повторно оцените сознание и дыхание.</a:t>
            </a:r>
          </a:p>
        </p:txBody>
      </p:sp>
      <p:sp>
        <p:nvSpPr>
          <p:cNvPr id="12" name="Oval 11"/>
          <p:cNvSpPr/>
          <p:nvPr/>
        </p:nvSpPr>
        <p:spPr>
          <a:xfrm>
            <a:off x="700000" y="2100000"/>
            <a:ext cx="500000" cy="500000"/>
          </a:xfrm>
          <a:prstGeom prst="ellipse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00000" y="2100000"/>
            <a:ext cx="500000" cy="5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400000" y="2100000"/>
            <a:ext cx="10550000" cy="6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600000" y="2100000"/>
            <a:ext cx="10150000" cy="6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Остановите кровотечение, закройте раны и проверьте повязки.</a:t>
            </a:r>
          </a:p>
        </p:txBody>
      </p:sp>
      <p:sp>
        <p:nvSpPr>
          <p:cNvPr id="16" name="Oval 15"/>
          <p:cNvSpPr/>
          <p:nvPr/>
        </p:nvSpPr>
        <p:spPr>
          <a:xfrm>
            <a:off x="700000" y="2800000"/>
            <a:ext cx="500000" cy="500000"/>
          </a:xfrm>
          <a:prstGeom prst="ellipse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00000" y="2800000"/>
            <a:ext cx="500000" cy="5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3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400000" y="2800000"/>
            <a:ext cx="10550000" cy="6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600000" y="2800000"/>
            <a:ext cx="10150000" cy="6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Обездвижьте предполагаемые переломы в найденном положении.</a:t>
            </a:r>
          </a:p>
        </p:txBody>
      </p:sp>
      <p:sp>
        <p:nvSpPr>
          <p:cNvPr id="20" name="Oval 19"/>
          <p:cNvSpPr/>
          <p:nvPr/>
        </p:nvSpPr>
        <p:spPr>
          <a:xfrm>
            <a:off x="700000" y="3500000"/>
            <a:ext cx="500000" cy="500000"/>
          </a:xfrm>
          <a:prstGeom prst="ellipse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00000" y="3500000"/>
            <a:ext cx="500000" cy="5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4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400000" y="3500000"/>
            <a:ext cx="10550000" cy="6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600000" y="3500000"/>
            <a:ext cx="10150000" cy="6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Выберите положение с учетом дыхания и области травмы.</a:t>
            </a:r>
          </a:p>
        </p:txBody>
      </p:sp>
      <p:sp>
        <p:nvSpPr>
          <p:cNvPr id="24" name="Oval 23"/>
          <p:cNvSpPr/>
          <p:nvPr/>
        </p:nvSpPr>
        <p:spPr>
          <a:xfrm>
            <a:off x="700000" y="4200000"/>
            <a:ext cx="500000" cy="500000"/>
          </a:xfrm>
          <a:prstGeom prst="ellipse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00000" y="4200000"/>
            <a:ext cx="500000" cy="5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5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400000" y="4200000"/>
            <a:ext cx="10550000" cy="6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600000" y="4200000"/>
            <a:ext cx="10150000" cy="6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Укройте пострадавшего и защитите от перегревания.</a:t>
            </a:r>
          </a:p>
        </p:txBody>
      </p:sp>
      <p:sp>
        <p:nvSpPr>
          <p:cNvPr id="28" name="Oval 27"/>
          <p:cNvSpPr/>
          <p:nvPr/>
        </p:nvSpPr>
        <p:spPr>
          <a:xfrm>
            <a:off x="700000" y="4900000"/>
            <a:ext cx="500000" cy="500000"/>
          </a:xfrm>
          <a:prstGeom prst="ellipse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00000" y="4900000"/>
            <a:ext cx="500000" cy="5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6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400000" y="4900000"/>
            <a:ext cx="10550000" cy="6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600000" y="4900000"/>
            <a:ext cx="10150000" cy="6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Подготовьте документы, упаковки веществ и сведения об оказанной помощи.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00000" y="250000"/>
            <a:ext cx="11200000" cy="5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ПОЛОЖЕНИЕ И КОМФОРТ</a:t>
            </a:r>
          </a:p>
        </p:txBody>
      </p:sp>
      <p:sp>
        <p:nvSpPr>
          <p:cNvPr id="4" name="Rectangle 3"/>
          <p:cNvSpPr/>
          <p:nvPr/>
        </p:nvSpPr>
        <p:spPr>
          <a:xfrm>
            <a:off x="700000" y="850000"/>
            <a:ext cx="9000000" cy="28000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00000" y="920000"/>
            <a:ext cx="11000000" cy="3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66666"/>
                </a:solidFill>
                <a:latin typeface="Open Sans"/>
                <a:ea typeface="Open Sans"/>
                <a:cs typeface="Open Sans"/>
              </a:rPr>
              <a:t>Оказание первой помощи при травмах, ранениях и поражениях, прочих состояниях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2800000"/>
            <a:ext cx="420000" cy="420000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0" y="2800000"/>
            <a:ext cx="420000" cy="4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0000" y="1400000"/>
            <a:ext cx="54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Безопасное размещение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00000" y="1400000"/>
            <a:ext cx="54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Комфорт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0000" y="1850000"/>
            <a:ext cx="5400000" cy="4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•  надежно закрепите носилки или место в автомобиле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•  не допускайте скручивания туловища и ударов поврежденной частью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•  подложите мягкий материал в пустоты и под выступающие участки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•  сохраните доступ к лицу, груди и повязкам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00000" y="1850000"/>
            <a:ext cx="5400000" cy="4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•  поддерживайте подходящую температуру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•  уменьшите шум, резкие ускорения и тряску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•  объясняйте этапы поездки и поддерживайте контакт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•  не давайте пищу, питье или лекарства без показаний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00000" y="250000"/>
            <a:ext cx="11200000" cy="5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ПЕРЕЛОМЫ И ПОВЯЗКИ В ПУТИ</a:t>
            </a:r>
          </a:p>
        </p:txBody>
      </p:sp>
      <p:sp>
        <p:nvSpPr>
          <p:cNvPr id="4" name="Rectangle 3"/>
          <p:cNvSpPr/>
          <p:nvPr/>
        </p:nvSpPr>
        <p:spPr>
          <a:xfrm>
            <a:off x="700000" y="850000"/>
            <a:ext cx="9000000" cy="28000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00000" y="920000"/>
            <a:ext cx="11000000" cy="3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66666"/>
                </a:solidFill>
                <a:latin typeface="Open Sans"/>
                <a:ea typeface="Open Sans"/>
                <a:cs typeface="Open Sans"/>
              </a:rPr>
              <a:t>Оказание первой помощи при травмах, ранениях и поражениях, прочих состояниях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2800000"/>
            <a:ext cx="420000" cy="420000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0" y="2800000"/>
            <a:ext cx="420000" cy="4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0000" y="1450000"/>
            <a:ext cx="11000000" cy="4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•  Проверьте надежность иммобилизации до начала движения.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•  Не пытайтесь вправить деформацию для удобства размещения.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•  Оставьте пальцы поврежденной конечности доступными для наблюдения.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•  Регулярно оценивайте их цвет, температуру и чувствительность.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•  Следите, не пропиталась ли повязка кровью и не возобновилось ли кровотечение.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•  Не снимайте первоначальную повязку; при необходимости добавляйте материал сверху.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00000" y="250000"/>
            <a:ext cx="11200000" cy="5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НАБЛЮДЕНИЕ ВО ВРЕМЯ ТРАНСПОРТИРОВКИ</a:t>
            </a:r>
          </a:p>
        </p:txBody>
      </p:sp>
      <p:sp>
        <p:nvSpPr>
          <p:cNvPr id="4" name="Rectangle 3"/>
          <p:cNvSpPr/>
          <p:nvPr/>
        </p:nvSpPr>
        <p:spPr>
          <a:xfrm>
            <a:off x="700000" y="850000"/>
            <a:ext cx="9000000" cy="28000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00000" y="920000"/>
            <a:ext cx="11000000" cy="3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66666"/>
                </a:solidFill>
                <a:latin typeface="Open Sans"/>
                <a:ea typeface="Open Sans"/>
                <a:cs typeface="Open Sans"/>
              </a:rPr>
              <a:t>Оказание первой помощи при травмах, ранениях и поражениях, прочих состояниях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2800000"/>
            <a:ext cx="420000" cy="420000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0" y="2800000"/>
            <a:ext cx="420000" cy="4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0000" y="1450000"/>
            <a:ext cx="11000000" cy="4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•  Пострадавший должен находиться под постоянным наблюдением сопровождающего.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•  Регулярно проверяйте сознание, дыхание и цвет кожи.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•  Следите за болью, тошнотой, слабостью и новыми жалобами.</a:t>
            </a:r>
          </a:p>
          <a:p>
            <a:pPr algn="l">
              <a:spcAft>
                <a:spcPts val="800"/>
              </a:spcAft>
            </a:pPr>
            <a:r>
              <a:rPr sz="1400" b="1">
                <a:solidFill>
                  <a:srgbClr val="CC0000"/>
                </a:solidFill>
                <a:latin typeface="Open Sans"/>
                <a:ea typeface="Open Sans"/>
                <a:cs typeface="Open Sans"/>
              </a:rPr>
              <a:t>•  При резком ухудшении остановитесь в безопасном месте.</a:t>
            </a:r>
          </a:p>
          <a:p>
            <a:pPr algn="l">
              <a:spcAft>
                <a:spcPts val="800"/>
              </a:spcAft>
            </a:pPr>
            <a:r>
              <a:rPr sz="1400" b="1">
                <a:solidFill>
                  <a:srgbClr val="CC0000"/>
                </a:solidFill>
                <a:latin typeface="Open Sans"/>
                <a:ea typeface="Open Sans"/>
                <a:cs typeface="Open Sans"/>
              </a:rPr>
              <a:t>•  Снова вызовите скорую помощь и будьте готовы начать реанимацию.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00000" y="5600000"/>
            <a:ext cx="11000000" cy="1000000"/>
          </a:xfrm>
          <a:prstGeom prst="roundRect">
            <a:avLst/>
          </a:prstGeom>
          <a:solidFill>
            <a:srgbClr val="F5F0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50000" y="5800000"/>
            <a:ext cx="10500000" cy="6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Водитель не должен одновременно наблюдать за пострадавшим; по возможности необходим отдельный сопровождающий.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00000" y="250000"/>
            <a:ext cx="11200000" cy="5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ПРИБЫТИЕ В МЕДИЦИНСКУЮ ОРГАНИЗАЦИЮ</a:t>
            </a:r>
          </a:p>
        </p:txBody>
      </p:sp>
      <p:sp>
        <p:nvSpPr>
          <p:cNvPr id="4" name="Rectangle 3"/>
          <p:cNvSpPr/>
          <p:nvPr/>
        </p:nvSpPr>
        <p:spPr>
          <a:xfrm>
            <a:off x="700000" y="850000"/>
            <a:ext cx="9000000" cy="28000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00000" y="920000"/>
            <a:ext cx="11000000" cy="3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66666"/>
                </a:solidFill>
                <a:latin typeface="Open Sans"/>
                <a:ea typeface="Open Sans"/>
                <a:cs typeface="Open Sans"/>
              </a:rPr>
              <a:t>Оказание первой помощи при травмах, ранениях и поражениях, прочих состояниях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2800000"/>
            <a:ext cx="420000" cy="420000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0" y="2800000"/>
            <a:ext cx="420000" cy="4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0000" y="1450000"/>
            <a:ext cx="11000000" cy="4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•  Сообщите персоналу о прибытии пострадавшего и не оставляйте его одного.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•  Передайте обстоятельства происшествия и первоначальное состояние.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•  Перечислите найденные травмы и выполненные действия.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•  Назовите время наложения жгута, приема лекарства и изменений состояния.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•  Передайте упаковки веществ, лекарства и документы.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•  Помогайте переносить только по указанию медицинских работников.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00000" y="250000"/>
            <a:ext cx="11200000" cy="5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ГЛАВНОЕ ЗАПОМНИТЬ</a:t>
            </a:r>
          </a:p>
        </p:txBody>
      </p:sp>
      <p:sp>
        <p:nvSpPr>
          <p:cNvPr id="4" name="Rectangle 3"/>
          <p:cNvSpPr/>
          <p:nvPr/>
        </p:nvSpPr>
        <p:spPr>
          <a:xfrm>
            <a:off x="700000" y="850000"/>
            <a:ext cx="9000000" cy="28000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00000" y="920000"/>
            <a:ext cx="11000000" cy="3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66666"/>
                </a:solidFill>
                <a:latin typeface="Open Sans"/>
                <a:ea typeface="Open Sans"/>
                <a:cs typeface="Open Sans"/>
              </a:rPr>
              <a:t>Оказание первой помощи при травмах, ранениях и поражениях, прочих состояниях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2800000"/>
            <a:ext cx="420000" cy="420000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0" y="2800000"/>
            <a:ext cx="420000" cy="4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12</a:t>
            </a:r>
          </a:p>
        </p:txBody>
      </p:sp>
      <p:sp>
        <p:nvSpPr>
          <p:cNvPr id="8" name="Rectangle 7"/>
          <p:cNvSpPr/>
          <p:nvPr/>
        </p:nvSpPr>
        <p:spPr>
          <a:xfrm>
            <a:off x="700000" y="1450000"/>
            <a:ext cx="11000000" cy="85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00000" y="1450000"/>
            <a:ext cx="90000" cy="850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0000" y="1530000"/>
            <a:ext cx="10400000" cy="69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Предпочтительно дождаться бригады скорой помощи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00000" y="2380000"/>
            <a:ext cx="11000000" cy="85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00000" y="2380000"/>
            <a:ext cx="90000" cy="850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0000" y="2460000"/>
            <a:ext cx="10400000" cy="69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Тяжело травмированного без необходимости не перемещают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00000" y="3310000"/>
            <a:ext cx="11000000" cy="85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00000" y="3310000"/>
            <a:ext cx="90000" cy="850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0000" y="3390000"/>
            <a:ext cx="10400000" cy="69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До поездки остановите кровотечение и зафиксируйте переломы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00000" y="4240000"/>
            <a:ext cx="11000000" cy="85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00000" y="4240000"/>
            <a:ext cx="90000" cy="850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00000" y="4320000"/>
            <a:ext cx="10400000" cy="69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Выберите ближайшую подходящую медицинскую организацию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00000" y="5170000"/>
            <a:ext cx="11000000" cy="85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00000" y="5170000"/>
            <a:ext cx="90000" cy="850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00000" y="5250000"/>
            <a:ext cx="10400000" cy="69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В пути обеспечьте комфорт и непрерывное наблюдение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00000" y="250000"/>
            <a:ext cx="11200000" cy="5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ПАМЯТКА</a:t>
            </a:r>
          </a:p>
        </p:txBody>
      </p:sp>
      <p:sp>
        <p:nvSpPr>
          <p:cNvPr id="4" name="Rectangle 3"/>
          <p:cNvSpPr/>
          <p:nvPr/>
        </p:nvSpPr>
        <p:spPr>
          <a:xfrm>
            <a:off x="700000" y="850000"/>
            <a:ext cx="9000000" cy="28000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00000" y="920000"/>
            <a:ext cx="11000000" cy="3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66666"/>
                </a:solidFill>
                <a:latin typeface="Open Sans"/>
                <a:ea typeface="Open Sans"/>
                <a:cs typeface="Open Sans"/>
              </a:rPr>
              <a:t>Оказание первой помощи при травмах, ранениях и поражениях, прочих состояниях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2800000"/>
            <a:ext cx="420000" cy="420000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0" y="2800000"/>
            <a:ext cx="420000" cy="4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13</a:t>
            </a:r>
          </a:p>
        </p:txBody>
      </p:sp>
      <p:pic>
        <p:nvPicPr>
          <p:cNvPr id="8" name="Picture 7" descr="pamyatka-tema4-transportirovka-16x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00000" y="1400000"/>
            <a:ext cx="7800000" cy="5200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400000" cy="68580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400000" y="0"/>
            <a:ext cx="8800000" cy="685800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000000" y="3000000"/>
            <a:ext cx="7500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БЛАГОДАРИМ ЗА ВНИМАНИЕ</a:t>
            </a:r>
          </a:p>
        </p:txBody>
      </p:sp>
      <p:sp>
        <p:nvSpPr>
          <p:cNvPr id="5" name="Rectangle 4"/>
          <p:cNvSpPr/>
          <p:nvPr/>
        </p:nvSpPr>
        <p:spPr>
          <a:xfrm>
            <a:off x="4000000" y="4100000"/>
            <a:ext cx="4500000" cy="3000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