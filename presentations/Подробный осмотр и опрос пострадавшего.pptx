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0000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800000"/>
            <a:ext cx="2800000" cy="1800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3000000"/>
            <a:ext cx="78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
И ОПРОС ПОСТРАДАВШЕГО</a:t>
            </a:r>
          </a:p>
        </p:txBody>
      </p:sp>
      <p:sp>
        <p:nvSpPr>
          <p:cNvPr id="6" name="Rectangle 5"/>
          <p:cNvSpPr/>
          <p:nvPr/>
        </p:nvSpPr>
        <p:spPr>
          <a:xfrm>
            <a:off x="700000" y="4700000"/>
            <a:ext cx="52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4900000"/>
            <a:ext cx="75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Тема 4 · Травмы, ранения, поражения и прочие состояния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СОДЕРЖАНИЕ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5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5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5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5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Цель и правила осмотра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4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4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4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4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Опрос пострадавшего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32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32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32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32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Осмотр по областям тела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410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410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410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410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Опасные находки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950000"/>
            <a:ext cx="520000" cy="52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950000"/>
            <a:ext cx="52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950000"/>
            <a:ext cx="10000000" cy="5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950000"/>
            <a:ext cx="96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Дальнейшие действия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ЦЕЛЬ ПОДРОБНОГО ОСМОТРА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500000"/>
            <a:ext cx="11000000" cy="4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обзорного осмотра, вызова скорой медицинской помощи и устранения непосредственных угроз жизни последовательно осматривают все тело. Цель — обнаружить травмы, ожоги, отморожения и другие состояния, которые не были заметны сразу, и своевременно оказать необходимую первую помощь.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Если во время осмотра состояние ухудшилось, вернитесь к оценке сознания и дыхания.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И ПОДРОБНЫЙ ОСМОТР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Обзорный осмотр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выполняют быстро, сразу после оценки безопасности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проверяют сознание и нормальное дыхание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ищут массивное наружное кровотечение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выявляют состояния, непосредственно угрожающие жизни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проводят после неотложных действий и вызова скорой помощи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осматривают и осторожно ощупывают все области тела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сравнивают правую и левую стороны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дополняют осмотр вопросами о боли и других жалобах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ЧТО ИСКАТЬ И О ЧЕМ СПРАШИВАТЬ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осмотре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400000"/>
            <a:ext cx="5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опросе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изменение цвета, температуры и влажности кожи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раны, кровотечение, ссадины, кровоподтеки и пузыри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инородные тела, костные отломки и необычную подвижность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деформацию, укорочение, отек и болезненность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нарушение движения или чувствительности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1850000"/>
            <a:ext cx="54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что произошло и какой частью тела пришелся удар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где болит, какова боль и когда она появилась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усиливается ли боль при дыхании, движении или ощупывании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есть ли слабость, тошнота, головокружение или онемение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какие заболевания, аллергии и назначенные лекарства известны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ГОЛОВА: ОСМОТР НАЧИНАЕТСЯ СВЕРХУ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pic>
        <p:nvPicPr>
          <p:cNvPr id="8" name="Picture 7" descr="fig5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482743"/>
            <a:ext cx="5200000" cy="39345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Осмотрите лицо, волосистую часть головы и область за ушами.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Ищите раны, кровотечение, отек, деформацию и болезненность.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Обратите внимание на кровь или прозрачную жидкость из носа и ушей.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Спросите о потере сознания, провалах памяти, головной боли, тошноте и рвоте.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Проверьте симметрию лица, реакцию на обращение и состояние глаз.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надавливайте на участок возможного перелома костей черепа и не извлекайте предметы из раны.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ШЕЯ: ТОЛЬКО ОСТОРОЖНЫЕ ДЕЙСТВИЯ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7</a:t>
            </a:r>
          </a:p>
        </p:txBody>
      </p:sp>
      <p:pic>
        <p:nvPicPr>
          <p:cNvPr id="8" name="Picture 7" descr="fig5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466644"/>
            <a:ext cx="5200000" cy="39667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Осмотрите переднюю, боковые и доступную заднюю поверхность шеи.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Ищите раны, кровотечение, отек, кровоподтеки и необычное положение головы.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Уточните наличие боли в шее, онемения или слабости в конечностях.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сгибайте, не разгибайте и не поворачивайте голову для осмотра.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подозрении на травму удерживайте голову в найденном положении.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Повреждение шейного отдела позвоночника возможно даже при отсутствии заметной наружной раны.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ГРУДНАЯ КЛЕТКА: ОСМОТР И СРАВНЕНИЕ СТОРОН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8</a:t>
            </a:r>
          </a:p>
        </p:txBody>
      </p:sp>
      <p:pic>
        <p:nvPicPr>
          <p:cNvPr id="8" name="Picture 7" descr="fig5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76" y="1450000"/>
            <a:ext cx="5165247" cy="40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Осмотрите грудь спереди и с боков, не снимая прилипшую к ране одежду.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Оцените, одинаково ли поднимаются правая и левая половины при дыхании.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Ищите раны, кровоподтеки, деформацию и движения воздуха через рану.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Спросите, усиливается ли боль при вдохе, кашле и движении.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Осторожно ощупайте доступные участки, прекращая действие при резкой боли.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Затрудненное дыхание, открытая рана груди и нарастающая синюшность требуют немедленных действий.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СПИНА: ПАЛЬПАЦИЯ БЕЗ ОПАСНОГО ПОВОРОТА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поворачивайте пострадавшего только ради осмотра спины.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Если положение и состояние позволяют, проведите ладонями под спиной.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Последовательно прощупайте доступные участки от плеч к пояснице.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Ищите кровь, влажность, неровность, деформацию и локальную боль.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При вынужденном повороте поддерживайте голову, шею и туловище как единое целое.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подозрении на травму позвоночника перемещение выполняют только по жизненным показаниям или силами нескольких помощников.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ЖИВОТ И ТАЗ: НАРУЖНЫЕ ПРИЗНАКИ СКРЫТОЙ ТРАВМЫ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10</a:t>
            </a:r>
          </a:p>
        </p:txBody>
      </p:sp>
      <p:pic>
        <p:nvPicPr>
          <p:cNvPr id="8" name="Picture 7" descr="fig5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455900"/>
            <a:ext cx="5200000" cy="3988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Осмотрите живот и область таза, обращая внимание на форму и симметрию.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Ищите раны, ссадины, кровоподтеки и следы удара ремнем или предметом.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Спросите о боли, тошноте, слабости и чувстве напряжения живота.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Осторожно оцените болезненность, не выполняя глубокого надавливания.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Таз не сжимайте и не пытайтесь проверить его подвижность.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боли в животе или подозрении на внутреннюю травму не давайте пострадавшему пищу и питье.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ПРИЗНАКИ ЗАКРЫТОЙ ТРАВМЫ ЖИВОТА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0000" y="1450000"/>
            <a:ext cx="11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Сильная или нарастающая боль, напряжение и вздутие живота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Кровоподтеки, ссадины или следы удара на передней и боковой поверхности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Бледность, холодный пот, выраженная слабость и жажда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C0000"/>
                </a:solidFill>
                <a:latin typeface="Open Sans"/>
                <a:ea typeface="Open Sans"/>
                <a:cs typeface="Open Sans"/>
              </a:rPr>
              <a:t>•  Учащенное дыхание, беспокойство, заторможенность или потеря сознания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Тошнота, рвота, вынужденное положение с согнутыми ногами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0000" y="5600000"/>
            <a:ext cx="11000000" cy="10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000" y="5800000"/>
            <a:ext cx="105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Наружная рана может отсутствовать. Обеспечьте покой, вызовите скорую помощь и постоянно контролируйте состояние.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НОГИ: ОСМОТР ОТ ТАЗА К СТОПАМ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12</a:t>
            </a:r>
          </a:p>
        </p:txBody>
      </p:sp>
      <p:pic>
        <p:nvPicPr>
          <p:cNvPr id="8" name="Picture 7" descr="fig6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1620370"/>
            <a:ext cx="5200000" cy="36592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Осмотрите обе ноги и сравните их длину, форму и положение.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Ищите раны, кровотечение, отек, кровоподтеки и деформацию.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Уточните боль и возможность пошевелить пальцами без принуждения.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Проверьте цвет, тепло и чувствительность стоп и пальцев.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Не просите пострадавшего вставать для проверки способности ходить.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подозрении на перелом сохраняйте найденное положение и обездвижьте конечность после остановки кровотечения.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РУКИ: ЗАВЕРШЕНИЕ ПОСЛЕДОВАТЕЛЬНОГО ОСМОТРА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13</a:t>
            </a:r>
          </a:p>
        </p:txBody>
      </p:sp>
      <p:pic>
        <p:nvPicPr>
          <p:cNvPr id="8" name="Picture 7" descr="fig6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00" y="1450000"/>
            <a:ext cx="4504000" cy="40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00000" y="1450000"/>
            <a:ext cx="62000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Осмотрите плечи, плечевые суставы, предплечья, кисти и пальцы.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Сравните обе руки: форму, положение, отек и цвет кожи.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Ищите раны, кровотечение, болезненность и необычную подвижность.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Уточните наличие онемения; проверьте тепло и чувствительность пальцев.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•  Снимите кольца, часы и браслеты до нарастания отека, если это безопасно.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00000" y="5400000"/>
            <a:ext cx="6200000" cy="1100000"/>
          </a:xfrm>
          <a:prstGeom prst="roundRect">
            <a:avLst/>
          </a:prstGeom>
          <a:solidFill>
            <a:srgbClr val="F5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0000" y="5600000"/>
            <a:ext cx="5700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Не выпрямляйте деформированную конечность и не сопоставляйте костные отломки.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ПОСЛЕ ОСМОТРА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14</a:t>
            </a:r>
          </a:p>
        </p:txBody>
      </p:sp>
      <p:sp>
        <p:nvSpPr>
          <p:cNvPr id="8" name="Oval 7"/>
          <p:cNvSpPr/>
          <p:nvPr/>
        </p:nvSpPr>
        <p:spPr>
          <a:xfrm>
            <a:off x="700000" y="1400000"/>
            <a:ext cx="500000" cy="5000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14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00000" y="14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000" y="14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Окажите помощь по каждой найденной травме, начиная с наиболее опасной.</a:t>
            </a:r>
          </a:p>
        </p:txBody>
      </p:sp>
      <p:sp>
        <p:nvSpPr>
          <p:cNvPr id="12" name="Oval 11"/>
          <p:cNvSpPr/>
          <p:nvPr/>
        </p:nvSpPr>
        <p:spPr>
          <a:xfrm>
            <a:off x="700000" y="21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0000" y="21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21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00000" y="21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 необходимости скорректируйте вызов скорой медицинской помощи.</a:t>
            </a:r>
          </a:p>
        </p:txBody>
      </p:sp>
      <p:sp>
        <p:nvSpPr>
          <p:cNvPr id="16" name="Oval 15"/>
          <p:cNvSpPr/>
          <p:nvPr/>
        </p:nvSpPr>
        <p:spPr>
          <a:xfrm>
            <a:off x="700000" y="28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000" y="28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00000" y="28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0000" y="28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Придайте пострадавшему безопасное и удобное положение.</a:t>
            </a:r>
          </a:p>
        </p:txBody>
      </p:sp>
      <p:sp>
        <p:nvSpPr>
          <p:cNvPr id="20" name="Oval 19"/>
          <p:cNvSpPr/>
          <p:nvPr/>
        </p:nvSpPr>
        <p:spPr>
          <a:xfrm>
            <a:off x="700000" y="35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0000" y="35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00000" y="35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000" y="35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Защитите от холода или перегревания и обеспечьте психологическую поддержку.</a:t>
            </a:r>
          </a:p>
        </p:txBody>
      </p:sp>
      <p:sp>
        <p:nvSpPr>
          <p:cNvPr id="24" name="Oval 23"/>
          <p:cNvSpPr/>
          <p:nvPr/>
        </p:nvSpPr>
        <p:spPr>
          <a:xfrm>
            <a:off x="700000" y="42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000" y="42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00000" y="42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00000" y="42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Повторно проверяйте сознание, дыхание, повязки и кровотечение.</a:t>
            </a:r>
          </a:p>
        </p:txBody>
      </p:sp>
      <p:sp>
        <p:nvSpPr>
          <p:cNvPr id="28" name="Oval 27"/>
          <p:cNvSpPr/>
          <p:nvPr/>
        </p:nvSpPr>
        <p:spPr>
          <a:xfrm>
            <a:off x="700000" y="4900000"/>
            <a:ext cx="500000" cy="500000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000" y="4900000"/>
            <a:ext cx="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00000" y="4900000"/>
            <a:ext cx="10550000" cy="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00000" y="4900000"/>
            <a:ext cx="10150000" cy="6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Передайте специалистам жалобы, находки и выполненные действия.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ГЛАВНОЕ ЗАПОМНИТЬ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700000" y="145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00000" y="145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153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Подробный осмотр проводят после устранения угроз жизни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0000" y="238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0000" y="238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246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Двигайтесь последовательно: от головы к конечностям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000" y="331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0000" y="331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0000" y="339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Шею и спину проверяйте без лишних движений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0000" y="424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0000" y="424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0000" y="432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Синяки на животе могут указывать на внутреннюю травму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000" y="5170000"/>
            <a:ext cx="11000000" cy="8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0000" y="5170000"/>
            <a:ext cx="90000" cy="850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0000" y="5250000"/>
            <a:ext cx="10400000" cy="69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Сопоставляйте найденные признаки с жалобами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250000"/>
            <a:ext cx="11200000" cy="5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ПАМЯТКА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700000" y="850000"/>
            <a:ext cx="9000000" cy="28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0000" y="920000"/>
            <a:ext cx="11000000" cy="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  <a:ea typeface="Open Sans"/>
                <a:cs typeface="Open Sans"/>
              </a:rPr>
              <a:t>Оказание первой помощи при травмах, ранениях и поражениях, прочих состояниях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2800000"/>
            <a:ext cx="420000" cy="420000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800000"/>
            <a:ext cx="420000" cy="4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Open Sans"/>
                <a:ea typeface="Open Sans"/>
                <a:cs typeface="Open Sans"/>
              </a:rPr>
              <a:t>16</a:t>
            </a:r>
          </a:p>
        </p:txBody>
      </p:sp>
      <p:pic>
        <p:nvPicPr>
          <p:cNvPr id="8" name="Picture 7" descr="pamyatka-tema4-podrobnyy-osmotr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000" y="1400000"/>
            <a:ext cx="7800000" cy="520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400000" cy="6858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00000" y="0"/>
            <a:ext cx="8800000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00000" y="3000000"/>
            <a:ext cx="7500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333333"/>
                </a:solidFill>
                <a:latin typeface="Open Sans"/>
                <a:ea typeface="Open Sans"/>
                <a:cs typeface="Open Sans"/>
              </a:rPr>
              <a:t>БЛАГОДАРИМ ЗА ВНИМАНИЕ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000000" y="4100000"/>
            <a:ext cx="4500000" cy="30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