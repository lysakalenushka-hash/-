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16"/>
    <p:sldId id="257" r:id="rId17"/>
    <p:sldId id="258" r:id="rId18"/>
    <p:sldId id="259" r:id="rId19"/>
    <p:sldId id="260" r:id="rId20"/>
    <p:sldId id="263" r:id="rId23"/>
    <p:sldId id="265" r:id="rId25"/>
    <p:sldId id="264" r:id="rId24"/>
  </p:sldIdLst>
  <p:sldSz cx="12192000" cy="6858000"/>
  <p:notesSz cx="6858000" cy="9144000"/>
  <p:custDataLst>
    <p:tags r:id="rId11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06" userDrawn="1">
          <p15:clr>
            <a:srgbClr val="A4A3A4"/>
          </p15:clr>
        </p15:guide>
        <p15:guide id="2" pos="16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7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494" y="58"/>
      </p:cViewPr>
      <p:guideLst>
        <p:guide orient="horz" pos="1706"/>
        <p:guide pos="16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tags" Target="tags/tag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8.xml"/><Relationship Id="rId25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A964B-3817-47CD-B1E8-D22DA6E7F63A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C0CEC-B708-41AB-AB0E-F73139B003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9317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0CEC-B708-41AB-AB0E-F73139B0037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824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0CEC-B708-41AB-AB0E-F73139B0037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589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0CEC-B708-41AB-AB0E-F73139B0037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541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CC0CEC-B708-41AB-AB0E-F73139B0037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25654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0D0E5B-DA75-4599-80DF-7FF7F6CAA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CBAC0F-A6E8-4C01-9E6A-B2BA8CC4E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76BB2B-DCC5-4470-91D2-A7DDC39C9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C31104-0181-4739-84B8-4800E9783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FDB81A-886C-4FD2-B7B8-C9895BA4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19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A12CC7-47F2-475E-9185-5238C4B17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B6FF7E-85AD-4912-BAFC-FA08F6EA5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5FC3AA-4615-47CE-AF23-8F4144B1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F1F68A-4DDF-4300-8222-3DB03A10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8BED82-B0D8-4EF7-962D-3F1249234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79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2B931-C3D9-4386-90E8-D3BBE5858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60337E-E125-4372-966B-892193430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055DEB-61EA-4F22-857C-B7739F490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532381-6610-4D7E-817C-AAFDA293D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DB34B0-A3A0-43B1-AD23-485062DAC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54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10851-DEF8-4371-80F1-FFE520F9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51E10D-94BC-4A59-B376-D94649912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8C8F4D-D8A9-4644-A7C7-65FA8535E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D05E8E-8789-4AC5-81E5-9A825A61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AFE33B-DF8C-4550-92B5-656359977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A0F9E6B-3CFC-4893-B75C-3AFC6B8F0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655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83E51-315A-480B-BA35-A9BC05F6E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681294-34A6-4CE1-9674-EE174318F3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3E5BE72-8757-4F8B-B57D-B2FF7E1E5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4199AB6-8AE3-4CB8-9887-57F61A9992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9C2DA59-161D-4245-AF4F-127513D85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889BF39-5DD5-4D26-B8D7-FCBF05F7D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C1285B7-ABB7-4B22-9D42-87B3354E4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381E999-56FD-4FBF-9313-053C8A75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65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B6BEDF-0673-41D2-B7B4-1386E1D9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6FD6E90-6BC6-44DC-AF1C-A1BE8B48A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E09E8DF-D375-4829-8D6A-BFD2CACF0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FF7D60-F753-4FCB-90E1-3303F7AE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45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EB89FFF-0F5A-4C90-8DE1-3ADB5951E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E868672-C34D-43F2-8080-6FF1D8A92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82EC3EC-83A4-4C12-8E7C-C8CE631A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5712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74B1E-543D-4F76-983A-3293B0C11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71CC9F-FA5C-4E59-90C9-421C4DD64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495972-68A1-441B-A1F8-E3D408044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B24F10-2D3C-42F4-8149-814E3BB3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1DDD79-185C-4639-9EF7-305F76B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507910-79FD-4F37-8BCA-7D1C7709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258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EB13E-B92B-401A-8500-F8B024A0C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3EB38DD-2939-4A34-89E1-B6725F18B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862A02-0453-4B0E-BC65-A19235ED8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B3D2E1-47B6-4924-9829-2485576E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41E79D-55DE-4A81-8EF8-033E43885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E57686-04EB-4101-AD50-812500D6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02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02FAE2-551C-4DEA-B1B7-887EE0031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4E5890-F1E8-4941-B890-F22389958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452FFA-3D9E-494E-9FE2-FE617F5F5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0192B2-F2F7-4D12-99FE-637459124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266726-D06A-4C17-9D3D-5E9FDA65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035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8A40BFE-2ACD-4EB7-A5B5-6DCC54E94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1F379C-89A3-4C92-96CF-0A82BA30F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35C6A5-7A2F-4AEA-A80D-3D283954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352F53-073A-47C1-9142-BE37924F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267911-9855-41DD-948F-3A79C78C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68041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54F92-9E5C-455B-9576-2A059981C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B6B0D8-4EE1-4F4D-B5AC-95057AD37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29EE6E-F10D-4CC0-BAD1-CB822E013C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E36EF-7701-490E-A9DD-2F556873966B}" type="datetimeFigureOut">
              <a:rPr lang="ru-RU" smtClean="0"/>
              <a:t>31.07.2023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E2938A-EAF3-4E91-B5D3-631612D66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511EB4-97E1-4BFF-8C6A-4978807C22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8F729-11BB-44BE-97E4-2FD06524E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9738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3DA72E-2985-4E11-AAAC-5238E1AD70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828" y="0"/>
            <a:ext cx="14544605" cy="6845199"/>
          </a:xfrm>
          <a:prstGeom prst="rect">
            <a:avLst/>
          </a:prstGeom>
        </p:spPr>
      </p:pic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3803CD2-C14E-4C08-B87A-5211FE3C4204}"/>
              </a:ext>
            </a:extLst>
          </p:cNvPr>
          <p:cNvSpPr/>
          <p:nvPr/>
        </p:nvSpPr>
        <p:spPr>
          <a:xfrm>
            <a:off x="-107243" y="1423725"/>
            <a:ext cx="9001861" cy="3310970"/>
          </a:xfrm>
          <a:custGeom>
            <a:avLst/>
            <a:gdLst>
              <a:gd name="connsiteX0" fmla="*/ 0 w 9001861"/>
              <a:gd name="connsiteY0" fmla="*/ 0 h 3310970"/>
              <a:gd name="connsiteX1" fmla="*/ 9001861 w 9001861"/>
              <a:gd name="connsiteY1" fmla="*/ 0 h 3310970"/>
              <a:gd name="connsiteX2" fmla="*/ 9001861 w 9001861"/>
              <a:gd name="connsiteY2" fmla="*/ 3310970 h 3310970"/>
              <a:gd name="connsiteX3" fmla="*/ 0 w 9001861"/>
              <a:gd name="connsiteY3" fmla="*/ 3310970 h 3310970"/>
              <a:gd name="connsiteX4" fmla="*/ 0 w 9001861"/>
              <a:gd name="connsiteY4" fmla="*/ 0 h 3310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1861" h="3310970" fill="none" extrusionOk="0">
                <a:moveTo>
                  <a:pt x="0" y="0"/>
                </a:moveTo>
                <a:cubicBezTo>
                  <a:pt x="3620433" y="-33775"/>
                  <a:pt x="7781210" y="138873"/>
                  <a:pt x="9001861" y="0"/>
                </a:cubicBezTo>
                <a:cubicBezTo>
                  <a:pt x="8928090" y="544625"/>
                  <a:pt x="8845978" y="1771858"/>
                  <a:pt x="9001861" y="3310970"/>
                </a:cubicBezTo>
                <a:cubicBezTo>
                  <a:pt x="4633228" y="3173640"/>
                  <a:pt x="1188930" y="3173114"/>
                  <a:pt x="0" y="3310970"/>
                </a:cubicBezTo>
                <a:cubicBezTo>
                  <a:pt x="152408" y="2613676"/>
                  <a:pt x="73868" y="460381"/>
                  <a:pt x="0" y="0"/>
                </a:cubicBezTo>
                <a:close/>
              </a:path>
              <a:path w="9001861" h="3310970" stroke="0" extrusionOk="0">
                <a:moveTo>
                  <a:pt x="0" y="0"/>
                </a:moveTo>
                <a:cubicBezTo>
                  <a:pt x="1196335" y="-101487"/>
                  <a:pt x="8098677" y="-162162"/>
                  <a:pt x="9001861" y="0"/>
                </a:cubicBezTo>
                <a:cubicBezTo>
                  <a:pt x="9062574" y="1070216"/>
                  <a:pt x="8940789" y="2092977"/>
                  <a:pt x="9001861" y="3310970"/>
                </a:cubicBezTo>
                <a:cubicBezTo>
                  <a:pt x="7531869" y="3361035"/>
                  <a:pt x="952163" y="3152521"/>
                  <a:pt x="0" y="3310970"/>
                </a:cubicBezTo>
                <a:cubicBezTo>
                  <a:pt x="-24452" y="2629624"/>
                  <a:pt x="-67663" y="813629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ACBAFD-EA71-401A-958E-BE0B84CFF949}"/>
              </a:ext>
            </a:extLst>
          </p:cNvPr>
          <p:cNvSpPr txBox="1"/>
          <p:nvPr/>
        </p:nvSpPr>
        <p:spPr>
          <a:xfrm>
            <a:off x="371530" y="1314556"/>
            <a:ext cx="9644594" cy="3310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600" b="0">
                <a:solidFill>
                  <a:srgbClr val="FFFFFF"/>
                </a:solidFill>
                <a:latin typeface="Century Gothic"/>
              </a:rPr>
              <a:t>Классификация вредных и опасных производственных факторов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405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F1BA58C8-CB0D-42C8-9353-C041814589B5}"/>
              </a:ext>
            </a:extLst>
          </p:cNvPr>
          <p:cNvSpPr/>
          <p:nvPr/>
        </p:nvSpPr>
        <p:spPr>
          <a:xfrm>
            <a:off x="1522575" y="1523675"/>
            <a:ext cx="9869864" cy="4479264"/>
          </a:xfrm>
          <a:custGeom>
            <a:avLst/>
            <a:gdLst>
              <a:gd name="connsiteX0" fmla="*/ 0 w 9869864"/>
              <a:gd name="connsiteY0" fmla="*/ 0 h 4479264"/>
              <a:gd name="connsiteX1" fmla="*/ 9869864 w 9869864"/>
              <a:gd name="connsiteY1" fmla="*/ 0 h 4479264"/>
              <a:gd name="connsiteX2" fmla="*/ 9869864 w 9869864"/>
              <a:gd name="connsiteY2" fmla="*/ 4479264 h 4479264"/>
              <a:gd name="connsiteX3" fmla="*/ 0 w 9869864"/>
              <a:gd name="connsiteY3" fmla="*/ 4479264 h 4479264"/>
              <a:gd name="connsiteX4" fmla="*/ 0 w 9869864"/>
              <a:gd name="connsiteY4" fmla="*/ 0 h 44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479264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2011379"/>
                  <a:pt x="9863463" y="3133819"/>
                  <a:pt x="9869864" y="4479264"/>
                </a:cubicBezTo>
                <a:cubicBezTo>
                  <a:pt x="7396228" y="4393032"/>
                  <a:pt x="3393268" y="4395962"/>
                  <a:pt x="0" y="4479264"/>
                </a:cubicBezTo>
                <a:cubicBezTo>
                  <a:pt x="-145898" y="3619195"/>
                  <a:pt x="-24387" y="1200516"/>
                  <a:pt x="0" y="0"/>
                </a:cubicBezTo>
                <a:close/>
              </a:path>
              <a:path w="9869864" h="4479264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833996"/>
                  <a:pt x="9875015" y="2860015"/>
                  <a:pt x="9869864" y="4479264"/>
                </a:cubicBezTo>
                <a:cubicBezTo>
                  <a:pt x="6129429" y="4551694"/>
                  <a:pt x="4447473" y="4558212"/>
                  <a:pt x="0" y="4479264"/>
                </a:cubicBezTo>
                <a:cubicBezTo>
                  <a:pt x="77396" y="3799926"/>
                  <a:pt x="15692" y="1626302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Основные понятия (ст. 209 ТК РФ)</a:t>
            </a:r>
            <a:endParaRPr lang="ru-RU"/>
          </a:p>
          <a:p>
            <a:r>
              <a:rPr sz="800" b="0">
                <a:solidFill>
                  <a:srgbClr val="2F2F2F"/>
                </a:solidFill>
                <a:latin typeface="Century Gothic"/>
              </a:rPr>
              <a:t/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Вредный производственный фактор — может привести к заболеванию; действует постепенно.</a:t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Опасный производственный фактор — может привести к травме; действует одномоментно.</a:t>
            </a:r>
          </a:p>
          <a:p>
            <a:r>
              <a:rPr sz="800" b="0">
                <a:solidFill>
                  <a:srgbClr val="2F2F2F"/>
                </a:solidFill>
                <a:latin typeface="Century Gothic"/>
              </a:rPr>
              <a:t/>
            </a:r>
          </a:p>
          <a:p>
            <a:r>
              <a:rPr sz="1400" b="1">
                <a:solidFill>
                  <a:srgbClr val="2F2F2F"/>
                </a:solidFill>
                <a:latin typeface="Century Gothic"/>
              </a:rPr>
              <a:t>Ключевое различие: вредный фактор грозит болезнью, опасный — травмой или гибелью.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7"/>
            <a:ext cx="9869864" cy="4479264"/>
          </a:xfrm>
          <a:custGeom>
            <a:avLst/>
            <a:gdLst>
              <a:gd name="connsiteX0" fmla="*/ 0 w 9869864"/>
              <a:gd name="connsiteY0" fmla="*/ 0 h 4479264"/>
              <a:gd name="connsiteX1" fmla="*/ 9869864 w 9869864"/>
              <a:gd name="connsiteY1" fmla="*/ 0 h 4479264"/>
              <a:gd name="connsiteX2" fmla="*/ 9869864 w 9869864"/>
              <a:gd name="connsiteY2" fmla="*/ 4479264 h 4479264"/>
              <a:gd name="connsiteX3" fmla="*/ 0 w 9869864"/>
              <a:gd name="connsiteY3" fmla="*/ 4479264 h 4479264"/>
              <a:gd name="connsiteX4" fmla="*/ 0 w 9869864"/>
              <a:gd name="connsiteY4" fmla="*/ 0 h 44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479264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2011379"/>
                  <a:pt x="9863463" y="3133819"/>
                  <a:pt x="9869864" y="4479264"/>
                </a:cubicBezTo>
                <a:cubicBezTo>
                  <a:pt x="7396228" y="4393032"/>
                  <a:pt x="3393268" y="4395962"/>
                  <a:pt x="0" y="4479264"/>
                </a:cubicBezTo>
                <a:cubicBezTo>
                  <a:pt x="-145898" y="3619195"/>
                  <a:pt x="-24387" y="1200516"/>
                  <a:pt x="0" y="0"/>
                </a:cubicBezTo>
                <a:close/>
              </a:path>
              <a:path w="9869864" h="4479264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833996"/>
                  <a:pt x="9875015" y="2860015"/>
                  <a:pt x="9869864" y="4479264"/>
                </a:cubicBezTo>
                <a:cubicBezTo>
                  <a:pt x="6129429" y="4551694"/>
                  <a:pt x="4447473" y="4558212"/>
                  <a:pt x="0" y="4479264"/>
                </a:cubicBezTo>
                <a:cubicBezTo>
                  <a:pt x="77396" y="3799926"/>
                  <a:pt x="15692" y="1626302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2623F0-1205-437B-80EB-293BD3B22892}"/>
              </a:ext>
            </a:extLst>
          </p:cNvPr>
          <p:cNvSpPr txBox="1"/>
          <p:nvPr/>
        </p:nvSpPr>
        <p:spPr>
          <a:xfrm>
            <a:off x="1862359" y="1736635"/>
            <a:ext cx="8915312" cy="3283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38151D-9F0E-404B-808F-017B8F6E2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570" y="1741601"/>
            <a:ext cx="511789" cy="5117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2760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F54A79C-EE9A-4A17-830B-192AC83A4DF8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Перечень факторов для компенсаций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Приказ Минтруда № 291н устанавливает перечень вредных факторов, при работе с которыми положены компенсации. Документы — основа защиты прав работника.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Правовая база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ТК РФ (ст. 209, 222) — определения и гарантии. Федеральный закон № 426-ФЗ — порядок специальной оценки условий труда (СОУТ).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93B0F4-C184-417F-9035-92EF3E107ED3}"/>
              </a:ext>
            </a:extLst>
          </p:cNvPr>
          <p:cNvSpPr txBox="1"/>
          <p:nvPr/>
        </p:nvSpPr>
        <p:spPr>
          <a:xfrm>
            <a:off x="1665610" y="1467292"/>
            <a:ext cx="8753605" cy="85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Aft>
                <a:spcPts val="1200"/>
              </a:spcAft>
            </a:pPr>
            <a:endParaRPr lang="en-US" sz="1400" b="1" dirty="0"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30E37F-2C87-4FDB-8FC5-870FFA1EDA19}"/>
              </a:ext>
            </a:extLst>
          </p:cNvPr>
          <p:cNvSpPr txBox="1"/>
          <p:nvPr/>
        </p:nvSpPr>
        <p:spPr>
          <a:xfrm>
            <a:off x="1665610" y="2826543"/>
            <a:ext cx="9133779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5704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90786C7-3329-4CE7-B3B8-EE15002A4870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Группы факторов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1) физические; 2) химические; 3) биологические; 4) тяжесть трудового процесса; 5) напряжённость трудового процесса.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Классификация по ст. 13 ФЗ-426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Факторы, подлежащие исследованию при СОУТ, делятся на пять основных групп.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D22F8E-6599-489D-96FD-D69217B29F3E}"/>
              </a:ext>
            </a:extLst>
          </p:cNvPr>
          <p:cNvSpPr txBox="1"/>
          <p:nvPr/>
        </p:nvSpPr>
        <p:spPr>
          <a:xfrm>
            <a:off x="1653087" y="1483508"/>
            <a:ext cx="8929852" cy="11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endParaRPr lang="ru-RU" sz="1400" b="1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A3C534-9335-490D-8F1B-D1936FFFCB5F}"/>
              </a:ext>
            </a:extLst>
          </p:cNvPr>
          <p:cNvSpPr txBox="1"/>
          <p:nvPr/>
        </p:nvSpPr>
        <p:spPr>
          <a:xfrm>
            <a:off x="1649736" y="2704561"/>
            <a:ext cx="9063311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2F2F2F"/>
                </a:solidFill>
                <a:latin typeface="Century Gothic"/>
              </a:rPr>
              <a:t>Зачем классификация</a:t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Чтобы системно выявлять факторы на рабочем месте, измерять их и устанавливать класс условий труда.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DFA73F-D516-43E7-B8A8-7D9F3D4D6189}"/>
              </a:ext>
            </a:extLst>
          </p:cNvPr>
          <p:cNvSpPr txBox="1"/>
          <p:nvPr/>
        </p:nvSpPr>
        <p:spPr>
          <a:xfrm>
            <a:off x="1649736" y="4325119"/>
            <a:ext cx="8933203" cy="102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400" b="1" i="0" dirty="0">
              <a:effectLst/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3743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90786C7-3329-4CE7-B3B8-EE15002A4870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Химические и биологические факторы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Вещества и смеси в воздухе и на коже; вещества биологической природы. Пути: дыхание, кожа, ЖКТ. Примеры: растворители, кислоты/щелочи, CO, сварочный аэрозоль, пыль.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Физические факторы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Микроклимат, пыль, шум, вибрация, освещённость, излучения. Опасные примеры: механизмы, ток, высота. Вредные: постоянный шум, вибрация, жара/холод, плохое освещение.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D22F8E-6599-489D-96FD-D69217B29F3E}"/>
              </a:ext>
            </a:extLst>
          </p:cNvPr>
          <p:cNvSpPr txBox="1"/>
          <p:nvPr/>
        </p:nvSpPr>
        <p:spPr>
          <a:xfrm>
            <a:off x="1653087" y="1483508"/>
            <a:ext cx="8929852" cy="11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endParaRPr lang="ru-RU" sz="1400" b="1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A3C534-9335-490D-8F1B-D1936FFFCB5F}"/>
              </a:ext>
            </a:extLst>
          </p:cNvPr>
          <p:cNvSpPr txBox="1"/>
          <p:nvPr/>
        </p:nvSpPr>
        <p:spPr>
          <a:xfrm>
            <a:off x="1649736" y="2704561"/>
            <a:ext cx="9063311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2F2F2F"/>
                </a:solidFill>
                <a:latin typeface="Century Gothic"/>
              </a:rPr>
              <a:t>Факторы трудового процесса</a:t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Тяжесть — физическая нагрузка (грузы, усилия, наклоны, движения). Напряжённость — нагрузка на нервную систему и органы чувств (наблюдение, сигналы, слух, зрение, голос).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DFA73F-D516-43E7-B8A8-7D9F3D4D6189}"/>
              </a:ext>
            </a:extLst>
          </p:cNvPr>
          <p:cNvSpPr txBox="1"/>
          <p:nvPr/>
        </p:nvSpPr>
        <p:spPr>
          <a:xfrm>
            <a:off x="1649736" y="4325119"/>
            <a:ext cx="8933203" cy="102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400" b="1" i="0" dirty="0">
              <a:effectLst/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3743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90786C7-3329-4CE7-B3B8-EE15002A4870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Для чего это нужно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Не «галочка», а инструмент: инструкции и СИЗ; гарантии и компенсации (в т.ч. по приказу № 291н); медосмотры для профилактики профзаболеваний.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Как выявляют факторы: СОУТ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По ФЗ-426: идентификация факторов → исследования и измерения → установление класса условий труда (от оптимальных до опасных).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D22F8E-6599-489D-96FD-D69217B29F3E}"/>
              </a:ext>
            </a:extLst>
          </p:cNvPr>
          <p:cNvSpPr txBox="1"/>
          <p:nvPr/>
        </p:nvSpPr>
        <p:spPr>
          <a:xfrm>
            <a:off x="1653087" y="1483508"/>
            <a:ext cx="8929852" cy="11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endParaRPr lang="ru-RU" sz="1400" b="1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A3C534-9335-490D-8F1B-D1936FFFCB5F}"/>
              </a:ext>
            </a:extLst>
          </p:cNvPr>
          <p:cNvSpPr txBox="1"/>
          <p:nvPr/>
        </p:nvSpPr>
        <p:spPr>
          <a:xfrm>
            <a:off x="1649736" y="2704561"/>
            <a:ext cx="9063311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400" b="1">
                <a:solidFill>
                  <a:srgbClr val="2F2F2F"/>
                </a:solidFill>
                <a:latin typeface="Century Gothic"/>
              </a:rPr>
              <a:t>Связь с управлением рисками</a:t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Выявление опасностей, оценка рисков и разработка мер по их снижению опираются на результаты СОУТ и классификацию факторов.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DFA73F-D516-43E7-B8A8-7D9F3D4D6189}"/>
              </a:ext>
            </a:extLst>
          </p:cNvPr>
          <p:cNvSpPr txBox="1"/>
          <p:nvPr/>
        </p:nvSpPr>
        <p:spPr>
          <a:xfrm>
            <a:off x="1649736" y="4325119"/>
            <a:ext cx="8933203" cy="1020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400" b="1" i="0" dirty="0">
              <a:effectLst/>
              <a:latin typeface="Century Gothic" panose="020B0502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3743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F54A79C-EE9A-4A17-830B-192AC83A4DF8}"/>
              </a:ext>
            </a:extLst>
          </p:cNvPr>
          <p:cNvSpPr/>
          <p:nvPr/>
        </p:nvSpPr>
        <p:spPr>
          <a:xfrm>
            <a:off x="1446030" y="1467292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На что обратить внимание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Длительная работа сидя, нагрузка на зрение и нервную систему, неправильная организация рабочего места. Опасные факторы тоже возможны: электротравма, спотыкание, падение предметов, поражение при неисправной технике.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6"/>
            <a:ext cx="9869864" cy="4910435"/>
          </a:xfrm>
          <a:custGeom>
            <a:avLst/>
            <a:gdLst>
              <a:gd name="connsiteX0" fmla="*/ 0 w 9869864"/>
              <a:gd name="connsiteY0" fmla="*/ 0 h 4910435"/>
              <a:gd name="connsiteX1" fmla="*/ 9869864 w 9869864"/>
              <a:gd name="connsiteY1" fmla="*/ 0 h 4910435"/>
              <a:gd name="connsiteX2" fmla="*/ 9869864 w 9869864"/>
              <a:gd name="connsiteY2" fmla="*/ 4910435 h 4910435"/>
              <a:gd name="connsiteX3" fmla="*/ 0 w 9869864"/>
              <a:gd name="connsiteY3" fmla="*/ 4910435 h 4910435"/>
              <a:gd name="connsiteX4" fmla="*/ 0 w 9869864"/>
              <a:gd name="connsiteY4" fmla="*/ 0 h 491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910435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1667649"/>
                  <a:pt x="9863463" y="3186992"/>
                  <a:pt x="9869864" y="4910435"/>
                </a:cubicBezTo>
                <a:cubicBezTo>
                  <a:pt x="7396228" y="4824203"/>
                  <a:pt x="3393268" y="4827133"/>
                  <a:pt x="0" y="4910435"/>
                </a:cubicBezTo>
                <a:cubicBezTo>
                  <a:pt x="-145898" y="3099276"/>
                  <a:pt x="-24387" y="660950"/>
                  <a:pt x="0" y="0"/>
                </a:cubicBezTo>
                <a:close/>
              </a:path>
              <a:path w="9869864" h="4910435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1206123"/>
                  <a:pt x="9875015" y="2657538"/>
                  <a:pt x="9869864" y="4910435"/>
                </a:cubicBezTo>
                <a:cubicBezTo>
                  <a:pt x="6129429" y="4982865"/>
                  <a:pt x="4447473" y="4989383"/>
                  <a:pt x="0" y="4910435"/>
                </a:cubicBezTo>
                <a:cubicBezTo>
                  <a:pt x="77396" y="3204905"/>
                  <a:pt x="15692" y="2262567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Факторы, типичные для офиса</a:t>
            </a:r>
            <a:endParaRPr lang="ru-RU"/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Чаще всего встречаются: микроклимат (жара, холод, сквозняки), освещённость, шум, электромагнитные поля от оргтехники, а также напряжённость труда при работе за компьютером.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93B0F4-C184-417F-9035-92EF3E107ED3}"/>
              </a:ext>
            </a:extLst>
          </p:cNvPr>
          <p:cNvSpPr txBox="1"/>
          <p:nvPr/>
        </p:nvSpPr>
        <p:spPr>
          <a:xfrm>
            <a:off x="1665610" y="1467292"/>
            <a:ext cx="8753605" cy="851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Aft>
                <a:spcPts val="1200"/>
              </a:spcAft>
            </a:pPr>
            <a:endParaRPr lang="en-US" sz="1400" b="1" dirty="0">
              <a:latin typeface="Century Gothic" panose="020B0502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30E37F-2C87-4FDB-8FC5-870FFA1EDA19}"/>
              </a:ext>
            </a:extLst>
          </p:cNvPr>
          <p:cNvSpPr txBox="1"/>
          <p:nvPr/>
        </p:nvSpPr>
        <p:spPr>
          <a:xfrm>
            <a:off x="1665610" y="2826543"/>
            <a:ext cx="9133779" cy="144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5704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7FF1FBDA-7EF8-4E32-B285-B9BF1A70F363}"/>
              </a:ext>
            </a:extLst>
          </p:cNvPr>
          <p:cNvGrpSpPr/>
          <p:nvPr/>
        </p:nvGrpSpPr>
        <p:grpSpPr>
          <a:xfrm>
            <a:off x="0" y="-214817"/>
            <a:ext cx="13248168" cy="7072817"/>
            <a:chOff x="0" y="-4170772"/>
            <a:chExt cx="13248168" cy="7072817"/>
          </a:xfrm>
        </p:grpSpPr>
        <p:grpSp>
          <p:nvGrpSpPr>
            <p:cNvPr id="6" name="Группа 5">
              <a:extLst>
                <a:ext uri="{FF2B5EF4-FFF2-40B4-BE49-F238E27FC236}">
                  <a16:creationId xmlns:a16="http://schemas.microsoft.com/office/drawing/2014/main" id="{D194E697-28B3-404D-8A29-F48E94BF6241}"/>
                </a:ext>
              </a:extLst>
            </p:cNvPr>
            <p:cNvGrpSpPr/>
            <p:nvPr/>
          </p:nvGrpSpPr>
          <p:grpSpPr>
            <a:xfrm>
              <a:off x="0" y="-4170772"/>
              <a:ext cx="13248168" cy="7072817"/>
              <a:chOff x="-166577" y="-12798"/>
              <a:chExt cx="13248168" cy="7072817"/>
            </a:xfrm>
          </p:grpSpPr>
          <p:cxnSp>
            <p:nvCxnSpPr>
              <p:cNvPr id="7" name="Прямая соединительная линия 6">
                <a:extLst>
                  <a:ext uri="{FF2B5EF4-FFF2-40B4-BE49-F238E27FC236}">
                    <a16:creationId xmlns:a16="http://schemas.microsoft.com/office/drawing/2014/main" id="{82C61482-8E50-4404-94EC-6B83D92F983D}"/>
                  </a:ext>
                </a:extLst>
              </p:cNvPr>
              <p:cNvCxnSpPr/>
              <p:nvPr/>
            </p:nvCxnSpPr>
            <p:spPr>
              <a:xfrm>
                <a:off x="340242" y="202019"/>
                <a:ext cx="0" cy="685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Прямая соединительная линия 7">
                <a:extLst>
                  <a:ext uri="{FF2B5EF4-FFF2-40B4-BE49-F238E27FC236}">
                    <a16:creationId xmlns:a16="http://schemas.microsoft.com/office/drawing/2014/main" id="{79FD2ADB-6B7C-417E-8070-20B7AC7BEC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325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Прямая соединительная линия 8">
                <a:extLst>
                  <a:ext uri="{FF2B5EF4-FFF2-40B4-BE49-F238E27FC236}">
                    <a16:creationId xmlns:a16="http://schemas.microsoft.com/office/drawing/2014/main" id="{742E3E11-256E-4150-8476-2708422F0F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6271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Прямая соединительная линия 9">
                <a:extLst>
                  <a:ext uri="{FF2B5EF4-FFF2-40B4-BE49-F238E27FC236}">
                    <a16:creationId xmlns:a16="http://schemas.microsoft.com/office/drawing/2014/main" id="{71A89E76-8A26-4714-A28B-178CFA97E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9865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Прямая соединительная линия 10">
                <a:extLst>
                  <a:ext uri="{FF2B5EF4-FFF2-40B4-BE49-F238E27FC236}">
                    <a16:creationId xmlns:a16="http://schemas.microsoft.com/office/drawing/2014/main" id="{35DE7A21-97FE-45D0-A8C3-5D5C4445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1103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единительная линия 11">
                <a:extLst>
                  <a:ext uri="{FF2B5EF4-FFF2-40B4-BE49-F238E27FC236}">
                    <a16:creationId xmlns:a16="http://schemas.microsoft.com/office/drawing/2014/main" id="{2230EA40-BFDD-4F33-9739-A1F381E44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4048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Прямая соединительная линия 12">
                <a:extLst>
                  <a:ext uri="{FF2B5EF4-FFF2-40B4-BE49-F238E27FC236}">
                    <a16:creationId xmlns:a16="http://schemas.microsoft.com/office/drawing/2014/main" id="{A2F0D873-D58C-44BF-9302-3E5185DD14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95693" y="55289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Прямая соединительная линия 13">
                <a:extLst>
                  <a:ext uri="{FF2B5EF4-FFF2-40B4-BE49-F238E27FC236}">
                    <a16:creationId xmlns:a16="http://schemas.microsoft.com/office/drawing/2014/main" id="{4B549B82-A1D8-4959-A4BA-6626F5C7E9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265274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7E902903-75AC-495E-92CC-0E6B41592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198828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C10264B3-AA1B-4EDA-BFE4-9A014BE9E49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2711302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Прямая соединительная линия 16">
                <a:extLst>
                  <a:ext uri="{FF2B5EF4-FFF2-40B4-BE49-F238E27FC236}">
                    <a16:creationId xmlns:a16="http://schemas.microsoft.com/office/drawing/2014/main" id="{7DB95352-4A59-44BD-9F84-7A56998CFE6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3429000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Прямая соединительная линия 17">
                <a:extLst>
                  <a:ext uri="{FF2B5EF4-FFF2-40B4-BE49-F238E27FC236}">
                    <a16:creationId xmlns:a16="http://schemas.microsoft.com/office/drawing/2014/main" id="{B374052C-54F7-4119-BB4C-01EBB5D6B2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152013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Прямая соединительная линия 18">
                <a:extLst>
                  <a:ext uri="{FF2B5EF4-FFF2-40B4-BE49-F238E27FC236}">
                    <a16:creationId xmlns:a16="http://schemas.microsoft.com/office/drawing/2014/main" id="{A0FD0A9A-69F9-4170-BA94-3846FED025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487502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>
                <a:extLst>
                  <a:ext uri="{FF2B5EF4-FFF2-40B4-BE49-F238E27FC236}">
                    <a16:creationId xmlns:a16="http://schemas.microsoft.com/office/drawing/2014/main" id="{C7407EBB-B386-401C-9331-199FBF6114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5592726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Прямая соединительная линия 20">
                <a:extLst>
                  <a:ext uri="{FF2B5EF4-FFF2-40B4-BE49-F238E27FC236}">
                    <a16:creationId xmlns:a16="http://schemas.microsoft.com/office/drawing/2014/main" id="{5A00AFAC-24D0-4772-B007-1F6D4801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-166577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>
                <a:extLst>
                  <a:ext uri="{FF2B5EF4-FFF2-40B4-BE49-F238E27FC236}">
                    <a16:creationId xmlns:a16="http://schemas.microsoft.com/office/drawing/2014/main" id="{C92C6CD4-7D64-4358-88EB-42B20046A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5706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Прямая соединительная линия 22">
                <a:extLst>
                  <a:ext uri="{FF2B5EF4-FFF2-40B4-BE49-F238E27FC236}">
                    <a16:creationId xmlns:a16="http://schemas.microsoft.com/office/drawing/2014/main" id="{DBCB635D-5CCB-48A9-8D29-8AEA9C51BED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438" y="6305107"/>
                <a:ext cx="1252515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>
                <a:extLst>
                  <a:ext uri="{FF2B5EF4-FFF2-40B4-BE49-F238E27FC236}">
                    <a16:creationId xmlns:a16="http://schemas.microsoft.com/office/drawing/2014/main" id="{A6FC8F23-5AE0-4FDB-B2BB-E6D3E8F266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8007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Прямая соединительная линия 24">
                <a:extLst>
                  <a:ext uri="{FF2B5EF4-FFF2-40B4-BE49-F238E27FC236}">
                    <a16:creationId xmlns:a16="http://schemas.microsoft.com/office/drawing/2014/main" id="{F478A673-FAA0-40F7-9553-BE69EB9660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Прямая соединительная линия 25">
                <a:extLst>
                  <a:ext uri="{FF2B5EF4-FFF2-40B4-BE49-F238E27FC236}">
                    <a16:creationId xmlns:a16="http://schemas.microsoft.com/office/drawing/2014/main" id="{632D97B2-5B41-4725-8BED-1BB84D904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9014" y="-12795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Прямая соединительная линия 26">
                <a:extLst>
                  <a:ext uri="{FF2B5EF4-FFF2-40B4-BE49-F238E27FC236}">
                    <a16:creationId xmlns:a16="http://schemas.microsoft.com/office/drawing/2014/main" id="{0096069A-E1F5-484F-9AD5-E590F3AFB8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2032" y="-12796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Прямая соединительная линия 27">
                <a:extLst>
                  <a:ext uri="{FF2B5EF4-FFF2-40B4-BE49-F238E27FC236}">
                    <a16:creationId xmlns:a16="http://schemas.microsoft.com/office/drawing/2014/main" id="{CD8CFF4F-9474-44E2-8483-EE501133D0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65045" y="-12797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CA573EE6-F195-44AF-9C78-7860BF4CC1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77428" y="-12798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64DB25F9-7347-4751-961B-E6FEBE4F16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93347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E497B18E-A3B4-492E-98EC-EB5195E84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6362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Прямая соединительная линия 31">
                <a:extLst>
                  <a:ext uri="{FF2B5EF4-FFF2-40B4-BE49-F238E27FC236}">
                    <a16:creationId xmlns:a16="http://schemas.microsoft.com/office/drawing/2014/main" id="{9A209BAB-9A16-4C31-A951-28C1FF9C8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28743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>
                <a:extLst>
                  <a:ext uri="{FF2B5EF4-FFF2-40B4-BE49-F238E27FC236}">
                    <a16:creationId xmlns:a16="http://schemas.microsoft.com/office/drawing/2014/main" id="{DF66F787-5F35-42BB-99A2-5599D69B27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62644" y="0"/>
                <a:ext cx="0" cy="7060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A5354744-6A8D-4078-A907-2FAD85E3AF28}"/>
                </a:ext>
              </a:extLst>
            </p:cNvPr>
            <p:cNvCxnSpPr/>
            <p:nvPr/>
          </p:nvCxnSpPr>
          <p:spPr>
            <a:xfrm>
              <a:off x="0" y="2889247"/>
              <a:ext cx="125960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F1BA58C8-CB0D-42C8-9353-C041814589B5}"/>
              </a:ext>
            </a:extLst>
          </p:cNvPr>
          <p:cNvSpPr/>
          <p:nvPr/>
        </p:nvSpPr>
        <p:spPr>
          <a:xfrm>
            <a:off x="1522575" y="1523675"/>
            <a:ext cx="9869864" cy="4479264"/>
          </a:xfrm>
          <a:custGeom>
            <a:avLst/>
            <a:gdLst>
              <a:gd name="connsiteX0" fmla="*/ 0 w 9869864"/>
              <a:gd name="connsiteY0" fmla="*/ 0 h 4479264"/>
              <a:gd name="connsiteX1" fmla="*/ 9869864 w 9869864"/>
              <a:gd name="connsiteY1" fmla="*/ 0 h 4479264"/>
              <a:gd name="connsiteX2" fmla="*/ 9869864 w 9869864"/>
              <a:gd name="connsiteY2" fmla="*/ 4479264 h 4479264"/>
              <a:gd name="connsiteX3" fmla="*/ 0 w 9869864"/>
              <a:gd name="connsiteY3" fmla="*/ 4479264 h 4479264"/>
              <a:gd name="connsiteX4" fmla="*/ 0 w 9869864"/>
              <a:gd name="connsiteY4" fmla="*/ 0 h 44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479264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2011379"/>
                  <a:pt x="9863463" y="3133819"/>
                  <a:pt x="9869864" y="4479264"/>
                </a:cubicBezTo>
                <a:cubicBezTo>
                  <a:pt x="7396228" y="4393032"/>
                  <a:pt x="3393268" y="4395962"/>
                  <a:pt x="0" y="4479264"/>
                </a:cubicBezTo>
                <a:cubicBezTo>
                  <a:pt x="-145898" y="3619195"/>
                  <a:pt x="-24387" y="1200516"/>
                  <a:pt x="0" y="0"/>
                </a:cubicBezTo>
                <a:close/>
              </a:path>
              <a:path w="9869864" h="4479264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833996"/>
                  <a:pt x="9875015" y="2860015"/>
                  <a:pt x="9869864" y="4479264"/>
                </a:cubicBezTo>
                <a:cubicBezTo>
                  <a:pt x="6129429" y="4551694"/>
                  <a:pt x="4447473" y="4558212"/>
                  <a:pt x="0" y="4479264"/>
                </a:cubicBezTo>
                <a:cubicBezTo>
                  <a:pt x="77396" y="3799926"/>
                  <a:pt x="15692" y="1626302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2F2F"/>
                </a:solidFill>
                <a:latin typeface="Century Gothic"/>
              </a:rPr>
              <a:t>Главное</a:t>
            </a:r>
            <a:endParaRPr lang="ru-RU"/>
          </a:p>
          <a:p>
            <a:r>
              <a:rPr sz="800" b="0">
                <a:solidFill>
                  <a:srgbClr val="2F2F2F"/>
                </a:solidFill>
                <a:latin typeface="Century Gothic"/>
              </a:rPr>
              <a:t/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Вредные факторы ведут к болезням, опасные — к травмам. По ст. 13 ФЗ-426 они делятся на физические, химические, биологические и факторы трудового процесса (тяжесть и напряжённость).</a:t>
            </a:r>
          </a:p>
          <a:p>
            <a:r>
              <a:rPr sz="800" b="0">
                <a:solidFill>
                  <a:srgbClr val="2F2F2F"/>
                </a:solidFill>
                <a:latin typeface="Century Gothic"/>
              </a:rPr>
              <a:t/>
            </a:r>
          </a:p>
          <a:p>
            <a:r>
              <a:rPr sz="1400" b="0">
                <a:solidFill>
                  <a:srgbClr val="2F2F2F"/>
                </a:solidFill>
                <a:latin typeface="Century Gothic"/>
              </a:rPr>
              <a:t>Выявляют их через СОУТ. Цель всех мероприятий — жизнь, здоровье и защита прав работника.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47A25D5-0201-4715-B299-1F1450E9A577}"/>
              </a:ext>
            </a:extLst>
          </p:cNvPr>
          <p:cNvSpPr/>
          <p:nvPr/>
        </p:nvSpPr>
        <p:spPr>
          <a:xfrm>
            <a:off x="1161068" y="1179857"/>
            <a:ext cx="9869864" cy="4479264"/>
          </a:xfrm>
          <a:custGeom>
            <a:avLst/>
            <a:gdLst>
              <a:gd name="connsiteX0" fmla="*/ 0 w 9869864"/>
              <a:gd name="connsiteY0" fmla="*/ 0 h 4479264"/>
              <a:gd name="connsiteX1" fmla="*/ 9869864 w 9869864"/>
              <a:gd name="connsiteY1" fmla="*/ 0 h 4479264"/>
              <a:gd name="connsiteX2" fmla="*/ 9869864 w 9869864"/>
              <a:gd name="connsiteY2" fmla="*/ 4479264 h 4479264"/>
              <a:gd name="connsiteX3" fmla="*/ 0 w 9869864"/>
              <a:gd name="connsiteY3" fmla="*/ 4479264 h 4479264"/>
              <a:gd name="connsiteX4" fmla="*/ 0 w 9869864"/>
              <a:gd name="connsiteY4" fmla="*/ 0 h 44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9864" h="4479264" fill="none" extrusionOk="0">
                <a:moveTo>
                  <a:pt x="0" y="0"/>
                </a:moveTo>
                <a:cubicBezTo>
                  <a:pt x="3831520" y="-159440"/>
                  <a:pt x="6605196" y="19408"/>
                  <a:pt x="9869864" y="0"/>
                </a:cubicBezTo>
                <a:cubicBezTo>
                  <a:pt x="10027904" y="2011379"/>
                  <a:pt x="9863463" y="3133819"/>
                  <a:pt x="9869864" y="4479264"/>
                </a:cubicBezTo>
                <a:cubicBezTo>
                  <a:pt x="7396228" y="4393032"/>
                  <a:pt x="3393268" y="4395962"/>
                  <a:pt x="0" y="4479264"/>
                </a:cubicBezTo>
                <a:cubicBezTo>
                  <a:pt x="-145898" y="3619195"/>
                  <a:pt x="-24387" y="1200516"/>
                  <a:pt x="0" y="0"/>
                </a:cubicBezTo>
                <a:close/>
              </a:path>
              <a:path w="9869864" h="4479264" stroke="0" extrusionOk="0">
                <a:moveTo>
                  <a:pt x="0" y="0"/>
                </a:moveTo>
                <a:cubicBezTo>
                  <a:pt x="4863626" y="112754"/>
                  <a:pt x="7115958" y="-67146"/>
                  <a:pt x="9869864" y="0"/>
                </a:cubicBezTo>
                <a:cubicBezTo>
                  <a:pt x="9961230" y="833996"/>
                  <a:pt x="9875015" y="2860015"/>
                  <a:pt x="9869864" y="4479264"/>
                </a:cubicBezTo>
                <a:cubicBezTo>
                  <a:pt x="6129429" y="4551694"/>
                  <a:pt x="4447473" y="4558212"/>
                  <a:pt x="0" y="4479264"/>
                </a:cubicBezTo>
                <a:cubicBezTo>
                  <a:pt x="77396" y="3799926"/>
                  <a:pt x="15692" y="1626302"/>
                  <a:pt x="0" y="0"/>
                </a:cubicBezTo>
                <a:close/>
              </a:path>
            </a:pathLst>
          </a:custGeom>
          <a:solidFill>
            <a:srgbClr val="DAE3F3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635855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C2623F0-1205-437B-80EB-293BD3B22892}"/>
              </a:ext>
            </a:extLst>
          </p:cNvPr>
          <p:cNvSpPr txBox="1"/>
          <p:nvPr/>
        </p:nvSpPr>
        <p:spPr>
          <a:xfrm>
            <a:off x="1862359" y="1736635"/>
            <a:ext cx="8915312" cy="3283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38151D-9F0E-404B-808F-017B8F6E2F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0570" y="1741601"/>
            <a:ext cx="511789" cy="51178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527607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CE_TITLE" val="Введение в курс"/>
  <p:tag name="ISPRING_ULTRA_SCORM_COURSE_ID" val="C51316D6-7432-44F0-A90A-2C636C147743"/>
  <p:tag name="ISPRING_CMI5_LAUNCH_METHOD" val="any window"/>
  <p:tag name="ISPRINGCLOUDFOLDERID" val="1"/>
  <p:tag name="ISPRINGONLINEFOLDERID" val="0"/>
  <p:tag name="ISPRING_OUTPUT_FOLDER" val="[[&quot;\uFFFD\u0013a\u0006{1C4B9465-8F3B-4A3C-8E90-4D21AF58FE3D}&quot;,&quot;C:\\Users\\smart_n73gj\\OneDrive\\Рабочий стол\\46 б новый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0&quot;},&quot;cloudSettings&quot;:{&quot;onlineDestinationFolderId&quot;:&quot;1&quot;},&quot;publishDestination&quot;:&quot;ISPRING_STUDIO&quot;,&quot;wordSettings&quot;:{&quot;printCopies&quot;:1},&quot;studioSettings&quot;:{&quot;onlineDestinationFolderId&quot;:&quot;0&quot;}}"/>
  <p:tag name="ISPRING_SCORM_RATE_SLIDES" val="0"/>
  <p:tag name="ISPRING_SCORM_PASSING_SCORE" val="0.000000"/>
  <p:tag name="ISPRING_PRESENTATION_TITLE" val="Введение в курс"/>
  <p:tag name="ISPRING_FIRST_PUBLISH" val="1"/>
  <p:tag name="ISPRING-SUITE_ISPRING_PLAYERS_CUSTOMIZATION_2" val="{&quot;universal&quot;:{&quot;skinSettings&quot;:{&quot;borderRadius&quot;:10,&quot;colors&quot;:{&quot;asideBackground&quot;:{&quot;color&quot;:&quot;#EFF1F2&quot;,&quot;opacity&quot;:1,&quot;type&quot;:&quot;SOLID&quot;},&quot;asideElementBackgroundActive&quot;:{&quot;color&quot;:&quot;#D5D9DB&quot;,&quot;opacity&quot;:1,&quot;type&quot;:&quot;SOLID&quot;},&quot;asideElementBackgroundHover&quot;:{&quot;color&quot;:&quot;#DDE2E5&quot;,&quot;opacity&quot;:1,&quot;type&quot;:&quot;SOLID&quot;},&quot;asideElementText&quot;:{&quot;color&quot;:&quot;#34383D&quot;,&quot;opacity&quot;:1,&quot;type&quot;:&quot;SOLID&quot;},&quot;asideElementTextActive&quot;:{&quot;color&quot;:&quot;#42484E&quot;,&quot;opacity&quot;:1,&quot;type&quot;:&quot;SOLID&quot;},&quot;asideElementTextHover&quot;:{&quot;color&quot;:&quot;#42484E&quot;,&quot;opacity&quot;:1,&quot;type&quot;:&quot;SOLID&quot;},&quot;asideLogoBackground&quot;:{&quot;color&quot;:&quot;#EFF1F2&quot;,&quot;opacity&quot;:1,&quot;type&quot;:&quot;SOLID&quot;},&quot;pageBackground&quot;:{&quot;color&quot;:&quot;#DCDEE0&quot;,&quot;opacity&quot;:1,&quot;type&quot;:&quot;SOLID&quot;},&quot;playerBackground&quot;:{&quot;color&quot;:&quot;#FFFFFF&quot;,&quot;opacity&quot;:1,&quot;type&quot;:&quot;SOLID&quot;},&quot;playerText&quot;:{&quot;color&quot;:&quot;#616870&quot;,&quot;opacity&quot;:1,&quot;type&quot;:&quot;SOLID&quot;},&quot;primaryButtonBackground&quot;:{&quot;color&quot;:&quot;#5F8BD9&quot;,&quot;opacity&quot;:1,&quot;type&quot;:&quot;SOLID&quot;},&quot;primaryButtonBackgroundHover&quot;:{&quot;color&quot;:&quot;#5077BB&quot;,&quot;opacity&quot;:1,&quot;type&quot;:&quot;SOLID&quot;},&quot;primaryButtonBorder&quot;:{&quot;color&quot;:&quot;#5F8BD9&quot;,&quot;opacity&quot;:1,&quot;type&quot;:&quot;SOLID&quot;},&quot;primaryButtonBorderHover&quot;:{&quot;color&quot;:&quot;#5077BB&quot;,&quot;opacity&quot;:1,&quot;type&quot;:&quot;SOLID&quot;},&quot;primaryButtonText&quot;:{&quot;color&quot;:&quot;#FFFFFF&quot;,&quot;opacity&quot;:1,&quot;type&quot;:&quot;SOLID&quot;},&quot;primaryButtonTextHover&quot;:{&quot;color&quot;:&quot;#FFFFFF&quot;,&quot;opacity&quot;:1,&quot;type&quot;:&quot;SOLID&quot;},&quot;secondaryButtonBackground&quot;:{&quot;color&quot;:&quot;#F1F2F4&quot;,&quot;opacity&quot;:1,&quot;type&quot;:&quot;SOLID&quot;},&quot;secondaryButtonBackgroundHover&quot;:{&quot;color&quot;:&quot;#E5E5E5&quot;,&quot;opacity&quot;:1,&quot;type&quot;:&quot;SOLID&quot;},&quot;secondaryButtonBorder&quot;:{&quot;color&quot;:&quot;#F1F2F4&quot;,&quot;opacity&quot;:1,&quot;type&quot;:&quot;SOLID&quot;},&quot;secondaryButtonBorderHover&quot;:{&quot;color&quot;:&quot;#E5E5E5&quot;,&quot;opacity&quot;:1,&quot;type&quot;:&quot;SOLID&quot;},&quot;secondaryButtonText&quot;:{&quot;color&quot;:&quot;#616870&quot;,&quot;opacity&quot;:1,&quot;type&quot;:&quot;SOLID&quot;},&quot;secondaryButtonTextHover&quot;:{&quot;color&quot;:&quot;#616870&quot;,&quot;opacity&quot;:1,&quot;type&quot;:&quot;SOLID&quot;}},&quot;controlPanel&quot;:{&quot;navigationMode&quot;:&quot;bySlides&quot;,&quot;progressBar&quot;:{&quot;enabled&quot;:true,&quot;mode&quot;:&quot;presentationTimeline&quot;,&quot;showLabels&quot;:true,&quot;visible&quot;:true},&quot;showCCButton&quot;:false,&quot;showNextButton&quot;:true,&quot;showOutline&quot;:false,&quot;showPlayPause&quot;:true,&quot;showPlaybackRateButton&quot;:true,&quot;showPrevButton&quot;:true,&quot;showRewind&quot;:false,&quot;showSlideNumbers&quot;:true,&quot;showSlideOnlyButton&quot;:true,&quot;showVolumeControl&quot;:true,&quot;visible&quot;:true},&quot;fontFamily&quot;:&quot;Arial&quot;,&quot;miniskinCustomizationEnabled&quot;:true,&quot;outlinePanel&quot;:{&quot;highlightViewedEntries&quot;:false,&quot;multilevel&quot;:true,&quot;numberEntries&quot;:true,&quot;search&quot;:true,&quot;thumbnails&quot;:true},&quot;sidePanel&quot;:{&quot;showAtLeft&quot;:false,&quot;showLogo&quot;:false,&quot;showNotes&quot;:true,&quot;showOutline&quot;:true,&quot;showPresenterInfo&quot;:true,&quot;showPresenterVideo&quot;:false,&quot;visible&quot;:true},&quot;titlePanel&quot;:{&quot;buttons&quot;:[&quot;attachments&quot;,&quot;markerTools&quot;],&quot;buttonsAtLeft&quot;:true,&quot;courseTitleVisible&quot;:true,&quot;showLogo&quot;:false,&quot;visible&quot;:true},&quot;version&quot;:&quot;1.0&quot;},&quot;skinMessages&quot;:{&quot;PB_ACCESSIBLE_ARIA_LABEL_BACK_TO_BEGIN&quot;:&quot;Перейти к началу слайда&quot;,&quot;PB_ACCESSIBLE_ARIA_LABEL_BOTTOM_PANEL&quot;:&quot;Нижняя панель&quot;,&quot;PB_ACCESSIBLE_ARIA_LABEL_NAVIGATION_BUTTONS&quot;:&quot;Кнопки навигации&quot;,&quot;PB_ACCESSIBLE_ARIA_LABEL_SETTINGS&quot;:&quot;Настройки доступности&quot;,&quot;PB_ACCESSIBLE_ARIA_LABEL_SLIDE&quot;:&quot;Слайд&quot;,&quot;PB_ACCESSIBLE_ARIA_LABEL_TOP_PANEL&quot;:&quot;Верхняя панель&quot;,&quot;PB_ACCESSIBLE_AUDIO_NARRATION_LABEL&quot;:&quot;Аудиосопровождение&quot;,&quot;PB_ACCESSIBLE_NAVIGATION_NEXT_BUTTON&quot;:&quot;Далее&quot;,&quot;PB_ACCESSIBLE_NAVIGATION_PREV_BUTTON&quot;:&quot;Назад&quot;,&quot;PB_ACCESSIBLE_SKIN_ENABLE_ACCESSIBILITY_MODE&quot;:&quot;В режим для слабовидящих&quot;,&quot;PB_ACCESSIBLE_SKIN_ENABLE_NORMAL_MODE&quot;:&quot;В режим полного плеера&quot;,&quot;PB_ACCESSIBLE_SKIN_PRESENTER_PHOTO&quot;:&quot;Фотография докладчика&quot;,&quot;PB_ACCESSIBLE_SLIDE_N_OF_COUNT&quot;:&quot;Слайд %SLIDE_NUMBER% из %TOTAL_SLIDES%&quot;,&quot;PB_ACCESSIBLE_VIDEO_NARRATION_LABEL&quot;:&quot;Видеосопровождение&quot;,&quot;PB_ACCESSIBLE_WATERMARK_SKIN_CREATED_WITH&quot;:&quot;Создано с помощью демо-версии iSpring&quot;,&quot;PB_ATTACHMENT_DOCUMENT_SUBTITLE&quot;:&quot;Документ&quot;,&quot;PB_ATTACHMENT_FILE_SUBTITLE&quot;:&quot;Файл&quot;,&quot;PB_ATTACHMENT_IMAGE_SUBTITLE&quot;:&quot;Изображение&quot;,&quot;PB_ATTACHMENT_LINK_SUBTITLE&quot;:&quot;Ссылка&quot;,&quot;PB_ATTACHMENT_VIDEO_SUBTITLE&quot;:&quot;Видео&quot;,&quot;PB_BACK_TO_APP_BUTTON_LABEL&quot;:&quot;Назад&quot;,&quot;PB_CC_MENU_OFF&quot;:&quot;Выкл.&quot;,&quot;PB_CC_MENU_ON&quot;:&quot;Вкл.&quot;,&quot;PB_CC_MENU_TITLE&quot;:&quot;Заметки&quot;,&quot;PB_CONTROL_PANEL_EXIT_FULL_SCREEN&quot;:&quot;Выход из полноэкранного режима&quot;,&quot;PB_CONTROL_PANEL_FULL_SCREEN&quot;:&quot;На весь экран&quot;,&quot;PB_CONTROL_PANEL_NEXT&quot;:&quot;Далее&quot;,&quot;PB_CONTROL_PANEL_OUTLINE&quot;:&quot;Слайды&quot;,&quot;PB_CONTROL_PANEL_PREV&quot;:&quot;&quot;,&quot;PB_CONTROL_PANEL_REPLAY&quot;:&quot;Повторить&quot;,&quot;PB_CONTROL_PANEL_SLIDE_COUNTER&quot;:&quot;%SLIDE_NUMBER% из %TOTAL_SLIDES%&quot;,&quot;PB_CONTROL_PANEL_VOLUME_CONTROL&quot;:&quot;Громкость&quot;,&quot;PB_CURRENT_SLIDE_IS_NOT_COMPLETED&quot;:&quot;Чтобы продолжить, просмотрите слайд до конца.&quot;,&quot;PB_DOMAIN_RESTRICTION&quot;:&quot;Автор запретил просмотр презентации на этом домене.&quot;,&quot;PB_DRAWING_TOOLS_END_DRAWING&quot;:&quot;Завершить рисование&quot;,&quot;PB_DRAWING_TOOLS_ERASER&quot;:&quot;Ластик&quot;,&quot;PB_DRAWING_TOOLS_ERASE_ALL&quot;:&quot;Очистить все&quot;,&quot;PB_DRAWING_TOOLS_HIGHLIGHTER&quot;:&quot;Маркер&quot;,&quot;PB_DRAWING_TOOLS_PEN&quot;:&quot;Фломастер&quot;,&quot;PB_ENTER_PASSWORD&quot;:&quot;Введите пароль, чтобы посмотреть эту презентацию.&quot;,&quot;PB_INCORRECT_PASSWORD&quot;:&quot;Неверный пароль&quot;,&quot;PB_INTERACTION_SLIDE_WINDOW_TEXT&quot;:&quot;Чтобы перейти на другой слайд, нужно завершить интерактивность.&quot;,&quot;PB_MESSAGE_BOX_NO&quot;:&quot;Нет&quot;,&quot;PB_MESSAGE_BOX_OK&quot;:&quot;ОК&quot;,&quot;PB_MESSAGE_BOX_YES&quot;:&quot;Да&quot;,&quot;PB_NAVIGATION_IS_RESTRICTED&quot;:&quot;Слайды можно просматривать только по порядку.&quot;,&quot;PB_NAVIGATION_IS_SEQUENTIAL&quot;:&quot;Слайды можно просматривать только по порядку.&quot;,&quot;PB_PLAYBACK_RATE_MENU_CAPTION&quot;:&quot;Скорость&quot;,&quot;PB_PRECEDING_QUIZ_FAILED_WINDOW_TEXT&quot;:&quot;Вы не прошли тест на слайде %SLIDE_INDEX% и не можете перейти к следующим слайдам.&quot;,&quot;PB_PRECEDING_QUIZ_NOT_COMPLETED_WINDOW_TEXT&quot;:&quot;Для перехода на этот слайд нужно завершить тест на слайде %SLIDE_INDEX%.&quot;,&quot;PB_PRECEDING_QUIZ_NOT_PASSED_WINDOW_TEXT&quot;:&quot;Для перехода на этот слайд нужно успешно пройти тест на слайде %SLIDE_INDEX%.&quot;,&quot;PB_PRECEDING_SCENARIO_FAILED_WINDOW_TEXT&quot;:&quot;Вы не прошли диалоговый тренажер на слайде %SLIDE_INDEX% и не можете перейти к следующим слайдам.&quot;,&quot;PB_PRECEDING_SCENARIO_NOT_COMPLETED_WINDOW_TEXT&quot;:&quot;Для перехода на этот слайд нужно завершить диалоговый тренажер на слайде %SLIDE_INDEX%.&quot;,&quot;PB_PRECEDING_SCENARIO_NOT_PASSED_WINDOW_TEXT&quot;:&quot;Для перехода на этот слайд нужно успешно завершить диалоговый тренажер на слайде %SLIDE_INDEX%.&quot;,&quot;PB_PRESENTER_COLLAPSE_BIO&quot;:&quot;скрыть&quot;,&quot;PB_PRESENTER_EMAIL&quot;:&quot;Email&quot;,&quot;PB_PRESENTER_EXPAND_BIO&quot;:&quot;показать еще&quot;,&quot;PB_PRESENTER_NO_INFO&quot;:&quot;Нет информации о докладчике&quot;,&quot;PB_PRESENTER_WEBSITE&quot;:&quot;Сайт&quot;,&quot;PB_QUIZ_SLIDE_WINDOW_TEXT&quot;:&quot;Чтобы перейти на другой слайд, нужно завершить тест.&quot;,&quot;PB_RATE_MENU_CAPTION&quot;:&quot;Скорость&quot;,&quot;PB_RATE_MENU_DEFAULT_RATE&quot;:&quot;Обычная&quot;,&quot;PB_RESUME_PRESENTATION_WINDOW_TEXT&quot;:&quot;Продолжить просмотр с места, где вы остановились?&quot;,&quot;PB_SCENARIO_SLIDE_WINDOW_TEXT&quot;:&quot;Для перехода на этот слайд нужно завершить диалоговый тренажер.&quot;,&quot;PB_SEARCH_CANCEL&quot;:&quot;Отмена&quot;,&quot;PB_SEARCH_NO_RESULTS_LABEL&quot;:&quot;Ничего не нашлось.&quot;,&quot;PB_SEARCH_PANEL_DEFAULT_TEXT&quot;:&quot;Поиск…&quot;,&quot;PB_SEARCH_RESULTS_LABEL&quot;:&quot;Результаты поиска&quot;,&quot;PB_SEARCH_RESULT_IN_NOTES&quot;:&quot;в заметках&quot;,&quot;PB_SEARCH_RESULT_IN_TEXT_LABEL&quot;:&quot;на слайде&quot;,&quot;PB_SUBTITLES_MENU_CAPTION&quot;:&quot;Субтитры&quot;,&quot;PB_SUBTITLES_OFF&quot;:&quot;Выкл.&quot;,&quot;PB_TAB_NOTES_LABEL&quot;:&quot;Заметки&quot;,&quot;PB_TAB_OUTLINE_LABEL&quot;:&quot;Слайды&quot;,&quot;PB_TIME_RESTRICTION&quot;:&quot;В настоящее время просмотр этой презентации запрещен ее автором.&quot;,&quot;PB_TITLE_PANEL_ATTACHMENTS&quot;:&quot;Ресурсы&quot;,&quot;PB_TITLE_PANEL_MARKER_TOOLS&quot;:&quot;Рисование&quot;,&quot;PB_TITLE_PANEL_NOTES&quot;:&quot;Заметки&quot;,&quot;PB_TITLE_PANEL_OUTLINE&quot;:&quot;Оглавление&quot;,&quot;PB_TITLE_PANEL_PRESENTER_INFO&quot;:&quot;Докладчик&quot;,&quot;PB_TREE_CONTROL_LOADING&quot;:&quot;Загрузка…&quot;,&quot;PB_VIDEO_WINDOW_NO_VIDEO_LABEL&quot;:&quot;Нет видео&quot;},&quot;playbackAndNavigationSettings&quot;:{&quot;autoStart&quot;:true,&quot;saveAnimationStates&quot;:true,&quot;loopPresentation&quot;:false,&quot;autoPlayAnimations&quot;:false,&quot;autoPlayAnimationsTime&quot;:1,&quot;navigationType&quot;:&quot;FREE&quot;,&quot;resumeMode&quot;:&quot;PROMPT&quot;,&quot;enableKeyboardNavigation&quot;:true},&quot;keyboardSettings&quot;:&quot;&quot;,&quot;skinVersion&quot;:2,&quot;skinCompatibleVersion&quot;:0,&quot;publishSettings&quot;:{&quot;backgroundColor&quot;:&quot;#DCDEE0&quot;,&quot;playerDimensions&quot;:{&quot;height&quot;:144,&quot;width&quot;:296},&quot;playerModule&quot;:&quot;UniversalHtml&quot;,&quot;presentationContent&quot;:{&quot;metadata&quot;:{&quot;references&quot;:true,&quot;texts&quot;:[&quot;DT_COURSE_TITLE&quot;,&quot;DT_REFERENCE_URL&quot;,&quot;DT_REFERENCE_TITLE&quot;,&quot;DT_PRESENTER_BIO&quot;,&quot;DT_PRESENTER_EMAIL&quot;,&quot;DT_PRESENTER_WEBSITE&quot;,&quot;DT_PRESENTER_PHONE&quot;,&quot;DT_PRESENTER_TITLE&quot;,&quot;DT_PRESENTER_NAME&quot;,&quot;DT_SLIDE_NOTES_HTML&quot;,&quot;DT_SLIDE_NOTES_TEXT&quot;,&quot;DT_SLIDE_TITLE&quot;,&quot;DT_SLIDE_NOTES_TEXT&quot;,&quot;DT_SLIDE_TEXT&quot;,&quot;DT_HYPERLINK_TOOLTIP&quot;]},&quot;resources&quot;:{&quot;attachments&quot;:true,&quot;fonts&quot;:[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&quot;,&quot;fontFamily&quot;:&quot;Arial&quot;,&quot;isBold&quot;:false,&quot;isItalic&quot;:fals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&quot;,&quot;fontFamily&quot;:&quot;Arial&quot;,&quot;isBold&quot;:true,&quot;isItalic&quot;:fals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i&quot;,&quot;fontFamily&quot;:&quot;Arial&quot;,&quot;isBold&quot;:false,&quot;isItalic&quot;:tru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bi&quot;,&quot;fontFamily&quot;:&quot;Arial&quot;,&quot;isBold&quot;:true,&quot;isItalic&quot;:true,&quot;isSemibold&quot;:fals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&quot;,&quot;fontFamily&quot;:&quot;Arial&quot;,&quot;isBold&quot;:false,&quot;isItalic&quot;:false,&quot;isSemibold&quot;:true,&quot;substituteFontFamily&quot;:&quot;Arial&quot;},{&quot;charsets&quot;:{&quot;dynamicFormatted&quot;:[&quot;DCT_SLIDE_NOTES_TEXT&quot;,&quot;DCT_INTERACTIVITY_TEXT&quot;,&quot;DCT_INTERACTIVITY_SEMIBOLD_TEXT&quot;],&quot;dynamicPlain&quot;:[&quot;DCT_COURSE_TITLE&quot;,&quot;DCT_REFERENCE_URL&quot;,&quot;DCT_REFERENCE_TITLE&quot;,&quot;DCT_PRESENTER_BIO&quot;,&quot;DCT_PRESENTER_EMAIL&quot;,&quot;DCT_PRESENTER_WEBSITE&quot;,&quot;DCT_PRESENTER_PHONE&quot;,&quot;DCT_PRESENTER_TITLE&quot;,&quot;DCT_PRESENTER_NAME&quot;,&quot;DCT_SLIDE_TITLE&quot;,&quot;DCT_SLIDE_NOTES_TEXT&quot;,&quot;DCT_SLIDE_TEXT&quot;,&quot;DCT_HYPERLINK_TOOLTIP&quot;],&quot;static&quot;:[&quot;Ресурсы&quot;,&quot;Ссылка&quot;,&quot;Изображение&quot;,&quot;Видео&quot;,&quot;Документ&quot;,&quot;Файл&quot;,&quot;Рисование&quot;,&quot;Фломастер&quot;,&quot;Маркер&quot;,&quot;Ластик&quot;,&quot;Очистить все&quot;,&quot;Завершить рисование&quot;,&quot;Email&quot;,&quot;Сайт&quot;,&quot;показать еще&quot;,&quot;скрыть&quot;,&quot;Заметки&quot;,&quot;Слайды&quot;,&quot;Поиск…&quot;,&quot;на слайде&quot;,&quot;Результаты поиска&quot;,&quot;Ничего не нашлось.&quot;,&quot;в заметках&quot;,&quot;Отмена&quot;,&quot;Далее&quot;,&quot;На весь экран&quot;,&quot;Выход из полноэкранного режима&quot;,&quot;0123456789.,x&quot;,&quot;Скорость&quot;,&quot;Обычная&quot;,&quot;Громкость&quot;,&quot;%SLIDE_NUMBER% из %TOTAL_SLIDES%&quot;,&quot;Да&quot;,&quot;Нет&quot;,&quot;ОК&quot;,&quot;Продолжить просмотр с места, где вы остановились?&quot;,&quot;Чтобы продолжить, просмотрите слайд до конца.&quot;,&quot;Слайды можно просматривать только по порядку.&quot;,&quot;Чтобы перейти на другой слайд, нужно завершить тест.&quot;,&quot;Для перехода на этот слайд нужно успешно пройти тест на слайде %SLIDE_INDEX%.&quot;,&quot;Для перехода на этот слайд нужно завершить тест на слайде %SLIDE_INDEX%.&quot;,&quot;Вы не прошли тест на слайде %SLIDE_INDEX% и не можете перейти к следующим слайдам.&quot;,&quot;Чтобы перейти на другой слайд, нужно завершить интерактивность.&quot;,&quot;Для перехода на этот слайд нужно завершить диалоговый тренажер.&quot;,&quot;Для перехода на этот слайд нужно успешно завершить диалоговый тренажер на слайде %SLIDE_INDEX%.&quot;,&quot;Для перехода на этот слайд нужно завершить диалоговый тренажер на слайде %SLIDE_INDEX%.&quot;,&quot;Вы не прошли диалоговый тренажер на слайде %SLIDE_INDEX% и не можете перейти к следующим слайдам.&quot;,&quot;Введите пароль, чтобы посмотреть эту презентацию.&quot;,&quot;Неверный пароль&quot;,&quot;Автор запретил просмотр презентации на этом домене.&quot;,&quot;В настоящее время просмотр этой презентации запрещен ее автором.&quot;,&quot;Назад&quot;]},&quot;embedName&quot;:&quot;PFnsbi&quot;,&quot;fontFamily&quot;:&quot;Arial&quot;,&quot;isBold&quot;:false,&quot;isItalic&quot;:true,&quot;isSemibold&quot;:true,&quot;substituteFontFamily&quot;:&quot;Arial&quot;}],&quot;interactivity&quot;:{&quot;fullSupport&quot;:true},&quot;presenterPhotos&quot;:{&quot;enlargeToFit&quot;:false,&quot;height&quot;:105,&quot;jpegQuality&quot;:100,&quot;keepAspectRatio&quot;:true,&quot;width&quot;:94},&quot;slideThumbnails&quot;:{&quot;enlargeToFit&quot;:false,&quot;height&quot;:59,&quot;jpegQuality&quot;:100,&quot;keepAspectRatio&quot;:true,&quot;width&quot;:78}}}},&quot;ceipData&quot;:{&quot;enableMiniSkinCustomization&quot;:true,&quot;playerLayout&quot;:&quot;builtin.fullPlayerWithSidebar&quot;,&quot;playerLayoutFooter&quot;:&quot;playAndPause,acceleration,fullscreen,volumeControl,slideNumber,goToPrev,goToNext&quot;,&quot;playerLayoutHeader&quot;:&quot;resources,markerTools,title&quot;,&quot;playerLayoutHeaderButtonsPosition&quot;:&quot;left&quot;,&quot;playerLayoutOutline&quot;:&quot;enableSearch,showThumbnails,showSlideNumber,enableMultilevel&quot;,&quot;playerLayoutProgress&quot;:&quot;enabledNavigation,showLabels&quot;,&quot;playerLayoutProgressMode&quot;:&quot;presentationTimeline&quot;,&quot;playerLayoutSidebar&quot;:&quot;presenterInfo,notes,outline&quot;,&quot;playerLayoutSidebarPosition&quot;:&quot;right&quot;,&quot;playerMessages&quot;:&quot;builtin.ru&quot;,&quot;playerNavigationAutoStart&quot;:true,&quot;playerNavigationEnableKeyboardNavigation&quot;:true,&quot;playerNavigationMode&quot;:&quot;bySlides&quot;,&quot;playerNavigationOnRestart&quot;:&quot;prompt&quot;,&quot;playerNavigationSaveAnimationStates&quot;:true,&quot;playerNavigationType&quot;:&quot;free&quot;,&quot;playerTheme&quot;:&quot;custom&quot;,&quot;playerThemeBorderRadius&quot;:10,&quot;playerThemeColorScheme&quot;:&quot;builtin.lightBlue&quot;,&quot;playerThemeFont&quot;:&quot;Arial&quot;}}}"/>
  <p:tag name="ISPRING-SUITE_ISPRING_CURRENT_PLAYER_ID" val="universal"/>
  <p:tag name="ISPRING_PRESENTATION_COURSE_TITLE" val="Введение в курс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97E87E6-4EE5-43D2-BD4C-0DC33A916F95}:422"/>
  <p:tag name="GENSWF_SLIDE_TITLE" val="Введение"/>
  <p:tag name="ISPRING_SLIDE_INDENT_LEVEL" val="0"/>
  <p:tag name="ISPRING_CUSTOM_TIMING_US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77879E7-AB68-4AAC-BD58-F082201D248B}:410"/>
  <p:tag name="GENSWF_SLIDE_TITLE" val="Введение"/>
  <p:tag name="ISPRING_SLIDE_INDENT_LEVEL" val="0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86C9B36-7C13-4650-AC74-074F0033CD1F}:41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980D539-E82C-475E-8EA3-868D670D0B8B}:41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475</Words>
  <Application>Microsoft Office PowerPoint</Application>
  <PresentationFormat>Широкоэкранный</PresentationFormat>
  <Paragraphs>58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Bahnschrift Light</vt:lpstr>
      <vt:lpstr>Calibri</vt:lpstr>
      <vt:lpstr>Calibri Light</vt:lpstr>
      <vt:lpstr>Century Gothic</vt:lpstr>
      <vt:lpstr>Fira Sans Black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курс</dc:title>
  <dc:creator>Out Smarta</dc:creator>
  <cp:lastModifiedBy>Out Smarta</cp:lastModifiedBy>
  <cp:revision>19</cp:revision>
  <dcterms:created xsi:type="dcterms:W3CDTF">2023-06-19T06:19:40Z</dcterms:created>
  <dcterms:modified xsi:type="dcterms:W3CDTF">2023-07-31T12:27:44Z</dcterms:modified>
</cp:coreProperties>
</file>