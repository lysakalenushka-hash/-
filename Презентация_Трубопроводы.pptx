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00000"/>
            <a:ext cx="110944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Промышленная безопасность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00000"/>
            <a:ext cx="11094415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Inter"/>
              </a:rPr>
              <a:t>Устройство и назначение трубопроводов пара и горячей воды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00000"/>
            <a:ext cx="11094415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Inter"/>
              </a:rPr>
              <a:t>ФНП при использовании оборудования, работающего под избыточным давлением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90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E30613"/>
                </a:solidFill>
                <a:latin typeface="Inter"/>
              </a:rPr>
              <a:t>01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900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Нормативная база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0000"/>
            <a:ext cx="11094415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Inter"/>
              </a:rPr>
              <a:t>Федеральные нормы и правила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58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Inter"/>
              </a:rPr>
              <a:t>Приказ Ростехнадзора от 15.12.2020 № 536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00000"/>
            <a:ext cx="11094415" cy="2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Об утверждении федеральных норм и правил в области промышленной безопасности «Правила промышленной безопасности при использовании оборудования, работающего под избыточным давлением» (далее — ФНП).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90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E30613"/>
                </a:solidFill>
                <a:latin typeface="Inter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900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Общие положения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0000"/>
            <a:ext cx="11094415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Inter"/>
              </a:rPr>
              <a:t>Назначение ФНП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58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Inter"/>
              </a:rPr>
              <a:t>Требования промышленной безопасности при эксплуатации оборудования под давлением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50000"/>
            <a:ext cx="58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ФНП устанавливают требования промышленной безопасности при разработке, размещении, монтаже, наладке, эксплуатации, ремонте, реконструкции, техническом освидетельствовании и диагностировании оборудования, работающего под избыточным давлением.</a:t>
            </a:r>
          </a:p>
        </p:txBody>
      </p:sp>
      <p:pic>
        <p:nvPicPr>
          <p:cNvPr id="7" name="Picture 6" descr="industrial_steam_side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0000" y="1200000"/>
            <a:ext cx="5200000" cy="4800000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90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E30613"/>
                </a:solidFill>
                <a:latin typeface="Inter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900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Общие положения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0000"/>
            <a:ext cx="11094415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Inter"/>
              </a:rPr>
              <a:t>Область применения ФНП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58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Inter"/>
              </a:rPr>
              <a:t>Требования обязательны при следующих видах работ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5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5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при разработке технологических процессов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3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3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при техническом перевооружении опасного производственного объекта (ОПО)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1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1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при размещении, монтаже и ремонте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9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9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при реконструкции (модернизации) оборудования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7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7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при наладке и эксплуатации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5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05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при техническом освидетельствовании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63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63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при техническом диагностировании и экспертизе промышленной безопасности</a:t>
            </a:r>
          </a:p>
        </p:txBody>
      </p:sp>
      <p:pic>
        <p:nvPicPr>
          <p:cNvPr id="20" name="Picture 19" descr="pipeline_system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0000" y="1200000"/>
            <a:ext cx="5200000" cy="4800000"/>
          </a:xfrm>
          <a:prstGeom prst="rect">
            <a:avLst/>
          </a:prstGeom>
        </p:spPr>
      </p:pic>
      <p:cxnSp>
        <p:nvCxnSpPr>
          <p:cNvPr id="21" name="Connector 20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90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E30613"/>
                </a:solidFill>
                <a:latin typeface="Inter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900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Общие положения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0000"/>
            <a:ext cx="11094415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Inter"/>
              </a:rPr>
              <a:t>К какому оборудованию применяются ФНП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58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Inter"/>
              </a:rPr>
              <a:t>Оборудование, работающее под избыточным давлением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5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5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паровые и водогрейные котлы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3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3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сосуды, работающие под давлением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1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1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трубопроводы пара и горячей воды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9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9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газовые баллоны и резервуары для сжатых газов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7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7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арматуру и предохранительные устройства</a:t>
            </a:r>
          </a:p>
        </p:txBody>
      </p:sp>
      <p:pic>
        <p:nvPicPr>
          <p:cNvPr id="16" name="Picture 15" descr="industrial_steam_side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0000" y="1200000"/>
            <a:ext cx="5200000" cy="480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1520" y="5852160"/>
            <a:ext cx="107286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Inter"/>
              </a:rPr>
              <a:t>ФНП обязательны для всех стадий жизненного цикла оборудования под давлением.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90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E30613"/>
                </a:solidFill>
                <a:latin typeface="Inter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900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Устройство трубопроводов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0000"/>
            <a:ext cx="11094415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Inter"/>
              </a:rPr>
              <a:t>Конструкция трубопроводов пара и горячей воды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58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Inter"/>
              </a:rPr>
              <a:t>Назначение и общие требования к устройству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50000"/>
            <a:ext cx="58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Трубопроводы пара и горячей воды предназначены для транспортировки теплоносителя от источника тепла к потребителям. Конструкция должна обеспечивать прочность, герметичность, компенсацию температурных деформаций и безопасную эксплуатацию.</a:t>
            </a:r>
          </a:p>
        </p:txBody>
      </p:sp>
      <p:pic>
        <p:nvPicPr>
          <p:cNvPr id="7" name="Picture 6" descr="pipeline_system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0000" y="1200000"/>
            <a:ext cx="5200000" cy="4800000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90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E30613"/>
                </a:solidFill>
                <a:latin typeface="Inter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900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Устройство трубопроводов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0000"/>
            <a:ext cx="11094415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Inter"/>
              </a:rPr>
              <a:t>Состав трубопровода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58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Inter"/>
              </a:rPr>
              <a:t>Трубопровод состоит из основных элементов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5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5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плотно соединённых между собой прямых участков труб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3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3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фасонных деталей — отводы, переходники, тройники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1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1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крепёжных элементов — фланцы, болты, шпильки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9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9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арматуры — краны, вентили, задвижки, регулирующие клапаны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7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7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редуцирующих и предохранительных клапанов</a:t>
            </a:r>
          </a:p>
        </p:txBody>
      </p:sp>
      <p:pic>
        <p:nvPicPr>
          <p:cNvPr id="16" name="Picture 15" descr="pipeline_assembly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0000" y="1200000"/>
            <a:ext cx="5200000" cy="4800000"/>
          </a:xfrm>
          <a:prstGeom prst="rect">
            <a:avLst/>
          </a:prstGeom>
        </p:spPr>
      </p:pic>
      <p:cxnSp>
        <p:nvCxnSpPr>
          <p:cNvPr id="17" name="Connector 1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90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E30613"/>
                </a:solidFill>
                <a:latin typeface="Inter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900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Устройство трубопроводов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0000"/>
            <a:ext cx="11094415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Inter"/>
              </a:rPr>
              <a:t>Приборы КИПиА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58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Inter"/>
              </a:rPr>
              <a:t>Контрольно-измерительные приборы и автоматика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5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5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манометры — контроль давления в трубопроводе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3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3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термометры — контроль температуры теплоносителя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1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1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расходомеры — учёт и контроль расхода среды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9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9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диафрагмы — измерение расхода по перепаду давления</a:t>
            </a:r>
          </a:p>
        </p:txBody>
      </p:sp>
      <p:pic>
        <p:nvPicPr>
          <p:cNvPr id="14" name="Picture 13" descr="kipia_instru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00000"/>
            <a:ext cx="10700000" cy="250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520" y="5852160"/>
            <a:ext cx="107286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Inter"/>
              </a:rPr>
              <a:t>Приборы КИПиА обеспечивают контроль параметров и безопасную эксплуатацию.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90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E30613"/>
                </a:solidFill>
                <a:latin typeface="Inter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900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Устройство трубопроводов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0000"/>
            <a:ext cx="11094415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Inter"/>
              </a:rPr>
              <a:t>Опорно-подвесная система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58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Inter"/>
              </a:rPr>
              <a:t>Крепление и поддержание трубопровода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5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5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неподвижные опоры — фиксируют положение трубопровода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3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3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подвижные опоры — допускают перемещение при температурных деформациях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1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1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скользящие, катковые и подвесные опоры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9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9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пружинные и жёсткие подвески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7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7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направляющие и ограничители перемещения</a:t>
            </a:r>
          </a:p>
        </p:txBody>
      </p:sp>
      <p:pic>
        <p:nvPicPr>
          <p:cNvPr id="16" name="Picture 15" descr="pipe_supports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0000" y="1200000"/>
            <a:ext cx="5200000" cy="4800000"/>
          </a:xfrm>
          <a:prstGeom prst="rect">
            <a:avLst/>
          </a:prstGeom>
        </p:spPr>
      </p:pic>
      <p:cxnSp>
        <p:nvCxnSpPr>
          <p:cNvPr id="17" name="Connector 1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90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E30613"/>
                </a:solidFill>
                <a:latin typeface="Inter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900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Устройство трубопроводов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0000"/>
            <a:ext cx="11094415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Inter"/>
              </a:rPr>
              <a:t>Конденсатоотводчики, дренажи и патрубки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58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Inter"/>
              </a:rPr>
              <a:t>Устройства для отвода конденсата и воздуха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50000"/>
            <a:ext cx="58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В нижних точках каждого отключаемого задвижками участка трубопровода должны предусматриваться спускные штуцера с запорной арматурой для опорожнения. В верхних точках устанавливаются воздушники. Нижние концевые точки паропроводов и изгибов снабжаются устройствами для продувки. Непрерывный отвод конденсата обязателен для паропроводов насыщенного пара и тупиковых участков паропроводов перегретого пара.</a:t>
            </a:r>
          </a:p>
        </p:txBody>
      </p:sp>
      <p:pic>
        <p:nvPicPr>
          <p:cNvPr id="7" name="Picture 6" descr="condensate_drain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0000" y="1200000"/>
            <a:ext cx="5200000" cy="4800000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90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E30613"/>
                </a:solidFill>
                <a:latin typeface="Inter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900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Устройство трубопроводов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0000"/>
            <a:ext cx="11094415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Inter"/>
              </a:rPr>
              <a:t>Компенсаторы температурных деформаций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58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Inter"/>
              </a:rPr>
              <a:t>Для компенсации удлинения трубопровода при нагреве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0000"/>
            <a:ext cx="5800000" cy="650000"/>
          </a:xfrm>
          <a:prstGeom prst="rect">
            <a:avLst/>
          </a:prstGeom>
          <a:solidFill>
            <a:srgbClr val="F5F8FC"/>
          </a:solidFill>
          <a:ln w="19050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20000"/>
            <a:ext cx="565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При нагреве трубопровода на </a:t>
            </a:r>
            <a:r>
              <a:rPr sz="1300" b="1" i="0">
                <a:solidFill>
                  <a:srgbClr val="E30613"/>
                </a:solidFill>
                <a:latin typeface="Inter"/>
              </a:rPr>
              <a:t>100 °C</a:t>
            </a:r>
            <a:r>
              <a:rPr sz="1300" b="0" i="0">
                <a:solidFill>
                  <a:srgbClr val="1A1A1A"/>
                </a:solidFill>
                <a:latin typeface="Inter"/>
              </a:rPr>
              <a:t> удлинение стальной трубы составляет около </a:t>
            </a:r>
            <a:r>
              <a:rPr sz="1300" b="1" i="0">
                <a:solidFill>
                  <a:srgbClr val="E30613"/>
                </a:solidFill>
                <a:latin typeface="Inter"/>
              </a:rPr>
              <a:t>1,2 мм</a:t>
            </a:r>
            <a:r>
              <a:rPr sz="1300" b="0" i="0">
                <a:solidFill>
                  <a:srgbClr val="1A1A1A"/>
                </a:solidFill>
                <a:latin typeface="Inter"/>
              </a:rPr>
              <a:t> на 1 м длины.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0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0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резиновые компенсаторы с фланцами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8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48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П-образные компенсаторы (Z-образные участки)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6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6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U-образные (омегаобразные) компенсаторы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4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4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Г-образные компенсаторы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2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22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сильфонные компенсаторы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80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80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линзовые компенсаторы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8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638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сальниковые компенсаторы</a:t>
            </a:r>
          </a:p>
        </p:txBody>
      </p:sp>
      <p:pic>
        <p:nvPicPr>
          <p:cNvPr id="22" name="Picture 21" descr="compensators_7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0000" y="1200000"/>
            <a:ext cx="5200000" cy="4800000"/>
          </a:xfrm>
          <a:prstGeom prst="rect">
            <a:avLst/>
          </a:prstGeom>
        </p:spPr>
      </p:pic>
      <p:cxnSp>
        <p:nvCxnSpPr>
          <p:cNvPr id="23" name="Connector 22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90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E30613"/>
                </a:solidFill>
                <a:latin typeface="Inter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900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Устройство трубопроводов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0000"/>
            <a:ext cx="11094415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Inter"/>
              </a:rPr>
              <a:t>Заглушки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58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Inter"/>
              </a:rPr>
              <a:t>Элементы для глухого запечатывания выходных отверстий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50000"/>
            <a:ext cx="58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Заглушка — элемент трубопровода, предназначенный для глухого запечатывания его выходных отверстий; как правило используется при проведении пневмо- и гидроиспытаний.</a:t>
            </a:r>
          </a:p>
        </p:txBody>
      </p:sp>
      <p:pic>
        <p:nvPicPr>
          <p:cNvPr id="7" name="Picture 6" descr="pipe_caps_4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0000" y="1200000"/>
            <a:ext cx="5200000" cy="48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52160"/>
            <a:ext cx="107286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Inter"/>
              </a:rPr>
              <a:t>Типы: плоские сварные, фланцевые, эллиптические, сферические, быстросъёмные, межфланцевые.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90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E30613"/>
                </a:solidFill>
                <a:latin typeface="Inter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900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Устройство трубопроводов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0000"/>
            <a:ext cx="11094415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Inter"/>
              </a:rPr>
              <a:t>Теплоизоляция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58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Inter"/>
              </a:rPr>
              <a:t>Защита от потерь тепла и ожогов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50000"/>
            <a:ext cx="58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Теплоизоляция трубопроводов предназначена для снижения теплопотерь, предотвращения конденсации влаги на поверхности, защиты персонала от термических ожогов и обеспечения стабильности технологических параметров.</a:t>
            </a:r>
          </a:p>
        </p:txBody>
      </p:sp>
      <p:pic>
        <p:nvPicPr>
          <p:cNvPr id="7" name="Picture 6" descr="thermal_insulation_cuta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0000" y="1200000"/>
            <a:ext cx="5200000" cy="4800000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90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E30613"/>
                </a:solidFill>
                <a:latin typeface="Inter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900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Устройство трубопроводов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0000"/>
            <a:ext cx="11094415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Inter"/>
              </a:rPr>
              <a:t>Опознавательная окраска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58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Inter"/>
              </a:rPr>
              <a:t>Маркировка трубопроводов по ГОСТ 14202-69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5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5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коммуникации делятся на 10 основных групп по транспортируемым веществам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3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3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зелёный цвет — 1 группа, транспортирует воду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1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1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красный цвет — 2 группа, транспортирует пар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9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9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предупреждающие кольца: красные — легковоспламеняющиеся и взрывоопасные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7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7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жёлтые — токсичные и радиоактивные вещества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50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050000"/>
            <a:ext cx="5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Inter"/>
              </a:rPr>
              <a:t>зелёные с белой каймой — внутренняя безопасность</a:t>
            </a:r>
          </a:p>
        </p:txBody>
      </p:sp>
      <p:pic>
        <p:nvPicPr>
          <p:cNvPr id="18" name="Picture 17" descr="pipe_identification_g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0000" y="1200000"/>
            <a:ext cx="5200000" cy="480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" y="5852160"/>
            <a:ext cx="107286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Inter"/>
              </a:rPr>
              <a:t>Количество предупреждающих колец зависит от давления и температуры среды.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90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E30613"/>
                </a:solidFill>
                <a:latin typeface="Inter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