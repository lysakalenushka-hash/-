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00000"/>
            <a:ext cx="6400800" cy="3200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8000" cy="6858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00000"/>
            <a:ext cx="8000000" cy="2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33333"/>
                </a:solidFill>
                <a:latin typeface="Arial"/>
              </a:rPr>
              <a:t>УСТРОЙСТВО И НАЗНАЧЕНИЕ</a:t>
            </a:r>
          </a:p>
          <a:p>
            <a:r>
              <a:rPr sz="2400" b="1" i="0">
                <a:solidFill>
                  <a:srgbClr val="333333"/>
                </a:solidFill>
                <a:latin typeface="Arial"/>
              </a:rPr>
              <a:t>ТРУБОПРОВОДОВ ПАРА</a:t>
            </a:r>
          </a:p>
          <a:p>
            <a:r>
              <a:rPr sz="2400" b="1" i="0">
                <a:solidFill>
                  <a:srgbClr val="333333"/>
                </a:solidFill>
                <a:latin typeface="Arial"/>
              </a:rPr>
              <a:t>И ГОРЯЧЕЙ ВОДЫ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300000"/>
            <a:ext cx="7800000" cy="3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0000" y="4270000"/>
            <a:ext cx="60000" cy="6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50000"/>
            <a:ext cx="64008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ФЕДЕРАЛЬНЫЕ НОРМЫ И ПРАВИЛА В ОБЛАСТИ ПРОМЫШЛЕННОЙ БЕЗОПАСНОСТИ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0000"/>
            <a:ext cx="4800000" cy="3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57200" y="1050000"/>
            <a:ext cx="5600000" cy="1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50000"/>
            <a:ext cx="64008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66666"/>
                </a:solidFill>
                <a:latin typeface="Arial"/>
              </a:rPr>
              <a:t>ПРИКАЗ РОСТЕХНАДЗОРА ОТ 15.12.2020 № 536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2800000"/>
            <a:ext cx="420000" cy="42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2840000"/>
            <a:ext cx="42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000000"/>
            <a:ext cx="10400000" cy="2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Arial"/>
              </a:rPr>
              <a:t>Об утверждении федеральных норм и правил в области промышленной безопасности «Правила промышленной безопасности при использовании оборудования, работающего под избыточным давлением» (далее — ФНП).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50000"/>
            <a:ext cx="64008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ОБЩИЕ ПОЛОЖЕНИЯ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0000"/>
            <a:ext cx="4800000" cy="3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57200" y="1050000"/>
            <a:ext cx="5600000" cy="1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0000" y="2200000"/>
            <a:ext cx="420000" cy="42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2240000"/>
            <a:ext cx="42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7200" y="2200000"/>
            <a:ext cx="64008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ФНП устанавливают требования промышленной безопасности при разработке, размещении, монтаже, наладке, эксплуатации, ремонте, реконструкции, техническом освидетельствовании и диагностировании оборудования, работающего под избыточным давлением.</a:t>
            </a:r>
          </a:p>
        </p:txBody>
      </p:sp>
      <p:pic>
        <p:nvPicPr>
          <p:cNvPr id="9" name="Picture 8" descr="industrial_steam_side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1200000"/>
            <a:ext cx="50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50000"/>
            <a:ext cx="64008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ОБЩИЕ ПОЛОЖЕНИЯ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0000"/>
            <a:ext cx="4800000" cy="3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57200" y="1050000"/>
            <a:ext cx="5600000" cy="1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0000" y="2200000"/>
            <a:ext cx="420000" cy="42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2240000"/>
            <a:ext cx="42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7200" y="1350000"/>
            <a:ext cx="64008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ФНП устанавливают требования промышленной безопасности, обязательные:</a:t>
            </a:r>
          </a:p>
        </p:txBody>
      </p:sp>
      <p:sp>
        <p:nvSpPr>
          <p:cNvPr id="9" name="Oval 8"/>
          <p:cNvSpPr/>
          <p:nvPr/>
        </p:nvSpPr>
        <p:spPr>
          <a:xfrm>
            <a:off x="977200" y="228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7200" y="220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при разработке технологических процессов</a:t>
            </a:r>
          </a:p>
        </p:txBody>
      </p:sp>
      <p:sp>
        <p:nvSpPr>
          <p:cNvPr id="11" name="Oval 10"/>
          <p:cNvSpPr/>
          <p:nvPr/>
        </p:nvSpPr>
        <p:spPr>
          <a:xfrm>
            <a:off x="977200" y="280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7200" y="272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при техническом перевооружении опасного производственного объекта (далее — ОПО)</a:t>
            </a:r>
          </a:p>
        </p:txBody>
      </p:sp>
      <p:sp>
        <p:nvSpPr>
          <p:cNvPr id="13" name="Oval 12"/>
          <p:cNvSpPr/>
          <p:nvPr/>
        </p:nvSpPr>
        <p:spPr>
          <a:xfrm>
            <a:off x="977200" y="332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7200" y="324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при размещении</a:t>
            </a:r>
          </a:p>
        </p:txBody>
      </p:sp>
      <p:sp>
        <p:nvSpPr>
          <p:cNvPr id="15" name="Oval 14"/>
          <p:cNvSpPr/>
          <p:nvPr/>
        </p:nvSpPr>
        <p:spPr>
          <a:xfrm>
            <a:off x="977200" y="384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7200" y="376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при монтаже</a:t>
            </a:r>
          </a:p>
        </p:txBody>
      </p:sp>
      <p:sp>
        <p:nvSpPr>
          <p:cNvPr id="17" name="Oval 16"/>
          <p:cNvSpPr/>
          <p:nvPr/>
        </p:nvSpPr>
        <p:spPr>
          <a:xfrm>
            <a:off x="977200" y="436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7200" y="428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при ремонте</a:t>
            </a:r>
          </a:p>
        </p:txBody>
      </p:sp>
      <p:sp>
        <p:nvSpPr>
          <p:cNvPr id="19" name="Oval 18"/>
          <p:cNvSpPr/>
          <p:nvPr/>
        </p:nvSpPr>
        <p:spPr>
          <a:xfrm>
            <a:off x="977200" y="488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57200" y="480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при реконструкции (модернизации)</a:t>
            </a:r>
          </a:p>
        </p:txBody>
      </p:sp>
      <p:sp>
        <p:nvSpPr>
          <p:cNvPr id="21" name="Oval 20"/>
          <p:cNvSpPr/>
          <p:nvPr/>
        </p:nvSpPr>
        <p:spPr>
          <a:xfrm>
            <a:off x="977200" y="540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57200" y="532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при наладке и эксплуатации</a:t>
            </a:r>
          </a:p>
        </p:txBody>
      </p:sp>
      <p:sp>
        <p:nvSpPr>
          <p:cNvPr id="23" name="Oval 22"/>
          <p:cNvSpPr/>
          <p:nvPr/>
        </p:nvSpPr>
        <p:spPr>
          <a:xfrm>
            <a:off x="977200" y="592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57200" y="584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при техническом освидетельствовании</a:t>
            </a:r>
          </a:p>
        </p:txBody>
      </p:sp>
      <p:sp>
        <p:nvSpPr>
          <p:cNvPr id="25" name="Oval 24"/>
          <p:cNvSpPr/>
          <p:nvPr/>
        </p:nvSpPr>
        <p:spPr>
          <a:xfrm>
            <a:off x="977200" y="644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57200" y="636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при техническом диагностировании и экспертизе промышленной безопасности оборудования, работающего под избыточным давлением</a:t>
            </a:r>
          </a:p>
        </p:txBody>
      </p:sp>
      <p:pic>
        <p:nvPicPr>
          <p:cNvPr id="27" name="Picture 26" descr="pipeline_system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1200000"/>
            <a:ext cx="50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50000"/>
            <a:ext cx="64008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ОБЩИЕ ПОЛОЖЕНИЯ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0000"/>
            <a:ext cx="4800000" cy="3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57200" y="1050000"/>
            <a:ext cx="5600000" cy="1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0000" y="2200000"/>
            <a:ext cx="420000" cy="42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2240000"/>
            <a:ext cx="42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7200" y="1350000"/>
            <a:ext cx="64008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ФНП распространяются на следующее оборудование, работающее под избыточным давлением:</a:t>
            </a:r>
          </a:p>
        </p:txBody>
      </p:sp>
      <p:sp>
        <p:nvSpPr>
          <p:cNvPr id="9" name="Oval 8"/>
          <p:cNvSpPr/>
          <p:nvPr/>
        </p:nvSpPr>
        <p:spPr>
          <a:xfrm>
            <a:off x="977200" y="228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7200" y="220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паровые и водогрейные котлы</a:t>
            </a:r>
          </a:p>
        </p:txBody>
      </p:sp>
      <p:sp>
        <p:nvSpPr>
          <p:cNvPr id="11" name="Oval 10"/>
          <p:cNvSpPr/>
          <p:nvPr/>
        </p:nvSpPr>
        <p:spPr>
          <a:xfrm>
            <a:off x="977200" y="280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7200" y="272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сосуды, работающие под давлением</a:t>
            </a:r>
          </a:p>
        </p:txBody>
      </p:sp>
      <p:sp>
        <p:nvSpPr>
          <p:cNvPr id="13" name="Oval 12"/>
          <p:cNvSpPr/>
          <p:nvPr/>
        </p:nvSpPr>
        <p:spPr>
          <a:xfrm>
            <a:off x="977200" y="332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7200" y="324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трубопроводы пара и горячей воды</a:t>
            </a:r>
          </a:p>
        </p:txBody>
      </p:sp>
      <p:sp>
        <p:nvSpPr>
          <p:cNvPr id="15" name="Oval 14"/>
          <p:cNvSpPr/>
          <p:nvPr/>
        </p:nvSpPr>
        <p:spPr>
          <a:xfrm>
            <a:off x="977200" y="384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7200" y="376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газовые баллоны</a:t>
            </a:r>
          </a:p>
        </p:txBody>
      </p:sp>
      <p:sp>
        <p:nvSpPr>
          <p:cNvPr id="17" name="Oval 16"/>
          <p:cNvSpPr/>
          <p:nvPr/>
        </p:nvSpPr>
        <p:spPr>
          <a:xfrm>
            <a:off x="977200" y="436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7200" y="428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резервуары для сжатых газов</a:t>
            </a:r>
          </a:p>
        </p:txBody>
      </p:sp>
      <p:sp>
        <p:nvSpPr>
          <p:cNvPr id="19" name="Oval 18"/>
          <p:cNvSpPr/>
          <p:nvPr/>
        </p:nvSpPr>
        <p:spPr>
          <a:xfrm>
            <a:off x="977200" y="488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57200" y="480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арматуру и предохранительные устройства</a:t>
            </a:r>
          </a:p>
        </p:txBody>
      </p:sp>
      <p:pic>
        <p:nvPicPr>
          <p:cNvPr id="21" name="Picture 20" descr="industrial_steam_side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1200000"/>
            <a:ext cx="50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50000"/>
            <a:ext cx="64008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УСТРОЙСТВО ТРУБОПРОВОДОВ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0000"/>
            <a:ext cx="4800000" cy="3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57200" y="1050000"/>
            <a:ext cx="5600000" cy="1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50000"/>
            <a:ext cx="64008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КОНСТРУКЦИЯ ТРУБОПРОВОДОВ ПАРА И ГОРЯЧЕЙ ВОДЫ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2200000"/>
            <a:ext cx="420000" cy="42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2240000"/>
            <a:ext cx="42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7200" y="2200000"/>
            <a:ext cx="64008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Трубопроводы пара и горячей воды предназначены для транспортировки теплоносителя от источника тепла к потребителям. Конструкция должна обеспечивать прочность, герметичность, компенсацию температурных деформаций и безопасную эксплуатацию.</a:t>
            </a:r>
          </a:p>
        </p:txBody>
      </p:sp>
      <p:pic>
        <p:nvPicPr>
          <p:cNvPr id="10" name="Picture 9" descr="pipeline_system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1200000"/>
            <a:ext cx="50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50000"/>
            <a:ext cx="64008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УСТРОЙСТВО ТРУБОПРОВОДОВ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0000"/>
            <a:ext cx="4800000" cy="3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57200" y="1050000"/>
            <a:ext cx="5600000" cy="1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0000" y="2200000"/>
            <a:ext cx="420000" cy="42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2240000"/>
            <a:ext cx="42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7200" y="1350000"/>
            <a:ext cx="64008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Трубопровод состоит из: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7200" y="220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7200" y="220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Плотно соединённых между собой прямых участков труб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200" y="272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7200" y="272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Фасонных деталей — отводы, переходники, тройники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200" y="324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7200" y="324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Крепёжных элементов — фланцы, болты, шпильки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200" y="376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7200" y="376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Арматуры — краны, вентили, задвижки, регулирующие клапаны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200" y="428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7200" y="428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Редуцирующих и предохранительных клапанов</a:t>
            </a:r>
          </a:p>
        </p:txBody>
      </p:sp>
      <p:pic>
        <p:nvPicPr>
          <p:cNvPr id="19" name="Picture 18" descr="pipeline_assembly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1200000"/>
            <a:ext cx="50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50000"/>
            <a:ext cx="64008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УСТРОЙСТВО ТРУБОПРОВОДОВ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0000"/>
            <a:ext cx="4800000" cy="3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57200" y="1050000"/>
            <a:ext cx="5600000" cy="1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0000" y="2200000"/>
            <a:ext cx="420000" cy="42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2240000"/>
            <a:ext cx="42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7200" y="1350000"/>
            <a:ext cx="64008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Трубопровод состоит из: 6. </a:t>
            </a:r>
            <a:r>
              <a:rPr sz="1200" b="1" i="0">
                <a:solidFill>
                  <a:srgbClr val="FF6600"/>
                </a:solidFill>
                <a:latin typeface="Arial"/>
              </a:rPr>
              <a:t>6.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Приборы КИПиА — манометры, термометры, расходомеры, диафрагмы.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7200" y="2200000"/>
            <a:ext cx="64008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На трубопроводах устанавливаются приборы контроля и автоматики для измерения давления, температуры и расхода теплоносителя.</a:t>
            </a:r>
          </a:p>
        </p:txBody>
      </p:sp>
      <p:pic>
        <p:nvPicPr>
          <p:cNvPr id="10" name="Picture 9" descr="kipia_instr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3600000"/>
            <a:ext cx="10400000" cy="28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50000"/>
            <a:ext cx="64008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УСТРОЙСТВО ТРУБОПРОВОДОВ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0000"/>
            <a:ext cx="4800000" cy="3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57200" y="1050000"/>
            <a:ext cx="5600000" cy="1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0000" y="2200000"/>
            <a:ext cx="420000" cy="42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2240000"/>
            <a:ext cx="42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7200" y="1350000"/>
            <a:ext cx="64008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Трубопровод состоит из: 7. </a:t>
            </a:r>
            <a:r>
              <a:rPr sz="1200" b="1" i="0">
                <a:solidFill>
                  <a:srgbClr val="FF6600"/>
                </a:solidFill>
                <a:latin typeface="Arial"/>
              </a:rPr>
              <a:t>7.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Опорно-подвесной системы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7200" y="220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7200" y="220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6600"/>
                </a:solidFill>
                <a:latin typeface="Arial"/>
              </a:rPr>
              <a:t>неподвижные опоры —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фиксируют положение трубопровода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200" y="272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7200" y="272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подвижные опоры — обеспечивают перемещение при температурных деформациях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200" y="324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7200" y="324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опоры скольжения, катковые, роликовые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200" y="376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7200" y="376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опоры подвесные, пружинные и жёсткие подвески</a:t>
            </a:r>
          </a:p>
        </p:txBody>
      </p:sp>
      <p:pic>
        <p:nvPicPr>
          <p:cNvPr id="17" name="Picture 16" descr="pipe_supports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1200000"/>
            <a:ext cx="50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50000"/>
            <a:ext cx="64008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УСТРОЙСТВО ТРУБОПРОВОДОВ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0000"/>
            <a:ext cx="4800000" cy="3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57200" y="1050000"/>
            <a:ext cx="5600000" cy="1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0000" y="2200000"/>
            <a:ext cx="420000" cy="42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2240000"/>
            <a:ext cx="42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7200" y="1350000"/>
            <a:ext cx="64008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Трубопровод состоит из: 8. </a:t>
            </a:r>
            <a:r>
              <a:rPr sz="1200" b="1" i="0">
                <a:solidFill>
                  <a:srgbClr val="FF6600"/>
                </a:solidFill>
                <a:latin typeface="Arial"/>
              </a:rPr>
              <a:t>8.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Конденсатоотводчиков — дренажи, патрубки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7200" y="2200000"/>
            <a:ext cx="64008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В нижних точках каждого отключаемого задвижками участка трубопровода должны предусматриваться спускные штуцера с запорной арматурой для опорожнения. В верхних точках устанавливаются воздушники. Нижние концевые точки паропроводов и изгибов снабжаются устройствами для продувки. Непрерывный отвод конденсата обязателен для паропроводов насыщенного пара и тупиковых участков паропроводов перегретого пара.</a:t>
            </a:r>
          </a:p>
        </p:txBody>
      </p:sp>
      <p:pic>
        <p:nvPicPr>
          <p:cNvPr id="10" name="Picture 9" descr="condensate_drain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1200000"/>
            <a:ext cx="50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50000"/>
            <a:ext cx="64008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УСТРОЙСТВО ТРУБОПРОВОДОВ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0000"/>
            <a:ext cx="4800000" cy="3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57200" y="1050000"/>
            <a:ext cx="5600000" cy="1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0000" y="2200000"/>
            <a:ext cx="420000" cy="42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2240000"/>
            <a:ext cx="42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7200" y="1350000"/>
            <a:ext cx="64008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Для компенсации удлинения трубопровода при нагреве:</a:t>
            </a:r>
          </a:p>
        </p:txBody>
      </p:sp>
      <p:sp>
        <p:nvSpPr>
          <p:cNvPr id="9" name="Rectangle 8"/>
          <p:cNvSpPr/>
          <p:nvPr/>
        </p:nvSpPr>
        <p:spPr>
          <a:xfrm>
            <a:off x="857200" y="2100000"/>
            <a:ext cx="6400800" cy="6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7200" y="2220000"/>
            <a:ext cx="62008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При нагреве трубопровода на </a:t>
            </a:r>
            <a:r>
              <a:rPr sz="1200" b="1" i="0">
                <a:solidFill>
                  <a:srgbClr val="E30613"/>
                </a:solidFill>
                <a:latin typeface="Arial"/>
              </a:rPr>
              <a:t>100 °C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удлинение стальной трубы составляет около </a:t>
            </a:r>
            <a:r>
              <a:rPr sz="1200" b="1" i="0">
                <a:solidFill>
                  <a:srgbClr val="E30613"/>
                </a:solidFill>
                <a:latin typeface="Arial"/>
              </a:rPr>
              <a:t>1,2 мм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на 1 м длины.</a:t>
            </a:r>
          </a:p>
        </p:txBody>
      </p:sp>
      <p:sp>
        <p:nvSpPr>
          <p:cNvPr id="11" name="Oval 10"/>
          <p:cNvSpPr/>
          <p:nvPr/>
        </p:nvSpPr>
        <p:spPr>
          <a:xfrm>
            <a:off x="977200" y="298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7200" y="290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резиновые компенсаторы с фланцами</a:t>
            </a:r>
          </a:p>
        </p:txBody>
      </p:sp>
      <p:sp>
        <p:nvSpPr>
          <p:cNvPr id="13" name="Oval 12"/>
          <p:cNvSpPr/>
          <p:nvPr/>
        </p:nvSpPr>
        <p:spPr>
          <a:xfrm>
            <a:off x="977200" y="350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7200" y="342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П-образные компенсаторы (Z-образные участки)</a:t>
            </a:r>
          </a:p>
        </p:txBody>
      </p:sp>
      <p:sp>
        <p:nvSpPr>
          <p:cNvPr id="15" name="Oval 14"/>
          <p:cNvSpPr/>
          <p:nvPr/>
        </p:nvSpPr>
        <p:spPr>
          <a:xfrm>
            <a:off x="977200" y="402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7200" y="394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U-образные (омегаобразные) компенсаторы</a:t>
            </a:r>
          </a:p>
        </p:txBody>
      </p:sp>
      <p:sp>
        <p:nvSpPr>
          <p:cNvPr id="17" name="Oval 16"/>
          <p:cNvSpPr/>
          <p:nvPr/>
        </p:nvSpPr>
        <p:spPr>
          <a:xfrm>
            <a:off x="977200" y="454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7200" y="446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Г-образные компенсаторы</a:t>
            </a:r>
          </a:p>
        </p:txBody>
      </p:sp>
      <p:sp>
        <p:nvSpPr>
          <p:cNvPr id="19" name="Oval 18"/>
          <p:cNvSpPr/>
          <p:nvPr/>
        </p:nvSpPr>
        <p:spPr>
          <a:xfrm>
            <a:off x="977200" y="506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57200" y="498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сильфонные компенсаторы</a:t>
            </a:r>
          </a:p>
        </p:txBody>
      </p:sp>
      <p:sp>
        <p:nvSpPr>
          <p:cNvPr id="21" name="Oval 20"/>
          <p:cNvSpPr/>
          <p:nvPr/>
        </p:nvSpPr>
        <p:spPr>
          <a:xfrm>
            <a:off x="977200" y="558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57200" y="550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линзовые компенсаторы</a:t>
            </a:r>
          </a:p>
        </p:txBody>
      </p:sp>
      <p:sp>
        <p:nvSpPr>
          <p:cNvPr id="23" name="Oval 22"/>
          <p:cNvSpPr/>
          <p:nvPr/>
        </p:nvSpPr>
        <p:spPr>
          <a:xfrm>
            <a:off x="977200" y="6100000"/>
            <a:ext cx="90000" cy="90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57200" y="602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сальниковые компенсаторы</a:t>
            </a:r>
          </a:p>
        </p:txBody>
      </p:sp>
      <p:pic>
        <p:nvPicPr>
          <p:cNvPr id="25" name="Picture 24" descr="compensators_7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1200000"/>
            <a:ext cx="50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50000"/>
            <a:ext cx="64008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УСТРОЙСТВО ТРУБОПРОВОДОВ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0000"/>
            <a:ext cx="4800000" cy="3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57200" y="1050000"/>
            <a:ext cx="5600000" cy="1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0000" y="2200000"/>
            <a:ext cx="420000" cy="42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2240000"/>
            <a:ext cx="42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7200" y="1350000"/>
            <a:ext cx="64008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Трубопровод состоит из: 10. </a:t>
            </a:r>
            <a:r>
              <a:rPr sz="1200" b="1" i="0">
                <a:solidFill>
                  <a:srgbClr val="FF6600"/>
                </a:solidFill>
                <a:latin typeface="Arial"/>
              </a:rPr>
              <a:t>10.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Заглушек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7200" y="2200000"/>
            <a:ext cx="64008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Заглушка — элемент трубопровода, предназначенный для глухого запечатывания его выходных отверстий; как правило используется при проведении пневмо- и гидроиспытаний. Металлические концевые заглушки различаются по виду исполнения и типу крепления.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200" y="220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7200" y="220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плоские заглушки, закрепляемые сваркой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200" y="272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7200" y="272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фланцевые стальные 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200" y="324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7200" y="324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эллиптические (2)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7200" y="376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7200" y="376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сферические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200" y="428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7200" y="428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быстросъёмные (3)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200" y="480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7200" y="480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межфланцевые (4)</a:t>
            </a:r>
          </a:p>
        </p:txBody>
      </p:sp>
      <p:pic>
        <p:nvPicPr>
          <p:cNvPr id="22" name="Picture 21" descr="pipe_caps_4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1200000"/>
            <a:ext cx="50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50000"/>
            <a:ext cx="64008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УСТРОЙСТВО ТРУБОПРОВОДОВ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0000"/>
            <a:ext cx="4800000" cy="3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57200" y="1050000"/>
            <a:ext cx="5600000" cy="1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0000" y="2200000"/>
            <a:ext cx="420000" cy="42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2240000"/>
            <a:ext cx="42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7200" y="1350000"/>
            <a:ext cx="64008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Трубопровод состоит из: 11. </a:t>
            </a:r>
            <a:r>
              <a:rPr sz="1200" b="1" i="0">
                <a:solidFill>
                  <a:srgbClr val="FF6600"/>
                </a:solidFill>
                <a:latin typeface="Arial"/>
              </a:rPr>
              <a:t>11.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Теплоизоляции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7200" y="2200000"/>
            <a:ext cx="64008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Теплоизоляция трубопроводов предназначена для снижения теплопотерь, предотвращения конденсации влаги на поверхности, защиты персонала от термических ожогов и обеспечения стабильности технологических параметров. Применяются минераловатные и другие материалы с защитной оболочкой.</a:t>
            </a:r>
          </a:p>
        </p:txBody>
      </p:sp>
      <p:pic>
        <p:nvPicPr>
          <p:cNvPr id="10" name="Picture 9" descr="thermal_insulation_cut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1200000"/>
            <a:ext cx="50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50000"/>
            <a:ext cx="64008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УСТРОЙСТВО ТРУБОПРОВОДОВ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0000"/>
            <a:ext cx="4800000" cy="3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57200" y="1050000"/>
            <a:ext cx="5600000" cy="1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0000" y="2200000"/>
            <a:ext cx="420000" cy="42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2240000"/>
            <a:ext cx="42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7200" y="1350000"/>
            <a:ext cx="64008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Трубопровод состоит из: 12. </a:t>
            </a:r>
            <a:r>
              <a:rPr sz="1200" b="1" i="0">
                <a:solidFill>
                  <a:srgbClr val="FF6600"/>
                </a:solidFill>
                <a:latin typeface="Arial"/>
              </a:rPr>
              <a:t>12.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Опознавательной окраски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7200" y="2200000"/>
            <a:ext cx="64008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Коммуникации делятся на 10 основных групп по транспортируемым веществам, что требует их идентификации и маркировки.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200" y="220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7200" y="220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Цветовая градация при разметке трубопроводов (ГОСТ 14202-69)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200" y="272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7200" y="272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зелёный цвет соответствует 1 группе, транспортирует воду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200" y="324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7200" y="324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красный цвет соответствует 2 группе, транспортирует пар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7200" y="376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7200" y="376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предупреждающие кольца: красные — легковоспламеняющиеся и взрывоопасные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200" y="428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7200" y="428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жёлтые — токсичные и радиоактивные вещества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200" y="4800000"/>
            <a:ext cx="35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7200" y="4800000"/>
            <a:ext cx="55008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зелёные с белой каймой — внутренняя безопасность</a:t>
            </a:r>
          </a:p>
        </p:txBody>
      </p:sp>
      <p:pic>
        <p:nvPicPr>
          <p:cNvPr id="22" name="Picture 21" descr="pipe_identification_g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1200000"/>
            <a:ext cx="5000000" cy="52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