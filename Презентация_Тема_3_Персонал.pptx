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6"/>
    <p:sldId id="261" r:id="rId7"/>
    <p:sldId id="262" r:id="rId8"/>
    <p:sldId id="264" r:id="rId9"/>
    <p:sldId id="265" r:id="rId10"/>
    <p:sldId id="266" r:id="rId11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2" r:id="rId27"/>
    <p:sldId id="283" r:id="rId28"/>
    <p:sldId id="284" r:id="rId29"/>
    <p:sldId id="285" r:id="rId30"/>
    <p:sldId id="286" r:id="rId31"/>
    <p:sldId id="287" r:id="rId32"/>
    <p:sldId id="289" r:id="rId33"/>
    <p:sldId id="291" r:id="rId35"/>
    <p:sldId id="292" r:id="rId26"/>
    <p:sldId id="293" r:id="rId34"/>
    <p:sldId id="294" r:id="rId15"/>
    <p:sldId id="295" r:id="rId14"/>
    <p:sldId id="296" r:id="rId13"/>
    <p:sldId id="297" r:id="rId12"/>
    <p:sldId id="298" r:id="rId5"/>
    <p:sldId id="299" r:id="rId40"/>
    <p:sldId id="300" r:id="rId41"/>
    <p:sldId id="301" r:id="rId42"/>
    <p:sldId id="302" r:id="rId43"/>
    <p:sldId id="303" r:id="rId44"/>
    <p:sldId id="304" r:id="rId45"/>
    <p:sldId id="305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76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34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33.xml"/><Relationship Id="rId13" Type="http://schemas.openxmlformats.org/officeDocument/2006/relationships/slide" Target="slides/slide32.xml"/><Relationship Id="rId14" Type="http://schemas.openxmlformats.org/officeDocument/2006/relationships/slide" Target="slides/slide31.xml"/><Relationship Id="rId15" Type="http://schemas.openxmlformats.org/officeDocument/2006/relationships/slide" Target="slides/slide30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8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9.xml"/><Relationship Id="rId35" Type="http://schemas.openxmlformats.org/officeDocument/2006/relationships/slide" Target="slides/slide27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Модуль 1. Введение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Электробезопасность и работа с персоналом в электроустановках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Нормативные требования, организация работ, ответственность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66420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Модуль охватывает три ключевых блока:
1. Правовая база — требования Правил по охране труда при эксплуатации электроустановок (ПОТЭУ) и Правил технической эксплуатации электроустановок потребителей (ПТЭЭП).
2. Организация работ — группы допуска, наряд-допуск, распоряжение, перечни работ, выполняемых в порядке текущей эксплуатации.
3. Работа с персоналом — проверка знаний, инструктажи, стажировка, дублирование, допуск к самостоятельной работе.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361688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498848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По завершении модуля специалист должен знать нормативные требования и уметь применять их при организации безопасной эксплуатации электроустановок.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01 / 41</a:t>
            </a:r>
          </a:p>
        </p:txBody>
      </p:sp>
      <p:pic>
        <p:nvPicPr>
          <p:cNvPr id="11" name="Picture 10" descr="p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000000" cy="45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Нормативная база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Inter"/>
              </a:rPr>
              <a:t>Правила работы с персоналом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Приказ Минэнерго России от 22 сентября 2020 года № 796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1094415" cy="190195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Настоящие Правила работы с персоналом в организациях электроэнергетики Российской Федерации устанавливают требования к подготовке работников организаций, осуществляющих деятельность в сфере электроэнергетики, к работе на объектах электроэнергетики и энергопринимающих установках, включая проведение обязательных форм работы с указанным персоналом, поддержание и повышение его квалификации.
Требования Правил распространяются на:
• субъекты электроэнергетики и потребителей электрической энергии, владеющих объектами по производству электрической энергии;
• субъектов, владеющих объектами электросетевого хозяйства;
• системного оператора и субъекты оперативно-диспетчерского управления;
• обслуживающие организации;
• потребителей электрической энергии, владеющих иными электроустановками.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416552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39" y="5985589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rgbClr val="6B7280"/>
                </a:solidFill>
                <a:latin typeface="Inter"/>
              </a:rPr>
              <a:t>Документ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применяется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совместно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с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Правилами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по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охране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труда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при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эксплуатации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электроустановок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и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Правилами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технической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эксплуатации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электроустановок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потребителей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электрической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энергии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02 / 41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Область применения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Кто обязан соблюдать Правила работы с персоналом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Приказ Минэнерго России от 22 сентября 2020 года № 796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43175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Субъекты электроэнергетики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63215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00375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Производители электроэнергии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28975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Субъекты электроэнергетики и потребители электрической энергии, владеющие объектами по производству электрической энергии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79901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Владельцы электросетевого хозяйства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08501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Субъекты, владеющие объектами электросетевого хозяйства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70831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Системный оператор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99431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Системный оператор и субъекты оперативно-диспетчерского управления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61763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Обслуживающие организации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90363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Организации, осуществляющие техническое обслуживание объектов электроэнергетики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2744343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Потребители и применяемые НПА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24447" y="3064383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24447" y="3201543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Потребители электрической энергии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3430143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Владельцы иных электроустановок, не относящихся к объектам производства или электросетевого хозяйства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3981069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Правила по охране труда при эксплуатации электроустановок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209669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Применяются совместно с настоящими Правилами работы с персоналом при организации безопасной эксплуатации электроустановок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4760595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Правила технической эксплуатации электроустановок потребителей электрической энергии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4989195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Устанавливают требования к эксплуатации электроустановок потребителей и применяются в совокупности с Правилами работы с персоналом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Требования Правил (приказ № 796) распространяются на всех субъектов электроэнергетики, потребителей электрической энергии, владеющих объектами электросетевого хозяйства, системного оператора и обслуживающие организации.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03 / 41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Нормативная база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Приказ Минэнерго № 796 в системе НПА по охране труда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Правила работы с персоналом — область применения и связанные документы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43175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Сфера действия Правил (Приказ Минэнерго России от 22 сентября 2020 года № 796)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63215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00375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Субъекты электроэнергетики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28975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Организации, владеющие объектами по производству электрической энергии и объектами электросетевого хозяйства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79901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Системный оператор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08501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Субъекты оперативно-диспетчерского управления в электроэнергетике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70831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Потребители электрической энергии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99431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Владельцы энергопринимающих установок и иных электроустановок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61763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Обслуживающие организации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90363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Организации, осуществляющие техническое обслуживание объектов электроэнергетики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2555748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Связанные НПА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24447" y="2875788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24447" y="3012948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Правила по охране труда при эксплуатации электроустановок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3241548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Устанавливают требования охраны труда при эксплуатации электроустановок; применяются совместно с Правилами работы с персоналом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3792474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Правила технической эксплуатации электроустановок потребителей электрической энергии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4021074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Определяют требования к технической эксплуатации электроустановок потребителей; взаимосвязаны с требованиями приказа № 796 в части подготовки и квалификации персонала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4760595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Приказ Минэнерго России от 22 сентября 2020 года № 796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4989195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Утверждает Правила работы с персоналом в организациях электроэнергетики РФ: обязательные формы работы, поддержание и повышение квалификации персонала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Требования Правил работы с персоналом (Приказ № 796) распространяются на все категории субъектов электроэнергетики и потребителей электрической энергии, владеющих объектами электросетевого хозяйства и энергопринимающими установками.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04 / 41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Изменения с 1 сентября 2022 года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Новая норма п. 2.4 Правил по охране труда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95827"/>
            <a:ext cx="4572000" cy="2011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5574" b="1">
                <a:solidFill>
                  <a:srgbClr val="E30613"/>
                </a:solidFill>
                <a:latin typeface="Inter"/>
              </a:rPr>
              <a:t>01.09.2022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56655" y="3184029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56655" y="3216771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1A1A1A"/>
                </a:solidFill>
                <a:latin typeface="Inter"/>
              </a:rPr>
              <a:t>Группа</a:t>
            </a:r>
            <a:r>
              <a:rPr sz="11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100" b="1" i="0" dirty="0" err="1">
                <a:solidFill>
                  <a:srgbClr val="1A1A1A"/>
                </a:solidFill>
                <a:latin typeface="Inter"/>
              </a:rPr>
              <a:t>по</a:t>
            </a:r>
            <a:r>
              <a:rPr sz="11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100" b="1" i="0" dirty="0" err="1">
                <a:solidFill>
                  <a:srgbClr val="1A1A1A"/>
                </a:solidFill>
                <a:latin typeface="Inter"/>
              </a:rPr>
              <a:t>электробезопасности</a:t>
            </a:r>
            <a:r>
              <a:rPr sz="11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100" b="1" i="0" dirty="0" err="1">
                <a:solidFill>
                  <a:srgbClr val="1A1A1A"/>
                </a:solidFill>
                <a:latin typeface="Inter"/>
              </a:rPr>
              <a:t>присваивается</a:t>
            </a:r>
            <a:r>
              <a:rPr sz="11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100" b="1" i="0" dirty="0" err="1">
                <a:solidFill>
                  <a:srgbClr val="1A1A1A"/>
                </a:solidFill>
                <a:latin typeface="Inter"/>
              </a:rPr>
              <a:t>по</a:t>
            </a:r>
            <a:r>
              <a:rPr sz="11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100" b="1" i="0" dirty="0" err="1">
                <a:solidFill>
                  <a:srgbClr val="1A1A1A"/>
                </a:solidFill>
                <a:latin typeface="Inter"/>
              </a:rPr>
              <a:t>результатам</a:t>
            </a:r>
            <a:r>
              <a:rPr sz="11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100" b="1" i="0" dirty="0" err="1">
                <a:solidFill>
                  <a:srgbClr val="1A1A1A"/>
                </a:solidFill>
                <a:latin typeface="Inter"/>
              </a:rPr>
              <a:t>проверки</a:t>
            </a:r>
            <a:r>
              <a:rPr sz="11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100" b="1" i="0" dirty="0" err="1">
                <a:solidFill>
                  <a:srgbClr val="1A1A1A"/>
                </a:solidFill>
                <a:latin typeface="Inter"/>
              </a:rPr>
              <a:t>знаний</a:t>
            </a:r>
            <a:r>
              <a:rPr sz="1100" b="1" i="0" dirty="0">
                <a:solidFill>
                  <a:srgbClr val="1A1A1A"/>
                </a:solidFill>
                <a:latin typeface="Inter"/>
              </a:rPr>
              <a:t> в </a:t>
            </a:r>
            <a:r>
              <a:rPr sz="1100" b="1" i="0" dirty="0" err="1">
                <a:solidFill>
                  <a:srgbClr val="1A1A1A"/>
                </a:solidFill>
                <a:latin typeface="Inter"/>
              </a:rPr>
              <a:t>объёме</a:t>
            </a:r>
            <a:r>
              <a:rPr sz="11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100" b="1" i="0" dirty="0" err="1">
                <a:solidFill>
                  <a:srgbClr val="1A1A1A"/>
                </a:solidFill>
                <a:latin typeface="Inter"/>
              </a:rPr>
              <a:t>согласно</a:t>
            </a:r>
            <a:r>
              <a:rPr sz="11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100" b="1" i="0" dirty="0" err="1">
                <a:solidFill>
                  <a:srgbClr val="1A1A1A"/>
                </a:solidFill>
                <a:latin typeface="Inter"/>
              </a:rPr>
              <a:t>приложению</a:t>
            </a:r>
            <a:r>
              <a:rPr sz="1100" b="1" i="0" dirty="0">
                <a:solidFill>
                  <a:srgbClr val="1A1A1A"/>
                </a:solidFill>
                <a:latin typeface="Inter"/>
              </a:rPr>
              <a:t> № 1 к </a:t>
            </a:r>
            <a:r>
              <a:rPr sz="1100" b="1" i="0" dirty="0" err="1">
                <a:solidFill>
                  <a:srgbClr val="1A1A1A"/>
                </a:solidFill>
                <a:latin typeface="Inter"/>
              </a:rPr>
              <a:t>Правилам</a:t>
            </a:r>
            <a:r>
              <a:rPr sz="1100" b="1" i="0" dirty="0">
                <a:solidFill>
                  <a:srgbClr val="1A1A1A"/>
                </a:solidFill>
                <a:latin typeface="Inter"/>
              </a:rPr>
              <a:t> (</a:t>
            </a:r>
            <a:r>
              <a:rPr sz="1100" b="1" i="0" dirty="0" err="1">
                <a:solidFill>
                  <a:srgbClr val="1A1A1A"/>
                </a:solidFill>
                <a:latin typeface="Inter"/>
              </a:rPr>
              <a:t>за</a:t>
            </a:r>
            <a:r>
              <a:rPr sz="11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100" b="1" i="0" dirty="0" err="1">
                <a:solidFill>
                  <a:srgbClr val="1A1A1A"/>
                </a:solidFill>
                <a:latin typeface="Inter"/>
              </a:rPr>
              <a:t>исключением</a:t>
            </a:r>
            <a:r>
              <a:rPr sz="1100" b="1" i="0" dirty="0">
                <a:solidFill>
                  <a:srgbClr val="1A1A1A"/>
                </a:solidFill>
                <a:latin typeface="Inter"/>
              </a:rPr>
              <a:t> I </a:t>
            </a:r>
            <a:r>
              <a:rPr sz="1100" b="1" i="0" dirty="0" err="1">
                <a:solidFill>
                  <a:srgbClr val="1A1A1A"/>
                </a:solidFill>
                <a:latin typeface="Inter"/>
              </a:rPr>
              <a:t>группы</a:t>
            </a:r>
            <a:r>
              <a:rPr sz="1100" b="1" i="0" dirty="0">
                <a:solidFill>
                  <a:srgbClr val="1A1A1A"/>
                </a:solidFill>
                <a:latin typeface="Inter"/>
              </a:rPr>
              <a:t>, </a:t>
            </a:r>
            <a:r>
              <a:rPr sz="1100" b="1" i="0" dirty="0" err="1">
                <a:solidFill>
                  <a:srgbClr val="1A1A1A"/>
                </a:solidFill>
                <a:latin typeface="Inter"/>
              </a:rPr>
              <a:t>присвоение</a:t>
            </a:r>
            <a:r>
              <a:rPr sz="11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100" b="1" i="0" dirty="0" err="1">
                <a:solidFill>
                  <a:srgbClr val="1A1A1A"/>
                </a:solidFill>
                <a:latin typeface="Inter"/>
              </a:rPr>
              <a:t>которой</a:t>
            </a:r>
            <a:r>
              <a:rPr sz="11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1100" b="1" i="0" dirty="0" err="1">
                <a:solidFill>
                  <a:srgbClr val="1A1A1A"/>
                </a:solidFill>
                <a:latin typeface="Inter"/>
              </a:rPr>
              <a:t>осуществляется</a:t>
            </a:r>
            <a:r>
              <a:rPr sz="1100" b="1" i="0" dirty="0">
                <a:solidFill>
                  <a:srgbClr val="1A1A1A"/>
                </a:solidFill>
                <a:latin typeface="Inter"/>
              </a:rPr>
              <a:t> в </a:t>
            </a:r>
            <a:r>
              <a:rPr sz="1100" b="1" i="0" dirty="0" err="1">
                <a:solidFill>
                  <a:srgbClr val="1A1A1A"/>
                </a:solidFill>
                <a:latin typeface="Inter"/>
              </a:rPr>
              <a:t>соответствии</a:t>
            </a:r>
            <a:r>
              <a:rPr sz="1100" b="1" i="0" dirty="0">
                <a:solidFill>
                  <a:srgbClr val="1A1A1A"/>
                </a:solidFill>
                <a:latin typeface="Inter"/>
              </a:rPr>
              <a:t> с п. 2.3 </a:t>
            </a:r>
            <a:r>
              <a:rPr sz="1100" b="1" i="0" dirty="0" err="1">
                <a:solidFill>
                  <a:srgbClr val="1A1A1A"/>
                </a:solidFill>
                <a:latin typeface="Inter"/>
              </a:rPr>
              <a:t>Правил</a:t>
            </a:r>
            <a:r>
              <a:rPr sz="1100" b="1" i="0" dirty="0">
                <a:solidFill>
                  <a:srgbClr val="1A1A1A"/>
                </a:solidFill>
                <a:latin typeface="Inter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6655" y="3778389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П. 2.4 Правил по охране труда при эксплуатации электроустановок (в ред. приказа Минэнерго России от 22 сентября 2020 года № 796, вступил в силу с 1 сентября 2022 года): «Группа по электробезопасности (за исключением I группы по электробезопасности, присвоение которой осуществляется в соответствии с пунктом 2.3 Правил) присваивается по результатам проверки знаний в объеме, определенном в соответствии с приложением № 1 к Правилам и Правилами работы с персоналом в организациях электроэнергетики Российской Федерации, утвержденными приказом Министерства энергетики Российской Федерации от 22 сентября 2020 г. № 796...»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05 / 41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Изменения с 1 сентября 2022 года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Как присваивается группа по электробезопасности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П. 2.4 Правил по охране труда при эксплуатации электроустановок — новый абзац, введён в связи с вступлением в силу приказа Минэнерго России от 22 сентября 2020 года № 796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2514599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E30613"/>
                </a:solidFill>
                <a:latin typeface="Inter"/>
              </a:rPr>
              <a:t>Порядок</a:t>
            </a:r>
            <a:r>
              <a:rPr sz="1100" b="1" i="0" dirty="0">
                <a:solidFill>
                  <a:srgbClr val="E30613"/>
                </a:solidFill>
                <a:latin typeface="Inter"/>
              </a:rPr>
              <a:t> </a:t>
            </a:r>
            <a:r>
              <a:rPr sz="1100" b="1" i="0" dirty="0" err="1">
                <a:solidFill>
                  <a:srgbClr val="E30613"/>
                </a:solidFill>
                <a:latin typeface="Inter"/>
              </a:rPr>
              <a:t>присвоения</a:t>
            </a:r>
            <a:r>
              <a:rPr sz="1100" b="1" i="0" dirty="0">
                <a:solidFill>
                  <a:srgbClr val="E30613"/>
                </a:solidFill>
                <a:latin typeface="Inter"/>
              </a:rPr>
              <a:t> </a:t>
            </a:r>
            <a:r>
              <a:rPr sz="1100" b="1" i="0" dirty="0" err="1">
                <a:solidFill>
                  <a:srgbClr val="E30613"/>
                </a:solidFill>
                <a:latin typeface="Inter"/>
              </a:rPr>
              <a:t>группы</a:t>
            </a:r>
            <a:r>
              <a:rPr sz="1100" b="1" i="0" dirty="0">
                <a:solidFill>
                  <a:srgbClr val="E30613"/>
                </a:solidFill>
                <a:latin typeface="Inter"/>
              </a:rPr>
              <a:t> </a:t>
            </a:r>
            <a:r>
              <a:rPr sz="1100" b="1" i="0" dirty="0" err="1">
                <a:solidFill>
                  <a:srgbClr val="E30613"/>
                </a:solidFill>
                <a:latin typeface="Inter"/>
              </a:rPr>
              <a:t>по</a:t>
            </a:r>
            <a:r>
              <a:rPr sz="1100" b="1" i="0" dirty="0">
                <a:solidFill>
                  <a:srgbClr val="E30613"/>
                </a:solidFill>
                <a:latin typeface="Inter"/>
              </a:rPr>
              <a:t> </a:t>
            </a:r>
            <a:r>
              <a:rPr sz="1100" b="1" i="0" dirty="0" err="1">
                <a:solidFill>
                  <a:srgbClr val="E30613"/>
                </a:solidFill>
                <a:latin typeface="Inter"/>
              </a:rPr>
              <a:t>электробезопасности</a:t>
            </a:r>
            <a:r>
              <a:rPr sz="1100" b="1" i="0" dirty="0">
                <a:solidFill>
                  <a:srgbClr val="E30613"/>
                </a:solidFill>
                <a:latin typeface="Inter"/>
              </a:rPr>
              <a:t> (п. 2.4 </a:t>
            </a:r>
            <a:r>
              <a:rPr sz="1100" b="1" i="0" dirty="0" err="1">
                <a:solidFill>
                  <a:srgbClr val="E30613"/>
                </a:solidFill>
                <a:latin typeface="Inter"/>
              </a:rPr>
              <a:t>Правил</a:t>
            </a:r>
            <a:r>
              <a:rPr sz="1100" b="1" i="0" dirty="0">
                <a:solidFill>
                  <a:srgbClr val="E30613"/>
                </a:solidFill>
                <a:latin typeface="Inter"/>
              </a:rPr>
              <a:t>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Группа по электробезопасности присваивается по результатам проверки знаний в объёме, определённом в соответствии с приложением № 1 к Правилам и Правилами работы с персоналом в организациях электроэнергетики Российской Федерации, утверждёнными приказом Министерства энергетики Российской Федерации от 22 сентября 2020 г. № 796.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Исключение — I группа по электробезопасности: её присвоение осуществляется в соответствии с пунктом 2.3 Правил (не по результатам проверки знаний в общем порядке).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082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082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Основание изменения: приказ Минэнерго России от 22 сентября 2020 года № 796 вступил в силу 1 сентября 2022 года — с этой даты норма применяется в обязательном порядке.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889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9889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Объём проверки знаний определяется приложением № 1 к Правилам по охране труда при эксплуатации электроустановок (п. 2.4).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15721"/>
            <a:ext cx="11094415" cy="939359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415721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rgbClr val="F59E0B"/>
                </a:solidFill>
                <a:latin typeface="Inter"/>
              </a:rPr>
              <a:t>Цитата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из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п. 2.4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ред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. с 01.09.2022): «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исключением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I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присвоение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которой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осуществляется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пунктом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2.3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)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присваивается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результатам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проверки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знаний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объеме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определенном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приложением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№ 1 к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работы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организациях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утвержденными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приказом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Министерства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от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22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сентября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2020 г. № 796».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06 / 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Модуль 2. Персонал электроустановок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Классификация персонала: основа безопасной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Почему важно знать, кто и что имеет право делать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95097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Электроустановки — объекты повышенной опасности. Допуск к работе с ними строго регламентирован: каждый работник должен соответствовать определённой категории персонала и группе по электробезопасности. От правильной классификации зависит, какие работы разрешено выполнять, какой надзор требуется и какова личная ответственность сотрудника. Ошибка в определении категории — это не формальное нарушение, а прямой риск для жизни.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64845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785616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В этом модуле разбираем: какие категории персонала установлены нормативно, чем они различаются и как это влияет на организацию работ.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07 / 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Правила технической эксплуатации электроустановок потребителей электрической энергии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Категории электротехнического персонала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Пять категорий персонала, осуществляющего эксплуатацию электроустановок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42646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Эксплуатацию электроустановок должен осуществлять электротехнический и электротехнологический персонал, который подразделяется на следующие категории:
1. Административно-технический персонал
2. Оперативный персонал
3. Оперативно-ремонтный персонал
4. Ремонтный персонал
5. Вспомогательный персонал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123944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261104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Источник: Правила технической эксплуатации электроустановок потребителей электрической энергии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08 / 41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Персонал электроустановок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Категории электротехнического и электротехнологического персонала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Правила технической эксплуатации электроустановок потребителей электрической энергии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0045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Электротехнический персонал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970085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107245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Административно-технический персонал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5845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Руководители и специалисты, осуществляющие организационное и техническое руководство эксплуатацией электроустановок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86771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Оперативный персонал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5371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Персонал, осуществляющий оперативное управление и обслуживание электроустановок (осмотр, оперативные переключения, подготовка рабочего места, допуск и надзор за работающими)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54892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Оперативно-ремонтный персонал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83492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Ремонтный персонал, специально обученный и подготовленный для оперативного обслуживания закреплённых за ним электроустановок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3134106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Электротехнологический персонал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24447" y="3454146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24447" y="3591306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Ремонтный персонал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819906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Персонал, обеспечивающий техническое обслуживание и ремонт, монтаж, наладку и испытание электрооборудования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4370831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Вспомогательный персонал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4599431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Персонал, выполняющий вспомогательные функции в электроустановках под надзором электротехнического персонала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93829"/>
            <a:ext cx="11094415" cy="815531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466496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rgbClr val="F59E0B"/>
                </a:solidFill>
                <a:latin typeface="Inter"/>
              </a:rPr>
              <a:t>Дословно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НПА: «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Эксплуатацию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электроустановок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должен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осуществлять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электротехнический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электротехнологический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который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подразделяется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на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следующие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категории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: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административно-технический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;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оперативный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;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оперативно-ремонтный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;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ремонтный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;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вспомогательный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.» —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технической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эксплуатации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электроустановок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потребителей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электрической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энергии</a:t>
            </a:r>
            <a:endParaRPr sz="1400" b="1" i="0" dirty="0">
              <a:solidFill>
                <a:srgbClr val="F59E0B"/>
              </a:solidFill>
              <a:latin typeface="Inter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09 / 41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Группа по электробезопасности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Кто обязан иметь группу по электробезопасности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Требования Правил по охране труда при эксплуатации электроустановок и Правил работы с персоналом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42646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Работники, относящиеся к электротехническому и электротехнологическому персоналу, а также специалисты по охране труда, контролирующие электроустановки, и работники, относящиеся к неэлектротехническому персоналу и выполняющие работы, при которых может возникнуть опасность поражения электрическим током, должны иметь группу по электробезопасности, определённую в соответствии с Правилами по охране труда при эксплуатации электроустановок. Руководители структурных подразделений потребителя, в подчинении которых находится электротехнологический персонал, должны иметь группу по электробезопасности не ниже, чем у подчинённого персонала.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123944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261104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Для руководителей структурных подразделений, чей персонал имеет IV группу, минимально допустимая группа руководителя — не ниже IV. Требование закреплено в Правилах работы с персоналом.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10 / 41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Электробезопасность персонала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Группы по электробезопасности: требования к персоналу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Правила по охране труда при эксплуатации электроустановок; Правила работы с персоналом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90038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Кто обязан иметь группу по электробезопасности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910078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4723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4723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Электротехнический персонал — группа по электробезопасности в соответствии с Правилами по охране труда при эксплуатации электроустановок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531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5314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Электротехнологический персонал — группа по электробезопасности согласно тем же Правилам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5765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5765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Специалисты по охране труда, контролирующие электроустановки, — группа по электробезопасности обязательна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5998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5998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Неэлектротехнический персонал, выполняющий работы, при которых может возникнуть опасность поражения электрическим током, — группа по электробезопасности обязательна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6806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06806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Руководители структурных подразделений, в подчинении которых находится электротехнологический персонал, — группа не ниже, чем у подчинённого персонала (Правила работы с персоналом)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Руководители структурных подразделений обязаны иметь группу не ниже IV, если их подчинённый электротехнологический персонал имеет IV группу. Требование установлено Правилами работы с персоналом.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11 / 41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Группы по электробезопасности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Требования к группам по электробезопасности персонала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Неэлектротехнический персонал и руководители структурных подразделений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29076"/>
            <a:ext cx="4572000" cy="2011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800" b="1">
                <a:solidFill>
                  <a:srgbClr val="E30613"/>
                </a:solidFill>
                <a:latin typeface="Inter"/>
              </a:rPr>
              <a:t>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0039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Inter"/>
              </a:rPr>
              <a:t>группа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56655" y="3576116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56655" y="3713276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Inter"/>
              </a:rPr>
              <a:t>Руководители структурных подразделений, в подчинении которых находится электротехнологический персонал, должны иметь группу по электробезопасности не ниже, чем у подчинённого персонала. Неэлектротехнический персонал, выполняющий работы, при которых может возникнуть опасность поражения электрическим током, обязан иметь группу по электробезопасности в соответствии с установленными требованиями.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12 / 41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Группы по электробезопасности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Руководитель обязан иметь группу не ниже, чем у подчинённого персонала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Правила работы с персоналом / Правила по охране труда при эксплуатации электроустановок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42646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Работники, относящиеся к электротехническому и электротехнологическому персоналу, а также специалисты по охране труда, контролирующие электроустановки, и работники, относящиеся к неэлектротехническому персоналу и выполняющие работы, при которых может возникнуть опасность поражения электрическим током, должны иметь группу по электробезопасности, определённую в соответствии с Правилами по охране труда при эксплуатации электроустановок. Руководители структурных подразделений потребителя, в подчинении которых находится электротехнологический персонал, должны иметь группу по электробезопасности не ниже, чем у подчинённого персонала.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123944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261104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Минимальная группа для руководителей, контролирующих электроустановки напряжением до 1000 В, — IV. Требование установлено Правилами работы с персоналом и Правилами по охране труда при эксплуатации электроустановок.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13 / 41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Итог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Inter"/>
              </a:rPr>
              <a:t>Категории электроустановок и группы по электробезопасности: связь и логика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Чем выше напряжение и сложность установки — тем выше требуемая группа допуска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66420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Электроустановки делятся на две категории по напряжению: до 1000 В и выше 1000 В. Группа по электробезопасности персонала (I–V) определяет право на выполнение конкретных работ в установках соответствующей категории.
• Группа I — неэлектротехнический персонал, работающий вблизи электроустановок; присваивается инструктажем без удостоверения.
• Группы II–III — дают право работы в электроустановках до 1000 В; III — также право единоличного осмотра.
• Группы IV–V — необходимы для работы в установках выше 1000 В; V — для лиц, ответственных за электрохозяйство объектов с установками выше 1000 В.
Повышение группы возможно только после отработки установленного стажа и успешной проверки знаний в комиссии Ростехнадзора или комиссии предприятия (в зависимости от группы).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361688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5189221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Группа по электробезопасности — не формальность, а допуск к конкретному виду опасности. Несоответствие группы выполняемой работе квалифицируется как нарушение требований охраны труда.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14 / 41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Проверка знаний персонала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Зачем и как проверяют знания в электроустановках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Допуск к работе — через подтверждённую компетентность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1887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Проверка знаний персонала — обязательная процедура, которая подтверждает, что работник понимает требования безопасности, умеет применять их на практике и допускается к самостоятельной работе в электроустановках. Проверка бывает первичной (перед допуском), очередной (периодически) и внеочередной (после нарушений, изменений НПА или перерыва в работе). Результат фиксируется в удостоверении с присвоением группы по электробезопасности — от I до V в зависимости от квалификации и характера работ.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886200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В этом разделе разберём виды проверок, состав комиссий, периодичность и документальное оформление.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15 / 41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Группы по электробезопасности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Inter"/>
              </a:rPr>
              <a:t>Требование к составу комиссии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Присвоение и подтверждение группы по электробезопасности осуществляются в соответствии с Правилами по охране труда при эксплуатации электроустановок и Правилами работы с персоналом.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23006"/>
            <a:ext cx="4572000" cy="2011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800" b="1">
                <a:solidFill>
                  <a:srgbClr val="E30613"/>
                </a:solidFill>
                <a:latin typeface="Inter"/>
              </a:rPr>
              <a:t>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94326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Inter"/>
              </a:rPr>
              <a:t>группа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56655" y="3470046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56655" y="3607206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Inter"/>
              </a:rPr>
              <a:t>Для электроустановок до 1000 В: при присвоении (подтверждении) IV группы по электробезопасности один из членов комиссии по проверке знаний обязан иметь IV группу по электробезопасности.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16 / 41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Электробезопасность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Порядок присвоения и подтверждения группы по электробезопасности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Требования установлены Правилами по охране труда при эксплуатации электроустановок и Правилами работы с персоналом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74061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Требования и порядок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09410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23126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31261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Присвоение группы по электробезопасности осуществляется в соответствии с Правилами по охране труда при эксплуатации электроустановок и Правилами работы с персоналом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3933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39337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Подтверждение группы по электробезопасности проводится в том же порядке, что и её присвоение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41673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41673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Присвоение и подтверждение группы проводится комиссией по проверке знаний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4400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44009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Для организаций (обособленных структурных подразделений), эксплуатирующих электроустановки напряжением до 1000 В: при присвоении (подтверждении) IV группы по электробезопасности один из членов комиссии по проверке знаний обязан иметь IV группу по электробезопасности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Требование к составу комиссии: наличие члена с IV группой по электробезопасности обязательно при присвоении (подтверждении) IV группы в электроустановках до 1000 В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17 / 41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Электробезопасность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Состав комиссии для установок до 1000 В: ключевые условия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Присвоение и подтверждение группы по электробезопасности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28403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Нормативная основа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548443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685603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Правила по охране труда при эксплуатации электроустановок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14203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Регулируют порядок присвоения и подтверждения группы по электробезопасности.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65129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Правила работы с персоналом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93729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Устанавливают требования к процедуре проверки знаний и составу комиссии.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3039808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Требования к комиссии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4447" y="3359848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7" y="3497008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Сфера применения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725608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Организации (обособленные структурные подразделения), эксплуатирующие электроустановки напряжением до 1000 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4276534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Состав комиссии по проверке знаний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4505134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Для присвоения (подтверждения) IV группы по электробезопасности один из членов комиссии при проверке знаний должен иметь IV группу по электробезопасности.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Присвоение и подтверждение группы осуществляются в соответствии с Правилами по охране труда при эксплуатации электроустановок и Правилами работы с персоналом.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18 / 41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Проверка знаний персонала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Виды проверок знаний: первичная, очередная, внеочередная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Правила технической эксплуатации электроустановок потребителей электрической энергии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 отношении персонала потребителя проводится первичная и периодическая (очередная и внеочередная) проверка знаний.
• Первичная проверка знаний — проводится у работников, впервые поступивших на работу, связанную с обслуживанием электроустановок, или при перерыве в работе более 3 лет.
• Очередная проверка знаний — периодичность проведения:
  — для электротехнического персонала, непосредственно организующего и проводящего работы по обслуживанию действующих электроустановок: не реже одного раза в 12 месяцев;
  — для административно-технического персонала (АТП), не относящегося к предыдущей группе, а также для специалистов по охране труда, допущенных к инспектированию электроустановок: не реже одного раза в 3 года.
• Внеочередная проверка знаний — проводится вне установленных сроков очередной проверки при наступлении соответствующих оснований.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19 / 41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Проверка знаний персонала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Виды и периодичность проверки знаний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Правила технической эксплуатации электроустановок потребителей электрической энергии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Виды проверок знаний и условия проведения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Первичная проверка знаний — проводится у работников, впервые поступивших на работу, связанную с обслуживанием электроустановок, или при перерыве в работе более 3 лет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4271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4271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Очередная проверка знаний (периодическая) — для электротехнического персонала, непосредственно организующего и проводящего работы по обслуживанию действующих электроустановок: не реже одного раза в 12 месяцев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5079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50791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Очередная проверка знаний (периодическая) — для административно-технического персонала (АТП), не относящегося к предыдущей группе, а также для специалистов по охране труда, допущенных к инспектированию электроустановок: не реже одного раза в 3 года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889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9889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Внеочередная проверка знаний — проводится в случаях, предусмотренных Правилами технической эксплуатации электроустановок потребителей электрической энергии (вне установленной периодичности)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Все виды проверок знаний обязательны для персонала потребителя. Несоблюдение периодичности проверки является нарушением требований Правил технической эксплуатации электроустановок потребителей электрической энергии.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20 / 41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Совместитель как ответственный за электрохозяйство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3 условия для освобождения совместителя от проверки знаний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Все три условия должны выполняться одновременно. Решение принимает руководитель или иное должностное лицо потребителя.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95244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Условия, при которых проверка знаний не проводится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415284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55244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52444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С даты проверки знаний работника по месту основной работы, связанной с эксплуатацией электроустановок, прошло не более 6 месяцев.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Энергоёмкость электроустановок и их сложность у потребителя, у которого работник трудится по совместительству, не выше, чем по месту основной работы такого работника.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6859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68596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У потребителя отсутствуют электроустановки напряжением выше 1000 В.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Если хотя бы одно из условий не выполнено — проверка знаний при назначении на должность ответственного за электрохозяйство обязательна.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21 / 41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Проверка знаний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Проверка знаний в органе энергонадзора: когда и как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Порядок для организаций, не имеющих возможности сформировать собственную комиссию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34106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Условие применения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454146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591306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Юридическое лицо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19906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Потребитель — юридическое лицо, у которого недостаточно работников для формирования собственной комиссии по проверке знаний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70831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Численность работников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99431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Численность работников не позволяет образовать комиссию по проверке знаний внутри организации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3039808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Порядок проведения проверки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24447" y="3359848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24447" y="3497008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Комиссия по проверке знаний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3725608"/>
            <a:ext cx="5318607" cy="565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Проверка проводится в комиссиях, формируемых федеральным органом исполнительной власти, уполномоченным на осуществление федерального государственного энергетического надзора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4465129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Территориальные органы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4693729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Допускается проведение проверки в территориальных органах федерального органа энергетического надзора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72113"/>
            <a:ext cx="11094415" cy="861215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456504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rgbClr val="F59E0B"/>
                </a:solidFill>
                <a:latin typeface="Inter"/>
              </a:rPr>
              <a:t>Дословно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(regulation): «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Проверка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знаний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работников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потребителя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-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юридического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лица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численность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работников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которого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не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позволяет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образовать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комиссию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проверке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знаний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должна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проводиться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комиссиях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формируемых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федеральным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органом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исполнительной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власти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уполномоченным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на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осуществление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федерального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государственного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энергетического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надзора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или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его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территориальными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органами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.»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22 / 41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Итог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Присвоение и проверка знаний: ключевые правила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Что должен знать каждый специалист по окончании модуля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514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1. Группа по электробезопасности присваивается строго в соответствии с требованиями к стажу, уровню образования и объёму знаний — самостоятельное повышение группы недопустимо.
2. Первичная проверка знаний проводится до допуска к самостоятельной работе; очередная — в сроки, установленные для каждой категории персонала.
3. Внеплановая проверка назначается при введении новых НПА, после несчастного случая, при перерыве в работе свыше установленного срока или по требованию контролирующего органа.
4. Проверку проводит комиссия в составе не менее трёх человек; председатель обязан иметь группу V (в электроустановках выше 1000 В) или группу IV (до 1000 В).
5. Результаты оформляются протоколом установленной формы; удостоверение выдаётся только после успешной проверки.
6. Работник, не прошедший проверку, к самостоятельной работе не допускается до повторной успешной аттестации.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9289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rgbClr val="6B7280"/>
                </a:solidFill>
                <a:latin typeface="Inter"/>
              </a:rPr>
              <a:t>Соблюдение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порядка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присвоения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групп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и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проверки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знаний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—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основа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допуска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персонала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к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работе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в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электроустановках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и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условие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безопасности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на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rgbClr val="6B7280"/>
                </a:solidFill>
                <a:latin typeface="Inter"/>
              </a:rPr>
              <a:t>производстве</a:t>
            </a:r>
            <a:r>
              <a:rPr sz="1100" b="0" i="0" dirty="0">
                <a:solidFill>
                  <a:srgbClr val="6B7280"/>
                </a:solidFill>
                <a:latin typeface="Inter"/>
              </a:rPr>
              <a:t>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23 / 41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Противоаварийные тренировки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Зачем нужны противоаварийные тренировки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Готовность персонала к действиям в нештатных ситуациях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1887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Противоаварийные тренировки — это плановые практические занятия, в ходе которых персонал отрабатывает последовательность действий при авариях, инцидентах и нарушениях режима работы электроустановок. Цель тренировок: сократить время ликвидации нарушений, исключить ошибочные действия под давлением и закрепить алгоритмы безопасного поведения. Регулярная отработка сценариев формирует устойчивый навык, который в реальной аварийной ситуации срабатывает быстрее, чем осознанный анализ.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886200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Тренировка — не формальность. Это единственный способ проверить, насколько персонал реально готов к аварии, не дожидаясь самой аварии.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24 / 41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Оперативный и оперативно-ремонтный персонал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Противоаварийные тренировки оперативного персонала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Обязанность потребителя по организации тренировок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71323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В случаях и порядке, установленных Правилами проведения противоаварийных тренировок, потребителем должны проводиться противоаварийные тренировки для его оперативного (оперативно-ремонтного) персонала, а также должно быть обеспечено участие персонала потребителя в противоаварийных тренировках, проводимых другими организациями.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410712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547872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Основание: Правила проведения противоаварийных тренировок.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25 / 41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Противоаварийные тренировки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Участие персонала в тренировках других организаций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Правила проведения противоаварийных тренировок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98114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Обязанности потребителя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518154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655314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5314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Проводить противоаварийные тренировки для оперативного (оперативно-ремонтного) персонала — в случаях и порядке, установленных Правилами проведения противоаварийных тренировок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6339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63390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Обеспечивать участие персонала потребителя в противоаварийных тренировках, проводимых другими организациями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572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65726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Распространять требование на оперативный персонал и оперативно-ремонтный персонал без исключений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46420"/>
            <a:ext cx="11094415" cy="70866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564642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rgbClr val="F59E0B"/>
                </a:solidFill>
                <a:latin typeface="Inter"/>
              </a:rPr>
              <a:t>Цитата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: «В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случаях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порядке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установленных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проведения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противоаварийных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тренировок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потребителем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должны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проводиться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противоаварийные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тренировки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для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его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оперативного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оперативно-ремонтного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)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а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также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должно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быть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обеспечено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участие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потребителя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противоаварийных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тренировках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проводимых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другими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организациями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.»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26 / 41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Итог модуля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Ключевые обязанности при работе с электроустановками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Что должен знать и выполнять каждый работник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90195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1. Допуск к работе — только при наличии соответствующей группы по электробезопасности и действующего удостоверения.
2. Организационные мероприятия — наряд-допуск, распоряжение или перечень работ в порядке текущей эксплуатации оформляются до начала работ.
3. Технические мероприятия — отключение, проверка отсутствия напряжения, заземление, ограждение рабочего места выполняются в установленной последовательности.
4. Инструктаж и целевой инструктаж — проводятся перед каждым допуском; факт проведения фиксируется в наряде.
5. Ответственность — выдающий наряд, ответственный руководитель работ, производитель работ и допускающий несут персональную ответственность в пределах своих функций.
6. Повторная проверка знаний — периодичность определяется группой электробезопасности и категорией персонала; нарушение сроков влечёт отстранение от работы.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36592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Соблюдение перечисленных требований — не формальность, а условие безопасного производства работ и личной защиты персонала.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27 / 41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3.2 · Работа с персоналом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Обязательные формы работы с персоналом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Приказ Минэнерго № 796 — формы по категориям персонала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2514599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Формы работы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АТП: предэкзаменационная подготовка, проверка знаний, производственный инструктаж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диспетчерский / оперативный / ОРп: стажировка, новая должность, проверка знаний, дублирование, тренировки, спецподготовка, инструктаж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082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082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ремонтный: стажировка, новая должность, проверка знаний, производственный инструктаж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889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9889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вспомогательный: предэкзаменационная подготовка и проверка знаний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15721"/>
            <a:ext cx="11094415" cy="939359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415721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rgbClr val="F59E0B"/>
                </a:solidFill>
                <a:latin typeface="Inter"/>
              </a:rPr>
              <a:t>Цитата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из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п. 2.4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ред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. с 01.09.2022): «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исключением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I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присвоение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которой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осуществляется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пунктом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2.3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)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присваивается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результатам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проверки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знаний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объеме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определенном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приложением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№ 1 к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работы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организациях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утвержденными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приказом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Министерства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от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22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сентября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2020 г. № 796».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28 / 41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3.2 · Специальная подготовка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Специальная подготовка диспетчерского и оперативного персонала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Не менее 5% и не более 20% рабочего времени с отрывом от основных обязанностей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2514599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Объём специальной подготовки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учебные противоаварийные и противопожарные тренировки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теоретические занятия по устройству и эксплуатации оборудования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082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082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плановый производственный инструктаж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889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9889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дополнительно: изменения схем, аварийность, РЗА, ошибки по тренировкам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15721"/>
            <a:ext cx="11094415" cy="939359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415721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rgbClr val="F59E0B"/>
                </a:solidFill>
                <a:latin typeface="Inter"/>
              </a:rPr>
              <a:t>Цитата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из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п. 2.4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ред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. с 01.09.2022): «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исключением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I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присвоение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которой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осуществляется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пунктом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2.3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)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присваивается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результатам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проверки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знаний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объеме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определенном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приложением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№ 1 к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работы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организациях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утвержденными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приказом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Министерства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от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22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сентября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2020 г. № 796».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29 / 41</a:t>
            </a:r>
          </a:p>
        </p:txBody>
      </p:sp>
      <p:pic>
        <p:nvPicPr>
          <p:cNvPr id="21" name="Picture 20" descr="switchgear_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00000"/>
            <a:ext cx="10700000" cy="2300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3.3 · Новая должность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Подготовка по новой должности (рабочему месту)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Обязательна для диспетчерского, оперативного, ОРп и ремонтного персонала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2514599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Последовательность этапов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теоретическая подготовка (самоподготовка / иные способы)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стажировка (для диспетчеров — также ознакомление с объектами)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082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082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предэкзаменационная подготовка и проверка знаний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889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9889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дублирование (диспетчерский, оперативный, ОРп)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15721"/>
            <a:ext cx="11094415" cy="939359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415721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rgbClr val="F59E0B"/>
                </a:solidFill>
                <a:latin typeface="Inter"/>
              </a:rPr>
              <a:t>Цитата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из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п. 2.4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ред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. с 01.09.2022): «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исключением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I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присвоение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которой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осуществляется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пунктом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2.3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)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присваивается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результатам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проверки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знаний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объеме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определенном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приложением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№ 1 к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работы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организациях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утвержденными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приказом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Министерства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от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22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сентября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2020 г. № 796».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30 / 41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3.4 · Стажировка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Стажировка в организациях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Для диспетчерского, оперативного, ОРп и ремонтного персонала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2514599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Ключевые требования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проводится под руководством назначенного ответственного за стажировку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минимальный срок — 2 рабочих дня (смены) на каждом рабочем месте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082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082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максимальный срок — не более 14 рабочих дней (смен)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889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9889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допуск к стажировке — ОРД с указанием сроков и ответственных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15721"/>
            <a:ext cx="11094415" cy="939359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415721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rgbClr val="F59E0B"/>
                </a:solidFill>
                <a:latin typeface="Inter"/>
              </a:rPr>
              <a:t>Цитата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из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п. 2.4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ред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. с 01.09.2022): «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исключением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I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присвоение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которой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осуществляется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пунктом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2.3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)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присваивается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результатам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проверки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знаний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объеме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определенном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приложением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№ 1 к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работы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организациях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утвержденными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приказом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Министерства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от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22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сентября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2020 г. № 796».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31 / 41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00000"/>
            <a:ext cx="10700000" cy="2300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3.5 · Группы I–V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Группы по электробезопасности (допуск)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Пять классов допуска по опыту и правам работы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2514599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Группы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I группа — неэлектротехнический персонал (запись в журнале)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II группа — начинающие специалисты, переносной инструмент, водители в ЭУ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082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082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III группа — единоличная работа до 1000 В; в бригаде — и выше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889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9889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IV группа — обслуживание &gt; 1000 В; старший смены / ответственный до 1000 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15721"/>
            <a:ext cx="11094415" cy="939359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415721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rgbClr val="F59E0B"/>
                </a:solidFill>
                <a:latin typeface="Inter"/>
              </a:rPr>
              <a:t>Цитата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из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п. 2.4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ред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. с 01.09.2022): «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исключением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I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присвоение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которой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осуществляется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пунктом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2.3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)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присваивается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результатам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проверки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знаний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объеме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определенном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приложением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№ 1 к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работы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организациях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утвержденными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приказом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Министерства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от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22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сентября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2020 г. № 796».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32 / 41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3.5 · Проверка знаний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Периодичность и основания внеочередной проверки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По Приказу Минэнерго № 796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2514599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Сроки и основания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очередная: диспетчерский/оперативный/ОРп и др. — не реже 1 раза в 12 месяцев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очередная: иные работники — не реже 1 раза в 3 года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082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082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первичная АТП/вспомогательного — не позднее 1 месяца после назначения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889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9889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внеочередная: новые НПА, перевод, новое оборудование, нарушения, аварии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15721"/>
            <a:ext cx="11094415" cy="939359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415721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rgbClr val="F59E0B"/>
                </a:solidFill>
                <a:latin typeface="Inter"/>
              </a:rPr>
              <a:t>Цитата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из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п. 2.4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ред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. с 01.09.2022): «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исключением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I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присвоение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которой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осуществляется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пунктом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2.3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)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присваивается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результатам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проверки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знаний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объеме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определенном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приложением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№ 1 к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работы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организациях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утвержденными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приказом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Министерства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от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22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сентября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2020 г. № 796».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33 / 41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3.5 · Комиссия и оформление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Комиссия по проверке знаний и оформление результатов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Постоянно действующие комиссии организации и филиалов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2514599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Требования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комиссия — не менее 5 человек (председатель и заместитель)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при проверке присутствует не менее 3 членов, включая председателя (зам.)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082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082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при присвоении группы ЭБ — ≥ 3 с группой ЭБ, один не ниже присваиваемой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889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9889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неудовлетворительно — &gt; 30% неверных ответов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15721"/>
            <a:ext cx="11094415" cy="939359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415721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rgbClr val="F59E0B"/>
                </a:solidFill>
                <a:latin typeface="Inter"/>
              </a:rPr>
              <a:t>Цитата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из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п. 2.4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ред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. с 01.09.2022): «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исключением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I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присвоение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которой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осуществляется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пунктом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2.3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)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присваивается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результатам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проверки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знаний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объеме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определенном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приложением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№ 1 к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работы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организациях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утвержденными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приказом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Министерства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от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22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сентября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2020 г. № 796».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34 / 41</a:t>
            </a:r>
          </a:p>
        </p:txBody>
      </p:sp>
      <p:pic>
        <p:nvPicPr>
          <p:cNvPr id="21" name="Picture 20" descr="kipia_instr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00000"/>
            <a:ext cx="10700000" cy="2300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3.6 · Дублирование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Дублирование диспетчерского и оперативного персонала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Этап подготовки по новой должности и после перерыва в работе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2514599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Сроки и условия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при новой должности — после проверки знаний, не менее 12 рабочих смен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после перерыва &gt; 30 и &lt; 60 дней — по порядку организации, ≥ 1 смена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082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082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после перерыва от 60 дней до 6 месяцев — дублирование обязательно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889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9889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в период дублирования — контрольные противоаварийная и противопожарная тренировки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15721"/>
            <a:ext cx="11094415" cy="939359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415721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rgbClr val="F59E0B"/>
                </a:solidFill>
                <a:latin typeface="Inter"/>
              </a:rPr>
              <a:t>Цитата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из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п. 2.4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ред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. с 01.09.2022): «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исключением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I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присвоение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которой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осуществляется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пунктом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2.3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)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присваивается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результатам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проверки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знаний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объеме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определенном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приложением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№ 1 к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работы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организациях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утвержденными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приказом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Министерства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от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22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сентября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2020 г. № 796».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35 / 41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3.7 · Допуск к самостоятельной работе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Допуск к самостоятельной работе и его отзыв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Для диспетчерского, оперативного, ОРп и ремонтного персонала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2514599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Ключевые правила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допуск после этапов индивидуальной программы подготовки по новой должности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действует до срока очередной проверки знаний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082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082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повторный допуск после очередной проверки не требуется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889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9889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отзыв: «неуд.» по знаниям / повторной тренировке, нарушения НПА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15721"/>
            <a:ext cx="11094415" cy="939359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415721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rgbClr val="F59E0B"/>
                </a:solidFill>
                <a:latin typeface="Inter"/>
              </a:rPr>
              <a:t>Цитата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из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п. 2.4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ред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. с 01.09.2022): «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исключением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I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присвоение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которой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осуществляется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пунктом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2.3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)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присваивается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результатам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проверки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знаний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объеме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определенном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приложением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№ 1 к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работы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организациях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утвержденными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приказом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Министерства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от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22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сентября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2020 г. № 796».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36 / 41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3.8 · Производственный инструктаж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Плановый и внеплановый производственный инструктаж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Для диспетчерского, оперативного, ОРп и ремонтного персонала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2514599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Периодичность и порядок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плановый для диспетчерского/оперативного/ОРп — ежемесячно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плановый для ремонтного — не реже одного раза в квартал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082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082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программа планового инструктажа актуализируется ежегодно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889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9889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внеплановый — при новых/изменённых документах, схемах, нарушениях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15721"/>
            <a:ext cx="11094415" cy="939359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415721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rgbClr val="F59E0B"/>
                </a:solidFill>
                <a:latin typeface="Inter"/>
              </a:rPr>
              <a:t>Цитата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из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п. 2.4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ред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. с 01.09.2022): «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исключением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I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присвоение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которой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осуществляется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пунктом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2.3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)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присваивается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результатам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проверки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знаний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объеме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определенном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приложением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№ 1 к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работы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организациях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утвержденными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приказом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Министерства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от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22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сентября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2020 г. № 796».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37 / 41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00000"/>
            <a:ext cx="10700000" cy="2300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3.9 · Тренировки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Противоаварийные и противопожарные тренировки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Учебные и контрольные тренировки персонала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2514599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Периодичность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учебная противопожарная — 1 раз в 3 календарных месяца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контрольная противопожарная — 1 раз в 6 календарных месяцев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082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082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допускается совмещать контрольные противоаварийные и противопожарные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889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9889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проводятся в свободное от дежурства время (или в смену по решению)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15721"/>
            <a:ext cx="11094415" cy="939359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415721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rgbClr val="F59E0B"/>
                </a:solidFill>
                <a:latin typeface="Inter"/>
              </a:rPr>
              <a:t>Цитата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из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п. 2.4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ред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. с 01.09.2022): «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исключением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I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присвоение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которой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осуществляется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пунктом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2.3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)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присваивается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результатам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проверки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знаний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объеме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определенном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приложением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№ 1 к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работы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организациях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утвержденными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приказом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Министерства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от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22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сентября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2020 г. № 796».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38 / 41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3.10 · Повышение квалификации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Дополнительное профессиональное образование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Непрерывный характер повышения квалификации персонала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2514599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Требования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ДПО для АТП, диспетчерского, оперативного, ОРп и ремонтного персонала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не реже одного раза в 5 лет с отрывом от основных обязанностей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082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082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в образовательном подразделении организации или специализированной организации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889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9889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краткосрочное обучение АТП — по порядку, установленному руководителем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15721"/>
            <a:ext cx="11094415" cy="939359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415721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rgbClr val="F59E0B"/>
                </a:solidFill>
                <a:latin typeface="Inter"/>
              </a:rPr>
              <a:t>Цитата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из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п. 2.4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ред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. с 01.09.2022): «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исключением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I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присвоение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которой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осуществляется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пунктом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2.3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)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присваивается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результатам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проверки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знаний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объеме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определенном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приложением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№ 1 к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работы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организациях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утвержденными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приказом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Министерства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от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22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сентября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2020 г. № 796».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39 / 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3.11 · Обходы и осмотры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Обходы и осмотры рабочих мест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Для диспетчерского, оперативного и оперативно-ремонтного персонала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2514599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Что проверяется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выполнение требований НПА и поддержание технологического режима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порядок приёма-сдачи смены, оперативная документация, дисциплина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082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082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выявление дефектов и принятие мер к их устранению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889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9889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правильное применение нарядов-допусков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15721"/>
            <a:ext cx="11094415" cy="939359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415721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rgbClr val="F59E0B"/>
                </a:solidFill>
                <a:latin typeface="Inter"/>
              </a:rPr>
              <a:t>Цитата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из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п. 2.4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ред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. с 01.09.2022): «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исключением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I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присвоение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которой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осуществляется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пунктом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2.3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)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присваивается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результатам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проверки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знаний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объеме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определенном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приложением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№ 1 к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работы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организациях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утвержденными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приказом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Министерства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от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22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сентября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2020 г. № 796».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40 / 41</a:t>
            </a:r>
          </a:p>
        </p:txBody>
      </p:sp>
      <p:pic>
        <p:nvPicPr>
          <p:cNvPr id="21" name="Picture 20" descr="switchgear_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00000"/>
            <a:ext cx="10700000" cy="2300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Итоги темы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Ключевые требования к персоналу и его подготовке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Что должен знать каждый специалист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2514599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Главные выводы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пять категорий персонала + обязательные формы работы по Приказу № 796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группа по ЭБ — по результатам проверки знаний (кроме I группы)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082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0822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новая должность: теория → стажировка → проверка → дублирование → допуск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889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98898"/>
            <a:ext cx="10637215" cy="4800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проверка знаний: 12 месяцев / 3 года; комиссия ≥ 5 человек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15721"/>
            <a:ext cx="11094415" cy="939359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415721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rgbClr val="F59E0B"/>
                </a:solidFill>
                <a:latin typeface="Inter"/>
              </a:rPr>
              <a:t>Цитата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из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п. 2.4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ред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. с 01.09.2022): «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(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исключением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I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группы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электробезопасности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присвоение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которой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осуществляется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пунктом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2.3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)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присваивается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по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результатам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проверки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знаний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объеме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определенном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соответствии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приложением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№ 1 к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Правилами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работы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с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персоналом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в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организациях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электроэнергетики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,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утвержденными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приказом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Министерства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энергетики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Российской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Федерации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от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22 </a:t>
            </a:r>
            <a:r>
              <a:rPr sz="1400" b="1" i="0" dirty="0" err="1">
                <a:solidFill>
                  <a:srgbClr val="F59E0B"/>
                </a:solidFill>
                <a:latin typeface="Inter"/>
              </a:rPr>
              <a:t>сентября</a:t>
            </a:r>
            <a:r>
              <a:rPr sz="1400" b="1" i="0" dirty="0">
                <a:solidFill>
                  <a:srgbClr val="F59E0B"/>
                </a:solidFill>
                <a:latin typeface="Inter"/>
              </a:rPr>
              <a:t> 2020 г. № 796».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41 / 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3746</Words>
  <Application>Microsoft Office PowerPoint</Application>
  <PresentationFormat>Широкоэкранный</PresentationFormat>
  <Paragraphs>335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8" baseType="lpstr">
      <vt:lpstr>Arial</vt:lpstr>
      <vt:lpstr>Calibri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smarta3@outlook.com</cp:lastModifiedBy>
  <cp:revision>2</cp:revision>
  <dcterms:created xsi:type="dcterms:W3CDTF">2013-01-27T09:14:16Z</dcterms:created>
  <dcterms:modified xsi:type="dcterms:W3CDTF">2026-07-28T12:56:02Z</dcterms:modified>
  <cp:category/>
</cp:coreProperties>
</file>