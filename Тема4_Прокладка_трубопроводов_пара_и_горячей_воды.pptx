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21"/>
    <p:sldId id="258" r:id="rId4"/>
    <p:sldId id="272" r:id="rId22"/>
    <p:sldId id="259" r:id="rId5"/>
    <p:sldId id="260" r:id="rId6"/>
    <p:sldId id="273" r:id="rId23"/>
    <p:sldId id="261" r:id="rId7"/>
    <p:sldId id="262" r:id="rId8"/>
    <p:sldId id="263" r:id="rId9"/>
    <p:sldId id="264" r:id="rId10"/>
    <p:sldId id="274" r:id="rId24"/>
    <p:sldId id="265" r:id="rId11"/>
    <p:sldId id="275" r:id="rId25"/>
    <p:sldId id="276" r:id="rId26"/>
    <p:sldId id="266" r:id="rId12"/>
    <p:sldId id="277" r:id="rId27"/>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4" d="100"/>
          <a:sy n="154" d="100"/>
        </p:scale>
        <p:origin x="2766"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4.xml"/><Relationship Id="rId12" Type="http://schemas.openxmlformats.org/officeDocument/2006/relationships/slide" Target="slides/slide17.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slide" Target="slides/slide22.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3.xml"/><Relationship Id="rId22" Type="http://schemas.openxmlformats.org/officeDocument/2006/relationships/slide" Target="slides/slide5.xml"/><Relationship Id="rId23" Type="http://schemas.openxmlformats.org/officeDocument/2006/relationships/slide" Target="slides/slide8.xml"/><Relationship Id="rId24" Type="http://schemas.openxmlformats.org/officeDocument/2006/relationships/slide" Target="slides/slide13.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1097280"/>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078992"/>
            <a:ext cx="27432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КУРС</a:t>
            </a:r>
          </a:p>
        </p:txBody>
      </p:sp>
      <p:sp>
        <p:nvSpPr>
          <p:cNvPr id="5" name="TextBox 4"/>
          <p:cNvSpPr txBox="1"/>
          <p:nvPr/>
        </p:nvSpPr>
        <p:spPr>
          <a:xfrm>
            <a:off x="1005840" y="1325880"/>
            <a:ext cx="4572000" cy="2743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Требования к прокладке и эксплуатации трубопроводов тепловых сетей</a:t>
            </a:r>
          </a:p>
        </p:txBody>
      </p:sp>
      <p:sp>
        <p:nvSpPr>
          <p:cNvPr id="6" name="TextBox 5"/>
          <p:cNvSpPr txBox="1"/>
          <p:nvPr/>
        </p:nvSpPr>
        <p:spPr>
          <a:xfrm>
            <a:off x="640080" y="2194560"/>
            <a:ext cx="7315200" cy="1828800"/>
          </a:xfrm>
          <a:prstGeom prst="rect">
            <a:avLst/>
          </a:prstGeom>
          <a:noFill/>
        </p:spPr>
        <p:txBody>
          <a:bodyPr wrap="square" lIns="0" tIns="0" rIns="0" bIns="0">
            <a:spAutoFit/>
          </a:bodyPr>
          <a:lstStyle/>
          <a:p>
            <a:pPr algn="l"/>
            <a:r>
              <a:rPr sz="4000" b="1" i="0">
                <a:solidFill>
                  <a:srgbClr val="1A1A1A"/>
                </a:solidFill>
                <a:latin typeface="Inter"/>
                <a:ea typeface="Inter"/>
                <a:cs typeface="Inter"/>
              </a:rPr>
              <a:t>Прокладка и эксплуатация трубопроводов тепловых сетей</a:t>
            </a:r>
          </a:p>
        </p:txBody>
      </p:sp>
      <p:sp>
        <p:nvSpPr>
          <p:cNvPr id="7" name="TextBox 6"/>
          <p:cNvSpPr txBox="1"/>
          <p:nvPr/>
        </p:nvSpPr>
        <p:spPr>
          <a:xfrm>
            <a:off x="640080" y="4114800"/>
            <a:ext cx="7315200" cy="640080"/>
          </a:xfrm>
          <a:prstGeom prst="rect">
            <a:avLst/>
          </a:prstGeom>
          <a:noFill/>
        </p:spPr>
        <p:txBody>
          <a:bodyPr wrap="square" lIns="0" tIns="0" rIns="0" bIns="0">
            <a:spAutoFit/>
          </a:bodyPr>
          <a:lstStyle/>
          <a:p>
            <a:pPr algn="l"/>
            <a:r>
              <a:rPr sz="1700" b="0" i="0">
                <a:solidFill>
                  <a:srgbClr val="6B7280"/>
                </a:solidFill>
                <a:latin typeface="Inter"/>
                <a:ea typeface="Inter"/>
                <a:cs typeface="Inter"/>
              </a:rPr>
              <a:t>Нормативные требования к проектированию, монтажу и технической эксплуатации</a:t>
            </a:r>
          </a:p>
        </p:txBody>
      </p:sp>
      <p:cxnSp>
        <p:nvCxnSpPr>
          <p:cNvPr id="8" name="Connector 7"/>
          <p:cNvCxnSpPr/>
          <p:nvPr/>
        </p:nvCxnSpPr>
        <p:spPr>
          <a:xfrm>
            <a:off x="640080" y="576072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5897880"/>
            <a:ext cx="91440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Тепловые сети · Трубопроводы · Промышленная безопасность</a:t>
            </a:r>
          </a:p>
        </p:txBody>
      </p:sp>
      <p:sp>
        <p:nvSpPr>
          <p:cNvPr id="10" name="Rectangle 9"/>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01 / 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Тема 1.4. Прокладка (размещение) трубопроводов пара и горячей воды</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3000" b="1" i="0">
                <a:solidFill>
                  <a:srgbClr val="1A1A1A"/>
                </a:solidFill>
                <a:latin typeface="Inter"/>
                <a:ea typeface="Inter"/>
                <a:cs typeface="Inter"/>
              </a:rPr>
              <a:t>Нормативные требования к прокладке тепловых сетей</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Основания и условия осуществления прокладки трубопроводов</a:t>
            </a:r>
          </a:p>
        </p:txBody>
      </p:sp>
      <p:sp>
        <p:nvSpPr>
          <p:cNvPr id="6" name="TextBox 5"/>
          <p:cNvSpPr txBox="1"/>
          <p:nvPr/>
        </p:nvSpPr>
        <p:spPr>
          <a:xfrm>
            <a:off x="640080" y="2514600"/>
            <a:ext cx="10911535" cy="2514600"/>
          </a:xfrm>
          <a:prstGeom prst="rect">
            <a:avLst/>
          </a:prstGeom>
          <a:noFill/>
        </p:spPr>
        <p:txBody>
          <a:bodyPr wrap="square" lIns="0" tIns="0" rIns="0" bIns="0">
            <a:normAutofit fontScale="70000" lnSpcReduction="20000"/>
          </a:bodyPr>
          <a:lstStyle/>
          <a:p>
            <a:pPr algn="l"/>
            <a:r>
              <a:rPr sz="1500" b="0" i="0">
                <a:solidFill>
                  <a:srgbClr val="1A1A1A"/>
                </a:solidFill>
                <a:latin typeface="Inter"/>
                <a:ea typeface="Inter"/>
                <a:cs typeface="Inter"/>
              </a:rPr>
              <a:t>Прокладка трубопроводов, оснащение их арматурой и иными устройствами, элементами опорно-подвесной системы, а также устройство несущих и опорных строительных конструкций осуществляются на основании проекта, разработанного в соответствии с требованиями законодательства Российской Федерации о градостроительной деятельности, о техническом регулировании, законодательства Российской Федерации в области промышленной безопасности, принимаемых в соответствии с ним нормативных документов (НД), а также технических регламентов и ФНП — с учётом климатических условий района размещения трубопровода и иных особенностей его прокладки (подземно, наземно или надземно, на открытом воздухе или внутри отапливаемых, неотапливаемых зданий и сооружений).</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Горизонтальные участки трубопроводов пара и горячей воды должны иметь уклон не менее 0,004; трубопроводов тепловых сетей — не менее 0,002. Прокладка должна исключать провисание и образование водяных застойных участков.</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При пересечении железных дорог общей сети, рек, оврагов и открытых водостоков прокладка предусматривается надземной; допускается использование постоянных автодорожных и железнодорожных мостов.</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При прокладке в полупроходных каналах высота канала в свету — не менее 1,5 м, ширина прохода между изолированными трубопроводами — не менее 600 мм.</a:t>
            </a:r>
          </a:p>
        </p:txBody>
      </p:sp>
      <p:cxnSp>
        <p:nvCxnSpPr>
          <p:cNvPr id="7" name="Connector 6"/>
          <p:cNvCxnSpPr/>
          <p:nvPr/>
        </p:nvCxnSpPr>
        <p:spPr>
          <a:xfrm>
            <a:off x="640080" y="5212080"/>
            <a:ext cx="548639"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5349240"/>
            <a:ext cx="10911535" cy="731520"/>
          </a:xfrm>
          <a:prstGeom prst="rect">
            <a:avLst/>
          </a:prstGeom>
          <a:noFill/>
        </p:spPr>
        <p:txBody>
          <a:bodyPr wrap="square" lIns="0" tIns="0" rIns="0" bIns="0">
            <a:spAutoFit/>
          </a:bodyPr>
          <a:lstStyle/>
          <a:p>
            <a:pPr algn="l"/>
            <a:r>
              <a:rPr sz="1200" b="0" i="0">
                <a:solidFill>
                  <a:srgbClr val="6B7280"/>
                </a:solidFill>
                <a:latin typeface="Inter"/>
                <a:ea typeface="Inter"/>
                <a:cs typeface="Inter"/>
              </a:rPr>
              <a:t>Все монтажные и эксплуатационные решения должны обеспечивать безопасность и соответствовать требованиям законодательства Российской Федерации.</a:t>
            </a:r>
          </a:p>
        </p:txBody>
      </p:sp>
      <p:cxnSp>
        <p:nvCxnSpPr>
          <p:cNvPr id="9" name="Connector 8"/>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02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00000"/>
            <a:ext cx="10911535" cy="650000"/>
          </a:xfrm>
          <a:prstGeom prst="rect">
            <a:avLst/>
          </a:prstGeom>
          <a:noFill/>
        </p:spPr>
        <p:txBody>
          <a:bodyPr wrap="square">
            <a:spAutoFit/>
          </a:bodyPr>
          <a:lstStyle/>
          <a:p>
            <a:pPr algn="l"/>
            <a:r>
              <a:rPr sz="2800" b="1">
                <a:solidFill>
                  <a:srgbClr val="1A1A1A"/>
                </a:solidFill>
                <a:latin typeface="Inter"/>
                <a:ea typeface="Inter"/>
                <a:cs typeface="Inter"/>
              </a:rPr>
              <a:t>Уклоны и исключение застойных участков</a:t>
            </a:r>
          </a:p>
        </p:txBody>
      </p:sp>
      <p:sp>
        <p:nvSpPr>
          <p:cNvPr id="4" name="TextBox 3"/>
          <p:cNvSpPr txBox="1"/>
          <p:nvPr/>
        </p:nvSpPr>
        <p:spPr>
          <a:xfrm>
            <a:off x="640080" y="175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750000"/>
            <a:ext cx="10496335" cy="870000"/>
          </a:xfrm>
          <a:prstGeom prst="rect">
            <a:avLst/>
          </a:prstGeom>
          <a:noFill/>
        </p:spPr>
        <p:txBody>
          <a:bodyPr wrap="square">
            <a:spAutoFit/>
          </a:bodyPr>
          <a:lstStyle/>
          <a:p>
            <a:pPr algn="l"/>
            <a:r>
              <a:rPr sz="1400" b="0">
                <a:solidFill>
                  <a:srgbClr val="1A1A1A"/>
                </a:solidFill>
                <a:latin typeface="Inter"/>
                <a:ea typeface="Inter"/>
                <a:cs typeface="Inter"/>
              </a:rPr>
              <a:t>Горизонтальные участки трубопроводов пара и горячей воды — уклон не менее 0,004.</a:t>
            </a:r>
          </a:p>
        </p:txBody>
      </p:sp>
      <p:sp>
        <p:nvSpPr>
          <p:cNvPr id="6" name="TextBox 5"/>
          <p:cNvSpPr txBox="1"/>
          <p:nvPr/>
        </p:nvSpPr>
        <p:spPr>
          <a:xfrm>
            <a:off x="640080" y="270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2700000"/>
            <a:ext cx="10496335" cy="870000"/>
          </a:xfrm>
          <a:prstGeom prst="rect">
            <a:avLst/>
          </a:prstGeom>
          <a:noFill/>
        </p:spPr>
        <p:txBody>
          <a:bodyPr wrap="square">
            <a:spAutoFit/>
          </a:bodyPr>
          <a:lstStyle/>
          <a:p>
            <a:pPr algn="l"/>
            <a:r>
              <a:rPr sz="1400" b="0">
                <a:solidFill>
                  <a:srgbClr val="1A1A1A"/>
                </a:solidFill>
                <a:latin typeface="Inter"/>
                <a:ea typeface="Inter"/>
                <a:cs typeface="Inter"/>
              </a:rPr>
              <a:t>Трубопроводы тепловых сетей — уклон не менее 0,002.</a:t>
            </a:r>
          </a:p>
        </p:txBody>
      </p:sp>
      <p:sp>
        <p:nvSpPr>
          <p:cNvPr id="8" name="TextBox 7"/>
          <p:cNvSpPr txBox="1"/>
          <p:nvPr/>
        </p:nvSpPr>
        <p:spPr>
          <a:xfrm>
            <a:off x="640080" y="365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3650000"/>
            <a:ext cx="10496335" cy="870000"/>
          </a:xfrm>
          <a:prstGeom prst="rect">
            <a:avLst/>
          </a:prstGeom>
          <a:noFill/>
        </p:spPr>
        <p:txBody>
          <a:bodyPr wrap="square">
            <a:spAutoFit/>
          </a:bodyPr>
          <a:lstStyle/>
          <a:p>
            <a:pPr algn="l"/>
            <a:r>
              <a:rPr sz="1400" b="0">
                <a:solidFill>
                  <a:srgbClr val="1A1A1A"/>
                </a:solidFill>
                <a:latin typeface="Inter"/>
                <a:ea typeface="Inter"/>
                <a:cs typeface="Inter"/>
              </a:rPr>
              <a:t>Прокладка должна исключать провисание и образование водяных застойных участков.</a:t>
            </a:r>
          </a:p>
        </p:txBody>
      </p:sp>
      <p:sp>
        <p:nvSpPr>
          <p:cNvPr id="10" name="TextBox 9"/>
          <p:cNvSpPr txBox="1"/>
          <p:nvPr/>
        </p:nvSpPr>
        <p:spPr>
          <a:xfrm>
            <a:off x="640080" y="4600000"/>
            <a:ext cx="411480" cy="274320"/>
          </a:xfrm>
          <a:prstGeom prst="rect">
            <a:avLst/>
          </a:prstGeom>
          <a:noFill/>
        </p:spPr>
        <p:txBody>
          <a:bodyPr wrap="square">
            <a:spAutoFit/>
          </a:bodyPr>
          <a:lstStyle/>
          <a:p>
            <a:pPr algn="l"/>
            <a:r>
              <a:rPr sz="1400" b="1">
                <a:solidFill>
                  <a:srgbClr val="E30613"/>
                </a:solidFill>
                <a:latin typeface="Inter"/>
                <a:ea typeface="Inter"/>
                <a:cs typeface="Inter"/>
              </a:rPr>
              <a:t>04</a:t>
            </a:r>
          </a:p>
        </p:txBody>
      </p:sp>
      <p:sp>
        <p:nvSpPr>
          <p:cNvPr id="11" name="TextBox 10"/>
          <p:cNvSpPr txBox="1"/>
          <p:nvPr/>
        </p:nvSpPr>
        <p:spPr>
          <a:xfrm>
            <a:off x="1005840" y="4600000"/>
            <a:ext cx="10496335" cy="870000"/>
          </a:xfrm>
          <a:prstGeom prst="rect">
            <a:avLst/>
          </a:prstGeom>
          <a:noFill/>
        </p:spPr>
        <p:txBody>
          <a:bodyPr wrap="square">
            <a:spAutoFit/>
          </a:bodyPr>
          <a:lstStyle/>
          <a:p>
            <a:pPr algn="l"/>
            <a:r>
              <a:rPr sz="1400" b="0">
                <a:solidFill>
                  <a:srgbClr val="1A1A1A"/>
                </a:solidFill>
                <a:latin typeface="Inter"/>
                <a:ea typeface="Inter"/>
                <a:cs typeface="Inter"/>
              </a:rPr>
              <a:t>При пересечении железных дорог общей сети, рек, оврагов, открытых водостоков прокладка — надземная; допускается использование постоянных автодорожных и железнодорожных мостов.</a:t>
            </a:r>
          </a:p>
        </p:txBody>
      </p:sp>
      <p:sp>
        <p:nvSpPr>
          <p:cNvPr id="12" name="Rectangle 11"/>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03 /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1097280"/>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078992"/>
            <a:ext cx="27432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МОДУЛЬ 3</a:t>
            </a:r>
          </a:p>
        </p:txBody>
      </p:sp>
      <p:sp>
        <p:nvSpPr>
          <p:cNvPr id="5" name="TextBox 4"/>
          <p:cNvSpPr txBox="1"/>
          <p:nvPr/>
        </p:nvSpPr>
        <p:spPr>
          <a:xfrm>
            <a:off x="1005840" y="1325880"/>
            <a:ext cx="4572000" cy="2743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Требования к прокладке и эксплуатации трубопроводов тепловых сетей</a:t>
            </a:r>
          </a:p>
        </p:txBody>
      </p:sp>
      <p:sp>
        <p:nvSpPr>
          <p:cNvPr id="6" name="TextBox 5"/>
          <p:cNvSpPr txBox="1"/>
          <p:nvPr/>
        </p:nvSpPr>
        <p:spPr>
          <a:xfrm>
            <a:off x="640080" y="2194560"/>
            <a:ext cx="7315200" cy="1828800"/>
          </a:xfrm>
          <a:prstGeom prst="rect">
            <a:avLst/>
          </a:prstGeom>
          <a:noFill/>
        </p:spPr>
        <p:txBody>
          <a:bodyPr wrap="square" lIns="0" tIns="0" rIns="0" bIns="0">
            <a:spAutoFit/>
          </a:bodyPr>
          <a:lstStyle/>
          <a:p>
            <a:pPr algn="l"/>
            <a:r>
              <a:rPr sz="4000" b="1" i="0">
                <a:solidFill>
                  <a:srgbClr val="1A1A1A"/>
                </a:solidFill>
                <a:latin typeface="Inter"/>
                <a:ea typeface="Inter"/>
                <a:cs typeface="Inter"/>
              </a:rPr>
              <a:t>Способы прокладки трубопроводов тепловых сетей</a:t>
            </a:r>
          </a:p>
        </p:txBody>
      </p:sp>
      <p:sp>
        <p:nvSpPr>
          <p:cNvPr id="7" name="TextBox 6"/>
          <p:cNvSpPr txBox="1"/>
          <p:nvPr/>
        </p:nvSpPr>
        <p:spPr>
          <a:xfrm>
            <a:off x="640080" y="4114800"/>
            <a:ext cx="7315200" cy="640080"/>
          </a:xfrm>
          <a:prstGeom prst="rect">
            <a:avLst/>
          </a:prstGeom>
          <a:noFill/>
        </p:spPr>
        <p:txBody>
          <a:bodyPr wrap="square" lIns="0" tIns="0" rIns="0" bIns="0">
            <a:spAutoFit/>
          </a:bodyPr>
          <a:lstStyle/>
          <a:p>
            <a:pPr algn="l"/>
            <a:r>
              <a:rPr sz="1700" b="0" i="0">
                <a:solidFill>
                  <a:srgbClr val="6B7280"/>
                </a:solidFill>
                <a:latin typeface="Inter"/>
                <a:ea typeface="Inter"/>
                <a:cs typeface="Inter"/>
              </a:rPr>
              <a:t>Классификация, нормативные требования и условия применения</a:t>
            </a:r>
          </a:p>
        </p:txBody>
      </p:sp>
      <p:cxnSp>
        <p:nvCxnSpPr>
          <p:cNvPr id="8" name="Connector 7"/>
          <p:cNvCxnSpPr/>
          <p:nvPr/>
        </p:nvCxnSpPr>
        <p:spPr>
          <a:xfrm>
            <a:off x="640080" y="576072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5897880"/>
            <a:ext cx="91440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Прокладка · Тепловые сети · Трубопроводы</a:t>
            </a:r>
          </a:p>
        </p:txBody>
      </p:sp>
      <p:sp>
        <p:nvSpPr>
          <p:cNvPr id="10" name="Rectangle 9"/>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50000"/>
            <a:ext cx="10911535" cy="650000"/>
          </a:xfrm>
          <a:prstGeom prst="rect">
            <a:avLst/>
          </a:prstGeom>
          <a:noFill/>
        </p:spPr>
        <p:txBody>
          <a:bodyPr wrap="square">
            <a:spAutoFit/>
          </a:bodyPr>
          <a:lstStyle/>
          <a:p>
            <a:pPr algn="l"/>
            <a:r>
              <a:rPr sz="2600" b="1">
                <a:solidFill>
                  <a:srgbClr val="1A1A1A"/>
                </a:solidFill>
                <a:latin typeface="Inter"/>
                <a:ea typeface="Inter"/>
                <a:cs typeface="Inter"/>
              </a:rPr>
              <a:t>Полупроходные каналы и проходные тоннели</a:t>
            </a:r>
          </a:p>
        </p:txBody>
      </p:sp>
      <p:sp>
        <p:nvSpPr>
          <p:cNvPr id="4" name="TextBox 3"/>
          <p:cNvSpPr txBox="1"/>
          <p:nvPr/>
        </p:nvSpPr>
        <p:spPr>
          <a:xfrm>
            <a:off x="640080" y="1700000"/>
            <a:ext cx="5227167" cy="280000"/>
          </a:xfrm>
          <a:prstGeom prst="rect">
            <a:avLst/>
          </a:prstGeom>
          <a:noFill/>
        </p:spPr>
        <p:txBody>
          <a:bodyPr wrap="square">
            <a:spAutoFit/>
          </a:bodyPr>
          <a:lstStyle/>
          <a:p>
            <a:pPr algn="l"/>
            <a:r>
              <a:rPr sz="1400" b="1">
                <a:solidFill>
                  <a:srgbClr val="1A1A1A"/>
                </a:solidFill>
                <a:latin typeface="Inter"/>
                <a:ea typeface="Inter"/>
                <a:cs typeface="Inter"/>
              </a:rPr>
              <a:t>Полупроходные каналы</a:t>
            </a:r>
          </a:p>
        </p:txBody>
      </p:sp>
      <p:sp>
        <p:nvSpPr>
          <p:cNvPr id="5" name="TextBox 4"/>
          <p:cNvSpPr txBox="1"/>
          <p:nvPr/>
        </p:nvSpPr>
        <p:spPr>
          <a:xfrm>
            <a:off x="640080" y="2000000"/>
            <a:ext cx="5227167" cy="1200000"/>
          </a:xfrm>
          <a:prstGeom prst="rect">
            <a:avLst/>
          </a:prstGeom>
          <a:noFill/>
        </p:spPr>
        <p:txBody>
          <a:bodyPr wrap="square">
            <a:spAutoFit/>
          </a:bodyPr>
          <a:lstStyle/>
          <a:p>
            <a:pPr algn="l"/>
            <a:r>
              <a:rPr sz="1300" b="0">
                <a:solidFill>
                  <a:srgbClr val="6B7280"/>
                </a:solidFill>
                <a:latin typeface="Inter"/>
                <a:ea typeface="Inter"/>
                <a:cs typeface="Inter"/>
              </a:rPr>
              <a:t>Высота в свету — не менее 1,5 м; ширина прохода между изолированными трубопроводами — не менее 600 мм.</a:t>
            </a:r>
          </a:p>
        </p:txBody>
      </p:sp>
      <p:sp>
        <p:nvSpPr>
          <p:cNvPr id="6" name="TextBox 5"/>
          <p:cNvSpPr txBox="1"/>
          <p:nvPr/>
        </p:nvSpPr>
        <p:spPr>
          <a:xfrm>
            <a:off x="6324447" y="1700000"/>
            <a:ext cx="5227167" cy="280000"/>
          </a:xfrm>
          <a:prstGeom prst="rect">
            <a:avLst/>
          </a:prstGeom>
          <a:noFill/>
        </p:spPr>
        <p:txBody>
          <a:bodyPr wrap="square">
            <a:spAutoFit/>
          </a:bodyPr>
          <a:lstStyle/>
          <a:p>
            <a:pPr algn="l"/>
            <a:r>
              <a:rPr sz="1400" b="1">
                <a:solidFill>
                  <a:srgbClr val="1A1A1A"/>
                </a:solidFill>
                <a:latin typeface="Inter"/>
                <a:ea typeface="Inter"/>
                <a:cs typeface="Inter"/>
              </a:rPr>
              <a:t>Проходные тоннели (коллекторы)</a:t>
            </a:r>
          </a:p>
        </p:txBody>
      </p:sp>
      <p:sp>
        <p:nvSpPr>
          <p:cNvPr id="7" name="TextBox 6"/>
          <p:cNvSpPr txBox="1"/>
          <p:nvPr/>
        </p:nvSpPr>
        <p:spPr>
          <a:xfrm>
            <a:off x="6324447" y="2000000"/>
            <a:ext cx="5227167" cy="1200000"/>
          </a:xfrm>
          <a:prstGeom prst="rect">
            <a:avLst/>
          </a:prstGeom>
          <a:noFill/>
        </p:spPr>
        <p:txBody>
          <a:bodyPr wrap="square">
            <a:spAutoFit/>
          </a:bodyPr>
          <a:lstStyle/>
          <a:p>
            <a:pPr algn="l"/>
            <a:r>
              <a:rPr sz="1300" b="0">
                <a:solidFill>
                  <a:srgbClr val="6B7280"/>
                </a:solidFill>
                <a:latin typeface="Inter"/>
                <a:ea typeface="Inter"/>
                <a:cs typeface="Inter"/>
              </a:rPr>
              <a:t>Высота в свету — не менее 2 м; ширина прохода между изолированными трубопроводами — не менее 0,7 м.</a:t>
            </a:r>
          </a:p>
        </p:txBody>
      </p:sp>
      <p:sp>
        <p:nvSpPr>
          <p:cNvPr id="8" name="TextBox 7"/>
          <p:cNvSpPr txBox="1"/>
          <p:nvPr/>
        </p:nvSpPr>
        <p:spPr>
          <a:xfrm>
            <a:off x="640080" y="3700000"/>
            <a:ext cx="5227167" cy="280000"/>
          </a:xfrm>
          <a:prstGeom prst="rect">
            <a:avLst/>
          </a:prstGeom>
          <a:noFill/>
        </p:spPr>
        <p:txBody>
          <a:bodyPr wrap="square">
            <a:spAutoFit/>
          </a:bodyPr>
          <a:lstStyle/>
          <a:p>
            <a:pPr algn="l"/>
            <a:r>
              <a:rPr sz="1400" b="1">
                <a:solidFill>
                  <a:srgbClr val="1A1A1A"/>
                </a:solidFill>
                <a:latin typeface="Inter"/>
                <a:ea typeface="Inter"/>
                <a:cs typeface="Inter"/>
              </a:rPr>
              <a:t>Зоны арматуры</a:t>
            </a:r>
          </a:p>
        </p:txBody>
      </p:sp>
      <p:sp>
        <p:nvSpPr>
          <p:cNvPr id="9" name="TextBox 8"/>
          <p:cNvSpPr txBox="1"/>
          <p:nvPr/>
        </p:nvSpPr>
        <p:spPr>
          <a:xfrm>
            <a:off x="640080" y="4000000"/>
            <a:ext cx="5227167" cy="1200000"/>
          </a:xfrm>
          <a:prstGeom prst="rect">
            <a:avLst/>
          </a:prstGeom>
          <a:noFill/>
        </p:spPr>
        <p:txBody>
          <a:bodyPr wrap="square">
            <a:spAutoFit/>
          </a:bodyPr>
          <a:lstStyle/>
          <a:p>
            <a:pPr algn="l"/>
            <a:r>
              <a:rPr sz="1300" b="0">
                <a:solidFill>
                  <a:srgbClr val="6B7280"/>
                </a:solidFill>
                <a:latin typeface="Inter"/>
                <a:ea typeface="Inter"/>
                <a:cs typeface="Inter"/>
              </a:rPr>
              <a:t>В местах запорной арматуры ширина тоннеля должна обеспечивать удобное обслуживание.</a:t>
            </a:r>
          </a:p>
        </p:txBody>
      </p:sp>
      <p:sp>
        <p:nvSpPr>
          <p:cNvPr id="10" name="TextBox 9"/>
          <p:cNvSpPr txBox="1"/>
          <p:nvPr/>
        </p:nvSpPr>
        <p:spPr>
          <a:xfrm>
            <a:off x="6324447" y="3700000"/>
            <a:ext cx="5227167" cy="280000"/>
          </a:xfrm>
          <a:prstGeom prst="rect">
            <a:avLst/>
          </a:prstGeom>
          <a:noFill/>
        </p:spPr>
        <p:txBody>
          <a:bodyPr wrap="square">
            <a:spAutoFit/>
          </a:bodyPr>
          <a:lstStyle/>
          <a:p>
            <a:pPr algn="l"/>
            <a:r>
              <a:rPr sz="1400" b="1">
                <a:solidFill>
                  <a:srgbClr val="1A1A1A"/>
                </a:solidFill>
                <a:latin typeface="Inter"/>
                <a:ea typeface="Inter"/>
                <a:cs typeface="Inter"/>
              </a:rPr>
              <a:t>Несколько трубопроводов</a:t>
            </a:r>
          </a:p>
        </p:txBody>
      </p:sp>
      <p:sp>
        <p:nvSpPr>
          <p:cNvPr id="11" name="TextBox 10"/>
          <p:cNvSpPr txBox="1"/>
          <p:nvPr/>
        </p:nvSpPr>
        <p:spPr>
          <a:xfrm>
            <a:off x="6324447" y="4000000"/>
            <a:ext cx="5227167" cy="1200000"/>
          </a:xfrm>
          <a:prstGeom prst="rect">
            <a:avLst/>
          </a:prstGeom>
          <a:noFill/>
        </p:spPr>
        <p:txBody>
          <a:bodyPr wrap="square">
            <a:spAutoFit/>
          </a:bodyPr>
          <a:lstStyle/>
          <a:p>
            <a:pPr algn="l"/>
            <a:r>
              <a:rPr sz="1300" b="0">
                <a:solidFill>
                  <a:srgbClr val="6B7280"/>
                </a:solidFill>
                <a:latin typeface="Inter"/>
                <a:ea typeface="Inter"/>
                <a:cs typeface="Inter"/>
              </a:rPr>
              <a:t>Взаимное размещение должно позволять ремонт и замену отдельных частей.</a:t>
            </a:r>
          </a:p>
        </p:txBody>
      </p:sp>
      <p:sp>
        <p:nvSpPr>
          <p:cNvPr id="12" name="Rectangle 11"/>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05 / 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Подземная прокладка</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3000" b="1" i="0">
                <a:solidFill>
                  <a:srgbClr val="1A1A1A"/>
                </a:solidFill>
                <a:latin typeface="Inter"/>
                <a:ea typeface="Inter"/>
                <a:cs typeface="Inter"/>
              </a:rPr>
              <a:t>Пересечение дорог и путей: требования к прокладке</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Железные, автомобильные, магистральные дороги; трамвайные пути; линии метрополитена</a:t>
            </a:r>
          </a:p>
        </p:txBody>
      </p:sp>
      <p:sp>
        <p:nvSpPr>
          <p:cNvPr id="6" name="TextBox 5"/>
          <p:cNvSpPr txBox="1"/>
          <p:nvPr/>
        </p:nvSpPr>
        <p:spPr>
          <a:xfrm>
            <a:off x="640080" y="2514600"/>
            <a:ext cx="10911535" cy="2139696"/>
          </a:xfrm>
          <a:prstGeom prst="rect">
            <a:avLst/>
          </a:prstGeom>
          <a:noFill/>
        </p:spPr>
        <p:txBody>
          <a:bodyPr wrap="square" lIns="0" tIns="0" rIns="0" bIns="0">
            <a:normAutofit fontScale="70000" lnSpcReduction="20000"/>
          </a:bodyPr>
          <a:lstStyle/>
          <a:p>
            <a:pPr algn="l"/>
            <a:r>
              <a:rPr sz="1500" b="0" i="0">
                <a:solidFill>
                  <a:srgbClr val="1A1A1A"/>
                </a:solidFill>
                <a:latin typeface="Inter"/>
                <a:ea typeface="Inter"/>
                <a:cs typeface="Inter"/>
              </a:rPr>
              <a:t>При подземном пересечении железных, автомобильных, магистральных дорог, улиц, проездов общегородского и районного значения, трамвайных путей и линий метрополитена прокладка трубопроводов тепловых сетей выполняется в железобетонных непроходных, полупроходных или проходных каналах.</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При этом с одной стороны предусматривается тепловая камера, с другой — монтажный канал длиной 10 м с не менее чем 4 люками.</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При невозможности выполнить указанные условия в проектной документации определяется технология проведения ремонта с учётом принятого способа прокладки.</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При пересечении улиц и дорог местного значения, а также дворовых проездов допускается прокладка в футлярах — при невозможности производства работ открытым способом и длине пересечения до 40 м. Длина футляра принимается в каждую сторону не менее чем на 3 м больше размеров пересекаемого участка.</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В проходных тоннелях (коллекторах) высота в свету — не менее 2 м, ширина прохода между изолированными трубопроводами — не менее 0,7 м.</a:t>
            </a:r>
          </a:p>
        </p:txBody>
      </p:sp>
      <p:cxnSp>
        <p:nvCxnSpPr>
          <p:cNvPr id="7" name="Connector 6"/>
          <p:cNvCxnSpPr/>
          <p:nvPr/>
        </p:nvCxnSpPr>
        <p:spPr>
          <a:xfrm>
            <a:off x="640080" y="4837176"/>
            <a:ext cx="548639"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4974336"/>
            <a:ext cx="10911535" cy="731520"/>
          </a:xfrm>
          <a:prstGeom prst="rect">
            <a:avLst/>
          </a:prstGeom>
          <a:noFill/>
        </p:spPr>
        <p:txBody>
          <a:bodyPr wrap="square" lIns="0" tIns="0" rIns="0" bIns="0">
            <a:spAutoFit/>
          </a:bodyPr>
          <a:lstStyle/>
          <a:p>
            <a:pPr algn="l"/>
            <a:r>
              <a:rPr sz="1200" b="0" i="0">
                <a:solidFill>
                  <a:srgbClr val="6B7280"/>
                </a:solidFill>
                <a:latin typeface="Inter"/>
                <a:ea typeface="Inter"/>
                <a:cs typeface="Inter"/>
              </a:rPr>
              <a:t>В местах расположения запорной арматуры ширина тоннеля должна обеспечивать удобное обслуживание. При прокладке нескольких трубопроводов их размещение должно допускать проведение ремонта и замену отдельных частей.</a:t>
            </a:r>
          </a:p>
        </p:txBody>
      </p:sp>
      <p:cxnSp>
        <p:nvCxnSpPr>
          <p:cNvPr id="9" name="Connector 8"/>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06 /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Прокладка трубопроводов пара и горячей воды</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3000" b="1" i="0">
                <a:solidFill>
                  <a:srgbClr val="1A1A1A"/>
                </a:solidFill>
                <a:latin typeface="Inter"/>
                <a:ea typeface="Inter"/>
                <a:cs typeface="Inter"/>
              </a:rPr>
              <a:t>Совместная прокладка с технологическими трубопроводами</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Надземная открытая прокладка и требования к проходным каналам</a:t>
            </a:r>
          </a:p>
        </p:txBody>
      </p:sp>
      <p:sp>
        <p:nvSpPr>
          <p:cNvPr id="6" name="TextBox 5"/>
          <p:cNvSpPr txBox="1"/>
          <p:nvPr/>
        </p:nvSpPr>
        <p:spPr>
          <a:xfrm>
            <a:off x="640080" y="3456432"/>
            <a:ext cx="5227167"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Совместная прокладка (надземная открытая)</a:t>
            </a:r>
          </a:p>
        </p:txBody>
      </p:sp>
      <p:cxnSp>
        <p:nvCxnSpPr>
          <p:cNvPr id="7" name="Connector 6"/>
          <p:cNvCxnSpPr/>
          <p:nvPr/>
        </p:nvCxnSpPr>
        <p:spPr>
          <a:xfrm>
            <a:off x="640080" y="3776472"/>
            <a:ext cx="5227167"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40080" y="3986783"/>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3913631"/>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Исключение — если совместная прокладка противоречит ФНП по промышленной безопасности ОПО, на котором выполняется прокладка.</a:t>
            </a:r>
          </a:p>
        </p:txBody>
      </p:sp>
      <p:sp>
        <p:nvSpPr>
          <p:cNvPr id="10" name="Oval 9"/>
          <p:cNvSpPr/>
          <p:nvPr/>
        </p:nvSpPr>
        <p:spPr>
          <a:xfrm>
            <a:off x="640080" y="4443983"/>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4370831"/>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При совместной прокладке с другими трубопроводами — не более 50 м между люками.</a:t>
            </a:r>
          </a:p>
        </p:txBody>
      </p:sp>
      <p:sp>
        <p:nvSpPr>
          <p:cNvPr id="12" name="TextBox 11"/>
          <p:cNvSpPr txBox="1"/>
          <p:nvPr/>
        </p:nvSpPr>
        <p:spPr>
          <a:xfrm>
            <a:off x="6324447" y="2999232"/>
            <a:ext cx="5227167"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Порядок устройства проходных каналов</a:t>
            </a:r>
          </a:p>
        </p:txBody>
      </p:sp>
      <p:cxnSp>
        <p:nvCxnSpPr>
          <p:cNvPr id="13" name="Connector 12"/>
          <p:cNvCxnSpPr/>
          <p:nvPr/>
        </p:nvCxnSpPr>
        <p:spPr>
          <a:xfrm>
            <a:off x="6324447" y="3319272"/>
            <a:ext cx="5227168"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324447" y="3529584"/>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89039" y="3456432"/>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Допускается совместная прокладка с технологическими трубопроводами различного назначения при надземной открытой прокладке.</a:t>
            </a:r>
          </a:p>
        </p:txBody>
      </p:sp>
      <p:sp>
        <p:nvSpPr>
          <p:cNvPr id="16" name="Oval 15"/>
          <p:cNvSpPr/>
          <p:nvPr/>
        </p:nvSpPr>
        <p:spPr>
          <a:xfrm>
            <a:off x="6324447" y="3986784"/>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89039" y="3913632"/>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Входные люки с лестницей или скобами; расстояние между люками — не более 300 м.</a:t>
            </a:r>
          </a:p>
        </p:txBody>
      </p:sp>
      <p:sp>
        <p:nvSpPr>
          <p:cNvPr id="18" name="Oval 17"/>
          <p:cNvSpPr/>
          <p:nvPr/>
        </p:nvSpPr>
        <p:spPr>
          <a:xfrm>
            <a:off x="6324447" y="4443983"/>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89039" y="4370831"/>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Люки — также во всех конечных точках тупиков, на поворотах трассы и в узлах установки арматуры.</a:t>
            </a:r>
          </a:p>
        </p:txBody>
      </p:sp>
      <p:sp>
        <p:nvSpPr>
          <p:cNvPr id="20" name="Oval 19"/>
          <p:cNvSpPr/>
          <p:nvPr/>
        </p:nvSpPr>
        <p:spPr>
          <a:xfrm>
            <a:off x="6324447" y="4901183"/>
            <a:ext cx="73152" cy="7315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89039" y="4828031"/>
            <a:ext cx="5062575" cy="320040"/>
          </a:xfrm>
          <a:prstGeom prst="rect">
            <a:avLst/>
          </a:prstGeom>
          <a:noFill/>
        </p:spPr>
        <p:txBody>
          <a:bodyPr wrap="square" lIns="0" tIns="0" rIns="0" bIns="0">
            <a:spAutoFit/>
          </a:bodyPr>
          <a:lstStyle/>
          <a:p>
            <a:pPr algn="l"/>
            <a:r>
              <a:rPr sz="1100" b="0" i="0">
                <a:solidFill>
                  <a:srgbClr val="6B7280"/>
                </a:solidFill>
                <a:latin typeface="Inter"/>
                <a:ea typeface="Inter"/>
                <a:cs typeface="Inter"/>
              </a:rPr>
              <a:t>Проходные каналы тепловых сетей оборудуют приточно-вытяжной вентиляцией по проекту.</a:t>
            </a:r>
          </a:p>
        </p:txBody>
      </p:sp>
      <p:sp>
        <p:nvSpPr>
          <p:cNvPr id="22" name="Rectangle 21"/>
          <p:cNvSpPr/>
          <p:nvPr/>
        </p:nvSpPr>
        <p:spPr>
          <a:xfrm>
            <a:off x="640080" y="5852160"/>
            <a:ext cx="10911535" cy="45720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59" y="5897880"/>
            <a:ext cx="10545775" cy="365760"/>
          </a:xfrm>
          <a:prstGeom prst="rect">
            <a:avLst/>
          </a:prstGeom>
          <a:noFill/>
        </p:spPr>
        <p:txBody>
          <a:bodyPr wrap="square" lIns="0" tIns="0" rIns="0" bIns="0">
            <a:spAutoFit/>
          </a:bodyPr>
          <a:lstStyle/>
          <a:p>
            <a:pPr algn="l"/>
            <a:r>
              <a:rPr sz="1500" b="1" i="0">
                <a:solidFill>
                  <a:srgbClr val="F59E0B"/>
                </a:solidFill>
                <a:latin typeface="Inter"/>
                <a:ea typeface="Inter"/>
                <a:cs typeface="Inter"/>
              </a:rPr>
              <a:t>Порядок контроля коррозионного износа трубопроводов (способы, периодичность, места замеров) определяется проектной, технической и эксплуатационной документацией с учётом конкретных условий эксплуатации.</a:t>
            </a:r>
          </a:p>
        </p:txBody>
      </p:sp>
      <p:cxnSp>
        <p:nvCxnSpPr>
          <p:cNvPr id="24" name="Connector 23"/>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50000"/>
            <a:ext cx="10911535" cy="600000"/>
          </a:xfrm>
          <a:prstGeom prst="rect">
            <a:avLst/>
          </a:prstGeom>
          <a:noFill/>
        </p:spPr>
        <p:txBody>
          <a:bodyPr wrap="square">
            <a:spAutoFit/>
          </a:bodyPr>
          <a:lstStyle/>
          <a:p>
            <a:pPr algn="l"/>
            <a:r>
              <a:rPr sz="2400" b="1">
                <a:solidFill>
                  <a:srgbClr val="1A1A1A"/>
                </a:solidFill>
                <a:latin typeface="Inter"/>
                <a:ea typeface="Inter"/>
                <a:cs typeface="Inter"/>
              </a:rPr>
              <a:t>Антикоррозионная, тепловая и гидроизоляционная защита</a:t>
            </a:r>
          </a:p>
        </p:txBody>
      </p:sp>
      <p:sp>
        <p:nvSpPr>
          <p:cNvPr id="4" name="TextBox 3"/>
          <p:cNvSpPr txBox="1"/>
          <p:nvPr/>
        </p:nvSpPr>
        <p:spPr>
          <a:xfrm>
            <a:off x="640080" y="155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5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Вне зависимости от типа прокладки на всех трубопроводах тепловых сетей предусматривается антикоррозионная, тепловая и гидроизоляционная защита.</a:t>
            </a:r>
          </a:p>
        </p:txBody>
      </p:sp>
      <p:sp>
        <p:nvSpPr>
          <p:cNvPr id="6" name="TextBox 5"/>
          <p:cNvSpPr txBox="1"/>
          <p:nvPr/>
        </p:nvSpPr>
        <p:spPr>
          <a:xfrm>
            <a:off x="640080" y="235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23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Тип и способы защиты определяются проектом с учётом условий эксплуатации и скорости коррозионного износа материалов.</a:t>
            </a:r>
          </a:p>
        </p:txBody>
      </p:sp>
      <p:sp>
        <p:nvSpPr>
          <p:cNvPr id="8" name="TextBox 7"/>
          <p:cNvSpPr txBox="1"/>
          <p:nvPr/>
        </p:nvSpPr>
        <p:spPr>
          <a:xfrm>
            <a:off x="640080" y="315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31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Порядок контроля коррозионного износа неразрушающими методами, способы, периодичность и места замеров — в проектной, технической и эксплуатационной документации.</a:t>
            </a:r>
          </a:p>
        </p:txBody>
      </p:sp>
      <p:sp>
        <p:nvSpPr>
          <p:cNvPr id="10" name="TextBox 9"/>
          <p:cNvSpPr txBox="1"/>
          <p:nvPr/>
        </p:nvSpPr>
        <p:spPr>
          <a:xfrm>
            <a:off x="640080" y="3950000"/>
            <a:ext cx="411480" cy="274320"/>
          </a:xfrm>
          <a:prstGeom prst="rect">
            <a:avLst/>
          </a:prstGeom>
          <a:noFill/>
        </p:spPr>
        <p:txBody>
          <a:bodyPr wrap="square">
            <a:spAutoFit/>
          </a:bodyPr>
          <a:lstStyle/>
          <a:p>
            <a:pPr algn="l"/>
            <a:r>
              <a:rPr sz="1400" b="1">
                <a:solidFill>
                  <a:srgbClr val="E30613"/>
                </a:solidFill>
                <a:latin typeface="Inter"/>
                <a:ea typeface="Inter"/>
                <a:cs typeface="Inter"/>
              </a:rPr>
              <a:t>04</a:t>
            </a:r>
          </a:p>
        </p:txBody>
      </p:sp>
      <p:sp>
        <p:nvSpPr>
          <p:cNvPr id="11" name="TextBox 10"/>
          <p:cNvSpPr txBox="1"/>
          <p:nvPr/>
        </p:nvSpPr>
        <p:spPr>
          <a:xfrm>
            <a:off x="1005840" y="39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Антикоррозионные покрытия труб и несущих металлоконструкций — со сроком службы покрытия не менее 10 лет.</a:t>
            </a:r>
          </a:p>
        </p:txBody>
      </p:sp>
      <p:sp>
        <p:nvSpPr>
          <p:cNvPr id="12" name="TextBox 11"/>
          <p:cNvSpPr txBox="1"/>
          <p:nvPr/>
        </p:nvSpPr>
        <p:spPr>
          <a:xfrm>
            <a:off x="640080" y="4750000"/>
            <a:ext cx="411480" cy="274320"/>
          </a:xfrm>
          <a:prstGeom prst="rect">
            <a:avLst/>
          </a:prstGeom>
          <a:noFill/>
        </p:spPr>
        <p:txBody>
          <a:bodyPr wrap="square">
            <a:spAutoFit/>
          </a:bodyPr>
          <a:lstStyle/>
          <a:p>
            <a:pPr algn="l"/>
            <a:r>
              <a:rPr sz="1400" b="1">
                <a:solidFill>
                  <a:srgbClr val="E30613"/>
                </a:solidFill>
                <a:latin typeface="Inter"/>
                <a:ea typeface="Inter"/>
                <a:cs typeface="Inter"/>
              </a:rPr>
              <a:t>05</a:t>
            </a:r>
          </a:p>
        </p:txBody>
      </p:sp>
      <p:sp>
        <p:nvSpPr>
          <p:cNvPr id="13" name="TextBox 12"/>
          <p:cNvSpPr txBox="1"/>
          <p:nvPr/>
        </p:nvSpPr>
        <p:spPr>
          <a:xfrm>
            <a:off x="1005840" y="47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Ввод в эксплуатацию тепловых сетей без наружного антикоррозионного покрытия труб и металлических конструкций не допускается.</a:t>
            </a:r>
          </a:p>
        </p:txBody>
      </p:sp>
      <p:sp>
        <p:nvSpPr>
          <p:cNvPr id="14" name="Rectangle 13"/>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08 /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Конструктивные требования к защитному футляру</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3000" b="1" i="0">
                <a:solidFill>
                  <a:srgbClr val="1A1A1A"/>
                </a:solidFill>
                <a:latin typeface="Inter"/>
                <a:ea typeface="Inter"/>
                <a:cs typeface="Inter"/>
              </a:rPr>
              <a:t>Защитный футляр (гильза) в местах прохода трубопровода</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Прокладка через стены и фундаменты зданий и сооружений</a:t>
            </a:r>
          </a:p>
        </p:txBody>
      </p:sp>
      <p:sp>
        <p:nvSpPr>
          <p:cNvPr id="6" name="TextBox 5"/>
          <p:cNvSpPr txBox="1"/>
          <p:nvPr/>
        </p:nvSpPr>
        <p:spPr>
          <a:xfrm>
            <a:off x="640080" y="2514600"/>
            <a:ext cx="10911535" cy="2139696"/>
          </a:xfrm>
          <a:prstGeom prst="rect">
            <a:avLst/>
          </a:prstGeom>
          <a:noFill/>
        </p:spPr>
        <p:txBody>
          <a:bodyPr wrap="square" lIns="0" tIns="0" rIns="0" bIns="0">
            <a:normAutofit fontScale="77500" lnSpcReduction="20000"/>
          </a:bodyPr>
          <a:lstStyle/>
          <a:p>
            <a:pPr algn="l"/>
            <a:r>
              <a:rPr sz="1500" b="0" i="0">
                <a:solidFill>
                  <a:srgbClr val="1A1A1A"/>
                </a:solidFill>
                <a:latin typeface="Inter"/>
                <a:ea typeface="Inter"/>
                <a:cs typeface="Inter"/>
              </a:rPr>
              <a:t>В местах прохода трубопровода через стены или фундамент зданий и сооружений предусматривается защитный футляр (гильза), исключающий воздействие не предусмотренной расчётом нагрузки от строительных конструкций на трубопровод. Внутренний диаметр футляра должен обеспечивать наличие зазора, достаточного для свободного продольного перемещения трубопровода без повреждения изоляционного покрытия.</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Величина зазора и материал для его герметизации устанавливаются проектом в соответствии с требованиями нормативной документации — в зависимости от климатических условий и характеристик грунта в районе прокладки.</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Наличие сварных соединений на недоступном для контроля участке трубопровода, расположенном в защитном футляре, не допускается.</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Антикоррозионные покрытия трубопроводов тепловых сетей и их несущих металлических конструкций должны выполняться с защитными свойствами, обеспечивающими установленный срок службы трубопровода (конструкции), и гарантированным сроком службы покрытия не менее 10 лет.</a:t>
            </a:r>
          </a:p>
        </p:txBody>
      </p:sp>
      <p:cxnSp>
        <p:nvCxnSpPr>
          <p:cNvPr id="7" name="Connector 6"/>
          <p:cNvCxnSpPr/>
          <p:nvPr/>
        </p:nvCxnSpPr>
        <p:spPr>
          <a:xfrm>
            <a:off x="640080" y="4837176"/>
            <a:ext cx="548639"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4974336"/>
            <a:ext cx="10911535" cy="7315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Сварные стыки в пределах футляра — под запретом. Срок службы антикоррозионного покрытия — не менее 10 лет.</a:t>
            </a:r>
          </a:p>
        </p:txBody>
      </p:sp>
      <p:cxnSp>
        <p:nvCxnSpPr>
          <p:cNvPr id="9" name="Connector 8"/>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09 /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1097280"/>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078992"/>
            <a:ext cx="27432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МОДУЛЬ 7</a:t>
            </a:r>
          </a:p>
        </p:txBody>
      </p:sp>
      <p:sp>
        <p:nvSpPr>
          <p:cNvPr id="5" name="TextBox 4"/>
          <p:cNvSpPr txBox="1"/>
          <p:nvPr/>
        </p:nvSpPr>
        <p:spPr>
          <a:xfrm>
            <a:off x="1005840" y="1325880"/>
            <a:ext cx="4572000" cy="2743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Требования к прокладке и эксплуатации трубопроводов тепловых сетей</a:t>
            </a:r>
          </a:p>
        </p:txBody>
      </p:sp>
      <p:sp>
        <p:nvSpPr>
          <p:cNvPr id="6" name="TextBox 5"/>
          <p:cNvSpPr txBox="1"/>
          <p:nvPr/>
        </p:nvSpPr>
        <p:spPr>
          <a:xfrm>
            <a:off x="640080" y="2194560"/>
            <a:ext cx="7315200" cy="1828800"/>
          </a:xfrm>
          <a:prstGeom prst="rect">
            <a:avLst/>
          </a:prstGeom>
          <a:noFill/>
        </p:spPr>
        <p:txBody>
          <a:bodyPr wrap="square" lIns="0" tIns="0" rIns="0" bIns="0">
            <a:spAutoFit/>
          </a:bodyPr>
          <a:lstStyle/>
          <a:p>
            <a:pPr algn="l"/>
            <a:r>
              <a:rPr sz="4000" b="1" i="0">
                <a:solidFill>
                  <a:srgbClr val="1A1A1A"/>
                </a:solidFill>
                <a:latin typeface="Inter"/>
                <a:ea typeface="Inter"/>
                <a:cs typeface="Inter"/>
              </a:rPr>
              <a:t>Обслуживание трубопроводов тепловых сетей</a:t>
            </a:r>
          </a:p>
        </p:txBody>
      </p:sp>
      <p:sp>
        <p:nvSpPr>
          <p:cNvPr id="7" name="TextBox 6"/>
          <p:cNvSpPr txBox="1"/>
          <p:nvPr/>
        </p:nvSpPr>
        <p:spPr>
          <a:xfrm>
            <a:off x="640080" y="4114800"/>
            <a:ext cx="7315200" cy="640080"/>
          </a:xfrm>
          <a:prstGeom prst="rect">
            <a:avLst/>
          </a:prstGeom>
          <a:noFill/>
        </p:spPr>
        <p:txBody>
          <a:bodyPr wrap="square" lIns="0" tIns="0" rIns="0" bIns="0">
            <a:spAutoFit/>
          </a:bodyPr>
          <a:lstStyle/>
          <a:p>
            <a:pPr algn="l"/>
            <a:r>
              <a:rPr sz="1700" b="0" i="0">
                <a:solidFill>
                  <a:srgbClr val="6B7280"/>
                </a:solidFill>
                <a:latin typeface="Inter"/>
                <a:ea typeface="Inter"/>
                <a:cs typeface="Inter"/>
              </a:rPr>
              <a:t>Требования к техническому обслуживанию, осмотрам и контролю состояния тепловых сетей</a:t>
            </a:r>
          </a:p>
        </p:txBody>
      </p:sp>
      <p:cxnSp>
        <p:nvCxnSpPr>
          <p:cNvPr id="8" name="Connector 7"/>
          <p:cNvCxnSpPr/>
          <p:nvPr/>
        </p:nvCxnSpPr>
        <p:spPr>
          <a:xfrm>
            <a:off x="640080" y="576072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5897880"/>
            <a:ext cx="91440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Обслуживание · Осмотры · Эксплуатационный контроль</a:t>
            </a:r>
          </a:p>
        </p:txBody>
      </p:sp>
      <p:sp>
        <p:nvSpPr>
          <p:cNvPr id="10" name="Rectangle 9"/>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10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Камеры обслуживания подземных трубопроводов</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2000" b="1" i="0">
                <a:solidFill>
                  <a:srgbClr val="1A1A1A"/>
                </a:solidFill>
                <a:latin typeface="Inter"/>
                <a:ea typeface="Inter"/>
                <a:cs typeface="Inter"/>
              </a:rPr>
              <a:t>Требования к камерам обслуживания подземных трубопроводов пара и горячей воды (1/2)</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Конструктивные и эксплуатационные требования</a:t>
            </a:r>
          </a:p>
        </p:txBody>
      </p:sp>
      <p:sp>
        <p:nvSpPr>
          <p:cNvPr id="6" name="TextBox 5"/>
          <p:cNvSpPr txBox="1"/>
          <p:nvPr/>
        </p:nvSpPr>
        <p:spPr>
          <a:xfrm>
            <a:off x="640080" y="2448306"/>
            <a:ext cx="10911535"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Обязательные требования</a:t>
            </a:r>
          </a:p>
        </p:txBody>
      </p:sp>
      <p:cxnSp>
        <p:nvCxnSpPr>
          <p:cNvPr id="7" name="Connector 6"/>
          <p:cNvCxnSpPr/>
          <p:nvPr/>
        </p:nvCxnSpPr>
        <p:spPr>
          <a:xfrm>
            <a:off x="640080" y="2768346"/>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905506"/>
            <a:ext cx="411480" cy="274320"/>
          </a:xfrm>
          <a:prstGeom prst="rect">
            <a:avLst/>
          </a:prstGeom>
          <a:noFill/>
        </p:spPr>
        <p:txBody>
          <a:bodyPr wrap="square" lIns="0" tIns="0" rIns="0" bIns="0">
            <a:spAutoFit/>
          </a:bodyPr>
          <a:lstStyle/>
          <a:p>
            <a:pPr algn="l"/>
            <a:r>
              <a:rPr sz="1400" b="1" i="0">
                <a:solidFill>
                  <a:srgbClr val="E30613"/>
                </a:solidFill>
                <a:latin typeface="Inter"/>
                <a:ea typeface="Inter"/>
                <a:cs typeface="Inter"/>
              </a:rPr>
              <a:t>01</a:t>
            </a:r>
          </a:p>
        </p:txBody>
      </p:sp>
      <p:sp>
        <p:nvSpPr>
          <p:cNvPr id="9" name="TextBox 8"/>
          <p:cNvSpPr txBox="1"/>
          <p:nvPr/>
        </p:nvSpPr>
        <p:spPr>
          <a:xfrm>
            <a:off x="1097280" y="2905506"/>
            <a:ext cx="10454335" cy="480060"/>
          </a:xfrm>
          <a:prstGeom prst="rect">
            <a:avLst/>
          </a:prstGeom>
          <a:noFill/>
        </p:spPr>
        <p:txBody>
          <a:bodyPr wrap="square" lIns="0" tIns="0" rIns="0" bIns="0">
            <a:spAutoFit/>
          </a:bodyPr>
          <a:lstStyle/>
          <a:p>
            <a:pPr algn="l"/>
            <a:r>
              <a:rPr sz="1400" b="0" i="0">
                <a:solidFill>
                  <a:srgbClr val="1A1A1A"/>
                </a:solidFill>
                <a:latin typeface="Inter"/>
                <a:ea typeface="Inter"/>
                <a:cs typeface="Inter"/>
              </a:rPr>
              <a:t>Камеры для обслуживания подземных трубопроводов пара и горячей воды должны иметь не менее двух люков с лестницами или скобами.</a:t>
            </a:r>
          </a:p>
        </p:txBody>
      </p:sp>
      <p:sp>
        <p:nvSpPr>
          <p:cNvPr id="10" name="TextBox 9"/>
          <p:cNvSpPr txBox="1"/>
          <p:nvPr/>
        </p:nvSpPr>
        <p:spPr>
          <a:xfrm>
            <a:off x="640080" y="3513582"/>
            <a:ext cx="411480" cy="274320"/>
          </a:xfrm>
          <a:prstGeom prst="rect">
            <a:avLst/>
          </a:prstGeom>
          <a:noFill/>
        </p:spPr>
        <p:txBody>
          <a:bodyPr wrap="square" lIns="0" tIns="0" rIns="0" bIns="0">
            <a:spAutoFit/>
          </a:bodyPr>
          <a:lstStyle/>
          <a:p>
            <a:pPr algn="l"/>
            <a:r>
              <a:rPr sz="1400" b="1" i="0">
                <a:solidFill>
                  <a:srgbClr val="E30613"/>
                </a:solidFill>
                <a:latin typeface="Inter"/>
                <a:ea typeface="Inter"/>
                <a:cs typeface="Inter"/>
              </a:rPr>
              <a:t>02</a:t>
            </a:r>
          </a:p>
        </p:txBody>
      </p:sp>
      <p:sp>
        <p:nvSpPr>
          <p:cNvPr id="11" name="TextBox 10"/>
          <p:cNvSpPr txBox="1"/>
          <p:nvPr/>
        </p:nvSpPr>
        <p:spPr>
          <a:xfrm>
            <a:off x="1097280" y="3513582"/>
            <a:ext cx="10454335" cy="960120"/>
          </a:xfrm>
          <a:prstGeom prst="rect">
            <a:avLst/>
          </a:prstGeom>
          <a:noFill/>
        </p:spPr>
        <p:txBody>
          <a:bodyPr wrap="square" lIns="0" tIns="0" rIns="0" bIns="0">
            <a:spAutoFit/>
          </a:bodyPr>
          <a:lstStyle/>
          <a:p>
            <a:pPr algn="l"/>
            <a:r>
              <a:rPr sz="1400" b="0" i="0">
                <a:solidFill>
                  <a:srgbClr val="1A1A1A"/>
                </a:solidFill>
                <a:latin typeface="Inter"/>
                <a:ea typeface="Inter"/>
                <a:cs typeface="Inter"/>
              </a:rPr>
              <a:t>Конструкция камеры должна исключать возможность подтопления и обеспечивать удаление попавших в неё вод посредством гидроизоляции строительных конструкций, герметизации места прохода трубопровода через стенку камеры (при необходимости) и иных решений, определяемых разработчиком проекта тепловых сетей.</a:t>
            </a:r>
          </a:p>
        </p:txBody>
      </p:sp>
      <p:sp>
        <p:nvSpPr>
          <p:cNvPr id="12" name="TextBox 11"/>
          <p:cNvSpPr txBox="1"/>
          <p:nvPr/>
        </p:nvSpPr>
        <p:spPr>
          <a:xfrm>
            <a:off x="640080" y="4601718"/>
            <a:ext cx="411480" cy="274320"/>
          </a:xfrm>
          <a:prstGeom prst="rect">
            <a:avLst/>
          </a:prstGeom>
          <a:noFill/>
        </p:spPr>
        <p:txBody>
          <a:bodyPr wrap="square" lIns="0" tIns="0" rIns="0" bIns="0">
            <a:spAutoFit/>
          </a:bodyPr>
          <a:lstStyle/>
          <a:p>
            <a:pPr algn="l"/>
            <a:r>
              <a:rPr sz="1400" b="1" i="0">
                <a:solidFill>
                  <a:srgbClr val="E30613"/>
                </a:solidFill>
                <a:latin typeface="Inter"/>
                <a:ea typeface="Inter"/>
                <a:cs typeface="Inter"/>
              </a:rPr>
              <a:t>03</a:t>
            </a:r>
          </a:p>
        </p:txBody>
      </p:sp>
      <p:sp>
        <p:nvSpPr>
          <p:cNvPr id="13" name="TextBox 12"/>
          <p:cNvSpPr txBox="1"/>
          <p:nvPr/>
        </p:nvSpPr>
        <p:spPr>
          <a:xfrm>
            <a:off x="1097280" y="4601718"/>
            <a:ext cx="10454335" cy="480060"/>
          </a:xfrm>
          <a:prstGeom prst="rect">
            <a:avLst/>
          </a:prstGeom>
          <a:noFill/>
        </p:spPr>
        <p:txBody>
          <a:bodyPr wrap="square" lIns="0" tIns="0" rIns="0" bIns="0">
            <a:spAutoFit/>
          </a:bodyPr>
          <a:lstStyle/>
          <a:p>
            <a:pPr algn="l"/>
            <a:r>
              <a:rPr sz="1400" b="0" i="0">
                <a:solidFill>
                  <a:srgbClr val="1A1A1A"/>
                </a:solidFill>
                <a:latin typeface="Inter"/>
                <a:ea typeface="Inter"/>
                <a:cs typeface="Inter"/>
              </a:rPr>
              <a:t>При проходе трубопроводов через стенку камеры должна быть исключена возможность подтопления камеры.</a:t>
            </a:r>
          </a:p>
        </p:txBody>
      </p:sp>
      <p:sp>
        <p:nvSpPr>
          <p:cNvPr id="14" name="TextBox 13"/>
          <p:cNvSpPr txBox="1"/>
          <p:nvPr/>
        </p:nvSpPr>
        <p:spPr>
          <a:xfrm>
            <a:off x="640080" y="5209794"/>
            <a:ext cx="411480" cy="274320"/>
          </a:xfrm>
          <a:prstGeom prst="rect">
            <a:avLst/>
          </a:prstGeom>
          <a:noFill/>
        </p:spPr>
        <p:txBody>
          <a:bodyPr wrap="square" lIns="0" tIns="0" rIns="0" bIns="0">
            <a:spAutoFit/>
          </a:bodyPr>
          <a:lstStyle/>
          <a:p>
            <a:pPr algn="l"/>
            <a:r>
              <a:rPr sz="1400" b="1" i="0">
                <a:solidFill>
                  <a:srgbClr val="E30613"/>
                </a:solidFill>
                <a:latin typeface="Inter"/>
                <a:ea typeface="Inter"/>
                <a:cs typeface="Inter"/>
              </a:rPr>
              <a:t>04</a:t>
            </a:r>
          </a:p>
        </p:txBody>
      </p:sp>
      <p:sp>
        <p:nvSpPr>
          <p:cNvPr id="15" name="TextBox 14"/>
          <p:cNvSpPr txBox="1"/>
          <p:nvPr/>
        </p:nvSpPr>
        <p:spPr>
          <a:xfrm>
            <a:off x="1097280" y="5209794"/>
            <a:ext cx="10454335" cy="480060"/>
          </a:xfrm>
          <a:prstGeom prst="rect">
            <a:avLst/>
          </a:prstGeom>
          <a:noFill/>
        </p:spPr>
        <p:txBody>
          <a:bodyPr wrap="square" lIns="0" tIns="0" rIns="0" bIns="0">
            <a:spAutoFit/>
          </a:bodyPr>
          <a:lstStyle/>
          <a:p>
            <a:pPr algn="l"/>
            <a:r>
              <a:rPr sz="1400" b="0" i="0">
                <a:solidFill>
                  <a:srgbClr val="1A1A1A"/>
                </a:solidFill>
                <a:latin typeface="Inter"/>
                <a:ea typeface="Inter"/>
                <a:cs typeface="Inter"/>
              </a:rPr>
              <a:t>Подземная прокладка трубопроводов пара и горячей воды эксплуатационной категории Iэ в одном канале совместно с технологическими трубопроводами не допускается.</a:t>
            </a:r>
          </a:p>
        </p:txBody>
      </p:sp>
      <p:sp>
        <p:nvSpPr>
          <p:cNvPr id="16" name="Rectangle 15"/>
          <p:cNvSpPr/>
          <p:nvPr/>
        </p:nvSpPr>
        <p:spPr>
          <a:xfrm>
            <a:off x="640080" y="5852160"/>
            <a:ext cx="10911535" cy="50292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5943600"/>
            <a:ext cx="10545775" cy="365760"/>
          </a:xfrm>
          <a:prstGeom prst="rect">
            <a:avLst/>
          </a:prstGeom>
          <a:noFill/>
        </p:spPr>
        <p:txBody>
          <a:bodyPr wrap="square" lIns="0" tIns="0" rIns="0" bIns="0">
            <a:spAutoFit/>
          </a:bodyPr>
          <a:lstStyle/>
          <a:p>
            <a:pPr algn="l"/>
            <a:r>
              <a:rPr sz="1500" b="1" i="0">
                <a:solidFill>
                  <a:srgbClr val="F59E0B"/>
                </a:solidFill>
                <a:latin typeface="Inter"/>
                <a:ea typeface="Inter"/>
                <a:cs typeface="Inter"/>
              </a:rPr>
              <a:t>Подземная прокладка трубопроводов категории Iэ совместно с технологическими трубопроводами в одном канале запрещается.</a:t>
            </a:r>
          </a:p>
        </p:txBody>
      </p:sp>
      <p:cxnSp>
        <p:nvCxnSpPr>
          <p:cNvPr id="18" name="Connector 17"/>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11 / 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Камеры обслуживания подземных трубопроводов</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2000" b="1" i="0">
                <a:solidFill>
                  <a:srgbClr val="1A1A1A"/>
                </a:solidFill>
                <a:latin typeface="Inter"/>
                <a:ea typeface="Inter"/>
                <a:cs typeface="Inter"/>
              </a:rPr>
              <a:t>Требования к камерам обслуживания подземных трубопроводов пара и горячей воды (2/2)</a:t>
            </a:r>
          </a:p>
        </p:txBody>
      </p:sp>
      <p:sp>
        <p:nvSpPr>
          <p:cNvPr id="5" name="TextBox 4"/>
          <p:cNvSpPr txBox="1"/>
          <p:nvPr/>
        </p:nvSpPr>
        <p:spPr>
          <a:xfrm>
            <a:off x="640080" y="2582608"/>
            <a:ext cx="10911535"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Обязательные требования</a:t>
            </a:r>
          </a:p>
        </p:txBody>
      </p:sp>
      <p:cxnSp>
        <p:nvCxnSpPr>
          <p:cNvPr id="6" name="Connector 5"/>
          <p:cNvCxnSpPr/>
          <p:nvPr/>
        </p:nvCxnSpPr>
        <p:spPr>
          <a:xfrm>
            <a:off x="640080" y="2902648"/>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3039808"/>
            <a:ext cx="411480" cy="274320"/>
          </a:xfrm>
          <a:prstGeom prst="rect">
            <a:avLst/>
          </a:prstGeom>
          <a:noFill/>
        </p:spPr>
        <p:txBody>
          <a:bodyPr wrap="square" lIns="0" tIns="0" rIns="0" bIns="0">
            <a:spAutoFit/>
          </a:bodyPr>
          <a:lstStyle/>
          <a:p>
            <a:pPr algn="l"/>
            <a:r>
              <a:rPr sz="1500" b="1" i="0">
                <a:solidFill>
                  <a:srgbClr val="E30613"/>
                </a:solidFill>
                <a:latin typeface="Inter"/>
                <a:ea typeface="Inter"/>
                <a:cs typeface="Inter"/>
              </a:rPr>
              <a:t>01</a:t>
            </a:r>
          </a:p>
        </p:txBody>
      </p:sp>
      <p:sp>
        <p:nvSpPr>
          <p:cNvPr id="8" name="TextBox 7"/>
          <p:cNvSpPr txBox="1"/>
          <p:nvPr/>
        </p:nvSpPr>
        <p:spPr>
          <a:xfrm>
            <a:off x="1097280" y="3039808"/>
            <a:ext cx="1045433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Арматура трубопроводов пара и горячей воды устанавливается в местах, доступных для безопасного обслуживания и ремонта; в необходимых случаях устраиваются стационарные лестницы и площадки в соответствии с проектной документацией.</a:t>
            </a:r>
          </a:p>
        </p:txBody>
      </p:sp>
      <p:sp>
        <p:nvSpPr>
          <p:cNvPr id="9" name="TextBox 8"/>
          <p:cNvSpPr txBox="1"/>
          <p:nvPr/>
        </p:nvSpPr>
        <p:spPr>
          <a:xfrm>
            <a:off x="640080" y="3939349"/>
            <a:ext cx="411480" cy="274320"/>
          </a:xfrm>
          <a:prstGeom prst="rect">
            <a:avLst/>
          </a:prstGeom>
          <a:noFill/>
        </p:spPr>
        <p:txBody>
          <a:bodyPr wrap="square" lIns="0" tIns="0" rIns="0" bIns="0">
            <a:spAutoFit/>
          </a:bodyPr>
          <a:lstStyle/>
          <a:p>
            <a:pPr algn="l"/>
            <a:r>
              <a:rPr sz="1500" b="1" i="0">
                <a:solidFill>
                  <a:srgbClr val="E30613"/>
                </a:solidFill>
                <a:latin typeface="Inter"/>
                <a:ea typeface="Inter"/>
                <a:cs typeface="Inter"/>
              </a:rPr>
              <a:t>02</a:t>
            </a:r>
          </a:p>
        </p:txBody>
      </p:sp>
      <p:sp>
        <p:nvSpPr>
          <p:cNvPr id="10" name="TextBox 9"/>
          <p:cNvSpPr txBox="1"/>
          <p:nvPr/>
        </p:nvSpPr>
        <p:spPr>
          <a:xfrm>
            <a:off x="1097280" y="3939349"/>
            <a:ext cx="10454335" cy="1028700"/>
          </a:xfrm>
          <a:prstGeom prst="rect">
            <a:avLst/>
          </a:prstGeom>
          <a:noFill/>
        </p:spPr>
        <p:txBody>
          <a:bodyPr wrap="square" lIns="0" tIns="0" rIns="0" bIns="0">
            <a:spAutoFit/>
          </a:bodyPr>
          <a:lstStyle/>
          <a:p>
            <a:pPr algn="l"/>
            <a:r>
              <a:rPr sz="1500" b="0" i="0">
                <a:solidFill>
                  <a:srgbClr val="1A1A1A"/>
                </a:solidFill>
                <a:latin typeface="Inter"/>
                <a:ea typeface="Inter"/>
                <a:cs typeface="Inter"/>
              </a:rPr>
              <a:t>Допускается применение передвижных площадок и приставных лестниц для арматуры, используемой реже одного раза в месяц, доступ к которой необходим при отключении участка трубопровода в ремонт и подключении после ремонта. Использование приставных лестниц для ремонта арматуры с её разборкой и демонтажем не допускается.</a:t>
            </a:r>
          </a:p>
        </p:txBody>
      </p:sp>
      <p:sp>
        <p:nvSpPr>
          <p:cNvPr id="11" name="TextBox 10"/>
          <p:cNvSpPr txBox="1"/>
          <p:nvPr/>
        </p:nvSpPr>
        <p:spPr>
          <a:xfrm>
            <a:off x="640080" y="5096065"/>
            <a:ext cx="411480" cy="274320"/>
          </a:xfrm>
          <a:prstGeom prst="rect">
            <a:avLst/>
          </a:prstGeom>
          <a:noFill/>
        </p:spPr>
        <p:txBody>
          <a:bodyPr wrap="square" lIns="0" tIns="0" rIns="0" bIns="0">
            <a:spAutoFit/>
          </a:bodyPr>
          <a:lstStyle/>
          <a:p>
            <a:pPr algn="l"/>
            <a:r>
              <a:rPr sz="1500" b="1" i="0">
                <a:solidFill>
                  <a:srgbClr val="E30613"/>
                </a:solidFill>
                <a:latin typeface="Inter"/>
                <a:ea typeface="Inter"/>
                <a:cs typeface="Inter"/>
              </a:rPr>
              <a:t>03</a:t>
            </a:r>
          </a:p>
        </p:txBody>
      </p:sp>
      <p:sp>
        <p:nvSpPr>
          <p:cNvPr id="12" name="TextBox 11"/>
          <p:cNvSpPr txBox="1"/>
          <p:nvPr/>
        </p:nvSpPr>
        <p:spPr>
          <a:xfrm>
            <a:off x="1097280" y="5096065"/>
            <a:ext cx="10454335" cy="514350"/>
          </a:xfrm>
          <a:prstGeom prst="rect">
            <a:avLst/>
          </a:prstGeom>
          <a:noFill/>
        </p:spPr>
        <p:txBody>
          <a:bodyPr wrap="square" lIns="0" tIns="0" rIns="0" bIns="0">
            <a:spAutoFit/>
          </a:bodyPr>
          <a:lstStyle/>
          <a:p>
            <a:pPr algn="l"/>
            <a:r>
              <a:rPr sz="1500" b="0" i="0">
                <a:solidFill>
                  <a:srgbClr val="1A1A1A"/>
                </a:solidFill>
                <a:latin typeface="Inter"/>
                <a:ea typeface="Inter"/>
                <a:cs typeface="Inter"/>
              </a:rPr>
              <a:t>Устанавливаемая чугунная арматура трубопроводов пара и горячей воды должна быть защищена от напряжений изгиба.</a:t>
            </a:r>
          </a:p>
        </p:txBody>
      </p:sp>
      <p:sp>
        <p:nvSpPr>
          <p:cNvPr id="13" name="TextBox 12"/>
          <p:cNvSpPr txBox="1"/>
          <p:nvPr/>
        </p:nvSpPr>
        <p:spPr>
          <a:xfrm>
            <a:off x="640080" y="5738431"/>
            <a:ext cx="411480" cy="274320"/>
          </a:xfrm>
          <a:prstGeom prst="rect">
            <a:avLst/>
          </a:prstGeom>
          <a:noFill/>
        </p:spPr>
        <p:txBody>
          <a:bodyPr wrap="square" lIns="0" tIns="0" rIns="0" bIns="0">
            <a:spAutoFit/>
          </a:bodyPr>
          <a:lstStyle/>
          <a:p>
            <a:pPr algn="l"/>
            <a:r>
              <a:rPr sz="1500" b="1" i="0">
                <a:solidFill>
                  <a:srgbClr val="E30613"/>
                </a:solidFill>
                <a:latin typeface="Inter"/>
                <a:ea typeface="Inter"/>
                <a:cs typeface="Inter"/>
              </a:rPr>
              <a:t>04</a:t>
            </a:r>
          </a:p>
        </p:txBody>
      </p:sp>
      <p:sp>
        <p:nvSpPr>
          <p:cNvPr id="14" name="TextBox 13"/>
          <p:cNvSpPr txBox="1"/>
          <p:nvPr/>
        </p:nvSpPr>
        <p:spPr>
          <a:xfrm>
            <a:off x="1097280" y="5738431"/>
            <a:ext cx="10454335" cy="274320"/>
          </a:xfrm>
          <a:prstGeom prst="rect">
            <a:avLst/>
          </a:prstGeom>
          <a:noFill/>
        </p:spPr>
        <p:txBody>
          <a:bodyPr wrap="square" lIns="0" tIns="0" rIns="0" bIns="0">
            <a:spAutoFit/>
          </a:bodyPr>
          <a:lstStyle/>
          <a:p>
            <a:pPr algn="l"/>
            <a:r>
              <a:rPr sz="1500" b="0" i="0">
                <a:solidFill>
                  <a:srgbClr val="1A1A1A"/>
                </a:solidFill>
                <a:latin typeface="Inter"/>
                <a:ea typeface="Inter"/>
                <a:cs typeface="Inter"/>
              </a:rPr>
              <a:t>Применение запорной арматуры в качестве регулирующей не допускается.</a:t>
            </a:r>
          </a:p>
        </p:txBody>
      </p:sp>
      <p:cxnSp>
        <p:nvCxnSpPr>
          <p:cNvPr id="15" name="Connector 14"/>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50000"/>
            <a:ext cx="10911535" cy="600000"/>
          </a:xfrm>
          <a:prstGeom prst="rect">
            <a:avLst/>
          </a:prstGeom>
          <a:noFill/>
        </p:spPr>
        <p:txBody>
          <a:bodyPr wrap="square">
            <a:spAutoFit/>
          </a:bodyPr>
          <a:lstStyle/>
          <a:p>
            <a:pPr algn="l"/>
            <a:r>
              <a:rPr sz="2400" b="1">
                <a:solidFill>
                  <a:srgbClr val="1A1A1A"/>
                </a:solidFill>
                <a:latin typeface="Inter"/>
                <a:ea typeface="Inter"/>
                <a:cs typeface="Inter"/>
              </a:rPr>
              <a:t>Места установки запорной арматуры на тепловых сетях</a:t>
            </a:r>
          </a:p>
        </p:txBody>
      </p:sp>
      <p:sp>
        <p:nvSpPr>
          <p:cNvPr id="4" name="TextBox 3"/>
          <p:cNvSpPr txBox="1"/>
          <p:nvPr/>
        </p:nvSpPr>
        <p:spPr>
          <a:xfrm>
            <a:off x="640080" y="155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5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На всех трубопроводах выводов тепловых сетей от источников теплоты — независимо от параметров теплоносителей.</a:t>
            </a:r>
          </a:p>
        </p:txBody>
      </p:sp>
      <p:sp>
        <p:nvSpPr>
          <p:cNvPr id="6" name="TextBox 5"/>
          <p:cNvSpPr txBox="1"/>
          <p:nvPr/>
        </p:nvSpPr>
        <p:spPr>
          <a:xfrm>
            <a:off x="640080" y="235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23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На трубопроводах водяных сетей внутренним диаметром ≥ 100 мм — секционирующие задвижки не реже чем через 1000 м с перемычкой между подающим и обратным трубопроводами.</a:t>
            </a:r>
          </a:p>
        </p:txBody>
      </p:sp>
      <p:sp>
        <p:nvSpPr>
          <p:cNvPr id="8" name="TextBox 7"/>
          <p:cNvSpPr txBox="1"/>
          <p:nvPr/>
        </p:nvSpPr>
        <p:spPr>
          <a:xfrm>
            <a:off x="640080" y="315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31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 водяных и паровых сетях — в узлах ответвлений внутренним диаметром ≥ 100 мм, а также на ответвлениях к отдельным зданиям независимо от диаметра.</a:t>
            </a:r>
          </a:p>
        </p:txBody>
      </p:sp>
      <p:sp>
        <p:nvSpPr>
          <p:cNvPr id="10" name="TextBox 9"/>
          <p:cNvSpPr txBox="1"/>
          <p:nvPr/>
        </p:nvSpPr>
        <p:spPr>
          <a:xfrm>
            <a:off x="640080" y="3950000"/>
            <a:ext cx="411480" cy="274320"/>
          </a:xfrm>
          <a:prstGeom prst="rect">
            <a:avLst/>
          </a:prstGeom>
          <a:noFill/>
        </p:spPr>
        <p:txBody>
          <a:bodyPr wrap="square">
            <a:spAutoFit/>
          </a:bodyPr>
          <a:lstStyle/>
          <a:p>
            <a:pPr algn="l"/>
            <a:r>
              <a:rPr sz="1400" b="1">
                <a:solidFill>
                  <a:srgbClr val="E30613"/>
                </a:solidFill>
                <a:latin typeface="Inter"/>
                <a:ea typeface="Inter"/>
                <a:cs typeface="Inter"/>
              </a:rPr>
              <a:t>04</a:t>
            </a:r>
          </a:p>
        </p:txBody>
      </p:sp>
      <p:sp>
        <p:nvSpPr>
          <p:cNvPr id="11" name="TextBox 10"/>
          <p:cNvSpPr txBox="1"/>
          <p:nvPr/>
        </p:nvSpPr>
        <p:spPr>
          <a:xfrm>
            <a:off x="1005840" y="39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На конденсатопроводах — на вводе к сборному баку конденсата.</a:t>
            </a:r>
          </a:p>
        </p:txBody>
      </p:sp>
      <p:sp>
        <p:nvSpPr>
          <p:cNvPr id="12" name="TextBox 11"/>
          <p:cNvSpPr txBox="1"/>
          <p:nvPr/>
        </p:nvSpPr>
        <p:spPr>
          <a:xfrm>
            <a:off x="640080" y="4750000"/>
            <a:ext cx="411480" cy="274320"/>
          </a:xfrm>
          <a:prstGeom prst="rect">
            <a:avLst/>
          </a:prstGeom>
          <a:noFill/>
        </p:spPr>
        <p:txBody>
          <a:bodyPr wrap="square">
            <a:spAutoFit/>
          </a:bodyPr>
          <a:lstStyle/>
          <a:p>
            <a:pPr algn="l"/>
            <a:r>
              <a:rPr sz="1400" b="1">
                <a:solidFill>
                  <a:srgbClr val="E30613"/>
                </a:solidFill>
                <a:latin typeface="Inter"/>
                <a:ea typeface="Inter"/>
                <a:cs typeface="Inter"/>
              </a:rPr>
              <a:t>05</a:t>
            </a:r>
          </a:p>
        </p:txBody>
      </p:sp>
      <p:sp>
        <p:nvSpPr>
          <p:cNvPr id="13" name="TextBox 12"/>
          <p:cNvSpPr txBox="1"/>
          <p:nvPr/>
        </p:nvSpPr>
        <p:spPr>
          <a:xfrm>
            <a:off x="1005840" y="47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Задвижки и затворы DN ≥ 500 мм — с приводами (электро-/гидро-/пневмо-). При надземной прокладке электроприводы — в помещении или в кожухах от осадков и посторонних лиц.</a:t>
            </a:r>
          </a:p>
        </p:txBody>
      </p:sp>
      <p:sp>
        <p:nvSpPr>
          <p:cNvPr id="14" name="Rectangle 13"/>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13 / 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Рисунок 13">
            <a:extLst>
              <a:ext uri="{FF2B5EF4-FFF2-40B4-BE49-F238E27FC236}">
                <a16:creationId xmlns:a16="http://schemas.microsoft.com/office/drawing/2014/main" id="{194C0F96-D877-4C72-9469-834254E5BF61}"/>
              </a:ext>
            </a:extLst>
          </p:cNvPr>
          <p:cNvPicPr>
            <a:picLocks noChangeAspect="1"/>
          </p:cNvPicPr>
          <p:nvPr/>
        </p:nvPicPr>
        <p:blipFill>
          <a:blip r:embed="rId2"/>
          <a:stretch>
            <a:fillRect/>
          </a:stretch>
        </p:blipFill>
        <p:spPr>
          <a:xfrm>
            <a:off x="0" y="0"/>
            <a:ext cx="12191694" cy="6858000"/>
          </a:xfrm>
          <a:prstGeom prst="rect">
            <a:avLst/>
          </a:prstGeom>
        </p:spPr>
      </p:pic>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Контроль остаточных деформаций</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2000" b="1" i="0">
                <a:solidFill>
                  <a:srgbClr val="1A1A1A"/>
                </a:solidFill>
                <a:latin typeface="Inter"/>
                <a:ea typeface="Inter"/>
                <a:cs typeface="Inter"/>
              </a:rPr>
              <a:t>Трубопроводы в режиме ползучести металла: обязательная установка устройств контроля деформаций</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Требование к проектированию трубопроводов, работающих при повышенных температурах</a:t>
            </a:r>
          </a:p>
        </p:txBody>
      </p:sp>
      <p:sp>
        <p:nvSpPr>
          <p:cNvPr id="6" name="TextBox 5"/>
          <p:cNvSpPr txBox="1"/>
          <p:nvPr/>
        </p:nvSpPr>
        <p:spPr>
          <a:xfrm>
            <a:off x="640080" y="2514600"/>
            <a:ext cx="10911535" cy="1901952"/>
          </a:xfrm>
          <a:prstGeom prst="rect">
            <a:avLst/>
          </a:prstGeom>
          <a:noFill/>
        </p:spPr>
        <p:txBody>
          <a:bodyPr wrap="square" lIns="0" tIns="0" rIns="0" bIns="0">
            <a:normAutofit fontScale="77500" lnSpcReduction="20000"/>
          </a:bodyPr>
          <a:lstStyle/>
          <a:p>
            <a:pPr algn="l"/>
            <a:r>
              <a:rPr sz="1500" b="0" i="0">
                <a:solidFill>
                  <a:srgbClr val="1A1A1A"/>
                </a:solidFill>
                <a:latin typeface="Inter"/>
                <a:ea typeface="Inter"/>
                <a:cs typeface="Inter"/>
              </a:rPr>
              <a:t>Для трубопроводов, работающих при температуре, вызывающей ползучесть металла, проектом должна быть предусмотрена установка устройств для проведения наблюдений (контроля) за ростом остаточных деформаций.</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Дополнительные требования к установке арматуры и дренажных устройств:</a:t>
            </a:r>
          </a:p>
          <a:p>
            <a:pPr algn="l">
              <a:spcBef>
                <a:spcPts val="525"/>
              </a:spcBef>
            </a:pPr>
            <a:r>
              <a:rPr sz="1500" b="0" i="0">
                <a:solidFill>
                  <a:srgbClr val="1A1A1A"/>
                </a:solidFill>
                <a:latin typeface="Inter"/>
                <a:ea typeface="Inter"/>
                <a:cs typeface="Inter"/>
              </a:rPr>
              <a:t>• Задвижки и затворы номинальным диаметром 500 мм и более оснащаются приводами (электро-, гидро-, пневмопривод). При надземной прокладке задвижки с электроприводами устанавливаются в помещении либо заключаются в защитные кожухи.</a:t>
            </a:r>
          </a:p>
          <a:p>
            <a:pPr algn="l">
              <a:spcBef>
                <a:spcPts val="525"/>
              </a:spcBef>
            </a:pPr>
            <a:r>
              <a:rPr sz="1500" b="0" i="0">
                <a:solidFill>
                  <a:srgbClr val="1A1A1A"/>
                </a:solidFill>
                <a:latin typeface="Inter"/>
                <a:ea typeface="Inter"/>
                <a:cs typeface="Inter"/>
              </a:rPr>
              <a:t>• Все трубопроводы должны иметь дренажи для слива воды и воздушники в верхних точках. Конструкция и места расположения воздушных и дренажных устройств устанавливаются проектной документацией.</a:t>
            </a:r>
          </a:p>
          <a:p>
            <a:pPr algn="l">
              <a:spcBef>
                <a:spcPts val="525"/>
              </a:spcBef>
            </a:pPr>
            <a:r>
              <a:rPr sz="1500" b="0" i="0">
                <a:solidFill>
                  <a:srgbClr val="1A1A1A"/>
                </a:solidFill>
                <a:latin typeface="Inter"/>
                <a:ea typeface="Inter"/>
                <a:cs typeface="Inter"/>
              </a:rPr>
              <a:t>• Непрерывный отвод конденсата обязателен для паропроводов насыщенного пара и тупиковых участков паропроводов перегретого пара. Конструкция, тип и места установки дренажных устройств определяются проектом.</a:t>
            </a:r>
          </a:p>
        </p:txBody>
      </p:sp>
      <p:cxnSp>
        <p:nvCxnSpPr>
          <p:cNvPr id="7" name="Connector 6"/>
          <p:cNvCxnSpPr/>
          <p:nvPr/>
        </p:nvCxnSpPr>
        <p:spPr>
          <a:xfrm>
            <a:off x="640080" y="4599432"/>
            <a:ext cx="548639"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4736592"/>
            <a:ext cx="10911535" cy="731520"/>
          </a:xfrm>
          <a:prstGeom prst="rect">
            <a:avLst/>
          </a:prstGeom>
          <a:noFill/>
        </p:spPr>
        <p:txBody>
          <a:bodyPr wrap="square" lIns="0" tIns="0" rIns="0" bIns="0">
            <a:spAutoFit/>
          </a:bodyPr>
          <a:lstStyle/>
          <a:p>
            <a:pPr algn="l"/>
            <a:r>
              <a:rPr sz="1200" b="0" i="0">
                <a:solidFill>
                  <a:srgbClr val="6B7280"/>
                </a:solidFill>
                <a:latin typeface="Inter"/>
                <a:ea typeface="Inter"/>
                <a:cs typeface="Inter"/>
              </a:rPr>
              <a:t>Контроль остаточных деформаций при ползучести металла является обязательным условием безопасной эксплуатации трубопроводов и должен быть предусмотрен на стадии проектирования.</a:t>
            </a:r>
          </a:p>
        </p:txBody>
      </p:sp>
      <p:cxnSp>
        <p:nvCxnSpPr>
          <p:cNvPr id="9" name="Connector 8"/>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50000"/>
            <a:ext cx="10911535" cy="600000"/>
          </a:xfrm>
          <a:prstGeom prst="rect">
            <a:avLst/>
          </a:prstGeom>
          <a:noFill/>
        </p:spPr>
        <p:txBody>
          <a:bodyPr wrap="square">
            <a:spAutoFit/>
          </a:bodyPr>
          <a:lstStyle/>
          <a:p>
            <a:pPr algn="l"/>
            <a:r>
              <a:rPr sz="2600" b="1">
                <a:solidFill>
                  <a:srgbClr val="1A1A1A"/>
                </a:solidFill>
                <a:latin typeface="Inter"/>
                <a:ea typeface="Inter"/>
                <a:cs typeface="Inter"/>
              </a:rPr>
              <a:t>Дренаж, воздушники и отвод конденсата</a:t>
            </a:r>
          </a:p>
        </p:txBody>
      </p:sp>
      <p:sp>
        <p:nvSpPr>
          <p:cNvPr id="4" name="TextBox 3"/>
          <p:cNvSpPr txBox="1"/>
          <p:nvPr/>
        </p:nvSpPr>
        <p:spPr>
          <a:xfrm>
            <a:off x="640080" y="155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5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Все трубопроводы — с дренажами для слива после гидравлического испытания и воздушниками в верхних точках.</a:t>
            </a:r>
          </a:p>
        </p:txBody>
      </p:sp>
      <p:sp>
        <p:nvSpPr>
          <p:cNvPr id="6" name="TextBox 5"/>
          <p:cNvSpPr txBox="1"/>
          <p:nvPr/>
        </p:nvSpPr>
        <p:spPr>
          <a:xfrm>
            <a:off x="640080" y="235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23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Непрерывный отвод конденсата обязателен для паропроводов насыщенного пара и тупиковых участков паропроводов перегретого пара.</a:t>
            </a:r>
          </a:p>
        </p:txBody>
      </p:sp>
      <p:sp>
        <p:nvSpPr>
          <p:cNvPr id="8" name="TextBox 7"/>
          <p:cNvSpPr txBox="1"/>
          <p:nvPr/>
        </p:nvSpPr>
        <p:spPr>
          <a:xfrm>
            <a:off x="640080" y="315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31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 нижних точках водяных тепловых сетей и конденсатопроводов, а также секционируемых участков — штуцера с запорной арматурой для спуска воды.</a:t>
            </a:r>
          </a:p>
        </p:txBody>
      </p:sp>
      <p:sp>
        <p:nvSpPr>
          <p:cNvPr id="10" name="TextBox 9"/>
          <p:cNvSpPr txBox="1"/>
          <p:nvPr/>
        </p:nvSpPr>
        <p:spPr>
          <a:xfrm>
            <a:off x="640080" y="3950000"/>
            <a:ext cx="411480" cy="274320"/>
          </a:xfrm>
          <a:prstGeom prst="rect">
            <a:avLst/>
          </a:prstGeom>
          <a:noFill/>
        </p:spPr>
        <p:txBody>
          <a:bodyPr wrap="square">
            <a:spAutoFit/>
          </a:bodyPr>
          <a:lstStyle/>
          <a:p>
            <a:pPr algn="l"/>
            <a:r>
              <a:rPr sz="1400" b="1">
                <a:solidFill>
                  <a:srgbClr val="E30613"/>
                </a:solidFill>
                <a:latin typeface="Inter"/>
                <a:ea typeface="Inter"/>
                <a:cs typeface="Inter"/>
              </a:rPr>
              <a:t>04</a:t>
            </a:r>
          </a:p>
        </p:txBody>
      </p:sp>
      <p:sp>
        <p:nvSpPr>
          <p:cNvPr id="11" name="TextBox 10"/>
          <p:cNvSpPr txBox="1"/>
          <p:nvPr/>
        </p:nvSpPr>
        <p:spPr>
          <a:xfrm>
            <a:off x="1005840" y="39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Для спуска воды из водяных тепловых сетей — сбросные колодцы отдельно от канала трубопровода с отводом в канализацию.</a:t>
            </a:r>
          </a:p>
        </p:txBody>
      </p:sp>
      <p:sp>
        <p:nvSpPr>
          <p:cNvPr id="12" name="TextBox 11"/>
          <p:cNvSpPr txBox="1"/>
          <p:nvPr/>
        </p:nvSpPr>
        <p:spPr>
          <a:xfrm>
            <a:off x="640080" y="4750000"/>
            <a:ext cx="411480" cy="274320"/>
          </a:xfrm>
          <a:prstGeom prst="rect">
            <a:avLst/>
          </a:prstGeom>
          <a:noFill/>
        </p:spPr>
        <p:txBody>
          <a:bodyPr wrap="square">
            <a:spAutoFit/>
          </a:bodyPr>
          <a:lstStyle/>
          <a:p>
            <a:pPr algn="l"/>
            <a:r>
              <a:rPr sz="1400" b="1">
                <a:solidFill>
                  <a:srgbClr val="E30613"/>
                </a:solidFill>
                <a:latin typeface="Inter"/>
                <a:ea typeface="Inter"/>
                <a:cs typeface="Inter"/>
              </a:rPr>
              <a:t>05</a:t>
            </a:r>
          </a:p>
        </p:txBody>
      </p:sp>
      <p:sp>
        <p:nvSpPr>
          <p:cNvPr id="13" name="TextBox 12"/>
          <p:cNvSpPr txBox="1"/>
          <p:nvPr/>
        </p:nvSpPr>
        <p:spPr>
          <a:xfrm>
            <a:off x="1005840" y="475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На водяных сетях Dвн ≥ 500 мм при P ≥ 1,6 МПа, Dвн ≥ 300 мм при P ≥ 2,5 МПа и на паровых сетях Dвн ≥ 200 мм при P ≥ 1,6 МПа задвижки/затворы — с байпасами и запорной арматурой.</a:t>
            </a:r>
          </a:p>
        </p:txBody>
      </p:sp>
      <p:sp>
        <p:nvSpPr>
          <p:cNvPr id="14" name="Rectangle 13"/>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50000"/>
            <a:ext cx="10911535" cy="650000"/>
          </a:xfrm>
          <a:prstGeom prst="rect">
            <a:avLst/>
          </a:prstGeom>
          <a:noFill/>
        </p:spPr>
        <p:txBody>
          <a:bodyPr wrap="square">
            <a:spAutoFit/>
          </a:bodyPr>
          <a:lstStyle/>
          <a:p>
            <a:pPr algn="l"/>
            <a:r>
              <a:rPr sz="2400" b="1">
                <a:solidFill>
                  <a:srgbClr val="1A1A1A"/>
                </a:solidFill>
                <a:latin typeface="Inter"/>
                <a:ea typeface="Inter"/>
                <a:cs typeface="Inter"/>
              </a:rPr>
              <a:t>Прогрев и продувка отключаемых участков паропроводов</a:t>
            </a:r>
          </a:p>
        </p:txBody>
      </p:sp>
      <p:sp>
        <p:nvSpPr>
          <p:cNvPr id="4" name="TextBox 3"/>
          <p:cNvSpPr txBox="1"/>
          <p:nvPr/>
        </p:nvSpPr>
        <p:spPr>
          <a:xfrm>
            <a:off x="640080" y="160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60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Все участки паропроводов, отключаемые запорными органами, в концевых точках снабжаются штуцером с запорным устройством.</a:t>
            </a:r>
          </a:p>
        </p:txBody>
      </p:sp>
      <p:sp>
        <p:nvSpPr>
          <p:cNvPr id="6" name="TextBox 5"/>
          <p:cNvSpPr txBox="1"/>
          <p:nvPr/>
        </p:nvSpPr>
        <p:spPr>
          <a:xfrm>
            <a:off x="640080" y="240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240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При давлении свыше 2,2 МПа — штуцер и два последовательно расположенных устройства: запорное и регулирующее.</a:t>
            </a:r>
          </a:p>
        </p:txBody>
      </p:sp>
      <p:sp>
        <p:nvSpPr>
          <p:cNvPr id="8" name="TextBox 7"/>
          <p:cNvSpPr txBox="1"/>
          <p:nvPr/>
        </p:nvSpPr>
        <p:spPr>
          <a:xfrm>
            <a:off x="640080" y="320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320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Паропроводы с давлением 20 МПа и выше — штуцеры с последовательно расположенными запорным и регулирующим вентилями и дроссельной шайбой.</a:t>
            </a:r>
          </a:p>
        </p:txBody>
      </p:sp>
      <p:sp>
        <p:nvSpPr>
          <p:cNvPr id="10" name="TextBox 9"/>
          <p:cNvSpPr txBox="1"/>
          <p:nvPr/>
        </p:nvSpPr>
        <p:spPr>
          <a:xfrm>
            <a:off x="640080" y="4000000"/>
            <a:ext cx="411480" cy="274320"/>
          </a:xfrm>
          <a:prstGeom prst="rect">
            <a:avLst/>
          </a:prstGeom>
          <a:noFill/>
        </p:spPr>
        <p:txBody>
          <a:bodyPr wrap="square">
            <a:spAutoFit/>
          </a:bodyPr>
          <a:lstStyle/>
          <a:p>
            <a:pPr algn="l"/>
            <a:r>
              <a:rPr sz="1400" b="1">
                <a:solidFill>
                  <a:srgbClr val="E30613"/>
                </a:solidFill>
                <a:latin typeface="Inter"/>
                <a:ea typeface="Inter"/>
                <a:cs typeface="Inter"/>
              </a:rPr>
              <a:t>04</a:t>
            </a:r>
          </a:p>
        </p:txBody>
      </p:sp>
      <p:sp>
        <p:nvSpPr>
          <p:cNvPr id="11" name="TextBox 10"/>
          <p:cNvSpPr txBox="1"/>
          <p:nvPr/>
        </p:nvSpPr>
        <p:spPr>
          <a:xfrm>
            <a:off x="1005840" y="4000000"/>
            <a:ext cx="10496335" cy="720000"/>
          </a:xfrm>
          <a:prstGeom prst="rect">
            <a:avLst/>
          </a:prstGeom>
          <a:noFill/>
        </p:spPr>
        <p:txBody>
          <a:bodyPr wrap="square">
            <a:spAutoFit/>
          </a:bodyPr>
          <a:lstStyle/>
          <a:p>
            <a:pPr algn="l"/>
            <a:r>
              <a:rPr sz="1200" b="0">
                <a:solidFill>
                  <a:srgbClr val="1A1A1A"/>
                </a:solidFill>
                <a:latin typeface="Inter"/>
                <a:ea typeface="Inter"/>
                <a:cs typeface="Inter"/>
              </a:rPr>
              <a:t>При прогреве участка в обоих направлениях продувка предусматривается с обоих концов участка.</a:t>
            </a:r>
          </a:p>
        </p:txBody>
      </p:sp>
      <p:sp>
        <p:nvSpPr>
          <p:cNvPr id="12" name="TextBox 11"/>
          <p:cNvSpPr txBox="1"/>
          <p:nvPr/>
        </p:nvSpPr>
        <p:spPr>
          <a:xfrm>
            <a:off x="640080" y="4800000"/>
            <a:ext cx="411480" cy="274320"/>
          </a:xfrm>
          <a:prstGeom prst="rect">
            <a:avLst/>
          </a:prstGeom>
          <a:noFill/>
        </p:spPr>
        <p:txBody>
          <a:bodyPr wrap="square">
            <a:spAutoFit/>
          </a:bodyPr>
          <a:lstStyle/>
          <a:p>
            <a:pPr algn="l"/>
            <a:r>
              <a:rPr sz="1400" b="1">
                <a:solidFill>
                  <a:srgbClr val="E30613"/>
                </a:solidFill>
                <a:latin typeface="Inter"/>
                <a:ea typeface="Inter"/>
                <a:cs typeface="Inter"/>
              </a:rPr>
              <a:t>05</a:t>
            </a:r>
          </a:p>
        </p:txBody>
      </p:sp>
      <p:sp>
        <p:nvSpPr>
          <p:cNvPr id="13" name="TextBox 12"/>
          <p:cNvSpPr txBox="1"/>
          <p:nvPr/>
        </p:nvSpPr>
        <p:spPr>
          <a:xfrm>
            <a:off x="1005840" y="4800000"/>
            <a:ext cx="10496335" cy="720000"/>
          </a:xfrm>
          <a:prstGeom prst="rect">
            <a:avLst/>
          </a:prstGeom>
          <a:noFill/>
        </p:spPr>
        <p:txBody>
          <a:bodyPr wrap="square">
            <a:spAutoFit/>
          </a:bodyPr>
          <a:lstStyle/>
          <a:p>
            <a:pPr algn="l"/>
            <a:r>
              <a:rPr sz="1200" b="0">
                <a:solidFill>
                  <a:srgbClr val="1A1A1A"/>
                </a:solidFill>
                <a:latin typeface="Inter"/>
                <a:ea typeface="Inter"/>
                <a:cs typeface="Inter"/>
              </a:rPr>
              <a:t>Устройство дренажей должно позволять контроль их работы во время прогрева паропровода.</a:t>
            </a:r>
          </a:p>
        </p:txBody>
      </p:sp>
      <p:sp>
        <p:nvSpPr>
          <p:cNvPr id="14" name="Rectangle 13"/>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16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Паровые тепловые сети</a:t>
            </a:r>
          </a:p>
        </p:txBody>
      </p:sp>
      <p:sp>
        <p:nvSpPr>
          <p:cNvPr id="4" name="TextBox 3"/>
          <p:cNvSpPr txBox="1"/>
          <p:nvPr/>
        </p:nvSpPr>
        <p:spPr>
          <a:xfrm>
            <a:off x="640080" y="1005840"/>
            <a:ext cx="10911535" cy="640080"/>
          </a:xfrm>
          <a:prstGeom prst="rect">
            <a:avLst/>
          </a:prstGeom>
          <a:noFill/>
        </p:spPr>
        <p:txBody>
          <a:bodyPr wrap="square" lIns="0" tIns="0" rIns="0" bIns="0">
            <a:spAutoFit/>
          </a:bodyPr>
          <a:lstStyle/>
          <a:p>
            <a:pPr algn="l"/>
            <a:r>
              <a:rPr sz="3000" b="1" i="0">
                <a:solidFill>
                  <a:srgbClr val="1A1A1A"/>
                </a:solidFill>
                <a:latin typeface="Inter"/>
                <a:ea typeface="Inter"/>
                <a:cs typeface="Inter"/>
              </a:rPr>
              <a:t>Отвод конденсата в нижних точках трассы</a:t>
            </a:r>
          </a:p>
        </p:txBody>
      </p:sp>
      <p:sp>
        <p:nvSpPr>
          <p:cNvPr id="5" name="TextBox 4"/>
          <p:cNvSpPr txBox="1"/>
          <p:nvPr/>
        </p:nvSpPr>
        <p:spPr>
          <a:xfrm>
            <a:off x="640080" y="3023006"/>
            <a:ext cx="4572000" cy="2011680"/>
          </a:xfrm>
          <a:prstGeom prst="rect">
            <a:avLst/>
          </a:prstGeom>
          <a:noFill/>
        </p:spPr>
        <p:txBody>
          <a:bodyPr wrap="none" lIns="0" tIns="0" rIns="0" bIns="0">
            <a:spAutoFit/>
          </a:bodyPr>
          <a:lstStyle/>
          <a:p>
            <a:pPr algn="l"/>
            <a:r>
              <a:rPr sz="7963" b="1">
                <a:solidFill>
                  <a:srgbClr val="E30613"/>
                </a:solidFill>
                <a:latin typeface="Inter"/>
                <a:ea typeface="Inter"/>
                <a:cs typeface="Inter"/>
              </a:rPr>
              <a:t>400–500</a:t>
            </a:r>
          </a:p>
        </p:txBody>
      </p:sp>
      <p:sp>
        <p:nvSpPr>
          <p:cNvPr id="6" name="TextBox 5"/>
          <p:cNvSpPr txBox="1"/>
          <p:nvPr/>
        </p:nvSpPr>
        <p:spPr>
          <a:xfrm>
            <a:off x="640080" y="4080044"/>
            <a:ext cx="4572000" cy="365760"/>
          </a:xfrm>
          <a:prstGeom prst="rect">
            <a:avLst/>
          </a:prstGeom>
          <a:noFill/>
        </p:spPr>
        <p:txBody>
          <a:bodyPr wrap="square" lIns="0" tIns="0" rIns="0" bIns="0">
            <a:spAutoFit/>
          </a:bodyPr>
          <a:lstStyle/>
          <a:p>
            <a:pPr algn="l"/>
            <a:r>
              <a:rPr sz="2000" b="0" i="0">
                <a:solidFill>
                  <a:srgbClr val="6B7280"/>
                </a:solidFill>
                <a:latin typeface="Inter"/>
                <a:ea typeface="Inter"/>
                <a:cs typeface="Inter"/>
              </a:rPr>
              <a:t>м</a:t>
            </a:r>
          </a:p>
        </p:txBody>
      </p:sp>
      <p:cxnSp>
        <p:nvCxnSpPr>
          <p:cNvPr id="7" name="Connector 6"/>
          <p:cNvCxnSpPr/>
          <p:nvPr/>
        </p:nvCxnSpPr>
        <p:spPr>
          <a:xfrm>
            <a:off x="6065215" y="3162905"/>
            <a:ext cx="5029200"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65215" y="3300065"/>
            <a:ext cx="5029200" cy="576072"/>
          </a:xfrm>
          <a:prstGeom prst="rect">
            <a:avLst/>
          </a:prstGeom>
          <a:noFill/>
        </p:spPr>
        <p:txBody>
          <a:bodyPr wrap="square" lIns="0" tIns="0" rIns="0" bIns="0">
            <a:spAutoFit/>
          </a:bodyPr>
          <a:lstStyle/>
          <a:p>
            <a:pPr algn="l"/>
            <a:r>
              <a:rPr sz="1100" b="1" i="0">
                <a:solidFill>
                  <a:srgbClr val="1A1A1A"/>
                </a:solidFill>
                <a:latin typeface="Inter"/>
                <a:ea typeface="Inter"/>
                <a:cs typeface="Inter"/>
              </a:rPr>
              <a:t>Шаг монтажа устройства пускового дренажа на прямых участках паропроводов при попутном уклоне (200–300 м — при встречном уклоне)</a:t>
            </a:r>
          </a:p>
        </p:txBody>
      </p:sp>
      <p:sp>
        <p:nvSpPr>
          <p:cNvPr id="9" name="TextBox 8"/>
          <p:cNvSpPr txBox="1"/>
          <p:nvPr/>
        </p:nvSpPr>
        <p:spPr>
          <a:xfrm>
            <a:off x="6065215" y="3876137"/>
            <a:ext cx="5029200" cy="758952"/>
          </a:xfrm>
          <a:prstGeom prst="rect">
            <a:avLst/>
          </a:prstGeom>
          <a:noFill/>
        </p:spPr>
        <p:txBody>
          <a:bodyPr wrap="square" lIns="0" tIns="0" rIns="0" bIns="0">
            <a:spAutoFit/>
          </a:bodyPr>
          <a:lstStyle/>
          <a:p>
            <a:pPr algn="l"/>
            <a:r>
              <a:rPr sz="900" b="0" i="0">
                <a:solidFill>
                  <a:srgbClr val="6B7280"/>
                </a:solidFill>
                <a:latin typeface="Inter"/>
                <a:ea typeface="Inter"/>
                <a:cs typeface="Inter"/>
              </a:rPr>
              <a:t>В нижних точках и перед вертикальными подъёмами паропроводов непрерывный отвод конденсата через конденсатоотводчики обязателен независимо от состояния пара. Нижние концевые точки паропроводов и нижние точки изгибов снабжаются устройством для продувки. Устройство дренажей предусматривает возможность контроля за их работой во время прогрева паропровода.</a:t>
            </a:r>
          </a:p>
        </p:txBody>
      </p:sp>
      <p:cxnSp>
        <p:nvCxnSpPr>
          <p:cNvPr id="10" name="Connector 9"/>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00000"/>
            <a:ext cx="10911535" cy="700000"/>
          </a:xfrm>
          <a:prstGeom prst="rect">
            <a:avLst/>
          </a:prstGeom>
          <a:noFill/>
        </p:spPr>
        <p:txBody>
          <a:bodyPr wrap="square">
            <a:spAutoFit/>
          </a:bodyPr>
          <a:lstStyle/>
          <a:p>
            <a:pPr algn="l"/>
            <a:r>
              <a:rPr sz="2600" b="1">
                <a:solidFill>
                  <a:srgbClr val="1A1A1A"/>
                </a:solidFill>
                <a:latin typeface="Inter"/>
                <a:ea typeface="Inter"/>
                <a:cs typeface="Inter"/>
              </a:rPr>
              <a:t>Указатели тепловых перемещений и освещение</a:t>
            </a:r>
          </a:p>
        </p:txBody>
      </p:sp>
      <p:sp>
        <p:nvSpPr>
          <p:cNvPr id="4" name="TextBox 3"/>
          <p:cNvSpPr txBox="1"/>
          <p:nvPr/>
        </p:nvSpPr>
        <p:spPr>
          <a:xfrm>
            <a:off x="640080" y="1900000"/>
            <a:ext cx="411480" cy="274320"/>
          </a:xfrm>
          <a:prstGeom prst="rect">
            <a:avLst/>
          </a:prstGeom>
          <a:noFill/>
        </p:spPr>
        <p:txBody>
          <a:bodyPr wrap="square">
            <a:spAutoFit/>
          </a:bodyPr>
          <a:lstStyle/>
          <a:p>
            <a:pPr algn="l"/>
            <a:r>
              <a:rPr sz="1400" b="1">
                <a:solidFill>
                  <a:srgbClr val="E30613"/>
                </a:solidFill>
                <a:latin typeface="Inter"/>
                <a:ea typeface="Inter"/>
                <a:cs typeface="Inter"/>
              </a:rPr>
              <a:t>01</a:t>
            </a:r>
          </a:p>
        </p:txBody>
      </p:sp>
      <p:sp>
        <p:nvSpPr>
          <p:cNvPr id="5" name="TextBox 4"/>
          <p:cNvSpPr txBox="1"/>
          <p:nvPr/>
        </p:nvSpPr>
        <p:spPr>
          <a:xfrm>
            <a:off x="1005840" y="1900000"/>
            <a:ext cx="10496335" cy="1020000"/>
          </a:xfrm>
          <a:prstGeom prst="rect">
            <a:avLst/>
          </a:prstGeom>
          <a:noFill/>
        </p:spPr>
        <p:txBody>
          <a:bodyPr wrap="square">
            <a:spAutoFit/>
          </a:bodyPr>
          <a:lstStyle/>
          <a:p>
            <a:pPr algn="l"/>
            <a:r>
              <a:rPr sz="1300" b="0">
                <a:solidFill>
                  <a:srgbClr val="1A1A1A"/>
                </a:solidFill>
                <a:latin typeface="Inter"/>
                <a:ea typeface="Inter"/>
                <a:cs typeface="Inter"/>
              </a:rPr>
              <a:t>Для паропроводов внутренним диаметром более 150 мм с температурой пара 300 °C и более проектом определяется необходимость оснащения указателями тепловых перемещений.</a:t>
            </a:r>
          </a:p>
        </p:txBody>
      </p:sp>
      <p:sp>
        <p:nvSpPr>
          <p:cNvPr id="6" name="TextBox 5"/>
          <p:cNvSpPr txBox="1"/>
          <p:nvPr/>
        </p:nvSpPr>
        <p:spPr>
          <a:xfrm>
            <a:off x="640080" y="3000000"/>
            <a:ext cx="411480" cy="274320"/>
          </a:xfrm>
          <a:prstGeom prst="rect">
            <a:avLst/>
          </a:prstGeom>
          <a:noFill/>
        </p:spPr>
        <p:txBody>
          <a:bodyPr wrap="square">
            <a:spAutoFit/>
          </a:bodyPr>
          <a:lstStyle/>
          <a:p>
            <a:pPr algn="l"/>
            <a:r>
              <a:rPr sz="1400" b="1">
                <a:solidFill>
                  <a:srgbClr val="E30613"/>
                </a:solidFill>
                <a:latin typeface="Inter"/>
                <a:ea typeface="Inter"/>
                <a:cs typeface="Inter"/>
              </a:rPr>
              <a:t>02</a:t>
            </a:r>
          </a:p>
        </p:txBody>
      </p:sp>
      <p:sp>
        <p:nvSpPr>
          <p:cNvPr id="7" name="TextBox 6"/>
          <p:cNvSpPr txBox="1"/>
          <p:nvPr/>
        </p:nvSpPr>
        <p:spPr>
          <a:xfrm>
            <a:off x="1005840" y="3000000"/>
            <a:ext cx="10496335" cy="1020000"/>
          </a:xfrm>
          <a:prstGeom prst="rect">
            <a:avLst/>
          </a:prstGeom>
          <a:noFill/>
        </p:spPr>
        <p:txBody>
          <a:bodyPr wrap="square">
            <a:spAutoFit/>
          </a:bodyPr>
          <a:lstStyle/>
          <a:p>
            <a:pPr algn="l"/>
            <a:r>
              <a:rPr sz="1300" b="0">
                <a:solidFill>
                  <a:srgbClr val="1A1A1A"/>
                </a:solidFill>
                <a:latin typeface="Inter"/>
                <a:ea typeface="Inter"/>
                <a:cs typeface="Inter"/>
              </a:rPr>
              <a:t>В проекте указываются места установки и расчётные значения перемещений; к указателям обеспечивается доступ для контроля, обслуживания и ремонта.</a:t>
            </a:r>
          </a:p>
        </p:txBody>
      </p:sp>
      <p:sp>
        <p:nvSpPr>
          <p:cNvPr id="8" name="TextBox 7"/>
          <p:cNvSpPr txBox="1"/>
          <p:nvPr/>
        </p:nvSpPr>
        <p:spPr>
          <a:xfrm>
            <a:off x="640080" y="4100000"/>
            <a:ext cx="411480" cy="274320"/>
          </a:xfrm>
          <a:prstGeom prst="rect">
            <a:avLst/>
          </a:prstGeom>
          <a:noFill/>
        </p:spPr>
        <p:txBody>
          <a:bodyPr wrap="square">
            <a:spAutoFit/>
          </a:bodyPr>
          <a:lstStyle/>
          <a:p>
            <a:pPr algn="l"/>
            <a:r>
              <a:rPr sz="1400" b="1">
                <a:solidFill>
                  <a:srgbClr val="E30613"/>
                </a:solidFill>
                <a:latin typeface="Inter"/>
                <a:ea typeface="Inter"/>
                <a:cs typeface="Inter"/>
              </a:rPr>
              <a:t>03</a:t>
            </a:r>
          </a:p>
        </p:txBody>
      </p:sp>
      <p:sp>
        <p:nvSpPr>
          <p:cNvPr id="9" name="TextBox 8"/>
          <p:cNvSpPr txBox="1"/>
          <p:nvPr/>
        </p:nvSpPr>
        <p:spPr>
          <a:xfrm>
            <a:off x="1005840" y="4100000"/>
            <a:ext cx="10496335" cy="1020000"/>
          </a:xfrm>
          <a:prstGeom prst="rect">
            <a:avLst/>
          </a:prstGeom>
          <a:noFill/>
        </p:spPr>
        <p:txBody>
          <a:bodyPr wrap="square">
            <a:spAutoFit/>
          </a:bodyPr>
          <a:lstStyle/>
          <a:p>
            <a:pPr algn="l"/>
            <a:r>
              <a:rPr sz="1300" b="0">
                <a:solidFill>
                  <a:srgbClr val="1A1A1A"/>
                </a:solidFill>
                <a:latin typeface="Inter"/>
                <a:ea typeface="Inter"/>
                <a:cs typeface="Inter"/>
              </a:rPr>
              <a:t>На тепловых сетях в местах электрооборудования (насосные, тепловые пункты, тоннели, камеры), арматуры с электроприводом, регуляторов и КИП предусматривается электрическое освещение.</a:t>
            </a:r>
          </a:p>
        </p:txBody>
      </p:sp>
      <p:sp>
        <p:nvSpPr>
          <p:cNvPr id="10" name="Rectangle 9"/>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18 / 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1097280"/>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078992"/>
            <a:ext cx="27432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МОДУЛЬ 11</a:t>
            </a:r>
          </a:p>
        </p:txBody>
      </p:sp>
      <p:sp>
        <p:nvSpPr>
          <p:cNvPr id="5" name="TextBox 4"/>
          <p:cNvSpPr txBox="1"/>
          <p:nvPr/>
        </p:nvSpPr>
        <p:spPr>
          <a:xfrm>
            <a:off x="1005840" y="1325880"/>
            <a:ext cx="4572000" cy="2743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Требования к прокладке и эксплуатации трубопроводов тепловых сетей</a:t>
            </a:r>
          </a:p>
        </p:txBody>
      </p:sp>
      <p:sp>
        <p:nvSpPr>
          <p:cNvPr id="6" name="TextBox 5"/>
          <p:cNvSpPr txBox="1"/>
          <p:nvPr/>
        </p:nvSpPr>
        <p:spPr>
          <a:xfrm>
            <a:off x="640080" y="2194560"/>
            <a:ext cx="7315200" cy="1828800"/>
          </a:xfrm>
          <a:prstGeom prst="rect">
            <a:avLst/>
          </a:prstGeom>
          <a:noFill/>
        </p:spPr>
        <p:txBody>
          <a:bodyPr wrap="square" lIns="0" tIns="0" rIns="0" bIns="0">
            <a:spAutoFit/>
          </a:bodyPr>
          <a:lstStyle/>
          <a:p>
            <a:pPr algn="l"/>
            <a:r>
              <a:rPr sz="4000" b="1" i="0">
                <a:solidFill>
                  <a:srgbClr val="1A1A1A"/>
                </a:solidFill>
                <a:latin typeface="Inter"/>
                <a:ea typeface="Inter"/>
                <a:cs typeface="Inter"/>
              </a:rPr>
              <a:t>Изоляция и защита трубопроводов тепловых сетей</a:t>
            </a:r>
          </a:p>
        </p:txBody>
      </p:sp>
      <p:sp>
        <p:nvSpPr>
          <p:cNvPr id="7" name="TextBox 6"/>
          <p:cNvSpPr txBox="1"/>
          <p:nvPr/>
        </p:nvSpPr>
        <p:spPr>
          <a:xfrm>
            <a:off x="640080" y="4114800"/>
            <a:ext cx="7315200" cy="640080"/>
          </a:xfrm>
          <a:prstGeom prst="rect">
            <a:avLst/>
          </a:prstGeom>
          <a:noFill/>
        </p:spPr>
        <p:txBody>
          <a:bodyPr wrap="square" lIns="0" tIns="0" rIns="0" bIns="0">
            <a:spAutoFit/>
          </a:bodyPr>
          <a:lstStyle/>
          <a:p>
            <a:pPr algn="l"/>
            <a:r>
              <a:rPr sz="1700" b="0" i="0">
                <a:solidFill>
                  <a:srgbClr val="6B7280"/>
                </a:solidFill>
                <a:latin typeface="Inter"/>
                <a:ea typeface="Inter"/>
                <a:cs typeface="Inter"/>
              </a:rPr>
              <a:t>Требования к тепловой изоляции, антикоррозионной защите и сохранности конструктивных элементов</a:t>
            </a:r>
          </a:p>
        </p:txBody>
      </p:sp>
      <p:cxnSp>
        <p:nvCxnSpPr>
          <p:cNvPr id="8" name="Connector 7"/>
          <p:cNvCxnSpPr/>
          <p:nvPr/>
        </p:nvCxnSpPr>
        <p:spPr>
          <a:xfrm>
            <a:off x="640080" y="576072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5897880"/>
            <a:ext cx="9144000" cy="274320"/>
          </a:xfrm>
          <a:prstGeom prst="rect">
            <a:avLst/>
          </a:prstGeom>
          <a:noFill/>
        </p:spPr>
        <p:txBody>
          <a:bodyPr wrap="square" lIns="0" tIns="0" rIns="0" bIns="0">
            <a:spAutoFit/>
          </a:bodyPr>
          <a:lstStyle/>
          <a:p>
            <a:pPr algn="l"/>
            <a:r>
              <a:rPr sz="1100" b="1" i="0">
                <a:solidFill>
                  <a:srgbClr val="E30613"/>
                </a:solidFill>
                <a:latin typeface="Inter"/>
                <a:ea typeface="Inter"/>
                <a:cs typeface="Inter"/>
              </a:rPr>
              <a:t>Тепловая изоляция · Антикоррозионная защита · Эксплуатация</a:t>
            </a:r>
          </a:p>
        </p:txBody>
      </p:sp>
      <p:sp>
        <p:nvSpPr>
          <p:cNvPr id="10" name="Rectangle 9"/>
          <p:cNvSpPr/>
          <p:nvPr/>
        </p:nvSpPr>
        <p:spPr>
          <a:xfrm>
            <a:off x="640080" y="6355080"/>
            <a:ext cx="1091153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80015" y="6492240"/>
            <a:ext cx="1188720" cy="228600"/>
          </a:xfrm>
          <a:prstGeom prst="rect">
            <a:avLst/>
          </a:prstGeom>
          <a:noFill/>
        </p:spPr>
        <p:txBody>
          <a:bodyPr wrap="square">
            <a:spAutoFit/>
          </a:bodyPr>
          <a:lstStyle/>
          <a:p>
            <a:pPr algn="r"/>
            <a:r>
              <a:rPr sz="900" b="1">
                <a:solidFill>
                  <a:srgbClr val="E30613"/>
                </a:solidFill>
                <a:latin typeface="Inter"/>
                <a:ea typeface="Inter"/>
                <a:cs typeface="Inter"/>
              </a:rPr>
              <a:t>19 /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363F1178-0CBD-4D43-B11A-95602926F584}"/>
              </a:ext>
            </a:extLst>
          </p:cNvPr>
          <p:cNvPicPr>
            <a:picLocks noChangeAspect="1"/>
          </p:cNvPicPr>
          <p:nvPr/>
        </p:nvPicPr>
        <p:blipFill>
          <a:blip r:embed="rId2"/>
          <a:stretch>
            <a:fillRect/>
          </a:stretch>
        </p:blipFill>
        <p:spPr>
          <a:xfrm>
            <a:off x="0" y="0"/>
            <a:ext cx="12191694" cy="6858000"/>
          </a:xfrm>
          <a:prstGeom prst="rect">
            <a:avLst/>
          </a:prstGeom>
        </p:spPr>
      </p:pic>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Тепловая изоляция</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3000" b="1" i="0">
                <a:solidFill>
                  <a:srgbClr val="1A1A1A"/>
                </a:solidFill>
                <a:latin typeface="Inter"/>
                <a:ea typeface="Inter"/>
                <a:cs typeface="Inter"/>
              </a:rPr>
              <a:t>Требования к тепловой изоляции трубопроводов и арматуры</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Параметры материалов и температура поверхности изоляции</a:t>
            </a:r>
          </a:p>
        </p:txBody>
      </p:sp>
      <p:sp>
        <p:nvSpPr>
          <p:cNvPr id="6" name="TextBox 5"/>
          <p:cNvSpPr txBox="1"/>
          <p:nvPr/>
        </p:nvSpPr>
        <p:spPr>
          <a:xfrm>
            <a:off x="640080" y="2514600"/>
            <a:ext cx="10911535" cy="2377440"/>
          </a:xfrm>
          <a:prstGeom prst="rect">
            <a:avLst/>
          </a:prstGeom>
          <a:noFill/>
        </p:spPr>
        <p:txBody>
          <a:bodyPr wrap="square" lIns="0" tIns="0" rIns="0" bIns="0">
            <a:normAutofit fontScale="62500" lnSpcReduction="20000"/>
          </a:bodyPr>
          <a:lstStyle/>
          <a:p>
            <a:pPr algn="l"/>
            <a:r>
              <a:rPr sz="1500" b="0" i="0">
                <a:solidFill>
                  <a:srgbClr val="1A1A1A"/>
                </a:solidFill>
                <a:latin typeface="Inter"/>
                <a:ea typeface="Inter"/>
                <a:cs typeface="Inter"/>
              </a:rPr>
              <a:t>Для устройства тепловой изоляции трубопроводов и арматуры применяются материалы с характеристиками, соответствующими параметрам и условиям эксплуатации трубопровода. Материалы должны обеспечивать:</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 нахождение изоляции в исправном состоянии в течение гарантированного производителем срока;</a:t>
            </a:r>
          </a:p>
          <a:p>
            <a:pPr algn="l">
              <a:spcBef>
                <a:spcPts val="525"/>
              </a:spcBef>
            </a:pPr>
            <a:r>
              <a:rPr sz="1500" b="0" i="0">
                <a:solidFill>
                  <a:srgbClr val="1A1A1A"/>
                </a:solidFill>
                <a:latin typeface="Inter"/>
                <a:ea typeface="Inter"/>
                <a:cs typeface="Inter"/>
              </a:rPr>
              <a:t>• температуру на поверхности изоляции при температуре окружающего воздуха 25 °С — в соответствии с проектной документацией, но не более 55 °С.</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Тепловая изоляция фланцевых соединений, арматуры и участков трубопроводов, подвергающихся периодическому контролю (сварные соединения, бобышки для измерения ползучести), выполняется съёмной.</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Тепловая изоляция трубопроводов, расположенных на открытом воздухе и вблизи масляных баков, маслопроводов, мазутопроводов, должна иметь металлическое или иное покрытие, предохраняющее её от пропитывания влагой или горючими нефтепродуктами. Трубопроводы вблизи кабельных линий также должны иметь металлическое покрытие.</a:t>
            </a:r>
          </a:p>
          <a:p>
            <a:pPr algn="l">
              <a:spcBef>
                <a:spcPts val="525"/>
              </a:spcBef>
            </a:pPr>
            <a:endParaRPr sz="1500" b="0" i="0">
              <a:solidFill>
                <a:srgbClr val="1A1A1A"/>
              </a:solidFill>
              <a:latin typeface="Arial"/>
            </a:endParaRPr>
          </a:p>
          <a:p>
            <a:pPr algn="l">
              <a:spcBef>
                <a:spcPts val="525"/>
              </a:spcBef>
            </a:pPr>
            <a:r>
              <a:rPr sz="1500" b="0" i="0">
                <a:solidFill>
                  <a:srgbClr val="1A1A1A"/>
                </a:solidFill>
                <a:latin typeface="Inter"/>
                <a:ea typeface="Inter"/>
                <a:cs typeface="Inter"/>
              </a:rPr>
              <a:t>Для тепловой изоляции применяются материалы, не вызывающие коррозию металла трубопроводов.</a:t>
            </a:r>
          </a:p>
        </p:txBody>
      </p:sp>
      <p:cxnSp>
        <p:nvCxnSpPr>
          <p:cNvPr id="7" name="Connector 6"/>
          <p:cNvCxnSpPr/>
          <p:nvPr/>
        </p:nvCxnSpPr>
        <p:spPr>
          <a:xfrm>
            <a:off x="640080" y="5074920"/>
            <a:ext cx="548639"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5212080"/>
            <a:ext cx="10911535" cy="731520"/>
          </a:xfrm>
          <a:prstGeom prst="rect">
            <a:avLst/>
          </a:prstGeom>
          <a:noFill/>
        </p:spPr>
        <p:txBody>
          <a:bodyPr wrap="square" lIns="0" tIns="0" rIns="0" bIns="0">
            <a:spAutoFit/>
          </a:bodyPr>
          <a:lstStyle/>
          <a:p>
            <a:pPr algn="l"/>
            <a:r>
              <a:rPr sz="1200" b="0" i="0">
                <a:solidFill>
                  <a:srgbClr val="6B7280"/>
                </a:solidFill>
                <a:latin typeface="Inter"/>
                <a:ea typeface="Inter"/>
                <a:cs typeface="Inter"/>
              </a:rPr>
              <a:t>Трубопроводы с температурой рабочей среды ниже температуры окружающего воздуха подлежат защите от коррозии, а также оснащаются гидро- и теплоизоляцией.</a:t>
            </a:r>
          </a:p>
        </p:txBody>
      </p:sp>
      <p:cxnSp>
        <p:nvCxnSpPr>
          <p:cNvPr id="9" name="Connector 8"/>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20 /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Итоги курса</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2000" b="1" i="0">
                <a:solidFill>
                  <a:srgbClr val="1A1A1A"/>
                </a:solidFill>
                <a:latin typeface="Inter"/>
                <a:ea typeface="Inter"/>
                <a:cs typeface="Inter"/>
              </a:rPr>
              <a:t>Ключевые требования и правила прокладки и эксплуатации трубопроводов тепловых сетей (1/2)</a:t>
            </a:r>
          </a:p>
        </p:txBody>
      </p:sp>
      <p:sp>
        <p:nvSpPr>
          <p:cNvPr id="5" name="TextBox 4"/>
          <p:cNvSpPr txBox="1"/>
          <p:nvPr/>
        </p:nvSpPr>
        <p:spPr>
          <a:xfrm>
            <a:off x="640080" y="1920240"/>
            <a:ext cx="10911535" cy="457200"/>
          </a:xfrm>
          <a:prstGeom prst="rect">
            <a:avLst/>
          </a:prstGeom>
          <a:noFill/>
        </p:spPr>
        <p:txBody>
          <a:bodyPr wrap="square" lIns="0" tIns="0" rIns="0" bIns="0">
            <a:spAutoFit/>
          </a:bodyPr>
          <a:lstStyle/>
          <a:p>
            <a:pPr algn="l"/>
            <a:r>
              <a:rPr sz="1700" b="0" i="0">
                <a:solidFill>
                  <a:srgbClr val="6B7280"/>
                </a:solidFill>
                <a:latin typeface="Inter"/>
                <a:ea typeface="Inter"/>
                <a:cs typeface="Inter"/>
              </a:rPr>
              <a:t>Соблюдение установленных норм — обязательное условие безопасной эксплуатации тепловых сетей</a:t>
            </a:r>
          </a:p>
        </p:txBody>
      </p:sp>
      <p:pic>
        <p:nvPicPr>
          <p:cNvPr id="6" name="Picture 5" descr="list-checks.png"/>
          <p:cNvPicPr>
            <a:picLocks noChangeAspect="1"/>
          </p:cNvPicPr>
          <p:nvPr/>
        </p:nvPicPr>
        <p:blipFill>
          <a:blip r:embed="rId2"/>
          <a:stretch>
            <a:fillRect/>
          </a:stretch>
        </p:blipFill>
        <p:spPr>
          <a:xfrm>
            <a:off x="11002975" y="1280160"/>
            <a:ext cx="502920" cy="502920"/>
          </a:xfrm>
          <a:prstGeom prst="rect">
            <a:avLst/>
          </a:prstGeom>
        </p:spPr>
      </p:pic>
      <p:sp>
        <p:nvSpPr>
          <p:cNvPr id="7" name="TextBox 6"/>
          <p:cNvSpPr txBox="1"/>
          <p:nvPr/>
        </p:nvSpPr>
        <p:spPr>
          <a:xfrm>
            <a:off x="640080" y="2462022"/>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Прокладка трубопроводов</a:t>
            </a:r>
          </a:p>
        </p:txBody>
      </p:sp>
      <p:sp>
        <p:nvSpPr>
          <p:cNvPr id="8" name="TextBox 7"/>
          <p:cNvSpPr txBox="1"/>
          <p:nvPr/>
        </p:nvSpPr>
        <p:spPr>
          <a:xfrm>
            <a:off x="4480560" y="2462022"/>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Способ прокладки (подземный, надземный, канальный) определяется проектной документацией с учётом требований СП 124.13330 и местных условий эксплуатации.</a:t>
            </a:r>
          </a:p>
        </p:txBody>
      </p:sp>
      <p:sp>
        <p:nvSpPr>
          <p:cNvPr id="9" name="TextBox 8"/>
          <p:cNvSpPr txBox="1"/>
          <p:nvPr/>
        </p:nvSpPr>
        <p:spPr>
          <a:xfrm>
            <a:off x="640080" y="3489579"/>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Тепловая изоляция</a:t>
            </a:r>
          </a:p>
        </p:txBody>
      </p:sp>
      <p:sp>
        <p:nvSpPr>
          <p:cNvPr id="10" name="TextBox 9"/>
          <p:cNvSpPr txBox="1"/>
          <p:nvPr/>
        </p:nvSpPr>
        <p:spPr>
          <a:xfrm>
            <a:off x="4480560" y="3489579"/>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Трубопроводы тепловых сетей оснащаются тепловой изоляцией; её конструкция и толщина устанавливаются расчётным путём в соответствии с нормативными требованиями.</a:t>
            </a:r>
          </a:p>
        </p:txBody>
      </p:sp>
      <p:sp>
        <p:nvSpPr>
          <p:cNvPr id="11" name="TextBox 10"/>
          <p:cNvSpPr txBox="1"/>
          <p:nvPr/>
        </p:nvSpPr>
        <p:spPr>
          <a:xfrm>
            <a:off x="640080" y="4517136"/>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Уклоны и компенсация температурных деформаций</a:t>
            </a:r>
          </a:p>
        </p:txBody>
      </p:sp>
      <p:sp>
        <p:nvSpPr>
          <p:cNvPr id="12" name="TextBox 11"/>
          <p:cNvSpPr txBox="1"/>
          <p:nvPr/>
        </p:nvSpPr>
        <p:spPr>
          <a:xfrm>
            <a:off x="4480560" y="4517136"/>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Трубопроводы прокладываются с нормативным уклоном; температурные деформации компенсируются за счёт П-образных, сальниковых или сильфонных компенсаторов.</a:t>
            </a:r>
          </a:p>
        </p:txBody>
      </p:sp>
      <p:sp>
        <p:nvSpPr>
          <p:cNvPr id="13" name="TextBox 12"/>
          <p:cNvSpPr txBox="1"/>
          <p:nvPr/>
        </p:nvSpPr>
        <p:spPr>
          <a:xfrm>
            <a:off x="640080" y="5544693"/>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Арматура и оборудование</a:t>
            </a:r>
          </a:p>
        </p:txBody>
      </p:sp>
      <p:sp>
        <p:nvSpPr>
          <p:cNvPr id="14" name="TextBox 13"/>
          <p:cNvSpPr txBox="1"/>
          <p:nvPr/>
        </p:nvSpPr>
        <p:spPr>
          <a:xfrm>
            <a:off x="4480560" y="5544693"/>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Запорная, регулирующая и предохранительная арматура устанавливается в местах, предусмотренных проектом; доступ к ней должен быть обеспечен в любое время.</a:t>
            </a:r>
          </a:p>
        </p:txBody>
      </p:sp>
      <p:cxnSp>
        <p:nvCxnSpPr>
          <p:cNvPr id="15" name="Connector 14"/>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21 / 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31520"/>
            <a:ext cx="4572000" cy="228600"/>
          </a:xfrm>
          <a:prstGeom prst="rect">
            <a:avLst/>
          </a:prstGeom>
          <a:noFill/>
        </p:spPr>
        <p:txBody>
          <a:bodyPr wrap="square" lIns="0" tIns="0" rIns="0" bIns="0">
            <a:spAutoFit/>
          </a:bodyPr>
          <a:lstStyle/>
          <a:p>
            <a:pPr algn="l"/>
            <a:r>
              <a:rPr sz="1100" b="1" i="0">
                <a:solidFill>
                  <a:srgbClr val="E30613"/>
                </a:solidFill>
                <a:latin typeface="Inter"/>
                <a:ea typeface="Inter"/>
                <a:cs typeface="Inter"/>
              </a:rPr>
              <a:t>Итоги курса</a:t>
            </a:r>
          </a:p>
        </p:txBody>
      </p:sp>
      <p:sp>
        <p:nvSpPr>
          <p:cNvPr id="4" name="TextBox 3"/>
          <p:cNvSpPr txBox="1"/>
          <p:nvPr/>
        </p:nvSpPr>
        <p:spPr>
          <a:xfrm>
            <a:off x="640080" y="1005840"/>
            <a:ext cx="10911535" cy="914400"/>
          </a:xfrm>
          <a:prstGeom prst="rect">
            <a:avLst/>
          </a:prstGeom>
          <a:noFill/>
        </p:spPr>
        <p:txBody>
          <a:bodyPr wrap="square" lIns="0" tIns="0" rIns="0" bIns="0">
            <a:spAutoFit/>
          </a:bodyPr>
          <a:lstStyle/>
          <a:p>
            <a:pPr algn="l"/>
            <a:r>
              <a:rPr sz="2000" b="1" i="0">
                <a:solidFill>
                  <a:srgbClr val="1A1A1A"/>
                </a:solidFill>
                <a:latin typeface="Inter"/>
                <a:ea typeface="Inter"/>
                <a:cs typeface="Inter"/>
              </a:rPr>
              <a:t>Ключевые требования и правила прокладки и эксплуатации трубопроводов тепловых сетей (2/2)</a:t>
            </a:r>
          </a:p>
        </p:txBody>
      </p:sp>
      <p:sp>
        <p:nvSpPr>
          <p:cNvPr id="5" name="TextBox 4"/>
          <p:cNvSpPr txBox="1"/>
          <p:nvPr/>
        </p:nvSpPr>
        <p:spPr>
          <a:xfrm>
            <a:off x="640080" y="2286000"/>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Техническое обслуживание и контроль</a:t>
            </a:r>
          </a:p>
        </p:txBody>
      </p:sp>
      <p:sp>
        <p:nvSpPr>
          <p:cNvPr id="6" name="TextBox 5"/>
          <p:cNvSpPr txBox="1"/>
          <p:nvPr/>
        </p:nvSpPr>
        <p:spPr>
          <a:xfrm>
            <a:off x="4480560" y="2286000"/>
            <a:ext cx="7071055" cy="514350"/>
          </a:xfrm>
          <a:prstGeom prst="rect">
            <a:avLst/>
          </a:prstGeom>
          <a:noFill/>
        </p:spPr>
        <p:txBody>
          <a:bodyPr wrap="square" lIns="0" tIns="0" rIns="0" bIns="0">
            <a:spAutoFit/>
          </a:bodyPr>
          <a:lstStyle/>
          <a:p>
            <a:pPr algn="l"/>
            <a:r>
              <a:rPr sz="1500" b="0" i="0">
                <a:solidFill>
                  <a:srgbClr val="1A1A1A"/>
                </a:solidFill>
                <a:latin typeface="Inter"/>
                <a:ea typeface="Inter"/>
                <a:cs typeface="Inter"/>
              </a:rPr>
              <a:t>Эксплуатирующая организация обязана проводить периодические осмотры, испытания и техническое обслуживание трубопроводов в установленные сроки.</a:t>
            </a:r>
          </a:p>
        </p:txBody>
      </p:sp>
      <p:sp>
        <p:nvSpPr>
          <p:cNvPr id="7" name="TextBox 6"/>
          <p:cNvSpPr txBox="1"/>
          <p:nvPr/>
        </p:nvSpPr>
        <p:spPr>
          <a:xfrm>
            <a:off x="640080" y="3056382"/>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Гидравлические испытания</a:t>
            </a:r>
          </a:p>
        </p:txBody>
      </p:sp>
      <p:sp>
        <p:nvSpPr>
          <p:cNvPr id="8" name="TextBox 7"/>
          <p:cNvSpPr txBox="1"/>
          <p:nvPr/>
        </p:nvSpPr>
        <p:spPr>
          <a:xfrm>
            <a:off x="4480560" y="3056382"/>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Трубопроводы тепловых сетей подлежат гидравлическим испытаниям на прочность и плотность; давление и порядок проведения испытаний определяются нормативной документацией.</a:t>
            </a:r>
          </a:p>
        </p:txBody>
      </p:sp>
      <p:sp>
        <p:nvSpPr>
          <p:cNvPr id="9" name="TextBox 8"/>
          <p:cNvSpPr txBox="1"/>
          <p:nvPr/>
        </p:nvSpPr>
        <p:spPr>
          <a:xfrm>
            <a:off x="640080" y="4083939"/>
            <a:ext cx="3474720" cy="365760"/>
          </a:xfrm>
          <a:prstGeom prst="rect">
            <a:avLst/>
          </a:prstGeom>
          <a:noFill/>
        </p:spPr>
        <p:txBody>
          <a:bodyPr wrap="square" lIns="0" tIns="0" rIns="0" bIns="0">
            <a:spAutoFit/>
          </a:bodyPr>
          <a:lstStyle/>
          <a:p>
            <a:pPr algn="l"/>
            <a:r>
              <a:rPr sz="1500" b="1" i="0">
                <a:solidFill>
                  <a:srgbClr val="1A1A1A"/>
                </a:solidFill>
                <a:latin typeface="Inter"/>
                <a:ea typeface="Inter"/>
                <a:cs typeface="Inter"/>
              </a:rPr>
              <a:t>Охранные зоны и ограничения</a:t>
            </a:r>
          </a:p>
        </p:txBody>
      </p:sp>
      <p:sp>
        <p:nvSpPr>
          <p:cNvPr id="10" name="TextBox 9"/>
          <p:cNvSpPr txBox="1"/>
          <p:nvPr/>
        </p:nvSpPr>
        <p:spPr>
          <a:xfrm>
            <a:off x="4480560" y="4083939"/>
            <a:ext cx="7071055" cy="771525"/>
          </a:xfrm>
          <a:prstGeom prst="rect">
            <a:avLst/>
          </a:prstGeom>
          <a:noFill/>
        </p:spPr>
        <p:txBody>
          <a:bodyPr wrap="square" lIns="0" tIns="0" rIns="0" bIns="0">
            <a:spAutoFit/>
          </a:bodyPr>
          <a:lstStyle/>
          <a:p>
            <a:pPr algn="l"/>
            <a:r>
              <a:rPr sz="1500" b="0" i="0">
                <a:solidFill>
                  <a:srgbClr val="1A1A1A"/>
                </a:solidFill>
                <a:latin typeface="Inter"/>
                <a:ea typeface="Inter"/>
                <a:cs typeface="Inter"/>
              </a:rPr>
              <a:t>В охранных зонах тепловых сетей запрещается проведение работ и размещение объектов, способных нарушить целостность трубопроводов или затруднить доступ к ним.</a:t>
            </a:r>
          </a:p>
        </p:txBody>
      </p:sp>
      <p:sp>
        <p:nvSpPr>
          <p:cNvPr id="11" name="TextBox 10"/>
          <p:cNvSpPr txBox="1"/>
          <p:nvPr/>
        </p:nvSpPr>
        <p:spPr>
          <a:xfrm>
            <a:off x="640080" y="4855464"/>
            <a:ext cx="3474720" cy="274320"/>
          </a:xfrm>
          <a:prstGeom prst="rect">
            <a:avLst/>
          </a:prstGeom>
          <a:noFill/>
        </p:spPr>
        <p:txBody>
          <a:bodyPr wrap="square" lIns="0" tIns="0" rIns="0" bIns="0">
            <a:spAutoFit/>
          </a:bodyPr>
          <a:lstStyle/>
          <a:p>
            <a:pPr algn="l"/>
            <a:r>
              <a:rPr sz="1400" b="1">
                <a:solidFill>
                  <a:srgbClr val="E30613"/>
                </a:solidFill>
                <a:latin typeface="Inter"/>
              </a:rPr>
              <a:t>Антикоррозионная защита</a:t>
            </a:r>
          </a:p>
        </p:txBody>
      </p:sp>
      <p:cxnSp>
        <p:nvCxnSpPr>
          <p:cNvPr id="12" name="Connector 11"/>
          <p:cNvCxnSpPr/>
          <p:nvPr/>
        </p:nvCxnSpPr>
        <p:spPr>
          <a:xfrm>
            <a:off x="640080" y="5038344"/>
            <a:ext cx="10911535" cy="0"/>
          </a:xfrm>
          <a:prstGeom prst="line">
            <a:avLst/>
          </a:prstGeom>
          <a:ln w="6350">
            <a:solidFill>
              <a:srgbClr val="E3061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5221224"/>
            <a:ext cx="10911535" cy="548640"/>
          </a:xfrm>
          <a:prstGeom prst="rect">
            <a:avLst/>
          </a:prstGeom>
          <a:noFill/>
        </p:spPr>
        <p:txBody>
          <a:bodyPr wrap="square" lIns="0" tIns="0" rIns="0" bIns="0">
            <a:spAutoFit/>
          </a:bodyPr>
          <a:lstStyle/>
          <a:p>
            <a:pPr algn="l"/>
            <a:r>
              <a:rPr sz="1500" b="0" i="0">
                <a:solidFill>
                  <a:srgbClr val="1A1A1A"/>
                </a:solidFill>
                <a:latin typeface="Inter"/>
                <a:ea typeface="Inter"/>
                <a:cs typeface="Inter"/>
              </a:rPr>
              <a:t>Знание и соблюдение изложенных требований обеспечивает безопасную, надёжную и бесперебойную работу систем теплоснабжения.</a:t>
            </a:r>
          </a:p>
        </p:txBody>
      </p:sp>
      <p:sp>
        <p:nvSpPr>
          <p:cNvPr id="99" name="TextBox AntiCorr"/>
          <p:cNvSpPr txBox="1"/>
          <p:nvPr/>
        </p:nvSpPr>
        <p:spPr>
          <a:xfrm>
            <a:off x="4480560" y="4855464"/>
            <a:ext cx="7071055" cy="400000"/>
          </a:xfrm>
          <a:prstGeom prst="rect">
            <a:avLst/>
          </a:prstGeom>
          <a:noFill/>
        </p:spPr>
        <p:txBody>
          <a:bodyPr wrap="square" lIns="0" tIns="0" rIns="0" bIns="0">
            <a:spAutoFit/>
          </a:bodyPr>
          <a:lstStyle/>
          <a:p>
            <a:pPr algn="l"/>
            <a:r>
              <a:rPr lang="ru-RU" sz="1200" dirty="0">
                <a:solidFill>
                  <a:srgbClr val="6B7280"/>
                </a:solidFill>
                <a:latin typeface="Inter"/>
                <a:ea typeface="Inter"/>
              </a:rPr>
              <a:t>На всех трубопроводах тепловых сетей — антикоррозионная, тепловая и гидроизоляционная защита; ввод без наружного покрытия не допускается.</a:t>
            </a:r>
          </a:p>
        </p:txBody>
      </p:sp>
      <p:cxnSp>
        <p:nvCxnSpPr>
          <p:cNvPr id="14" name="Connector 13"/>
          <p:cNvCxnSpPr/>
          <p:nvPr/>
        </p:nvCxnSpPr>
        <p:spPr>
          <a:xfrm>
            <a:off x="640080" y="6355080"/>
            <a:ext cx="10911535"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180015" y="6492240"/>
            <a:ext cx="1188720" cy="228600"/>
          </a:xfrm>
          <a:prstGeom prst="rect">
            <a:avLst/>
          </a:prstGeom>
          <a:noFill/>
        </p:spPr>
        <p:txBody>
          <a:bodyPr wrap="square" lIns="0" tIns="0" rIns="0" bIns="0">
            <a:spAutoFit/>
          </a:bodyPr>
          <a:lstStyle/>
          <a:p>
            <a:pPr algn="r"/>
            <a:r>
              <a:rPr sz="900" b="1" i="0">
                <a:solidFill>
                  <a:srgbClr val="E30613"/>
                </a:solidFill>
                <a:latin typeface="Inter"/>
                <a:ea typeface="Inter"/>
                <a:cs typeface="Inter"/>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1720</Words>
  <Application>Microsoft Office PowerPoint</Application>
  <PresentationFormat>Широкоэкранный</PresentationFormat>
  <Paragraphs>153</Paragraphs>
  <Slides>15</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15</vt:i4>
      </vt:variant>
    </vt:vector>
  </HeadingPairs>
  <TitlesOfParts>
    <vt:vector size="18"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keywords/>
  <dc:description>generated using python-pptx</dc:description>
  <cp:lastModifiedBy>smarta3@outlook.com</cp:lastModifiedBy>
  <cp:revision>2</cp:revision>
  <dcterms:created xsi:type="dcterms:W3CDTF">2013-01-27T09:14:16Z</dcterms:created>
  <dcterms:modified xsi:type="dcterms:W3CDTF">2026-08-27T13:55:34Z</dcterms:modified>
  <cp:category/>
</cp:coreProperties>
</file>