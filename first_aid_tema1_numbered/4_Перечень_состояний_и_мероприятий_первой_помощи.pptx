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89" r:id="rId2"/>
    <p:sldId id="292" r:id="rId11"/>
    <p:sldId id="290" r:id="rId3"/>
    <p:sldId id="291" r:id="rId4"/>
    <p:sldId id="282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276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BC7E42-6491-46DE-BC8C-649AC17107A2}" type="datetimeFigureOut">
              <a:rPr lang="ru-RU" smtClean="0"/>
              <a:t>10.08.2026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919ABD-5583-4FBD-89FA-EC3568AF5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16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524401" y="2503487"/>
            <a:ext cx="9146383" cy="1006476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524401" y="3602037"/>
            <a:ext cx="9146383" cy="29761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1828343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06150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56466" y="1854481"/>
            <a:ext cx="10518340" cy="702984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56466" y="2908546"/>
            <a:ext cx="10518340" cy="377585"/>
          </a:xfrm>
          <a:prstGeom prst="rect">
            <a:avLst/>
          </a:prstGeom>
        </p:spPr>
        <p:txBody>
          <a:bodyPr/>
          <a:lstStyle>
            <a:lvl1pPr algn="ctr">
              <a:defRPr sz="1600"/>
            </a:lvl1pPr>
            <a:lvl2pPr algn="ctr">
              <a:defRPr sz="1600"/>
            </a:lvl2pPr>
            <a:lvl3pPr algn="ctr">
              <a:defRPr sz="1600"/>
            </a:lvl3pPr>
            <a:lvl4pPr algn="ctr">
              <a:defRPr sz="1600"/>
            </a:lvl4pPr>
            <a:lvl5pPr algn="ctr">
              <a:defRPr sz="16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5727174" y="2652997"/>
            <a:ext cx="776924" cy="45719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1586741" y="3729038"/>
            <a:ext cx="9020111" cy="120015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322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884083" y="1969048"/>
            <a:ext cx="3463382" cy="21457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033027" y="1969052"/>
            <a:ext cx="3564041" cy="275165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7884087" y="4278169"/>
            <a:ext cx="3490723" cy="73089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033027" y="2350054"/>
            <a:ext cx="3564041" cy="164552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1174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728661"/>
            <a:ext cx="11374807" cy="5436165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174903" y="932259"/>
            <a:ext cx="11276579" cy="50168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174904" y="932259"/>
            <a:ext cx="11276578" cy="50168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9" y="1387943"/>
            <a:ext cx="5259171" cy="72324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09" y="1130394"/>
            <a:ext cx="5259171" cy="36223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1068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314326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842963"/>
            <a:ext cx="5032041" cy="228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838419" y="1185863"/>
            <a:ext cx="2743916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22860" rIns="22860"/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2619531" y="1959163"/>
            <a:ext cx="1469814" cy="146904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156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0" y="0"/>
            <a:ext cx="7403723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7403726" y="0"/>
            <a:ext cx="4791455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155528" y="1465943"/>
            <a:ext cx="3201235" cy="1105014"/>
          </a:xfrm>
          <a:prstGeom prst="rect">
            <a:avLst/>
          </a:prstGeom>
        </p:spPr>
        <p:txBody>
          <a:bodyPr/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191008" y="2437611"/>
            <a:ext cx="3165755" cy="22860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9336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114360" y="-117926"/>
            <a:ext cx="3462756" cy="705212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2009228" y="-117929"/>
            <a:ext cx="4371230" cy="7052129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5001655" y="-117927"/>
            <a:ext cx="4929315" cy="705212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8633201" y="-117928"/>
            <a:ext cx="3619161" cy="7052129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415853" y="-325666"/>
            <a:ext cx="12898517" cy="7467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879730"/>
            <a:ext cx="10518340" cy="54927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3429000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77988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09287"/>
            <a:ext cx="10518340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43147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361372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279592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197821" y="1949828"/>
            <a:ext cx="2539923" cy="287935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1734458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4638590" y="3886201"/>
            <a:ext cx="1337452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7549554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10467782" y="3886201"/>
            <a:ext cx="1337451" cy="3079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826580" y="3948906"/>
            <a:ext cx="1156491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726548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7640034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558259" y="3948906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3147" y="5002217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3147" y="5307018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3343120" y="5002217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3343120" y="5307018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6279592" y="5000529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279592" y="5305331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179568" y="5000529"/>
            <a:ext cx="2539923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9179568" y="5305331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66076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39526"/>
            <a:ext cx="10518340" cy="7606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02106" y="1989324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107889" y="1989324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02106" y="4052047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3107889" y="4052047"/>
            <a:ext cx="2090520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110299" y="264655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110299" y="3237674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110299" y="2942115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838578" y="264655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8838577" y="3237674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8838578" y="2942115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6106606" y="404864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6106606" y="4639773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6106606" y="4344210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34888" y="4048643"/>
            <a:ext cx="2539923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834888" y="4639773"/>
            <a:ext cx="2539923" cy="55675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834888" y="4344210"/>
            <a:ext cx="2539923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78794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64649"/>
            <a:ext cx="10518340" cy="735481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00125"/>
            <a:ext cx="10518340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608407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2931297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5254186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7577076" y="1998571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9899965" y="1968410"/>
            <a:ext cx="1686804" cy="16859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83401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83401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83401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2808989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2808988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2808989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5134574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34574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5134574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7460162" y="4022184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7460161" y="4693991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460162" y="4317747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9785748" y="4037265"/>
            <a:ext cx="1862641" cy="207963"/>
          </a:xfrm>
          <a:prstGeom prst="rect">
            <a:avLst/>
          </a:prstGeom>
        </p:spPr>
        <p:txBody>
          <a:bodyPr/>
          <a:lstStyle>
            <a:lvl1pPr algn="ctr" defTabSz="621636">
              <a:spcBef>
                <a:spcPts val="650"/>
              </a:spcBef>
              <a:defRPr sz="11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785747" y="4709072"/>
            <a:ext cx="1862641" cy="911803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9785748" y="4332828"/>
            <a:ext cx="1862641" cy="207963"/>
          </a:xfrm>
          <a:prstGeom prst="rect">
            <a:avLst/>
          </a:prstGeom>
        </p:spPr>
        <p:txBody>
          <a:bodyPr/>
          <a:lstStyle>
            <a:lvl1pPr algn="ctr" defTabSz="722195">
              <a:spcBef>
                <a:spcPts val="750"/>
              </a:spcBef>
              <a:defRPr sz="95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374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347942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876579"/>
            <a:ext cx="5032041" cy="22860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" y="1927276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8980" y="1927276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3783807"/>
            <a:ext cx="3228977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3228980" y="3783807"/>
            <a:ext cx="3228977" cy="185653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964678" y="3487154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2024395" y="3536950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3228976" y="3783811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3288692" y="3833607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3228976" y="3487154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3288692" y="3536950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964678" y="3783811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024395" y="3833607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25180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1" y="0"/>
            <a:ext cx="6116650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78533" y="0"/>
            <a:ext cx="611664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078533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4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069372" y="4572000"/>
            <a:ext cx="6125806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407115" y="994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2466831" y="1044472"/>
            <a:ext cx="1156490" cy="182564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2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8504704" y="3280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8564421" y="3330472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2455206" y="5566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2514923" y="5616472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00651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1" y="0"/>
            <a:ext cx="6116650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78533" y="0"/>
            <a:ext cx="611664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078533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8535671" y="994675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8595387" y="1044472"/>
            <a:ext cx="1156490" cy="182564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200">
                <a:solidFill>
                  <a:srgbClr val="FFFFFF"/>
                </a:solidFill>
              </a:defRPr>
            </a:lvl2pPr>
            <a:lvl3pPr>
              <a:defRPr sz="1200">
                <a:solidFill>
                  <a:srgbClr val="FFFFFF"/>
                </a:solidFill>
              </a:defRPr>
            </a:lvl3pPr>
            <a:lvl4pPr>
              <a:defRPr sz="1200">
                <a:solidFill>
                  <a:srgbClr val="FFFFFF"/>
                </a:solidFill>
              </a:defRPr>
            </a:lvl4pPr>
            <a:lvl5pPr>
              <a:defRPr sz="1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2407116" y="3287923"/>
            <a:ext cx="126429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2466832" y="3337719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2546755" y="6128545"/>
            <a:ext cx="1156490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19359" y="4733365"/>
            <a:ext cx="10518340" cy="571268"/>
          </a:xfrm>
          <a:prstGeom prst="rect">
            <a:avLst/>
          </a:prstGeom>
        </p:spPr>
        <p:txBody>
          <a:bodyPr/>
          <a:lstStyle>
            <a:lvl1pPr algn="ctr">
              <a:defRPr sz="36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42433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2" y="-1"/>
            <a:ext cx="12195179" cy="682704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19669847" y="-8686800"/>
            <a:ext cx="12195179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263237"/>
            <a:ext cx="10518340" cy="77845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41693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10030365" y="3673873"/>
            <a:ext cx="1044722" cy="1044178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87806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6097593" y="0"/>
            <a:ext cx="6097589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0"/>
            <a:ext cx="611665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6" y="2674651"/>
            <a:ext cx="4562398" cy="1703387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55401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4" y="0"/>
            <a:ext cx="6097589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6" y="2722449"/>
            <a:ext cx="4562398" cy="1703388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92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92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92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algn="ct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19206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43923" y="2114601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4940" y="3674478"/>
            <a:ext cx="1647956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317370" y="3724274"/>
            <a:ext cx="1507432" cy="182564"/>
          </a:xfrm>
          <a:prstGeom prst="rect">
            <a:avLst/>
          </a:prstGeom>
        </p:spPr>
        <p:txBody>
          <a:bodyPr/>
          <a:lstStyle>
            <a:lvl1pPr defTabSz="621636">
              <a:spcBef>
                <a:spcPts val="650"/>
              </a:spcBef>
              <a:defRPr sz="825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892181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43923" y="2020472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221127" y="3580345"/>
            <a:ext cx="165176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313883" y="3630145"/>
            <a:ext cx="1510919" cy="198905"/>
          </a:xfrm>
          <a:prstGeom prst="rect">
            <a:avLst/>
          </a:prstGeom>
        </p:spPr>
        <p:txBody>
          <a:bodyPr/>
          <a:lstStyle>
            <a:lvl1pPr defTabSz="694770">
              <a:spcBef>
                <a:spcPts val="750"/>
              </a:spcBef>
              <a:defRPr sz="9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7252131" y="2020472"/>
            <a:ext cx="3228977" cy="185653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43922" y="4381504"/>
            <a:ext cx="3228977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43922" y="4721231"/>
            <a:ext cx="3228977" cy="105746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7252130" y="4358159"/>
            <a:ext cx="3228977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7252130" y="4697886"/>
            <a:ext cx="3228977" cy="105746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7252126" y="3580345"/>
            <a:ext cx="1651768" cy="29665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7344882" y="3630145"/>
            <a:ext cx="1510919" cy="198905"/>
          </a:xfrm>
          <a:prstGeom prst="rect">
            <a:avLst/>
          </a:prstGeom>
        </p:spPr>
        <p:txBody>
          <a:bodyPr/>
          <a:lstStyle>
            <a:lvl1pPr defTabSz="694770">
              <a:spcBef>
                <a:spcPts val="750"/>
              </a:spcBef>
              <a:defRPr sz="9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373263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2773221" y="2072644"/>
            <a:ext cx="2644565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2773221" y="2443166"/>
            <a:ext cx="2644565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286549" y="2072644"/>
            <a:ext cx="1169621" cy="116901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2773221" y="4104436"/>
            <a:ext cx="2644565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2773221" y="4474959"/>
            <a:ext cx="2644565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1286549" y="4104432"/>
            <a:ext cx="1169621" cy="11690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155524" y="2072644"/>
            <a:ext cx="2644566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155524" y="2443166"/>
            <a:ext cx="2644566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6668850" y="2072644"/>
            <a:ext cx="1169620" cy="116901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8155524" y="4104436"/>
            <a:ext cx="2644566" cy="30622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8155524" y="4474959"/>
            <a:ext cx="2644566" cy="101861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1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6668850" y="4104432"/>
            <a:ext cx="1169620" cy="116901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07981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0" y="0"/>
            <a:ext cx="7233243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7233246" y="0"/>
            <a:ext cx="4961935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4" y="3429000"/>
            <a:ext cx="4961935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4961938" y="3429000"/>
            <a:ext cx="7233243" cy="3429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2254303" y="1695455"/>
            <a:ext cx="7669566" cy="3429001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2591936" y="1975130"/>
            <a:ext cx="6912619" cy="528638"/>
          </a:xfrm>
          <a:prstGeom prst="rect">
            <a:avLst/>
          </a:prstGeom>
        </p:spPr>
        <p:txBody>
          <a:bodyPr/>
          <a:lstStyle>
            <a:lvl1pPr algn="ctr">
              <a:defRPr sz="27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91936" y="2503772"/>
            <a:ext cx="6912619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rgbClr val="FFFFFF"/>
                </a:solidFill>
              </a:defRPr>
            </a:lvl1pPr>
            <a:lvl2pPr algn="ctr">
              <a:defRPr sz="1600">
                <a:solidFill>
                  <a:srgbClr val="FFFFFF"/>
                </a:solidFill>
              </a:defRPr>
            </a:lvl2pPr>
            <a:lvl3pPr algn="ctr">
              <a:defRPr sz="1600">
                <a:solidFill>
                  <a:srgbClr val="FFFFFF"/>
                </a:solidFill>
              </a:defRPr>
            </a:lvl3pPr>
            <a:lvl4pPr algn="ctr">
              <a:defRPr sz="1600">
                <a:solidFill>
                  <a:srgbClr val="FFFFFF"/>
                </a:solidFill>
              </a:defRPr>
            </a:lvl4pPr>
            <a:lvl5pPr algn="ctr">
              <a:defRPr sz="16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695943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8130460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4064718" y="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1026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8129435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063691" y="3429000"/>
            <a:ext cx="4064718" cy="3429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3217492" y="2936875"/>
            <a:ext cx="5756099" cy="98425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534032" y="3164681"/>
            <a:ext cx="5127121" cy="528638"/>
          </a:xfrm>
          <a:prstGeom prst="rect">
            <a:avLst/>
          </a:prstGeom>
        </p:spPr>
        <p:txBody>
          <a:bodyPr/>
          <a:lstStyle>
            <a:lvl1pPr algn="ctr"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721882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92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92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92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4" y="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4" y="2286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4" y="4572000"/>
            <a:ext cx="6097589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3179836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3179836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3179836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3409913" y="52070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3409913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3409913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3409913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409913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3409913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833308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4" y="5574"/>
            <a:ext cx="6097589" cy="6852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4020461"/>
            <a:ext cx="6097589" cy="283754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6097588" y="1"/>
            <a:ext cx="609759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6097588" y="4018150"/>
            <a:ext cx="6097590" cy="2839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838423" y="4587149"/>
            <a:ext cx="4293467" cy="400071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838423" y="5007433"/>
            <a:ext cx="4293467" cy="94172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838423" y="4255168"/>
            <a:ext cx="4293467" cy="25676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7063296" y="4572410"/>
            <a:ext cx="4293467" cy="400071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7063296" y="4992694"/>
            <a:ext cx="4293467" cy="941729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7063296" y="4240429"/>
            <a:ext cx="4293467" cy="256769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377984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4" y="1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6097593" y="1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4" y="3429005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6097593" y="3429005"/>
            <a:ext cx="6097589" cy="3429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318093" y="2286004"/>
            <a:ext cx="4779496" cy="11287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097593" y="2286004"/>
            <a:ext cx="4779495" cy="11287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318093" y="3414713"/>
            <a:ext cx="4779496" cy="11287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6097593" y="3414713"/>
            <a:ext cx="4779495" cy="11287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15423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1"/>
            <a:ext cx="6936548" cy="40041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5827680" y="1"/>
            <a:ext cx="6367501" cy="40041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4488966"/>
            <a:ext cx="5827676" cy="23689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6299310" y="4489080"/>
            <a:ext cx="5895871" cy="23689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24828" y="3961371"/>
            <a:ext cx="10545520" cy="615764"/>
          </a:xfrm>
          <a:prstGeom prst="rect">
            <a:avLst/>
          </a:prstGeom>
        </p:spPr>
        <p:txBody>
          <a:bodyPr/>
          <a:lstStyle>
            <a:lvl1pPr algn="ctr">
              <a:defRPr sz="3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4577139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981631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88" y="0"/>
            <a:ext cx="3179832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097588" y="2286000"/>
            <a:ext cx="3179832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097589" y="4572000"/>
            <a:ext cx="317983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277424" y="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9277424" y="2286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9277424" y="4572000"/>
            <a:ext cx="2917757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9507501" y="520705"/>
            <a:ext cx="2393156" cy="2079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507501" y="825504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07501" y="2749555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9507501" y="3054352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507501" y="5063904"/>
            <a:ext cx="2393156" cy="207963"/>
          </a:xfrm>
          <a:prstGeom prst="rect">
            <a:avLst/>
          </a:prstGeom>
        </p:spPr>
        <p:txBody>
          <a:bodyPr/>
          <a:lstStyle>
            <a:lvl1pPr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07501" y="5368705"/>
            <a:ext cx="2393156" cy="1039585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917759" y="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2917759" y="228600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2917759" y="4572000"/>
            <a:ext cx="3179833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15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2301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4587655"/>
            <a:ext cx="2917757" cy="228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230085" y="536354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230085" y="84115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230085" y="2765205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230085" y="307000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230085" y="5079554"/>
            <a:ext cx="2393155" cy="207963"/>
          </a:xfrm>
          <a:prstGeom prst="rect">
            <a:avLst/>
          </a:prstGeom>
        </p:spPr>
        <p:txBody>
          <a:bodyPr/>
          <a:lstStyle>
            <a:lvl1pPr algn="r" defTabSz="713054">
              <a:spcBef>
                <a:spcPts val="750"/>
              </a:spcBef>
              <a:defRPr sz="11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230085" y="5384355"/>
            <a:ext cx="2393155" cy="1039585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1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155183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4" y="1986803"/>
            <a:ext cx="6097589" cy="27600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396427" y="3610115"/>
            <a:ext cx="3978761" cy="85244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389795" y="3771625"/>
            <a:ext cx="2830400" cy="543953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783371" y="1986807"/>
            <a:ext cx="3966428" cy="275433"/>
          </a:xfrm>
          <a:prstGeom prst="rect">
            <a:avLst/>
          </a:prstGeom>
        </p:spPr>
        <p:txBody>
          <a:bodyPr/>
          <a:lstStyle>
            <a:lvl1pPr defTabSz="850180">
              <a:spcBef>
                <a:spcPts val="900"/>
              </a:spcBef>
              <a:defRPr sz="15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783371" y="2326529"/>
            <a:ext cx="3966428" cy="21403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838419" y="5110162"/>
            <a:ext cx="5259170" cy="8149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998138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402256" y="1996893"/>
            <a:ext cx="3797691" cy="192801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4766" y="1996889"/>
            <a:ext cx="3788161" cy="1928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3075107" y="1996893"/>
            <a:ext cx="6044971" cy="192801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768361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3" y="200026"/>
            <a:ext cx="5032041" cy="528638"/>
          </a:xfrm>
          <a:prstGeom prst="rect">
            <a:avLst/>
          </a:prstGeom>
        </p:spPr>
        <p:txBody>
          <a:bodyPr/>
          <a:lstStyle>
            <a:lvl1pPr>
              <a:defRPr sz="27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728663"/>
            <a:ext cx="5032041" cy="228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accent4"/>
                </a:solidFill>
              </a:defRPr>
            </a:lvl1pPr>
            <a:lvl2pPr>
              <a:defRPr sz="1600">
                <a:solidFill>
                  <a:schemeClr val="accent4"/>
                </a:solidFill>
              </a:defRPr>
            </a:lvl2pPr>
            <a:lvl3pPr>
              <a:defRPr sz="1600">
                <a:solidFill>
                  <a:schemeClr val="accent4"/>
                </a:solidFill>
              </a:defRPr>
            </a:lvl3pPr>
            <a:lvl4pPr>
              <a:defRPr sz="1600">
                <a:solidFill>
                  <a:schemeClr val="accent4"/>
                </a:solidFill>
              </a:defRPr>
            </a:lvl4pPr>
            <a:lvl5pPr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838419" y="1071563"/>
            <a:ext cx="2743916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22860" rIns="22860"/>
          <a:lstStyle/>
          <a:p>
            <a:pPr marL="0" marR="0" lvl="0" indent="0" algn="l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75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097589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7623019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9148415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0673842" y="1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6097589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7623019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9148415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0673842" y="17208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097589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7623019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9148415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0673842" y="34164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6097589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623019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9148415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10673842" y="5137204"/>
            <a:ext cx="1525395" cy="17208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96435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2311306"/>
            <a:ext cx="12190412" cy="251637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3529077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1832578"/>
            <a:ext cx="12190412" cy="319284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4" y="1832578"/>
            <a:ext cx="12195177" cy="319284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802110" y="2925198"/>
            <a:ext cx="10572701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616035"/>
            <a:ext cx="10572701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rgbClr val="FFFFFF"/>
                </a:solidFill>
              </a:defRPr>
            </a:lvl1pPr>
            <a:lvl2pPr algn="ctr">
              <a:defRPr sz="1600">
                <a:solidFill>
                  <a:srgbClr val="FFFFFF"/>
                </a:solidFill>
              </a:defRPr>
            </a:lvl2pPr>
            <a:lvl3pPr algn="ctr">
              <a:defRPr sz="1600">
                <a:solidFill>
                  <a:srgbClr val="FFFFFF"/>
                </a:solidFill>
              </a:defRPr>
            </a:lvl3pPr>
            <a:lvl4pPr algn="ctr">
              <a:defRPr sz="1600">
                <a:solidFill>
                  <a:srgbClr val="FFFFFF"/>
                </a:solidFill>
              </a:defRPr>
            </a:lvl4pPr>
            <a:lvl5pPr algn="ctr">
              <a:defRPr sz="16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45936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381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478740" y="3065463"/>
            <a:ext cx="1267486" cy="213201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991117" y="1257302"/>
            <a:ext cx="5106472" cy="1579563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991117" y="2836863"/>
            <a:ext cx="5106472" cy="228600"/>
          </a:xfrm>
          <a:prstGeom prst="rect">
            <a:avLst/>
          </a:prstGeom>
        </p:spPr>
        <p:txBody>
          <a:bodyPr/>
          <a:lstStyle>
            <a:lvl1pPr algn="r">
              <a:defRPr sz="1600">
                <a:solidFill>
                  <a:schemeClr val="accent4"/>
                </a:solidFill>
              </a:defRPr>
            </a:lvl1pPr>
            <a:lvl2pPr algn="r">
              <a:defRPr sz="1600">
                <a:solidFill>
                  <a:schemeClr val="accent4"/>
                </a:solidFill>
              </a:defRPr>
            </a:lvl2pPr>
            <a:lvl3pPr algn="r">
              <a:defRPr sz="1600">
                <a:solidFill>
                  <a:schemeClr val="accent4"/>
                </a:solidFill>
              </a:defRPr>
            </a:lvl3pPr>
            <a:lvl4pPr algn="r">
              <a:defRPr sz="1600">
                <a:solidFill>
                  <a:schemeClr val="accent4"/>
                </a:solidFill>
              </a:defRPr>
            </a:lvl4pPr>
            <a:lvl5pPr algn="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7626901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514676" y="3130550"/>
            <a:ext cx="1264309" cy="21272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749341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6758304" y="2951439"/>
            <a:ext cx="2781551" cy="141483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5479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879056" y="3694818"/>
            <a:ext cx="2774090" cy="211015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08460055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4521827" y="2329102"/>
            <a:ext cx="3117596" cy="22757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8301612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864061" y="2805113"/>
            <a:ext cx="3186821" cy="178117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6518"/>
            <a:ext cx="10518340" cy="69084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18" y="1067365"/>
            <a:ext cx="10518340" cy="228601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7659011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3"/>
            <a:ext cx="12195177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10" y="2738161"/>
            <a:ext cx="10572701" cy="69084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429000"/>
            <a:ext cx="10572701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0726864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3"/>
            <a:ext cx="12195177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09" y="3214687"/>
            <a:ext cx="10554653" cy="1014413"/>
          </a:xfrm>
          <a:prstGeom prst="rect">
            <a:avLst/>
          </a:prstGeom>
        </p:spPr>
        <p:txBody>
          <a:bodyPr/>
          <a:lstStyle>
            <a:lvl1pPr algn="ctr"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09" y="4229100"/>
            <a:ext cx="10554653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5018045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02110" y="2414592"/>
            <a:ext cx="10554653" cy="1014413"/>
          </a:xfrm>
          <a:prstGeom prst="rect">
            <a:avLst/>
          </a:prstGeom>
        </p:spPr>
        <p:txBody>
          <a:bodyPr/>
          <a:lstStyle>
            <a:lvl1pPr algn="ctr">
              <a:defRPr sz="4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02110" y="3429000"/>
            <a:ext cx="10554653" cy="228600"/>
          </a:xfrm>
          <a:prstGeom prst="rect">
            <a:avLst/>
          </a:prstGeom>
        </p:spPr>
        <p:txBody>
          <a:bodyPr/>
          <a:lstStyle>
            <a:lvl1pPr algn="ctr">
              <a:defRPr sz="1600">
                <a:solidFill>
                  <a:schemeClr val="accent4"/>
                </a:solidFill>
              </a:defRPr>
            </a:lvl1pPr>
            <a:lvl2pPr algn="ctr">
              <a:defRPr sz="1600">
                <a:solidFill>
                  <a:schemeClr val="accent4"/>
                </a:solidFill>
              </a:defRPr>
            </a:lvl2pPr>
            <a:lvl3pPr algn="ctr">
              <a:defRPr sz="1600">
                <a:solidFill>
                  <a:schemeClr val="accent4"/>
                </a:solidFill>
              </a:defRPr>
            </a:lvl3pPr>
            <a:lvl4pPr algn="ctr">
              <a:defRPr sz="1600">
                <a:solidFill>
                  <a:schemeClr val="accent4"/>
                </a:solidFill>
              </a:defRPr>
            </a:lvl4pPr>
            <a:lvl5pPr algn="ctr">
              <a:defRPr sz="16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239953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18" y="3778623"/>
            <a:ext cx="2995992" cy="340100"/>
          </a:xfrm>
          <a:prstGeom prst="rect">
            <a:avLst/>
          </a:prstGeom>
        </p:spPr>
        <p:txBody>
          <a:bodyPr anchor="b"/>
          <a:lstStyle>
            <a:lvl1pPr>
              <a:defRPr sz="16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38423" y="4118723"/>
            <a:ext cx="2995991" cy="73566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1828343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53816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3052594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6105182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9157774" y="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3052594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105182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9157774" y="2286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2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3052594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6105182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9157774" y="4572000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6169768" y="3497263"/>
            <a:ext cx="3052591" cy="228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81456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2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838420" y="1825625"/>
            <a:ext cx="5182951" cy="43513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6072583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07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40006" y="1681166"/>
            <a:ext cx="5159132" cy="823913"/>
          </a:xfrm>
          <a:prstGeom prst="rect">
            <a:avLst/>
          </a:prstGeom>
        </p:spPr>
        <p:txBody>
          <a:bodyPr anchor="b"/>
          <a:lstStyle>
            <a:lvl1pPr>
              <a:defRPr sz="2350"/>
            </a:lvl1pPr>
            <a:lvl2pPr>
              <a:defRPr sz="2350"/>
            </a:lvl2pPr>
            <a:lvl3pPr>
              <a:defRPr sz="2350"/>
            </a:lvl3pPr>
            <a:lvl4pPr>
              <a:defRPr sz="2350"/>
            </a:lvl4pPr>
            <a:lvl5pPr indent="1828343">
              <a:defRPr sz="23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6173813" y="1681166"/>
            <a:ext cx="5184539" cy="823913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5774186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38422" y="365129"/>
            <a:ext cx="10518341" cy="1325563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277814" y="2648748"/>
            <a:ext cx="2650919" cy="914401"/>
          </a:xfrm>
          <a:prstGeom prst="rect">
            <a:avLst/>
          </a:prstGeom>
        </p:spPr>
        <p:txBody>
          <a:bodyPr/>
          <a:lstStyle>
            <a:lvl1pPr>
              <a:defRPr sz="4400">
                <a:latin typeface="Montserrat Semi Bold"/>
                <a:ea typeface="Montserrat Semi Bold"/>
                <a:cs typeface="Montserrat Semi Bold"/>
              </a:defRPr>
            </a:lvl1pPr>
            <a:lvl2pPr>
              <a:defRPr sz="4400">
                <a:latin typeface="Montserrat Semi Bold"/>
                <a:ea typeface="Montserrat Semi Bold"/>
                <a:cs typeface="Montserrat Semi Bold"/>
              </a:defRPr>
            </a:lvl2pPr>
            <a:lvl3pPr>
              <a:defRPr sz="4400">
                <a:latin typeface="Montserrat Semi Bold"/>
                <a:ea typeface="Montserrat Semi Bold"/>
                <a:cs typeface="Montserrat Semi Bold"/>
              </a:defRPr>
            </a:lvl3pPr>
            <a:lvl4pPr>
              <a:defRPr sz="4400">
                <a:latin typeface="Montserrat Semi Bold"/>
                <a:ea typeface="Montserrat Semi Bold"/>
                <a:cs typeface="Montserrat Semi Bold"/>
              </a:defRPr>
            </a:lvl4pPr>
            <a:lvl5pPr>
              <a:defRPr sz="44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1291310" y="3711577"/>
            <a:ext cx="2637418" cy="76596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4399157" y="2651924"/>
            <a:ext cx="2650919" cy="9144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62643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1147939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11" y="457200"/>
            <a:ext cx="3933263" cy="1600200"/>
          </a:xfrm>
          <a:prstGeom prst="rect">
            <a:avLst/>
          </a:prstGeom>
        </p:spPr>
        <p:txBody>
          <a:bodyPr anchor="b"/>
          <a:lstStyle>
            <a:lvl1pPr>
              <a:defRPr sz="315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5184543" y="987426"/>
            <a:ext cx="6173809" cy="4873626"/>
          </a:xfrm>
          <a:prstGeom prst="rect">
            <a:avLst/>
          </a:prstGeom>
        </p:spPr>
        <p:txBody>
          <a:bodyPr/>
          <a:lstStyle>
            <a:lvl1pPr>
              <a:defRPr sz="3150"/>
            </a:lvl1pPr>
            <a:lvl2pPr>
              <a:defRPr sz="3150"/>
            </a:lvl2pPr>
            <a:lvl3pPr>
              <a:defRPr sz="3150"/>
            </a:lvl3pPr>
            <a:lvl4pPr>
              <a:defRPr sz="3150"/>
            </a:lvl4pPr>
            <a:lvl5pPr>
              <a:defRPr sz="31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840011" y="2057400"/>
            <a:ext cx="3933263" cy="3811588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940191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840011" y="457200"/>
            <a:ext cx="3933263" cy="1600200"/>
          </a:xfrm>
          <a:prstGeom prst="rect">
            <a:avLst/>
          </a:prstGeom>
        </p:spPr>
        <p:txBody>
          <a:bodyPr anchor="b"/>
          <a:lstStyle>
            <a:lvl1pPr>
              <a:defRPr sz="315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5184543" y="987426"/>
            <a:ext cx="6173809" cy="48736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840011" y="2057400"/>
            <a:ext cx="3933263" cy="3811588"/>
          </a:xfrm>
          <a:prstGeom prst="rect">
            <a:avLst/>
          </a:prstGeom>
        </p:spPr>
        <p:txBody>
          <a:bodyPr/>
          <a:lstStyle>
            <a:lvl1pPr>
              <a:defRPr sz="1550"/>
            </a:lvl1pPr>
            <a:lvl2pPr>
              <a:defRPr sz="1550"/>
            </a:lvl2pPr>
            <a:lvl3pPr>
              <a:defRPr sz="1550"/>
            </a:lvl3pPr>
            <a:lvl4pPr>
              <a:defRPr sz="1550"/>
            </a:lvl4pPr>
            <a:lvl5pPr indent="1828343">
              <a:defRPr sz="155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141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7469908" y="2057400"/>
            <a:ext cx="4116945" cy="27432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1328839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7621985" y="2148840"/>
            <a:ext cx="4573192" cy="27432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844184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384988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4" y="0"/>
            <a:ext cx="12195177" cy="4343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8473749" y="6221698"/>
            <a:ext cx="263853" cy="269304"/>
          </a:xfrm>
          <a:prstGeom prst="rect">
            <a:avLst/>
          </a:prstGeom>
        </p:spPr>
        <p:txBody>
          <a:bodyPr/>
          <a:lstStyle/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70634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1092907" y="6404261"/>
            <a:ext cx="263853" cy="26930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150">
                <a:solidFill>
                  <a:srgbClr val="888888"/>
                </a:solidFill>
              </a:defRPr>
            </a:lvl1pPr>
          </a:lstStyle>
          <a:p>
            <a:pPr defTabSz="914217">
              <a:defRPr/>
            </a:pPr>
            <a:fld id="{86CB4B4D-7CA3-9044-876B-883B54F8677D}" type="slidenum">
              <a:rPr lang="ru-RU" smtClean="0">
                <a:latin typeface="Open Sans Light"/>
                <a:sym typeface="Open Sans"/>
              </a:rPr>
              <a:pPr defTabSz="914217">
                <a:defRPr/>
              </a:pPr>
              <a:t>‹#›</a:t>
            </a:fld>
            <a:endParaRPr lang="ru-RU">
              <a:latin typeface="Open Sans Light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609600" y="92075"/>
            <a:ext cx="10972800" cy="150812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74133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</p:sldLayoutIdLst>
  <p:txStyles>
    <p:titleStyle>
      <a:lvl1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914172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35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457086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914172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1371257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1828342" algn="l" defTabSz="914172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2468263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2925348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3382435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3839520" marR="0" indent="-182834" algn="l" defTabSz="914172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defRPr sz="14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457108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914217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1371326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1828434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2285543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2742652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3199760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3656869" algn="r" defTabSz="914217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5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jpg"/><Relationship Id="rId11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477693" y="2842953"/>
            <a:ext cx="2310745" cy="1213659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890448" y="3035392"/>
            <a:ext cx="6609709" cy="787216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457200"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2200" b="1" kern="0" spc="15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ПЕРЕЧЕНЬ СОСТОЯНИЙ И МЕРОПРИЯТИЙ ПЕРВОЙ ПОМОЩИ. ПОСЛЕДОВАТЕЛЬНОСТЬ ВЫПОЛНЕНИЯ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7912911" y="0"/>
            <a:ext cx="4344156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890448" y="3921610"/>
            <a:ext cx="6401934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1522612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400000"/>
            <a:ext cx="21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rial"/>
              </a:rPr>
              <a:t>СТРУКТУРА ПОРЯДКА ОКАЗАНИЯ ПЕРВОЙ ПОМОЩИ (№ 220н)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0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650000"/>
            <a:ext cx="18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4  Состояния и мероприятия (приказ Минздрава № 220н)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400000"/>
            <a:ext cx="20000000" cy="88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700000"/>
            <a:ext cx="19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Порядок оказания первой помощи (приказ Минздрава № 220н) включает: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общие организационные положения;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перечень из 9 состояний (приложение № 1) — в т.ч. острые психологические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реакции на стресс; судорожный приступ с потерей сознания; укусы/ужаливания;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перечень из 9 мероприятий и последовательность их проведения (приложение № 2).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Важные изменения относительно прежнего приказа № 477н: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не проверяют пульс для оценки кровообращения;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из перечня мероприятий убраны пальцевое прижатие артерии и максимальное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сгибание конечности в суставе как обязательные техники для широкого обучения.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Дополнено по пособию Минздрава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3175" y="3248186"/>
            <a:ext cx="342000" cy="361637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1750">
                <a:solidFill>
                  <a:srgbClr val="FFFFFF"/>
                </a:solidFill>
              </a:defRPr>
            </a:lvl1pPr>
          </a:lstStyle>
          <a:p>
            <a:pPr algn="ctr" defTabSz="914217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914217">
                <a:defRPr/>
              </a:pPr>
              <a:t>2</a:t>
            </a:fld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027997" y="298405"/>
            <a:ext cx="12140252" cy="446276"/>
          </a:xfrm>
          <a:prstGeom prst="rect">
            <a:avLst/>
          </a:prstGeom>
          <a:ln w="12700">
            <a:miter lim="400000"/>
          </a:ln>
        </p:spPr>
        <p:txBody>
          <a:bodyPr wrap="square" lIns="22860" rIns="2286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457200">
              <a:defRPr/>
            </a:pPr>
            <a:r>
              <a:rPr lang="ru-RU" sz="2300" kern="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ПЕРЕЧЕНЬ СОСТОЯНИЙ, ПРИ КОТОРЫХ ОКАЗЫВАЕТСЯ ПЕРВАЯ ПОМОЩЬ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1027997" y="779706"/>
            <a:ext cx="9325063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951671" y="896897"/>
            <a:ext cx="3204356" cy="340904"/>
          </a:xfrm>
          <a:prstGeom prst="rect">
            <a:avLst/>
          </a:prstGeom>
          <a:ln w="25400">
            <a:miter lim="400000"/>
          </a:ln>
        </p:spPr>
        <p:txBody>
          <a:bodyPr tIns="45720" bIns="4572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defTabSz="914400">
              <a:defRPr/>
            </a:pPr>
            <a:r>
              <a:rPr lang="ru-RU" sz="1400" kern="0" dirty="0"/>
              <a:t>Тема 1 · п. 4  Состояния и мероприятия (приказ Минздрава № 220н)</a:t>
            </a:r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951671" y="1300050"/>
            <a:ext cx="11018806" cy="7904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 соответствии с приказом Министерства Здравоохранения Российской Федерации от 03.05.2024 г. № 220н "Об утверждении порядка оказания первой помощи", первая помощь оказывается при следующих состояниях: 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>
              <a:lnSpc>
                <a:spcPct val="110000"/>
              </a:lnSpc>
              <a:defRPr/>
            </a:pPr>
            <a:endParaRPr lang="ru-RU" sz="14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3" name="Группа 12"/>
          <p:cNvGrpSpPr/>
          <p:nvPr/>
        </p:nvGrpSpPr>
        <p:grpSpPr bwMode="auto">
          <a:xfrm>
            <a:off x="407368" y="2049859"/>
            <a:ext cx="10492285" cy="3317486"/>
            <a:chOff x="1699716" y="4952937"/>
            <a:chExt cx="20984570" cy="6634972"/>
          </a:xfrm>
        </p:grpSpPr>
        <p:grpSp>
          <p:nvGrpSpPr>
            <p:cNvPr id="14" name="Группа 13"/>
            <p:cNvGrpSpPr/>
            <p:nvPr/>
          </p:nvGrpSpPr>
          <p:grpSpPr bwMode="auto">
            <a:xfrm>
              <a:off x="1699716" y="4952937"/>
              <a:ext cx="20984569" cy="3467667"/>
              <a:chOff x="1699716" y="4952937"/>
              <a:chExt cx="20984569" cy="3467667"/>
            </a:xfrm>
          </p:grpSpPr>
          <p:sp>
            <p:nvSpPr>
              <p:cNvPr id="26" name="Полилиния 25"/>
              <p:cNvSpPr/>
              <p:nvPr/>
            </p:nvSpPr>
            <p:spPr bwMode="auto">
              <a:xfrm>
                <a:off x="1699716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Отсутствие сознания</a:t>
                </a:r>
              </a:p>
            </p:txBody>
          </p:sp>
          <p:sp>
            <p:nvSpPr>
              <p:cNvPr id="27" name="Полилиния 26"/>
              <p:cNvSpPr/>
              <p:nvPr/>
            </p:nvSpPr>
            <p:spPr bwMode="auto">
              <a:xfrm>
                <a:off x="7067909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Остановка дыхания и кровообращения</a:t>
                </a:r>
              </a:p>
            </p:txBody>
          </p:sp>
          <p:sp>
            <p:nvSpPr>
              <p:cNvPr id="28" name="Полилиния 27"/>
              <p:cNvSpPr/>
              <p:nvPr/>
            </p:nvSpPr>
            <p:spPr bwMode="auto">
              <a:xfrm>
                <a:off x="12436102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>
                    <a:solidFill>
                      <a:srgbClr val="4D4D4D"/>
                    </a:solidFill>
                    <a:latin typeface="Open Sans"/>
                    <a:cs typeface="Calibri"/>
                  </a:rPr>
                  <a:t>Наружные кровотечения</a:t>
                </a:r>
              </a:p>
            </p:txBody>
          </p:sp>
          <p:sp>
            <p:nvSpPr>
              <p:cNvPr id="30" name="Полилиния 29"/>
              <p:cNvSpPr/>
              <p:nvPr/>
            </p:nvSpPr>
            <p:spPr bwMode="auto">
              <a:xfrm>
                <a:off x="17804296" y="6610128"/>
                <a:ext cx="4879989" cy="1810476"/>
              </a:xfrm>
              <a:custGeom>
                <a:avLst/>
                <a:gdLst>
                  <a:gd name="connsiteX0" fmla="*/ 0 w 4879989"/>
                  <a:gd name="connsiteY0" fmla="*/ 0 h 1810476"/>
                  <a:gd name="connsiteX1" fmla="*/ 4879989 w 4879989"/>
                  <a:gd name="connsiteY1" fmla="*/ 0 h 1810476"/>
                  <a:gd name="connsiteX2" fmla="*/ 4879989 w 4879989"/>
                  <a:gd name="connsiteY2" fmla="*/ 1810476 h 1810476"/>
                  <a:gd name="connsiteX3" fmla="*/ 0 w 4879989"/>
                  <a:gd name="connsiteY3" fmla="*/ 1810476 h 1810476"/>
                  <a:gd name="connsiteX4" fmla="*/ 0 w 4879989"/>
                  <a:gd name="connsiteY4" fmla="*/ 0 h 1810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79989" h="1810476" extrusionOk="0">
                    <a:moveTo>
                      <a:pt x="0" y="0"/>
                    </a:moveTo>
                    <a:lnTo>
                      <a:pt x="4879989" y="0"/>
                    </a:lnTo>
                    <a:lnTo>
                      <a:pt x="4879989" y="1810476"/>
                    </a:lnTo>
                    <a:lnTo>
                      <a:pt x="0" y="1810476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  <p:style>
              <a:lnRef idx="0">
                <a:schemeClr val="dk1">
                  <a:alpha val="0"/>
                  <a:hueOff val="0"/>
                  <a:satOff val="0"/>
                  <a:lumOff val="0"/>
                  <a:alphaOff val="0"/>
                </a:schemeClr>
              </a:lnRef>
              <a:fill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lt1">
                  <a:alpha val="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99568" tIns="99568" rIns="99568" bIns="0" numCol="1" spcCol="1270" anchor="t" anchorCtr="0">
                <a:noAutofit/>
              </a:bodyPr>
              <a:lstStyle/>
              <a:p>
                <a:pPr algn="ctr" defTabSz="622300">
                  <a:lnSpc>
                    <a:spcPct val="90000"/>
                  </a:lnSpc>
                  <a:defRPr/>
                </a:pPr>
                <a:r>
                  <a:rPr lang="ru-RU" sz="1200" kern="0" dirty="0">
                    <a:solidFill>
                      <a:srgbClr val="4D4D4D"/>
                    </a:solidFill>
                    <a:latin typeface="Open Sans"/>
                    <a:cs typeface="Calibri"/>
                  </a:rPr>
                  <a:t>Инородные тела верхних дыхательных путей</a:t>
                </a:r>
              </a:p>
            </p:txBody>
          </p:sp>
          <p:pic>
            <p:nvPicPr>
              <p:cNvPr id="31" name="Рисунок 30"/>
              <p:cNvPicPr>
                <a:picLocks noChangeAspect="1"/>
              </p:cNvPicPr>
              <p:nvPr/>
            </p:nvPicPr>
            <p:blipFill>
              <a:blip r:embed="rId2"/>
              <a:stretch/>
            </p:blipFill>
            <p:spPr bwMode="auto">
              <a:xfrm>
                <a:off x="8457903" y="4952937"/>
                <a:ext cx="2100000" cy="1800000"/>
              </a:xfrm>
              <a:prstGeom prst="rect">
                <a:avLst/>
              </a:prstGeom>
            </p:spPr>
          </p:pic>
          <p:pic>
            <p:nvPicPr>
              <p:cNvPr id="32" name="Рисунок 31"/>
              <p:cNvPicPr>
                <a:picLocks noChangeAspect="1"/>
              </p:cNvPicPr>
              <p:nvPr/>
            </p:nvPicPr>
            <p:blipFill>
              <a:blip r:embed="rId3"/>
              <a:stretch/>
            </p:blipFill>
            <p:spPr bwMode="auto">
              <a:xfrm>
                <a:off x="2970249" y="4952937"/>
                <a:ext cx="2338922" cy="1800000"/>
              </a:xfrm>
              <a:prstGeom prst="rect">
                <a:avLst/>
              </a:prstGeom>
            </p:spPr>
          </p:pic>
          <p:pic>
            <p:nvPicPr>
              <p:cNvPr id="33" name="Рисунок 32"/>
              <p:cNvPicPr>
                <a:picLocks noChangeAspect="1"/>
              </p:cNvPicPr>
              <p:nvPr/>
            </p:nvPicPr>
            <p:blipFill>
              <a:blip r:embed="rId4"/>
              <a:stretch/>
            </p:blipFill>
            <p:spPr bwMode="auto">
              <a:xfrm>
                <a:off x="13289765" y="4952937"/>
                <a:ext cx="3172661" cy="1800000"/>
              </a:xfrm>
              <a:prstGeom prst="rect">
                <a:avLst/>
              </a:prstGeom>
            </p:spPr>
          </p:pic>
          <p:pic>
            <p:nvPicPr>
              <p:cNvPr id="34" name="Рисунок 33"/>
              <p:cNvPicPr>
                <a:picLocks noChangeAspect="1"/>
              </p:cNvPicPr>
              <p:nvPr/>
            </p:nvPicPr>
            <p:blipFill>
              <a:blip r:embed="rId5"/>
              <a:stretch/>
            </p:blipFill>
            <p:spPr bwMode="auto">
              <a:xfrm>
                <a:off x="19384588" y="4952937"/>
                <a:ext cx="1719403" cy="1800000"/>
              </a:xfrm>
              <a:prstGeom prst="rect">
                <a:avLst/>
              </a:prstGeom>
            </p:spPr>
          </p:pic>
        </p:grpSp>
        <p:grpSp>
          <p:nvGrpSpPr>
            <p:cNvPr id="15" name="Группа 14"/>
            <p:cNvGrpSpPr/>
            <p:nvPr/>
          </p:nvGrpSpPr>
          <p:grpSpPr bwMode="auto">
            <a:xfrm>
              <a:off x="1803098" y="8053107"/>
              <a:ext cx="20881188" cy="3534802"/>
              <a:chOff x="1803098" y="8053107"/>
              <a:chExt cx="20881188" cy="3534802"/>
            </a:xfrm>
          </p:grpSpPr>
          <p:grpSp>
            <p:nvGrpSpPr>
              <p:cNvPr id="16" name="Группа 15"/>
              <p:cNvGrpSpPr/>
              <p:nvPr/>
            </p:nvGrpSpPr>
            <p:grpSpPr bwMode="auto">
              <a:xfrm>
                <a:off x="1803098" y="9777433"/>
                <a:ext cx="20881188" cy="1810476"/>
                <a:chOff x="1926463" y="12869102"/>
                <a:chExt cx="20881188" cy="1810476"/>
              </a:xfrm>
            </p:grpSpPr>
            <p:sp>
              <p:nvSpPr>
                <p:cNvPr id="21" name="Полилиния 20"/>
                <p:cNvSpPr/>
                <p:nvPr/>
              </p:nvSpPr>
              <p:spPr bwMode="auto">
                <a:xfrm>
                  <a:off x="1926463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Травмы различных областей тела</a:t>
                  </a:r>
                </a:p>
              </p:txBody>
            </p:sp>
            <p:sp>
              <p:nvSpPr>
                <p:cNvPr id="23" name="Полилиния 22"/>
                <p:cNvSpPr/>
                <p:nvPr/>
              </p:nvSpPr>
              <p:spPr bwMode="auto">
                <a:xfrm>
                  <a:off x="7294657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Укусы или </a:t>
                  </a:r>
                  <a:r>
                    <a:rPr lang="ru-RU" sz="1200" kern="0" dirty="0" err="1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ужаливания</a:t>
                  </a: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 ядовитых животных</a:t>
                  </a:r>
                </a:p>
              </p:txBody>
            </p:sp>
            <p:sp>
              <p:nvSpPr>
                <p:cNvPr id="24" name="Полилиния 23"/>
                <p:cNvSpPr/>
                <p:nvPr/>
              </p:nvSpPr>
              <p:spPr bwMode="auto">
                <a:xfrm>
                  <a:off x="12559468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 dirty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Отморожение и другие эффекты воздействия низких температур</a:t>
                  </a:r>
                </a:p>
              </p:txBody>
            </p:sp>
            <p:sp>
              <p:nvSpPr>
                <p:cNvPr id="25" name="Полилиния 24"/>
                <p:cNvSpPr/>
                <p:nvPr/>
              </p:nvSpPr>
              <p:spPr bwMode="auto">
                <a:xfrm>
                  <a:off x="17927662" y="12869102"/>
                  <a:ext cx="4879989" cy="1810476"/>
                </a:xfrm>
                <a:custGeom>
                  <a:avLst/>
                  <a:gdLst>
                    <a:gd name="connsiteX0" fmla="*/ 0 w 4879989"/>
                    <a:gd name="connsiteY0" fmla="*/ 0 h 1810476"/>
                    <a:gd name="connsiteX1" fmla="*/ 4879989 w 4879989"/>
                    <a:gd name="connsiteY1" fmla="*/ 0 h 1810476"/>
                    <a:gd name="connsiteX2" fmla="*/ 4879989 w 4879989"/>
                    <a:gd name="connsiteY2" fmla="*/ 1810476 h 1810476"/>
                    <a:gd name="connsiteX3" fmla="*/ 0 w 4879989"/>
                    <a:gd name="connsiteY3" fmla="*/ 1810476 h 1810476"/>
                    <a:gd name="connsiteX4" fmla="*/ 0 w 4879989"/>
                    <a:gd name="connsiteY4" fmla="*/ 0 h 1810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9989" h="1810476" extrusionOk="0">
                      <a:moveTo>
                        <a:pt x="0" y="0"/>
                      </a:moveTo>
                      <a:lnTo>
                        <a:pt x="4879989" y="0"/>
                      </a:lnTo>
                      <a:lnTo>
                        <a:pt x="4879989" y="1810476"/>
                      </a:lnTo>
                      <a:lnTo>
                        <a:pt x="0" y="181047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</p:spPr>
              <p:style>
                <a:lnRef idx="0">
                  <a:schemeClr val="dk1">
                    <a:alpha val="0"/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lt1">
                    <a:alpha val="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spcFirstLastPara="0" vert="horz" wrap="square" lIns="99568" tIns="99568" rIns="99568" bIns="0" numCol="1" spcCol="1270" anchor="t" anchorCtr="0">
                  <a:noAutofit/>
                </a:bodyPr>
                <a:lstStyle/>
                <a:p>
                  <a:pPr algn="ctr" defTabSz="622300">
                    <a:lnSpc>
                      <a:spcPct val="90000"/>
                    </a:lnSpc>
                    <a:defRPr/>
                  </a:pPr>
                  <a:r>
                    <a:rPr lang="ru-RU" sz="1200" kern="0">
                      <a:solidFill>
                        <a:srgbClr val="4D4D4D"/>
                      </a:solidFill>
                      <a:latin typeface="Open Sans"/>
                      <a:cs typeface="Calibri"/>
                    </a:rPr>
                    <a:t>Отравления</a:t>
                  </a:r>
                </a:p>
              </p:txBody>
            </p:sp>
          </p:grpSp>
          <p:pic>
            <p:nvPicPr>
              <p:cNvPr id="17" name="Рисунок 16"/>
              <p:cNvPicPr>
                <a:picLocks noChangeAspect="1"/>
              </p:cNvPicPr>
              <p:nvPr/>
            </p:nvPicPr>
            <p:blipFill>
              <a:blip r:embed="rId6"/>
              <a:stretch/>
            </p:blipFill>
            <p:spPr bwMode="auto">
              <a:xfrm>
                <a:off x="3373043" y="8053107"/>
                <a:ext cx="1533333" cy="1800000"/>
              </a:xfrm>
              <a:prstGeom prst="rect">
                <a:avLst/>
              </a:prstGeom>
            </p:spPr>
          </p:pic>
          <p:pic>
            <p:nvPicPr>
              <p:cNvPr id="18" name="Рисунок 17"/>
              <p:cNvPicPr>
                <a:picLocks noChangeAspect="1"/>
              </p:cNvPicPr>
              <p:nvPr/>
            </p:nvPicPr>
            <p:blipFill>
              <a:blip r:embed="rId7"/>
              <a:stretch/>
            </p:blipFill>
            <p:spPr bwMode="auto">
              <a:xfrm>
                <a:off x="8692977" y="8053107"/>
                <a:ext cx="1629851" cy="1800000"/>
              </a:xfrm>
              <a:prstGeom prst="rect">
                <a:avLst/>
              </a:prstGeom>
            </p:spPr>
          </p:pic>
          <p:pic>
            <p:nvPicPr>
              <p:cNvPr id="19" name="Рисунок 18"/>
              <p:cNvPicPr>
                <a:picLocks noChangeAspect="1"/>
              </p:cNvPicPr>
              <p:nvPr/>
            </p:nvPicPr>
            <p:blipFill>
              <a:blip r:embed="rId8"/>
              <a:stretch/>
            </p:blipFill>
            <p:spPr bwMode="auto">
              <a:xfrm>
                <a:off x="14109429" y="8053107"/>
                <a:ext cx="1646897" cy="1800000"/>
              </a:xfrm>
              <a:prstGeom prst="rect">
                <a:avLst/>
              </a:prstGeom>
            </p:spPr>
          </p:pic>
          <p:pic>
            <p:nvPicPr>
              <p:cNvPr id="20" name="Рисунок 19"/>
              <p:cNvPicPr>
                <a:picLocks noChangeAspect="1"/>
              </p:cNvPicPr>
              <p:nvPr/>
            </p:nvPicPr>
            <p:blipFill>
              <a:blip r:embed="rId9"/>
              <a:stretch/>
            </p:blipFill>
            <p:spPr bwMode="auto">
              <a:xfrm>
                <a:off x="19455842" y="8053107"/>
                <a:ext cx="1582979" cy="1800000"/>
              </a:xfrm>
              <a:prstGeom prst="rect">
                <a:avLst/>
              </a:prstGeom>
            </p:spPr>
          </p:pic>
        </p:grpSp>
      </p:grpSp>
      <p:sp>
        <p:nvSpPr>
          <p:cNvPr id="3" name="Прямоугольник 2"/>
          <p:cNvSpPr/>
          <p:nvPr/>
        </p:nvSpPr>
        <p:spPr>
          <a:xfrm>
            <a:off x="2358907" y="5544207"/>
            <a:ext cx="3134191" cy="4875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Судорожный приступ, </a:t>
            </a:r>
          </a:p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сопровождающийся потерей сознания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997" y="5315571"/>
            <a:ext cx="1233720" cy="77453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478" y="5344195"/>
            <a:ext cx="1350941" cy="1057258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7968208" y="5704361"/>
            <a:ext cx="3509294" cy="28443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</a:pPr>
            <a:r>
              <a:rPr lang="ru-RU" sz="1200" kern="0" dirty="0">
                <a:solidFill>
                  <a:srgbClr val="4D4D4D"/>
                </a:solidFill>
                <a:latin typeface="Open Sans"/>
                <a:ea typeface="Open Sans"/>
                <a:cs typeface="Open Sans"/>
              </a:rPr>
              <a:t>Острые психологические реакции на стресс</a:t>
            </a:r>
          </a:p>
        </p:txBody>
      </p:sp>
    </p:spTree>
    <p:extLst>
      <p:ext uri="{BB962C8B-B14F-4D97-AF65-F5344CB8AC3E}">
        <p14:creationId xmlns:p14="http://schemas.microsoft.com/office/powerpoint/2010/main" val="1695133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3175" y="3113534"/>
            <a:ext cx="342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1750">
                <a:solidFill>
                  <a:srgbClr val="FFFFFF"/>
                </a:solidFill>
              </a:defRPr>
            </a:lvl1pPr>
          </a:lstStyle>
          <a:p>
            <a:pPr algn="ctr" defTabSz="914217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914217">
                <a:defRPr/>
              </a:pPr>
              <a:t>3</a:t>
            </a:fld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1027997" y="576710"/>
            <a:ext cx="12140252" cy="800219"/>
          </a:xfrm>
          <a:prstGeom prst="rect">
            <a:avLst/>
          </a:prstGeom>
          <a:ln w="12700">
            <a:miter lim="400000"/>
          </a:ln>
        </p:spPr>
        <p:txBody>
          <a:bodyPr wrap="square" lIns="22860" rIns="2286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457200">
              <a:defRPr/>
            </a:pPr>
            <a:r>
              <a:rPr lang="ru-RU" sz="2300" kern="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ПЕРЕЧЕНЬ МЕРОПРИЯТИЙ ПО ОКАЗАНИЮ ПЕРВОЙ ПОМОЩИ И ПОСЛЕДОВАТЕЛЬНОСТЬ ИХ ВЫПОЛНЕНИЯ 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1030614" y="1302335"/>
            <a:ext cx="9057112" cy="36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22860" rIns="22860" anchor="ctr"/>
          <a:lstStyle/>
          <a:p>
            <a:pPr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1027997" y="1376929"/>
            <a:ext cx="3204356" cy="340904"/>
          </a:xfrm>
          <a:prstGeom prst="rect">
            <a:avLst/>
          </a:prstGeom>
          <a:ln w="25400">
            <a:miter lim="400000"/>
          </a:ln>
        </p:spPr>
        <p:txBody>
          <a:bodyPr tIns="45720" bIns="4572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defTabSz="914400">
              <a:defRPr/>
            </a:pPr>
            <a:r>
              <a:rPr lang="ru-RU" sz="1400" kern="0"/>
              <a:t>Тема 1 · п. 4  Состояния и мероприятия (приказ Минздрава № 220н)</a:t>
            </a:r>
            <a:endParaRPr lang="ru-RU" sz="1400" kern="0" dirty="0"/>
          </a:p>
        </p:txBody>
      </p:sp>
      <p:sp>
        <p:nvSpPr>
          <p:cNvPr id="36" name="Прямоугольник 35"/>
          <p:cNvSpPr/>
          <p:nvPr/>
        </p:nvSpPr>
        <p:spPr bwMode="auto">
          <a:xfrm>
            <a:off x="875420" y="1916832"/>
            <a:ext cx="11018806" cy="4108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 соответствии с </a:t>
            </a:r>
            <a:r>
              <a:rPr lang="ru-RU" sz="1400" b="1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приказом Министерства Здравоохранения Российской Федерации от 03.05.2024 г. № 220н "Об утверждении порядка оказания первой помощи</a:t>
            </a: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", при указанных состояниях выполняются следующие мероприятия: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>
              <a:lnSpc>
                <a:spcPct val="110000"/>
              </a:lnSpc>
              <a:defRPr/>
            </a:pPr>
            <a:endParaRPr lang="ru-RU" sz="14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оценке обстановки и обеспечению безопасных условий для оказания первой помощи.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Вызов скорой медицинской помощи, других специальных служб.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Определение наличия сознания у пострадавшего.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восстановлению проходимости дыхательных путей и определению признаков жизни у пострадавшего.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проведению сердечно-легочной реанимации до появления признаков жизни.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поддержанию проходимости дыхательных путей.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обзорному осмотру пострадавшего и временной остановке наружного кровотечения.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Мероприятия по подробному осмотру пострадавшего в целях выявления признаков травм, отравлений и других состояний, угрожающих его жизни и здоровью, и по оказанию первой помощи в случае выявления указанных состояний.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Придание пострадавшему оптимального положения тела.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Контроль состояния пострадавшего (сознание, дыхание, кровообращение) и оказание психологической поддержки.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  <a:p>
            <a:pPr marL="257175" indent="-257175">
              <a:lnSpc>
                <a:spcPct val="110000"/>
              </a:lnSpc>
              <a:buFont typeface="+mj-lt"/>
              <a:buAutoNum type="arabicPeriod"/>
              <a:defRPr/>
            </a:pPr>
            <a:r>
              <a:rPr lang="ru-RU" sz="1400" kern="0" dirty="0">
                <a:solidFill>
                  <a:srgbClr val="535353"/>
                </a:solidFill>
                <a:latin typeface="Open Sans"/>
                <a:ea typeface="Open Sans"/>
                <a:cs typeface="Open Sans"/>
              </a:rPr>
              <a:t>Передача пострадавшего бригаде скорой медицинской помощи, другим специальным службам.</a:t>
            </a:r>
            <a:endParaRPr sz="1200" kern="0" dirty="0">
              <a:solidFill>
                <a:srgbClr val="535353"/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235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3175" y="0"/>
            <a:ext cx="12185650" cy="6858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>
                <a:solidFill>
                  <a:srgbClr val="FFFFFF"/>
                </a:solidFill>
              </a:defRPr>
            </a:pPr>
            <a:endParaRPr sz="175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3176" y="0"/>
            <a:ext cx="3717758" cy="6858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22860" rIns="22860" anchor="ctr"/>
          <a:lstStyle/>
          <a:p>
            <a:pPr algn="ctr" defTabSz="914217">
              <a:defRPr sz="8600">
                <a:solidFill>
                  <a:srgbClr val="FFFFFF"/>
                </a:solidFill>
              </a:defRPr>
            </a:pPr>
            <a:endParaRPr sz="4300" kern="0">
              <a:solidFill>
                <a:srgbClr val="FFFFFF"/>
              </a:solidFill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4610723" y="2675890"/>
            <a:ext cx="7005544" cy="150622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457200">
              <a:lnSpc>
                <a:spcPct val="90000"/>
              </a:lnSpc>
              <a:spcBef>
                <a:spcPts val="5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3300" b="1" kern="0" spc="15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3600" kern="0" spc="15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284</Words>
  <Application>Microsoft Office PowerPoint</Application>
  <PresentationFormat>Широкоэкранный</PresentationFormat>
  <Paragraphs>37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10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Роман Прудников</dc:creator>
  <cp:lastModifiedBy>smarta3@outlook.com</cp:lastModifiedBy>
  <cp:revision>4</cp:revision>
  <dcterms:created xsi:type="dcterms:W3CDTF">2026-08-03T12:43:54Z</dcterms:created>
  <dcterms:modified xsi:type="dcterms:W3CDTF">2026-08-10T09:57:28Z</dcterms:modified>
</cp:coreProperties>
</file>