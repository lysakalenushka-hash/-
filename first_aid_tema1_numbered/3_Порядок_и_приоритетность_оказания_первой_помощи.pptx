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1" r:id="rId1"/>
    <p:sldMasterId id="2147483704" r:id="rId2"/>
    <p:sldMasterId id="2147483757" r:id="rId3"/>
  </p:sldMasterIdLst>
  <p:notesMasterIdLst>
    <p:notesMasterId r:id="rId14"/>
  </p:notesMasterIdLst>
  <p:sldIdLst>
    <p:sldId id="280" r:id="rId4"/>
    <p:sldId id="302" r:id="rId19"/>
    <p:sldId id="293" r:id="rId5"/>
    <p:sldId id="294" r:id="rId6"/>
    <p:sldId id="295" r:id="rId7"/>
    <p:sldId id="296" r:id="rId8"/>
    <p:sldId id="298" r:id="rId9"/>
    <p:sldId id="299" r:id="rId10"/>
    <p:sldId id="300" r:id="rId11"/>
    <p:sldId id="301" r:id="rId12"/>
    <p:sldId id="282" r:id="rId13"/>
  </p:sldIdLst>
  <p:sldSz cx="24384000" cy="13716000"/>
  <p:notesSz cx="243840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1pPr>
    <a:lvl2pPr marL="0" marR="0" indent="457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2pPr>
    <a:lvl3pPr marL="0" marR="0" indent="914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3pPr>
    <a:lvl4pPr marL="0" marR="0" indent="1371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4pPr>
    <a:lvl5pPr marL="0" marR="0" indent="18288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5pPr>
    <a:lvl6pPr marL="0" marR="0" indent="22860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6pPr>
    <a:lvl7pPr marL="0" marR="0" indent="2743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7pPr>
    <a:lvl8pPr marL="0" marR="0" indent="3200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8pPr>
    <a:lvl9pPr marL="0" marR="0" indent="3657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3" autoAdjust="0"/>
    <p:restoredTop sz="92577" autoAdjust="0"/>
  </p:normalViewPr>
  <p:slideViewPr>
    <p:cSldViewPr>
      <p:cViewPr varScale="1">
        <p:scale>
          <a:sx n="36" d="100"/>
          <a:sy n="36" d="100"/>
        </p:scale>
        <p:origin x="840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39485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828800">
      <a:defRPr sz="2400">
        <a:latin typeface="+mn-lt"/>
        <a:ea typeface="+mn-ea"/>
        <a:cs typeface="+mn-cs"/>
      </a:defRPr>
    </a:lvl1pPr>
    <a:lvl2pPr indent="228600" defTabSz="1828800">
      <a:defRPr sz="2400">
        <a:latin typeface="+mn-lt"/>
        <a:ea typeface="+mn-ea"/>
        <a:cs typeface="+mn-cs"/>
      </a:defRPr>
    </a:lvl2pPr>
    <a:lvl3pPr indent="457200" defTabSz="1828800">
      <a:defRPr sz="2400">
        <a:latin typeface="+mn-lt"/>
        <a:ea typeface="+mn-ea"/>
        <a:cs typeface="+mn-cs"/>
      </a:defRPr>
    </a:lvl3pPr>
    <a:lvl4pPr indent="685800" defTabSz="1828800">
      <a:defRPr sz="2400">
        <a:latin typeface="+mn-lt"/>
        <a:ea typeface="+mn-ea"/>
        <a:cs typeface="+mn-cs"/>
      </a:defRPr>
    </a:lvl4pPr>
    <a:lvl5pPr indent="914400" defTabSz="1828800">
      <a:defRPr sz="2400">
        <a:latin typeface="+mn-lt"/>
        <a:ea typeface="+mn-ea"/>
        <a:cs typeface="+mn-cs"/>
      </a:defRPr>
    </a:lvl5pPr>
    <a:lvl6pPr indent="1143000" defTabSz="1828800">
      <a:defRPr sz="2400">
        <a:latin typeface="+mn-lt"/>
        <a:ea typeface="+mn-ea"/>
        <a:cs typeface="+mn-cs"/>
      </a:defRPr>
    </a:lvl6pPr>
    <a:lvl7pPr indent="1371600" defTabSz="1828800">
      <a:defRPr sz="2400">
        <a:latin typeface="+mn-lt"/>
        <a:ea typeface="+mn-ea"/>
        <a:cs typeface="+mn-cs"/>
      </a:defRPr>
    </a:lvl7pPr>
    <a:lvl8pPr indent="1600200" defTabSz="1828800">
      <a:defRPr sz="2400">
        <a:latin typeface="+mn-lt"/>
        <a:ea typeface="+mn-ea"/>
        <a:cs typeface="+mn-cs"/>
      </a:defRPr>
    </a:lvl8pPr>
    <a:lvl9pPr indent="1828800" defTabSz="1828800">
      <a:defRPr sz="24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Благодарим за внимание</a:t>
            </a:r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842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2427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66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0498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95662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01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770496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55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149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31122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44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3980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4211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19124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28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216740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21140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52688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621856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122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3981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5881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278141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001426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6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0104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960727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1919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229406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48576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20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137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2682180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606176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3948812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434427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820019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718811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40056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245179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2062199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13974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69042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32107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334296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8505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72925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45689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2959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540163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37930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49743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0988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30148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3447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04021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27947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303570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843496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644310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9344618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6650941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5504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1854897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3824531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7779769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8369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728416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055742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441325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948739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295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0342132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19829407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945672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45691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5647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8832358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909009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8719762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833857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81228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636129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948988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1816210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21169691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39129064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4536390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490281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935990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13014609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7512023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031869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492200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2700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444987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84804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42879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246369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4463377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2491010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21557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830785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970331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3400330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8277232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8919072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8142588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7155908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036747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8775639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5764338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55111100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8978051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2241066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598033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5094455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7631619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2429564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2402873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06998720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84321750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89008697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25412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92741827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568803543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421705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40327018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152186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5893769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0279391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38217398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0025812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098870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160413439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597084572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12662745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047595437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77702314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94216757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19160161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0847899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916330209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860773819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67420367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89267583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83403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880428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87689888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005434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3914499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36476521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30793649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23393662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17370678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068581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28340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0.xml"/><Relationship Id="rId29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85.xml"/><Relationship Id="rId34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87.xml"/><Relationship Id="rId36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0.xml"/><Relationship Id="rId39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2.xml"/><Relationship Id="rId41" Type="http://schemas.openxmlformats.org/officeDocument/2006/relationships/slideLayout" Target="../slideLayouts/slideLayout93.xml"/><Relationship Id="rId42" Type="http://schemas.openxmlformats.org/officeDocument/2006/relationships/slideLayout" Target="../slideLayouts/slideLayout94.xml"/><Relationship Id="rId43" Type="http://schemas.openxmlformats.org/officeDocument/2006/relationships/slideLayout" Target="../slideLayouts/slideLayout95.xml"/><Relationship Id="rId44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97.xml"/><Relationship Id="rId46" Type="http://schemas.openxmlformats.org/officeDocument/2006/relationships/slideLayout" Target="../slideLayouts/slideLayout98.xml"/><Relationship Id="rId47" Type="http://schemas.openxmlformats.org/officeDocument/2006/relationships/slideLayout" Target="../slideLayouts/slideLayout99.xml"/><Relationship Id="rId48" Type="http://schemas.openxmlformats.org/officeDocument/2006/relationships/slideLayout" Target="../slideLayouts/slideLayout100.xml"/><Relationship Id="rId49" Type="http://schemas.openxmlformats.org/officeDocument/2006/relationships/slideLayout" Target="../slideLayouts/slideLayout101.xml"/><Relationship Id="rId50" Type="http://schemas.openxmlformats.org/officeDocument/2006/relationships/slideLayout" Target="../slideLayouts/slideLayout102.xml"/><Relationship Id="rId51" Type="http://schemas.openxmlformats.org/officeDocument/2006/relationships/slideLayout" Target="../slideLayouts/slideLayout103.xml"/><Relationship Id="rId52" Type="http://schemas.openxmlformats.org/officeDocument/2006/relationships/slideLayout" Target="../slideLayouts/slideLayout104.xml"/><Relationship Id="rId5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9.xml"/><Relationship Id="rId6" Type="http://schemas.openxmlformats.org/officeDocument/2006/relationships/slideLayout" Target="../slideLayouts/slideLayout110.xml"/><Relationship Id="rId7" Type="http://schemas.openxmlformats.org/officeDocument/2006/relationships/slideLayout" Target="../slideLayouts/slideLayout111.xml"/><Relationship Id="rId8" Type="http://schemas.openxmlformats.org/officeDocument/2006/relationships/slideLayout" Target="../slideLayouts/slideLayout112.xml"/><Relationship Id="rId9" Type="http://schemas.openxmlformats.org/officeDocument/2006/relationships/slideLayout" Target="../slideLayouts/slideLayout113.xml"/><Relationship Id="rId10" Type="http://schemas.openxmlformats.org/officeDocument/2006/relationships/slideLayout" Target="../slideLayouts/slideLayout114.xml"/><Relationship Id="rId11" Type="http://schemas.openxmlformats.org/officeDocument/2006/relationships/slideLayout" Target="../slideLayouts/slideLayout115.xml"/><Relationship Id="rId12" Type="http://schemas.openxmlformats.org/officeDocument/2006/relationships/slideLayout" Target="../slideLayouts/slideLayout116.xml"/><Relationship Id="rId13" Type="http://schemas.openxmlformats.org/officeDocument/2006/relationships/slideLayout" Target="../slideLayouts/slideLayout117.xml"/><Relationship Id="rId14" Type="http://schemas.openxmlformats.org/officeDocument/2006/relationships/slideLayout" Target="../slideLayouts/slideLayout118.xml"/><Relationship Id="rId15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20.xml"/><Relationship Id="rId17" Type="http://schemas.openxmlformats.org/officeDocument/2006/relationships/slideLayout" Target="../slideLayouts/slideLayout121.xml"/><Relationship Id="rId18" Type="http://schemas.openxmlformats.org/officeDocument/2006/relationships/slideLayout" Target="../slideLayouts/slideLayout122.xml"/><Relationship Id="rId19" Type="http://schemas.openxmlformats.org/officeDocument/2006/relationships/slideLayout" Target="../slideLayouts/slideLayout123.xml"/><Relationship Id="rId20" Type="http://schemas.openxmlformats.org/officeDocument/2006/relationships/slideLayout" Target="../slideLayouts/slideLayout124.xml"/><Relationship Id="rId21" Type="http://schemas.openxmlformats.org/officeDocument/2006/relationships/slideLayout" Target="../slideLayouts/slideLayout125.xml"/><Relationship Id="rId22" Type="http://schemas.openxmlformats.org/officeDocument/2006/relationships/slideLayout" Target="../slideLayouts/slideLayout126.xml"/><Relationship Id="rId23" Type="http://schemas.openxmlformats.org/officeDocument/2006/relationships/slideLayout" Target="../slideLayouts/slideLayout127.xml"/><Relationship Id="rId24" Type="http://schemas.openxmlformats.org/officeDocument/2006/relationships/slideLayout" Target="../slideLayouts/slideLayout128.xml"/><Relationship Id="rId25" Type="http://schemas.openxmlformats.org/officeDocument/2006/relationships/slideLayout" Target="../slideLayouts/slideLayout129.xml"/><Relationship Id="rId26" Type="http://schemas.openxmlformats.org/officeDocument/2006/relationships/slideLayout" Target="../slideLayouts/slideLayout130.xml"/><Relationship Id="rId27" Type="http://schemas.openxmlformats.org/officeDocument/2006/relationships/slideLayout" Target="../slideLayouts/slideLayout131.xml"/><Relationship Id="rId28" Type="http://schemas.openxmlformats.org/officeDocument/2006/relationships/slideLayout" Target="../slideLayouts/slideLayout132.xml"/><Relationship Id="rId29" Type="http://schemas.openxmlformats.org/officeDocument/2006/relationships/slideLayout" Target="../slideLayouts/slideLayout133.xml"/><Relationship Id="rId30" Type="http://schemas.openxmlformats.org/officeDocument/2006/relationships/slideLayout" Target="../slideLayouts/slideLayout134.xml"/><Relationship Id="rId31" Type="http://schemas.openxmlformats.org/officeDocument/2006/relationships/slideLayout" Target="../slideLayouts/slideLayout135.xml"/><Relationship Id="rId32" Type="http://schemas.openxmlformats.org/officeDocument/2006/relationships/slideLayout" Target="../slideLayouts/slideLayout136.xml"/><Relationship Id="rId33" Type="http://schemas.openxmlformats.org/officeDocument/2006/relationships/slideLayout" Target="../slideLayouts/slideLayout137.xml"/><Relationship Id="rId34" Type="http://schemas.openxmlformats.org/officeDocument/2006/relationships/slideLayout" Target="../slideLayouts/slideLayout138.xml"/><Relationship Id="rId35" Type="http://schemas.openxmlformats.org/officeDocument/2006/relationships/slideLayout" Target="../slideLayouts/slideLayout139.xml"/><Relationship Id="rId36" Type="http://schemas.openxmlformats.org/officeDocument/2006/relationships/slideLayout" Target="../slideLayouts/slideLayout140.xml"/><Relationship Id="rId37" Type="http://schemas.openxmlformats.org/officeDocument/2006/relationships/slideLayout" Target="../slideLayouts/slideLayout141.xml"/><Relationship Id="rId38" Type="http://schemas.openxmlformats.org/officeDocument/2006/relationships/slideLayout" Target="../slideLayouts/slideLayout142.xml"/><Relationship Id="rId39" Type="http://schemas.openxmlformats.org/officeDocument/2006/relationships/slideLayout" Target="../slideLayouts/slideLayout143.xml"/><Relationship Id="rId40" Type="http://schemas.openxmlformats.org/officeDocument/2006/relationships/slideLayout" Target="../slideLayouts/slideLayout144.xml"/><Relationship Id="rId41" Type="http://schemas.openxmlformats.org/officeDocument/2006/relationships/slideLayout" Target="../slideLayouts/slideLayout145.xml"/><Relationship Id="rId42" Type="http://schemas.openxmlformats.org/officeDocument/2006/relationships/slideLayout" Target="../slideLayouts/slideLayout146.xml"/><Relationship Id="rId43" Type="http://schemas.openxmlformats.org/officeDocument/2006/relationships/slideLayout" Target="../slideLayouts/slideLayout147.xml"/><Relationship Id="rId44" Type="http://schemas.openxmlformats.org/officeDocument/2006/relationships/slideLayout" Target="../slideLayouts/slideLayout148.xml"/><Relationship Id="rId45" Type="http://schemas.openxmlformats.org/officeDocument/2006/relationships/slideLayout" Target="../slideLayouts/slideLayout149.xml"/><Relationship Id="rId46" Type="http://schemas.openxmlformats.org/officeDocument/2006/relationships/slideLayout" Target="../slideLayouts/slideLayout150.xml"/><Relationship Id="rId47" Type="http://schemas.openxmlformats.org/officeDocument/2006/relationships/slideLayout" Target="../slideLayouts/slideLayout151.xml"/><Relationship Id="rId48" Type="http://schemas.openxmlformats.org/officeDocument/2006/relationships/slideLayout" Target="../slideLayouts/slideLayout152.xml"/><Relationship Id="rId49" Type="http://schemas.openxmlformats.org/officeDocument/2006/relationships/slideLayout" Target="../slideLayouts/slideLayout153.xml"/><Relationship Id="rId50" Type="http://schemas.openxmlformats.org/officeDocument/2006/relationships/slideLayout" Target="../slideLayouts/slideLayout154.xml"/><Relationship Id="rId51" Type="http://schemas.openxmlformats.org/officeDocument/2006/relationships/slideLayout" Target="../slideLayouts/slideLayout155.xml"/><Relationship Id="rId52" Type="http://schemas.openxmlformats.org/officeDocument/2006/relationships/slideLayout" Target="../slideLayouts/slideLayout156.xml"/><Relationship Id="rId5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5178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2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699" r:id="rId48"/>
    <p:sldLayoutId id="2147483700" r:id="rId49"/>
    <p:sldLayoutId id="2147483701" r:id="rId50"/>
    <p:sldLayoutId id="2147483702" r:id="rId51"/>
    <p:sldLayoutId id="2147483703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0550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8646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  <p:sldLayoutId id="2147483774" r:id="rId17"/>
    <p:sldLayoutId id="2147483775" r:id="rId18"/>
    <p:sldLayoutId id="2147483776" r:id="rId19"/>
    <p:sldLayoutId id="2147483777" r:id="rId20"/>
    <p:sldLayoutId id="2147483778" r:id="rId21"/>
    <p:sldLayoutId id="2147483779" r:id="rId22"/>
    <p:sldLayoutId id="2147483780" r:id="rId23"/>
    <p:sldLayoutId id="2147483781" r:id="rId24"/>
    <p:sldLayoutId id="2147483782" r:id="rId25"/>
    <p:sldLayoutId id="2147483783" r:id="rId26"/>
    <p:sldLayoutId id="2147483784" r:id="rId27"/>
    <p:sldLayoutId id="2147483785" r:id="rId28"/>
    <p:sldLayoutId id="2147483786" r:id="rId29"/>
    <p:sldLayoutId id="2147483787" r:id="rId30"/>
    <p:sldLayoutId id="2147483788" r:id="rId31"/>
    <p:sldLayoutId id="2147483789" r:id="rId32"/>
    <p:sldLayoutId id="2147483790" r:id="rId33"/>
    <p:sldLayoutId id="2147483791" r:id="rId34"/>
    <p:sldLayoutId id="2147483792" r:id="rId35"/>
    <p:sldLayoutId id="2147483793" r:id="rId36"/>
    <p:sldLayoutId id="2147483794" r:id="rId37"/>
    <p:sldLayoutId id="2147483795" r:id="rId38"/>
    <p:sldLayoutId id="2147483796" r:id="rId39"/>
    <p:sldLayoutId id="2147483797" r:id="rId40"/>
    <p:sldLayoutId id="2147483798" r:id="rId41"/>
    <p:sldLayoutId id="2147483799" r:id="rId42"/>
    <p:sldLayoutId id="2147483800" r:id="rId43"/>
    <p:sldLayoutId id="2147483801" r:id="rId44"/>
    <p:sldLayoutId id="2147483802" r:id="rId45"/>
    <p:sldLayoutId id="2147483803" r:id="rId46"/>
    <p:sldLayoutId id="2147483804" r:id="rId47"/>
    <p:sldLayoutId id="2147483805" r:id="rId48"/>
    <p:sldLayoutId id="2147483806" r:id="rId49"/>
    <p:sldLayoutId id="2147483807" r:id="rId50"/>
    <p:sldLayoutId id="2147483808" r:id="rId51"/>
    <p:sldLayoutId id="2147483809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685905"/>
            <a:ext cx="4621490" cy="2427318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6538791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ПОРЯДОК И ПРИОРИТЕТНОСТЬ ОКАЗАНИЯ ПЕРВОЙ ПОМОЩИ</a:t>
            </a:r>
          </a:p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endParaRPr lang="ru-RU" sz="4400" b="1" spc="300" dirty="0">
              <a:solidFill>
                <a:srgbClr val="4D4D4D"/>
              </a:solidFill>
              <a:latin typeface="Montserrat Semi Bold"/>
              <a:ea typeface="Montserrat Semi Bold"/>
              <a:cs typeface="Montserrat Semi Bold"/>
              <a:sym typeface="Stem"/>
            </a:endParaRP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7794112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0701709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13716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0000" y="6540000"/>
            <a:ext cx="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0000" y="1400000"/>
            <a:ext cx="21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rial"/>
              </a:rPr>
              <a:t>ПРИОРИТЕТНОСТЬ ОКАЗАНИЯ ПЕРВОЙ ПОМОЩИ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0000" y="2500000"/>
            <a:ext cx="12000000" cy="70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0000" y="2650000"/>
            <a:ext cx="18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Тема 1 · п. 3  Порядок и приоритетность; извлечение и перемещение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0000" y="3400000"/>
            <a:ext cx="20000000" cy="8800000"/>
          </a:xfrm>
          <a:prstGeom prst="round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00000" y="3700000"/>
            <a:ext cx="19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Если пострадавших несколько, а участников оказания помощи недостаточно —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определяют приоритетность: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в первую очередь — наиболее тяжело пострадавшим и несовершеннолетним детям;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для взрослых приоритетность определяется последовательностью мероприятий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  Порядка оказания первой помощи (приказ № 220н);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в ряде случаев допустима самопомощь (например, прямое давление на рану),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  пока оказывается помощь другому пострадавшему;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более опытный участник может координировать действия остальных,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  направляя их к наиболее тяжелым пострадавшим.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0000" y="12400000"/>
            <a:ext cx="20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Дополнено по разделу «Приоритетность…» учебного пособия Минздрава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3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34797" y="184731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ПОРЯДОК И ПРИОРИТЕТНОСТЬ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7" name="Прямоугольник 6"/>
          <p:cNvSpPr/>
          <p:nvPr/>
        </p:nvSpPr>
        <p:spPr bwMode="auto">
          <a:xfrm>
            <a:off x="10916237" y="5096980"/>
            <a:ext cx="12192000" cy="7250959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/>
            </a:pPr>
            <a:r>
              <a:rPr lang="ru-RU" sz="2800" b="1"/>
              <a:t>Оценка обстановки и обеспечение безопасных условий для оказания первой помощи:</a:t>
            </a:r>
            <a:endParaRPr/>
          </a:p>
          <a:p>
            <a:pPr>
              <a:defRPr/>
            </a:pPr>
            <a:endParaRPr lang="ru-RU" sz="2800"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определить угрожающие факторы для собственной жизни и здоровья;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определить угрожающие факторы для жизни и здоровья пострадавшего;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устранить угрожающие факторы для жизни и здоровья;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прекратить действие повреждающих факторов на пострадавшего;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при необходимости, оценить количество пострадавших;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извлечь пострадавшего из транспортного средства или других труднодоступных мест (при необходимости);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переместить пострадавшего (при необходимости).</a:t>
            </a:r>
          </a:p>
        </p:txBody>
      </p:sp>
      <p:pic>
        <p:nvPicPr>
          <p:cNvPr id="8" name="Picture 2" descr="Алгоритм 2018 НОВЫЙ"/>
          <p:cNvPicPr>
            <a:picLocks noChangeAspect="1" noChangeArrowheads="1"/>
          </p:cNvPicPr>
          <p:nvPr/>
        </p:nvPicPr>
        <p:blipFill>
          <a:blip r:embed="rId2"/>
          <a:srcRect l="3879" t="2743" r="6219" b="5061"/>
          <a:stretch/>
        </p:blipFill>
        <p:spPr bwMode="auto">
          <a:xfrm>
            <a:off x="2044161" y="3469895"/>
            <a:ext cx="6998266" cy="101868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93800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4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92126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ПОРЯДОК И ПРИОРИТЕТНОСТЬ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9" name="Прямоугольник 8"/>
          <p:cNvSpPr/>
          <p:nvPr/>
        </p:nvSpPr>
        <p:spPr bwMode="auto">
          <a:xfrm>
            <a:off x="10962721" y="5135324"/>
            <a:ext cx="12192000" cy="595829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/>
            </a:pPr>
            <a:r>
              <a:rPr lang="ru-RU" sz="2800" b="1"/>
              <a:t>Восстановление проходимости дыхательных путей и определение признаков жизни:</a:t>
            </a:r>
            <a:endParaRPr/>
          </a:p>
          <a:p>
            <a:pPr>
              <a:defRPr/>
            </a:pPr>
            <a:endParaRPr lang="ru-RU" sz="2800"/>
          </a:p>
          <a:p>
            <a:pPr marL="457200" indent="-4572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запрокинуть голову с подъемом подбородка;</a:t>
            </a:r>
            <a:endParaRPr/>
          </a:p>
          <a:p>
            <a:pPr marL="457200" indent="-4572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выдвинуть нижнюю челюсть (при необходимости);</a:t>
            </a:r>
            <a:endParaRPr/>
          </a:p>
          <a:p>
            <a:pPr marL="457200" indent="-4572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определить наличие нормального дыхания с помощью слуха, зрения и осязания;</a:t>
            </a:r>
            <a:endParaRPr/>
          </a:p>
          <a:p>
            <a:pPr marL="457200" indent="-457200">
              <a:lnSpc>
                <a:spcPct val="150000"/>
              </a:lnSpc>
              <a:buFont typeface="Wingdings"/>
              <a:buChar char="q"/>
              <a:defRPr/>
            </a:pPr>
            <a:r>
              <a:rPr lang="ru-RU" sz="2800"/>
              <a:t>определить наличие кровообращения путем проверки пульса на магистральных артериях (одновременно с определением дыхания и при наличии соответствующей подготовки). </a:t>
            </a:r>
            <a:endParaRPr/>
          </a:p>
        </p:txBody>
      </p:sp>
      <p:pic>
        <p:nvPicPr>
          <p:cNvPr id="10" name="Picture 2" descr="Алгоритм 2018 НОВЫЙ"/>
          <p:cNvPicPr>
            <a:picLocks noChangeAspect="1" noChangeArrowheads="1"/>
          </p:cNvPicPr>
          <p:nvPr/>
        </p:nvPicPr>
        <p:blipFill>
          <a:blip r:embed="rId2"/>
          <a:srcRect l="3879" t="2743" r="6219" b="5061"/>
          <a:stretch/>
        </p:blipFill>
        <p:spPr bwMode="auto">
          <a:xfrm>
            <a:off x="2090645" y="3508239"/>
            <a:ext cx="6998266" cy="101868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4931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5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4731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ПОРЯДОК И ПРИОРИТЕТНОСТЬ ОКАЗАНИЯ ПЕРВОЙ ПОМОЩИ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8" name="Прямоугольник 7"/>
          <p:cNvSpPr/>
          <p:nvPr/>
        </p:nvSpPr>
        <p:spPr bwMode="auto">
          <a:xfrm>
            <a:off x="11543928" y="3435665"/>
            <a:ext cx="12192000" cy="95346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 b="1" dirty="0"/>
              <a:t>Проведение сердечно-легочной реанимации путем чередования:</a:t>
            </a:r>
            <a:endParaRPr dirty="0"/>
          </a:p>
          <a:p>
            <a:pPr>
              <a:defRPr/>
            </a:pPr>
            <a:endParaRPr lang="ru-RU" sz="2800"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давления руками на грудину пострадавшего;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искусственного дыхания «Рот ко рту», «Рот к носу», с использованием устройств для искусственного дыхания. </a:t>
            </a:r>
            <a:endParaRPr dirty="0"/>
          </a:p>
          <a:p>
            <a:pPr>
              <a:defRPr/>
            </a:pPr>
            <a:endParaRPr lang="ru-RU" sz="2800" b="1" dirty="0"/>
          </a:p>
          <a:p>
            <a:pPr>
              <a:defRPr/>
            </a:pPr>
            <a:r>
              <a:rPr lang="ru-RU" sz="2800" b="1" dirty="0"/>
              <a:t>Поддержание проходимости дыхательных путей:</a:t>
            </a:r>
            <a:endParaRPr dirty="0"/>
          </a:p>
          <a:p>
            <a:pPr>
              <a:defRPr/>
            </a:pPr>
            <a:endParaRPr lang="ru-RU" sz="2800"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придать устойчивое боковое положение;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запрокинуть голову с подъемом подбородка;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выдвинуть нижнюю челюсть.</a:t>
            </a:r>
            <a:endParaRPr dirty="0"/>
          </a:p>
          <a:p>
            <a:pPr>
              <a:defRPr/>
            </a:pPr>
            <a:endParaRPr lang="ru-RU" sz="2800" dirty="0"/>
          </a:p>
          <a:p>
            <a:pPr>
              <a:defRPr/>
            </a:pPr>
            <a:r>
              <a:rPr lang="ru-RU" sz="2800" b="1" dirty="0"/>
              <a:t>Остановка наружного кровотечения:</a:t>
            </a:r>
            <a:endParaRPr dirty="0"/>
          </a:p>
          <a:p>
            <a:pPr>
              <a:defRPr/>
            </a:pPr>
            <a:endParaRPr lang="ru-RU" sz="2800" b="1"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наложением давящей повязки;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пальцевым прижатием артерии;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прямым давлением на рану;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максимальным сгибанием конечности в суставе;</a:t>
            </a:r>
            <a:endParaRPr dirty="0"/>
          </a:p>
          <a:p>
            <a:pPr marL="457200" indent="-457200">
              <a:buFont typeface="Wingdings"/>
              <a:buChar char="q"/>
              <a:defRPr/>
            </a:pPr>
            <a:r>
              <a:rPr lang="ru-RU" sz="2800" dirty="0"/>
              <a:t>наложением жгута.</a:t>
            </a:r>
            <a:endParaRPr dirty="0"/>
          </a:p>
          <a:p>
            <a:pPr>
              <a:defRPr/>
            </a:pPr>
            <a:endParaRPr lang="ru-RU" sz="2800" dirty="0"/>
          </a:p>
        </p:txBody>
      </p:sp>
      <p:pic>
        <p:nvPicPr>
          <p:cNvPr id="11" name="Picture 2" descr="Алгоритм 2018 НОВЫЙ"/>
          <p:cNvPicPr>
            <a:picLocks noChangeAspect="1" noChangeArrowheads="1"/>
          </p:cNvPicPr>
          <p:nvPr/>
        </p:nvPicPr>
        <p:blipFill>
          <a:blip r:embed="rId2"/>
          <a:srcRect l="3879" t="2743" r="6219" b="5061"/>
          <a:stretch/>
        </p:blipFill>
        <p:spPr bwMode="auto">
          <a:xfrm>
            <a:off x="2852173" y="3411579"/>
            <a:ext cx="6998266" cy="101868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6711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6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86617"/>
            <a:ext cx="24280504" cy="1508105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ПОРЯДОК И ПРИОРИТЕТНОСТЬ ОКАЗАНИЯ ПЕРВОЙ ПОМОЩИ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28" y="2604670"/>
            <a:ext cx="1763009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2" name="Прямоугольник 11"/>
          <p:cNvSpPr/>
          <p:nvPr/>
        </p:nvSpPr>
        <p:spPr bwMode="auto">
          <a:xfrm>
            <a:off x="10716136" y="4457055"/>
            <a:ext cx="12192000" cy="858671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defRPr/>
            </a:pPr>
            <a:r>
              <a:rPr lang="ru-RU" sz="2800" b="1"/>
              <a:t>Провести подробный осмотр пострадавшего и выполнить мероприятия по оказанию первой помощи:</a:t>
            </a:r>
            <a:endParaRPr/>
          </a:p>
          <a:p>
            <a:pPr>
              <a:defRPr/>
            </a:pPr>
            <a:endParaRPr lang="ru-RU" sz="2800"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осмотр головы;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осмотр шеи;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осмотр груди;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осмотр спины;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осмотр живота и таза;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осмотр конечностей;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наложить повязки при травмах различных областей тела;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иммобилизацию;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зафиксировать шейный отдел позвоночника;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прекратить воздействие опасных химических веществ на пострадавшего;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местное охлаждение при травмах, термических ожогах и иных воздействиях высоких температур или теплового излучения;</a:t>
            </a:r>
            <a:endParaRPr/>
          </a:p>
          <a:p>
            <a:pPr marL="457200" indent="-457200">
              <a:buFont typeface="Wingdings"/>
              <a:buChar char="q"/>
              <a:defRPr/>
            </a:pPr>
            <a:r>
              <a:rPr lang="ru-RU" sz="2800"/>
              <a:t>провести термоизоляцию при отморожениях и других эффектах воздействия низких температур.</a:t>
            </a:r>
            <a:endParaRPr/>
          </a:p>
        </p:txBody>
      </p:sp>
      <p:pic>
        <p:nvPicPr>
          <p:cNvPr id="13" name="Picture 2" descr="Алгоритм 2018 НОВЫЙ"/>
          <p:cNvPicPr>
            <a:picLocks noChangeAspect="1" noChangeArrowheads="1"/>
          </p:cNvPicPr>
          <p:nvPr/>
        </p:nvPicPr>
        <p:blipFill>
          <a:blip r:embed="rId2"/>
          <a:srcRect l="3879" t="2743" r="6219" b="5061"/>
          <a:stretch/>
        </p:blipFill>
        <p:spPr bwMode="auto">
          <a:xfrm>
            <a:off x="2040713" y="3466075"/>
            <a:ext cx="6998266" cy="101868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57034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7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ИЗВЛЕЧЕНИЕ ПОСТРАДАВШИХ ИЗ ТРУДНОДОСТУПНЫХ МЕСТ И ПЕРЕМЕЩЕНИЕ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00" y="2604670"/>
            <a:ext cx="1826547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0" name="Рисунок 1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1562282" y="4890177"/>
            <a:ext cx="7085602" cy="8243226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Прямоугольник 10"/>
          <p:cNvSpPr/>
          <p:nvPr/>
        </p:nvSpPr>
        <p:spPr bwMode="auto">
          <a:xfrm>
            <a:off x="1878928" y="3861695"/>
            <a:ext cx="5915402" cy="113319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ru-RU" sz="3200" b="1"/>
              <a:t>Извлечение пострадавшего </a:t>
            </a:r>
            <a:endParaRPr/>
          </a:p>
          <a:p>
            <a:pPr algn="ctr">
              <a:defRPr/>
            </a:pPr>
            <a:r>
              <a:rPr lang="ru-RU" sz="3200" b="1"/>
              <a:t>(пострадавший в сознании)</a:t>
            </a:r>
            <a:endParaRPr/>
          </a:p>
        </p:txBody>
      </p:sp>
      <p:sp>
        <p:nvSpPr>
          <p:cNvPr id="12" name="Прямоугольник 11"/>
          <p:cNvSpPr/>
          <p:nvPr/>
        </p:nvSpPr>
        <p:spPr bwMode="auto">
          <a:xfrm>
            <a:off x="8984951" y="3861696"/>
            <a:ext cx="6195928" cy="113319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ru-RU" sz="3200" b="1"/>
              <a:t>Извлечение пострадавшего </a:t>
            </a:r>
            <a:endParaRPr/>
          </a:p>
          <a:p>
            <a:pPr algn="ctr">
              <a:defRPr/>
            </a:pPr>
            <a:r>
              <a:rPr lang="ru-RU" sz="3200" b="1"/>
              <a:t>(пострадавший без сознания)</a:t>
            </a:r>
            <a:endParaRPr/>
          </a:p>
        </p:txBody>
      </p:sp>
      <p:pic>
        <p:nvPicPr>
          <p:cNvPr id="13" name="Рисунок 3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8592296" y="5677536"/>
            <a:ext cx="7478451" cy="7096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Рисунок 65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16944528" y="4625752"/>
            <a:ext cx="5899061" cy="850765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Прямоугольник 14"/>
          <p:cNvSpPr/>
          <p:nvPr/>
        </p:nvSpPr>
        <p:spPr bwMode="auto">
          <a:xfrm>
            <a:off x="16350677" y="3756982"/>
            <a:ext cx="6492912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Перемещение пострадавшего в одиночку с поддержкой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37383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8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ИЗВЛЕЧЕНИЕ ПОСТРАДАВШИХ ИЗ ТРУДНОДОСТУПНЫХ МЕСТ И ПЕРЕМЕЩЕНИЕ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00" y="2604670"/>
            <a:ext cx="1826547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6" name="Рисунок 66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2366357" y="4690191"/>
            <a:ext cx="6062306" cy="8620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Рисунок 69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9509197" y="4749193"/>
            <a:ext cx="5277914" cy="74557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Рисунок 68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16591581" y="4769848"/>
            <a:ext cx="5356241" cy="7974141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Прямоугольник 18"/>
          <p:cNvSpPr/>
          <p:nvPr/>
        </p:nvSpPr>
        <p:spPr bwMode="auto">
          <a:xfrm>
            <a:off x="2020175" y="3556997"/>
            <a:ext cx="6408488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Перемещение пострадавшего в одиночку волоком </a:t>
            </a:r>
          </a:p>
        </p:txBody>
      </p:sp>
      <p:sp>
        <p:nvSpPr>
          <p:cNvPr id="20" name="Прямоугольник 19"/>
          <p:cNvSpPr/>
          <p:nvPr/>
        </p:nvSpPr>
        <p:spPr bwMode="auto">
          <a:xfrm>
            <a:off x="9509197" y="3615998"/>
            <a:ext cx="5746583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Переноска пострадавшего в одиночку на спине </a:t>
            </a:r>
          </a:p>
        </p:txBody>
      </p:sp>
      <p:sp>
        <p:nvSpPr>
          <p:cNvPr id="21" name="Прямоугольник 20"/>
          <p:cNvSpPr/>
          <p:nvPr/>
        </p:nvSpPr>
        <p:spPr bwMode="auto">
          <a:xfrm>
            <a:off x="16336314" y="3615998"/>
            <a:ext cx="5746583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Переноска пострадавшего на руках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53812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9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ИЗВЛЕЧЕНИЕ ПОСТРАДАВШИХ ИЗ ТРУДНОДОСТУПНЫХ МЕСТ И ПЕРЕМЕЩЕНИЕ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00" y="2604670"/>
            <a:ext cx="1826547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2" name="Рисунок 73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18074931" y="4732576"/>
            <a:ext cx="6289969" cy="87247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Рисунок 67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904649" y="4523499"/>
            <a:ext cx="5850179" cy="8114764"/>
          </a:xfrm>
          <a:prstGeom prst="rect">
            <a:avLst/>
          </a:prstGeom>
          <a:noFill/>
        </p:spPr>
      </p:pic>
      <p:pic>
        <p:nvPicPr>
          <p:cNvPr id="14" name="Рисунок 71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7335351" y="4571040"/>
            <a:ext cx="5137895" cy="8480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Рисунок 72"/>
          <p:cNvPicPr>
            <a:picLocks noChangeAspect="1" noChangeArrowheads="1"/>
          </p:cNvPicPr>
          <p:nvPr/>
        </p:nvPicPr>
        <p:blipFill>
          <a:blip r:embed="rId5"/>
          <a:srcRect l="14296" r="12385"/>
          <a:stretch/>
        </p:blipFill>
        <p:spPr bwMode="auto">
          <a:xfrm>
            <a:off x="14794913" y="7894084"/>
            <a:ext cx="4316032" cy="5018838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Прямоугольник 22"/>
          <p:cNvSpPr/>
          <p:nvPr/>
        </p:nvSpPr>
        <p:spPr bwMode="auto">
          <a:xfrm>
            <a:off x="1373521" y="3599381"/>
            <a:ext cx="5618822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Переноска пострадавшего в одиночку на плече </a:t>
            </a:r>
          </a:p>
        </p:txBody>
      </p:sp>
      <p:sp>
        <p:nvSpPr>
          <p:cNvPr id="24" name="Прямоугольник 23"/>
          <p:cNvSpPr/>
          <p:nvPr/>
        </p:nvSpPr>
        <p:spPr bwMode="auto">
          <a:xfrm>
            <a:off x="7942121" y="3588251"/>
            <a:ext cx="6766239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Переноска пострадавшего вдвоем на замке из четырех рук </a:t>
            </a:r>
          </a:p>
        </p:txBody>
      </p:sp>
      <p:sp>
        <p:nvSpPr>
          <p:cNvPr id="25" name="Прямоугольник 24"/>
          <p:cNvSpPr/>
          <p:nvPr/>
        </p:nvSpPr>
        <p:spPr bwMode="auto">
          <a:xfrm>
            <a:off x="15377860" y="3626514"/>
            <a:ext cx="8856710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Переноска пострадавшего вдвоем на замке из трех рук с поддержкой под спину</a:t>
            </a:r>
          </a:p>
        </p:txBody>
      </p:sp>
      <p:pic>
        <p:nvPicPr>
          <p:cNvPr id="26" name="Рисунок 70"/>
          <p:cNvPicPr>
            <a:picLocks noChangeAspect="1" noChangeArrowheads="1"/>
          </p:cNvPicPr>
          <p:nvPr/>
        </p:nvPicPr>
        <p:blipFill>
          <a:blip r:embed="rId6"/>
          <a:stretch/>
        </p:blipFill>
        <p:spPr bwMode="auto">
          <a:xfrm>
            <a:off x="11975540" y="4821865"/>
            <a:ext cx="3078163" cy="2971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94033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10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804451"/>
            <a:ext cx="24280504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ИЗВЛЕЧЕНИЕ ПОСТРАДАВШИХ ИЗ ТРУДНОДОСТУПНЫХ МЕСТ И ПЕРЕМЕЩЕНИЕ</a:t>
            </a:r>
            <a:endParaRPr lang="ru-RU" sz="4600" dirty="0">
              <a:solidFill>
                <a:srgbClr val="404040"/>
              </a:solidFill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00" y="2604670"/>
            <a:ext cx="18265474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3  Порядок и приоритетность; извлечение и перемещение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6" name="Рисунок 75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8303568" y="4258395"/>
            <a:ext cx="10234224" cy="84729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Рисунок 74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1008099" y="5058726"/>
            <a:ext cx="7499619" cy="7289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Прямоугольник 17"/>
          <p:cNvSpPr/>
          <p:nvPr/>
        </p:nvSpPr>
        <p:spPr bwMode="auto">
          <a:xfrm>
            <a:off x="1852626" y="3433811"/>
            <a:ext cx="5622768" cy="11331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ru-RU" sz="3200" b="1"/>
              <a:t>Переноска пострадавшего вдвоем за руки и ноги </a:t>
            </a:r>
          </a:p>
        </p:txBody>
      </p:sp>
      <p:sp>
        <p:nvSpPr>
          <p:cNvPr id="19" name="Прямоугольник 18"/>
          <p:cNvSpPr/>
          <p:nvPr/>
        </p:nvSpPr>
        <p:spPr bwMode="auto">
          <a:xfrm>
            <a:off x="9387659" y="3576588"/>
            <a:ext cx="13851869" cy="5915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ru-RU" sz="3200" b="1"/>
              <a:t>Переноска пострадавшего с подозрением на травму позвоночника</a:t>
            </a:r>
          </a:p>
        </p:txBody>
      </p:sp>
      <p:pic>
        <p:nvPicPr>
          <p:cNvPr id="20" name="Рисунок 76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17028172" y="7601336"/>
            <a:ext cx="8065534" cy="68266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9265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6350" y="0"/>
            <a:ext cx="2437130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937" name="Rectangle 10"/>
          <p:cNvSpPr/>
          <p:nvPr/>
        </p:nvSpPr>
        <p:spPr bwMode="auto">
          <a:xfrm>
            <a:off x="6352" y="0"/>
            <a:ext cx="7435516" cy="13716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 sz="8600">
                <a:solidFill>
                  <a:srgbClr val="FFFFFF"/>
                </a:solidFill>
              </a:defRPr>
            </a:pPr>
            <a:endParaRPr sz="86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9221446" y="5351780"/>
            <a:ext cx="14011088" cy="301244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rmAutofit/>
          </a:bodyPr>
          <a:lstStyle/>
          <a:p>
            <a:pPr defTabSz="914400" rtl="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66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Open Sans"/>
              </a:rPr>
              <a:t>БЛАГОДАРИМ ЗА ВНИМАНИЕ</a:t>
            </a:r>
            <a:endParaRPr sz="7200" spc="300" dirty="0">
              <a:solidFill>
                <a:srgbClr val="4D4D4D"/>
              </a:solidFill>
              <a:latin typeface="Montserrat Semi Bold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6936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3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14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4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254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1184</TotalTime>
  <Words>472</Words>
  <Application>Microsoft Office PowerPoint</Application>
  <DocSecurity>0</DocSecurity>
  <PresentationFormat>Произвольный</PresentationFormat>
  <Paragraphs>90</Paragraphs>
  <Slides>10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10</vt:i4>
      </vt:variant>
    </vt:vector>
  </HeadingPairs>
  <TitlesOfParts>
    <vt:vector size="19" baseType="lpstr">
      <vt:lpstr>Calibri</vt:lpstr>
      <vt:lpstr>Montserrat Semi Bold</vt:lpstr>
      <vt:lpstr>Open Sans</vt:lpstr>
      <vt:lpstr>Open Sans Light</vt:lpstr>
      <vt:lpstr>PFDinDisplayPro-Regular</vt:lpstr>
      <vt:lpstr>Wingdings</vt:lpstr>
      <vt:lpstr>11_Office Theme</vt:lpstr>
      <vt:lpstr>13_Office Theme</vt:lpstr>
      <vt:lpstr>14_Office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ИНТЕЛЛЕКТУАЛЬНОЕ ОБУЧЕНИЕ ЗАГОЛОВОК</dc:title>
  <dc:subject/>
  <dc:creator>ASUS</dc:creator>
  <cp:keywords/>
  <dc:description/>
  <cp:lastModifiedBy>smarta3@outlook.com</cp:lastModifiedBy>
  <cp:revision>130</cp:revision>
  <dcterms:modified xsi:type="dcterms:W3CDTF">2026-08-07T11:55:16Z</dcterms:modified>
  <cp:category/>
  <dc:identifier/>
  <cp:contentStatus/>
  <dc:language/>
  <cp:version/>
</cp:coreProperties>
</file>