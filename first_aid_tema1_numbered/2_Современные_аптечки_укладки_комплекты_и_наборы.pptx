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  <p:sldMasterId id="2147483704" r:id="rId2"/>
    <p:sldMasterId id="2147483757" r:id="rId3"/>
  </p:sldMasterIdLst>
  <p:notesMasterIdLst>
    <p:notesMasterId r:id="rId8"/>
  </p:notesMasterIdLst>
  <p:sldIdLst>
    <p:sldId id="280" r:id="rId4"/>
    <p:sldId id="293" r:id="rId13"/>
    <p:sldId id="291" r:id="rId5"/>
    <p:sldId id="292" r:id="rId6"/>
    <p:sldId id="282" r:id="rId7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3" autoAdjust="0"/>
    <p:restoredTop sz="92577" autoAdjust="0"/>
  </p:normalViewPr>
  <p:slideViewPr>
    <p:cSldViewPr>
      <p:cViewPr varScale="1">
        <p:scale>
          <a:sx n="36" d="100"/>
          <a:sy n="36" d="100"/>
        </p:scale>
        <p:origin x="840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39485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603E-7D41-4B3A-A1FE-5F5EFDD6519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6340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Благодарим за внимание</a:t>
            </a:r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88429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2427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66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04985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95662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01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7049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7555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497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3112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445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39800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42113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19124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928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16740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21140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52688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621856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812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6639814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55881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27814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00142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6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0104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960727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9191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1229406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485763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2054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137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268218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606176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4394881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434427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8200195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7188114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40056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2451791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2062199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139745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9042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32107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334296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8505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372925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456895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2959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540163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37930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749743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0988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301488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3447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040212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279472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30357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843496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644310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934461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650941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55042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1854897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4382453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777976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28369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728416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005574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744132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948739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2955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0342132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1982940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9456720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4569170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56479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8832358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290900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871976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83385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812288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6361293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9489885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1816210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2116969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39129064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3453639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4902813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9359903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13014609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87512023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0318691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492200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2700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4449873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8480409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4287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2463695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4463377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2491010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521557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830785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8970331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3400330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8277232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891907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8142588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7155908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36747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8775639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5764338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5511110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8978051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2241066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7598033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5094455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7631619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242956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2402873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6998720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84321750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8900869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25412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92741827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6880354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4217059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540327018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15218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589376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0279391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93821739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0025812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098870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16041343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597084572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12662745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04759543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7770231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9421675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1916016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084789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91633020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86077381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6742036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8926758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834035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92988042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8768988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000543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3914499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6476521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3079364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2339366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1737067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068581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28340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83.xml"/><Relationship Id="rId32" Type="http://schemas.openxmlformats.org/officeDocument/2006/relationships/slideLayout" Target="../slideLayouts/slideLayout84.xml"/><Relationship Id="rId33" Type="http://schemas.openxmlformats.org/officeDocument/2006/relationships/slideLayout" Target="../slideLayouts/slideLayout85.xml"/><Relationship Id="rId34" Type="http://schemas.openxmlformats.org/officeDocument/2006/relationships/slideLayout" Target="../slideLayouts/slideLayout86.xml"/><Relationship Id="rId35" Type="http://schemas.openxmlformats.org/officeDocument/2006/relationships/slideLayout" Target="../slideLayouts/slideLayout87.xml"/><Relationship Id="rId36" Type="http://schemas.openxmlformats.org/officeDocument/2006/relationships/slideLayout" Target="../slideLayouts/slideLayout88.xml"/><Relationship Id="rId37" Type="http://schemas.openxmlformats.org/officeDocument/2006/relationships/slideLayout" Target="../slideLayouts/slideLayout89.xml"/><Relationship Id="rId38" Type="http://schemas.openxmlformats.org/officeDocument/2006/relationships/slideLayout" Target="../slideLayouts/slideLayout90.xml"/><Relationship Id="rId39" Type="http://schemas.openxmlformats.org/officeDocument/2006/relationships/slideLayout" Target="../slideLayouts/slideLayout91.xml"/><Relationship Id="rId40" Type="http://schemas.openxmlformats.org/officeDocument/2006/relationships/slideLayout" Target="../slideLayouts/slideLayout92.xml"/><Relationship Id="rId41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94.xml"/><Relationship Id="rId43" Type="http://schemas.openxmlformats.org/officeDocument/2006/relationships/slideLayout" Target="../slideLayouts/slideLayout95.xml"/><Relationship Id="rId44" Type="http://schemas.openxmlformats.org/officeDocument/2006/relationships/slideLayout" Target="../slideLayouts/slideLayout96.xml"/><Relationship Id="rId45" Type="http://schemas.openxmlformats.org/officeDocument/2006/relationships/slideLayout" Target="../slideLayouts/slideLayout97.xml"/><Relationship Id="rId46" Type="http://schemas.openxmlformats.org/officeDocument/2006/relationships/slideLayout" Target="../slideLayouts/slideLayout98.xml"/><Relationship Id="rId47" Type="http://schemas.openxmlformats.org/officeDocument/2006/relationships/slideLayout" Target="../slideLayouts/slideLayout99.xml"/><Relationship Id="rId48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01.xml"/><Relationship Id="rId50" Type="http://schemas.openxmlformats.org/officeDocument/2006/relationships/slideLayout" Target="../slideLayouts/slideLayout102.xml"/><Relationship Id="rId51" Type="http://schemas.openxmlformats.org/officeDocument/2006/relationships/slideLayout" Target="../slideLayouts/slideLayout103.xml"/><Relationship Id="rId52" Type="http://schemas.openxmlformats.org/officeDocument/2006/relationships/slideLayout" Target="../slideLayouts/slideLayout104.xml"/><Relationship Id="rId5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21.xml"/><Relationship Id="rId18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23.xml"/><Relationship Id="rId20" Type="http://schemas.openxmlformats.org/officeDocument/2006/relationships/slideLayout" Target="../slideLayouts/slideLayout124.xml"/><Relationship Id="rId21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126.xml"/><Relationship Id="rId23" Type="http://schemas.openxmlformats.org/officeDocument/2006/relationships/slideLayout" Target="../slideLayouts/slideLayout127.xml"/><Relationship Id="rId24" Type="http://schemas.openxmlformats.org/officeDocument/2006/relationships/slideLayout" Target="../slideLayouts/slideLayout128.xml"/><Relationship Id="rId25" Type="http://schemas.openxmlformats.org/officeDocument/2006/relationships/slideLayout" Target="../slideLayouts/slideLayout129.xml"/><Relationship Id="rId26" Type="http://schemas.openxmlformats.org/officeDocument/2006/relationships/slideLayout" Target="../slideLayouts/slideLayout130.xml"/><Relationship Id="rId27" Type="http://schemas.openxmlformats.org/officeDocument/2006/relationships/slideLayout" Target="../slideLayouts/slideLayout131.xml"/><Relationship Id="rId28" Type="http://schemas.openxmlformats.org/officeDocument/2006/relationships/slideLayout" Target="../slideLayouts/slideLayout132.xml"/><Relationship Id="rId29" Type="http://schemas.openxmlformats.org/officeDocument/2006/relationships/slideLayout" Target="../slideLayouts/slideLayout133.xml"/><Relationship Id="rId30" Type="http://schemas.openxmlformats.org/officeDocument/2006/relationships/slideLayout" Target="../slideLayouts/slideLayout134.xml"/><Relationship Id="rId31" Type="http://schemas.openxmlformats.org/officeDocument/2006/relationships/slideLayout" Target="../slideLayouts/slideLayout135.xml"/><Relationship Id="rId32" Type="http://schemas.openxmlformats.org/officeDocument/2006/relationships/slideLayout" Target="../slideLayouts/slideLayout136.xml"/><Relationship Id="rId33" Type="http://schemas.openxmlformats.org/officeDocument/2006/relationships/slideLayout" Target="../slideLayouts/slideLayout137.xml"/><Relationship Id="rId34" Type="http://schemas.openxmlformats.org/officeDocument/2006/relationships/slideLayout" Target="../slideLayouts/slideLayout138.xml"/><Relationship Id="rId35" Type="http://schemas.openxmlformats.org/officeDocument/2006/relationships/slideLayout" Target="../slideLayouts/slideLayout139.xml"/><Relationship Id="rId36" Type="http://schemas.openxmlformats.org/officeDocument/2006/relationships/slideLayout" Target="../slideLayouts/slideLayout140.xml"/><Relationship Id="rId37" Type="http://schemas.openxmlformats.org/officeDocument/2006/relationships/slideLayout" Target="../slideLayouts/slideLayout141.xml"/><Relationship Id="rId38" Type="http://schemas.openxmlformats.org/officeDocument/2006/relationships/slideLayout" Target="../slideLayouts/slideLayout142.xml"/><Relationship Id="rId39" Type="http://schemas.openxmlformats.org/officeDocument/2006/relationships/slideLayout" Target="../slideLayouts/slideLayout143.xml"/><Relationship Id="rId40" Type="http://schemas.openxmlformats.org/officeDocument/2006/relationships/slideLayout" Target="../slideLayouts/slideLayout144.xml"/><Relationship Id="rId41" Type="http://schemas.openxmlformats.org/officeDocument/2006/relationships/slideLayout" Target="../slideLayouts/slideLayout145.xml"/><Relationship Id="rId42" Type="http://schemas.openxmlformats.org/officeDocument/2006/relationships/slideLayout" Target="../slideLayouts/slideLayout146.xml"/><Relationship Id="rId43" Type="http://schemas.openxmlformats.org/officeDocument/2006/relationships/slideLayout" Target="../slideLayouts/slideLayout147.xml"/><Relationship Id="rId44" Type="http://schemas.openxmlformats.org/officeDocument/2006/relationships/slideLayout" Target="../slideLayouts/slideLayout148.xml"/><Relationship Id="rId45" Type="http://schemas.openxmlformats.org/officeDocument/2006/relationships/slideLayout" Target="../slideLayouts/slideLayout149.xml"/><Relationship Id="rId46" Type="http://schemas.openxmlformats.org/officeDocument/2006/relationships/slideLayout" Target="../slideLayouts/slideLayout150.xml"/><Relationship Id="rId47" Type="http://schemas.openxmlformats.org/officeDocument/2006/relationships/slideLayout" Target="../slideLayouts/slideLayout151.xml"/><Relationship Id="rId48" Type="http://schemas.openxmlformats.org/officeDocument/2006/relationships/slideLayout" Target="../slideLayouts/slideLayout152.xml"/><Relationship Id="rId49" Type="http://schemas.openxmlformats.org/officeDocument/2006/relationships/slideLayout" Target="../slideLayouts/slideLayout153.xml"/><Relationship Id="rId50" Type="http://schemas.openxmlformats.org/officeDocument/2006/relationships/slideLayout" Target="../slideLayouts/slideLayout154.xml"/><Relationship Id="rId51" Type="http://schemas.openxmlformats.org/officeDocument/2006/relationships/slideLayout" Target="../slideLayouts/slideLayout155.xml"/><Relationship Id="rId52" Type="http://schemas.openxmlformats.org/officeDocument/2006/relationships/slideLayout" Target="../slideLayouts/slideLayout156.xml"/><Relationship Id="rId5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517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98" r:id="rId47"/>
    <p:sldLayoutId id="2147483699" r:id="rId48"/>
    <p:sldLayoutId id="2147483700" r:id="rId49"/>
    <p:sldLayoutId id="2147483701" r:id="rId50"/>
    <p:sldLayoutId id="2147483702" r:id="rId51"/>
    <p:sldLayoutId id="2147483703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30550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  <p:sldLayoutId id="2147483748" r:id="rId44"/>
    <p:sldLayoutId id="2147483749" r:id="rId45"/>
    <p:sldLayoutId id="2147483750" r:id="rId46"/>
    <p:sldLayoutId id="2147483751" r:id="rId47"/>
    <p:sldLayoutId id="2147483752" r:id="rId48"/>
    <p:sldLayoutId id="2147483753" r:id="rId49"/>
    <p:sldLayoutId id="2147483754" r:id="rId50"/>
    <p:sldLayoutId id="2147483755" r:id="rId51"/>
    <p:sldLayoutId id="2147483756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864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78" r:id="rId21"/>
    <p:sldLayoutId id="2147483779" r:id="rId22"/>
    <p:sldLayoutId id="2147483780" r:id="rId23"/>
    <p:sldLayoutId id="2147483781" r:id="rId24"/>
    <p:sldLayoutId id="2147483782" r:id="rId25"/>
    <p:sldLayoutId id="2147483783" r:id="rId26"/>
    <p:sldLayoutId id="2147483784" r:id="rId27"/>
    <p:sldLayoutId id="2147483785" r:id="rId28"/>
    <p:sldLayoutId id="2147483786" r:id="rId29"/>
    <p:sldLayoutId id="2147483787" r:id="rId30"/>
    <p:sldLayoutId id="2147483788" r:id="rId31"/>
    <p:sldLayoutId id="2147483789" r:id="rId32"/>
    <p:sldLayoutId id="2147483790" r:id="rId33"/>
    <p:sldLayoutId id="2147483791" r:id="rId34"/>
    <p:sldLayoutId id="2147483792" r:id="rId35"/>
    <p:sldLayoutId id="2147483793" r:id="rId36"/>
    <p:sldLayoutId id="2147483794" r:id="rId37"/>
    <p:sldLayoutId id="2147483795" r:id="rId38"/>
    <p:sldLayoutId id="2147483796" r:id="rId39"/>
    <p:sldLayoutId id="2147483797" r:id="rId40"/>
    <p:sldLayoutId id="2147483798" r:id="rId41"/>
    <p:sldLayoutId id="2147483799" r:id="rId42"/>
    <p:sldLayoutId id="2147483800" r:id="rId43"/>
    <p:sldLayoutId id="2147483801" r:id="rId44"/>
    <p:sldLayoutId id="2147483802" r:id="rId45"/>
    <p:sldLayoutId id="2147483803" r:id="rId46"/>
    <p:sldLayoutId id="2147483804" r:id="rId47"/>
    <p:sldLayoutId id="2147483805" r:id="rId48"/>
    <p:sldLayoutId id="2147483806" r:id="rId49"/>
    <p:sldLayoutId id="2147483807" r:id="rId50"/>
    <p:sldLayoutId id="2147483808" r:id="rId51"/>
    <p:sldLayoutId id="2147483809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СОВРЕМЕННЫЕ АПТЕЧКИ, УКЛАДКИ, КОМПЛЕКТЫ И НАБОРЫ ДЛЯ ОКАЗАНИЯ ПЕРВОЙ ПОМОЩИ</a:t>
            </a: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8226160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07017090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rPr>
                <a:solidFill/>
              </a:rPr>
              <a:t>2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7046" y="1908317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b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ПРИКАЗЫ № 260н, 261н, 262н И СОСТАВ АПТЕЧЕК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34" y="2604670"/>
            <a:ext cx="16384213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2  Аптечки, укладки, комплекты и наборы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8595538" y="3611405"/>
            <a:ext cx="7512908" cy="1268037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200" b="1" i="0" u="none" strike="noStrike" cap="none" spc="0">
                <a:ln>
                  <a:noFill/>
                </a:ln>
                <a:solidFill>
                  <a:schemeClr val="accent1"/>
                </a:solidFill>
                <a:latin typeface="Open Sans"/>
                <a:ea typeface="Open Sans"/>
                <a:cs typeface="Open Sans"/>
              </a:rPr>
              <a:t>Аптечка первой помощи (автомобильная) </a:t>
            </a:r>
            <a:endParaRPr/>
          </a:p>
        </p:txBody>
      </p:sp>
      <p:sp>
        <p:nvSpPr>
          <p:cNvPr id="15" name="AutoShape 12"/>
          <p:cNvSpPr>
            <a:spLocks noChangeAspect="1" noChangeArrowheads="1"/>
          </p:cNvSpPr>
          <p:nvPr/>
        </p:nvSpPr>
        <p:spPr bwMode="auto">
          <a:xfrm>
            <a:off x="12104812" y="753954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ru-RU"/>
          </a:p>
        </p:txBody>
      </p:sp>
      <p:sp>
        <p:nvSpPr>
          <p:cNvPr id="16" name="AutoShape 14"/>
          <p:cNvSpPr>
            <a:spLocks noChangeAspect="1" noChangeArrowheads="1"/>
          </p:cNvSpPr>
          <p:nvPr/>
        </p:nvSpPr>
        <p:spPr bwMode="auto">
          <a:xfrm>
            <a:off x="12257212" y="769194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ru-RU"/>
          </a:p>
        </p:txBody>
      </p:sp>
      <p:sp>
        <p:nvSpPr>
          <p:cNvPr id="867" name="TextBox 866"/>
          <p:cNvSpPr txBox="1"/>
          <p:nvPr/>
        </p:nvSpPr>
        <p:spPr>
          <a:xfrm>
            <a:off x="2061252" y="3600000"/>
            <a:ext cx="20000000" cy="9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404040"/>
                </a:solidFill>
                <a:latin typeface="Open Sans"/>
              </a:rPr>
              <a:t>Требования к комплектации (приказы Минздрава России от 24.05.2024):</a:t>
            </a:r>
          </a:p>
          <a:p>
            <a:r>
              <a:rPr sz="2800">
                <a:solidFill>
                  <a:srgbClr val="404040"/>
                </a:solidFill>
                <a:latin typeface="Open Sans"/>
              </a:rPr>
              <a:t/>
            </a:r>
          </a:p>
          <a:p>
            <a:r>
              <a:rPr sz="2800">
                <a:solidFill>
                  <a:srgbClr val="404040"/>
                </a:solidFill>
                <a:latin typeface="Open Sans"/>
              </a:rPr>
              <a:t>• № 260н — аптечка для оказания первой помощи пострадавшим в ДТП (автомобильная);</a:t>
            </a:r>
          </a:p>
          <a:p>
            <a:r>
              <a:rPr sz="2800">
                <a:solidFill>
                  <a:srgbClr val="404040"/>
                </a:solidFill>
                <a:latin typeface="Open Sans"/>
              </a:rPr>
              <a:t>• № 262н — аптечка для оказания работниками первой помощи пострадавшим;</a:t>
            </a:r>
          </a:p>
          <a:p>
            <a:r>
              <a:rPr sz="2800">
                <a:solidFill>
                  <a:srgbClr val="404040"/>
                </a:solidFill>
                <a:latin typeface="Open Sans"/>
              </a:rPr>
              <a:t>• № 261н — аптечка для организаций, осуществляющих образовательную деятельность.</a:t>
            </a:r>
          </a:p>
          <a:p>
            <a:r>
              <a:rPr sz="2800">
                <a:solidFill>
                  <a:srgbClr val="404040"/>
                </a:solidFill>
                <a:latin typeface="Open Sans"/>
              </a:rPr>
              <a:t/>
            </a:r>
          </a:p>
          <a:p>
            <a:r>
              <a:rPr sz="2800">
                <a:solidFill>
                  <a:srgbClr val="404040"/>
                </a:solidFill>
                <a:latin typeface="Open Sans"/>
              </a:rPr>
              <a:t>Типовые компоненты: жгут; бинты; салфетки стерильные; лейкопластыри; устройство для ИВЛ «Рот–Устройство–Рот»; ножницы; перчатки медицинские; маска медицинская; покрывало спасательное изотермическое.</a:t>
            </a:r>
          </a:p>
          <a:p>
            <a:r>
              <a:rPr sz="2800">
                <a:solidFill>
                  <a:srgbClr val="404040"/>
                </a:solidFill>
                <a:latin typeface="Open Sans"/>
              </a:rPr>
              <a:t/>
            </a:r>
          </a:p>
          <a:p>
            <a:r>
              <a:rPr sz="2800">
                <a:solidFill>
                  <a:srgbClr val="404040"/>
                </a:solidFill>
                <a:latin typeface="Open Sans"/>
              </a:rPr>
              <a:t>Пополнять аптечку — по мере расхода и/или истечения срока годности.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rPr>
                <a:solidFill/>
              </a:rPr>
              <a:t>3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7046" y="1908317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УКЛАДКИ, НАБОРЫ, КОМПЛЕКТЫ И АПТЕЧКИ ДЛЯ ОКАЗАНИЯ ПЕРВОЙ ПОМОЩИ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34" y="2604670"/>
            <a:ext cx="16384213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2  Аптечки, укладки, комплекты и наборы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330040" y="9326559"/>
            <a:ext cx="4762500" cy="4762500"/>
          </a:xfrm>
          <a:prstGeom prst="rect">
            <a:avLst/>
          </a:prstGeom>
          <a:noFill/>
        </p:spPr>
      </p:pic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3751476" y="5788474"/>
            <a:ext cx="4762500" cy="4762500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 bwMode="auto">
          <a:xfrm>
            <a:off x="8595538" y="3611405"/>
            <a:ext cx="7512908" cy="1268037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200" b="1" i="0" u="none" strike="noStrike" cap="none" spc="0">
                <a:ln>
                  <a:noFill/>
                </a:ln>
                <a:solidFill>
                  <a:schemeClr val="accent1"/>
                </a:solidFill>
                <a:latin typeface="Open Sans"/>
                <a:ea typeface="Open Sans"/>
                <a:cs typeface="Open Sans"/>
              </a:rPr>
              <a:t>Аптечка первой помощи (автомобильная) </a:t>
            </a:r>
            <a:endParaRPr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758375" y="5575795"/>
            <a:ext cx="6772790" cy="6776571"/>
          </a:xfrm>
          <a:prstGeom prst="rect">
            <a:avLst/>
          </a:prstGeom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/>
          <a:stretch/>
        </p:blipFill>
        <p:spPr bwMode="auto">
          <a:xfrm>
            <a:off x="4127672" y="3746180"/>
            <a:ext cx="3165981" cy="3165981"/>
          </a:xfrm>
          <a:prstGeom prst="rect">
            <a:avLst/>
          </a:prstGeom>
          <a:noFill/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-10790" y="3202995"/>
            <a:ext cx="3609865" cy="3609865"/>
          </a:xfrm>
          <a:prstGeom prst="rect">
            <a:avLst/>
          </a:prstGeom>
          <a:noFill/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7"/>
          <a:stretch/>
        </p:blipFill>
        <p:spPr bwMode="auto">
          <a:xfrm>
            <a:off x="14520841" y="5165182"/>
            <a:ext cx="5698347" cy="3798898"/>
          </a:xfrm>
          <a:prstGeom prst="rect">
            <a:avLst/>
          </a:prstGeom>
          <a:noFill/>
        </p:spPr>
      </p:pic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8"/>
          <a:stretch/>
        </p:blipFill>
        <p:spPr bwMode="auto">
          <a:xfrm>
            <a:off x="356514" y="7152318"/>
            <a:ext cx="3122407" cy="3122407"/>
          </a:xfrm>
          <a:prstGeom prst="rect">
            <a:avLst/>
          </a:prstGeom>
          <a:noFill/>
        </p:spPr>
      </p:pic>
      <p:sp>
        <p:nvSpPr>
          <p:cNvPr id="15" name="AutoShape 12"/>
          <p:cNvSpPr>
            <a:spLocks noChangeAspect="1" noChangeArrowheads="1"/>
          </p:cNvSpPr>
          <p:nvPr/>
        </p:nvSpPr>
        <p:spPr bwMode="auto">
          <a:xfrm>
            <a:off x="12104812" y="753954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ru-RU"/>
          </a:p>
        </p:txBody>
      </p:sp>
      <p:sp>
        <p:nvSpPr>
          <p:cNvPr id="16" name="AutoShape 14"/>
          <p:cNvSpPr>
            <a:spLocks noChangeAspect="1" noChangeArrowheads="1"/>
          </p:cNvSpPr>
          <p:nvPr/>
        </p:nvSpPr>
        <p:spPr bwMode="auto">
          <a:xfrm>
            <a:off x="12257212" y="769194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17" name="Picture 16"/>
          <p:cNvPicPr>
            <a:picLocks noChangeAspect="1" noChangeArrowheads="1"/>
          </p:cNvPicPr>
          <p:nvPr/>
        </p:nvPicPr>
        <p:blipFill>
          <a:blip r:embed="rId9"/>
          <a:stretch/>
        </p:blipFill>
        <p:spPr bwMode="auto">
          <a:xfrm>
            <a:off x="18958345" y="2586736"/>
            <a:ext cx="5543550" cy="5543550"/>
          </a:xfrm>
          <a:prstGeom prst="rect">
            <a:avLst/>
          </a:prstGeom>
          <a:noFill/>
        </p:spPr>
      </p:pic>
      <p:pic>
        <p:nvPicPr>
          <p:cNvPr id="18" name="Picture 18"/>
          <p:cNvPicPr>
            <a:picLocks noChangeAspect="1" noChangeArrowheads="1"/>
          </p:cNvPicPr>
          <p:nvPr/>
        </p:nvPicPr>
        <p:blipFill>
          <a:blip r:embed="rId10"/>
          <a:stretch/>
        </p:blipFill>
        <p:spPr bwMode="auto">
          <a:xfrm>
            <a:off x="15894951" y="9945950"/>
            <a:ext cx="6181725" cy="3409950"/>
          </a:xfrm>
          <a:prstGeom prst="rect">
            <a:avLst/>
          </a:prstGeom>
          <a:noFill/>
        </p:spPr>
      </p:pic>
      <p:pic>
        <p:nvPicPr>
          <p:cNvPr id="19" name="Picture 22"/>
          <p:cNvPicPr>
            <a:picLocks noChangeAspect="1" noChangeArrowheads="1"/>
          </p:cNvPicPr>
          <p:nvPr/>
        </p:nvPicPr>
        <p:blipFill>
          <a:blip r:embed="rId11"/>
          <a:stretch/>
        </p:blipFill>
        <p:spPr bwMode="auto">
          <a:xfrm>
            <a:off x="19680143" y="7135801"/>
            <a:ext cx="4024889" cy="40248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50031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rPr>
                <a:solidFill/>
              </a:rPr>
              <a:t>4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748589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УКЛАДКИ, НАБОРЫ, КОМПЛЕКТЫ И АПТЕЧКИ ДЛЯ ОКАЗАНИЯ ПЕРВОЙ ПОМОЩИ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34" y="2604670"/>
            <a:ext cx="16384213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2  Аптечки, укладки, комплекты и наборы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15" name="AutoShape 12"/>
          <p:cNvSpPr>
            <a:spLocks noChangeAspect="1" noChangeArrowheads="1"/>
          </p:cNvSpPr>
          <p:nvPr/>
        </p:nvSpPr>
        <p:spPr bwMode="auto">
          <a:xfrm>
            <a:off x="12104812" y="753954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16" name="AutoShape 14"/>
          <p:cNvSpPr>
            <a:spLocks noChangeAspect="1" noChangeArrowheads="1"/>
          </p:cNvSpPr>
          <p:nvPr/>
        </p:nvSpPr>
        <p:spPr bwMode="auto">
          <a:xfrm>
            <a:off x="12257212" y="769194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-1847408" y="8524569"/>
            <a:ext cx="10011312" cy="6257070"/>
          </a:xfrm>
          <a:prstGeom prst="rect">
            <a:avLst/>
          </a:prstGeom>
          <a:noFill/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8464705" y="5308721"/>
            <a:ext cx="7620000" cy="7620000"/>
          </a:xfrm>
          <a:prstGeom prst="rect">
            <a:avLst/>
          </a:prstGeom>
          <a:noFill/>
        </p:spPr>
      </p:pic>
      <p:sp>
        <p:nvSpPr>
          <p:cNvPr id="23" name="TextBox 22"/>
          <p:cNvSpPr txBox="1"/>
          <p:nvPr/>
        </p:nvSpPr>
        <p:spPr bwMode="auto">
          <a:xfrm>
            <a:off x="8797696" y="4076364"/>
            <a:ext cx="7512908" cy="1268037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200" b="1" i="0" u="none" strike="noStrike" cap="none" spc="0">
                <a:ln>
                  <a:noFill/>
                </a:ln>
                <a:solidFill>
                  <a:schemeClr val="accent1"/>
                </a:solidFill>
                <a:latin typeface="Open Sans"/>
                <a:ea typeface="Open Sans"/>
                <a:cs typeface="Open Sans"/>
              </a:rPr>
              <a:t>Аптечка первой помощи работникам</a:t>
            </a:r>
            <a:endParaRPr/>
          </a:p>
        </p:txBody>
      </p:sp>
      <p:pic>
        <p:nvPicPr>
          <p:cNvPr id="24" name="Picture 10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4605832" y="5863443"/>
            <a:ext cx="4762500" cy="4762500"/>
          </a:xfrm>
          <a:prstGeom prst="rect">
            <a:avLst/>
          </a:prstGeom>
          <a:noFill/>
        </p:spPr>
      </p:pic>
      <p:pic>
        <p:nvPicPr>
          <p:cNvPr id="25" name="Picture 8"/>
          <p:cNvPicPr>
            <a:picLocks noChangeAspect="1" noChangeArrowheads="1"/>
          </p:cNvPicPr>
          <p:nvPr/>
        </p:nvPicPr>
        <p:blipFill>
          <a:blip r:embed="rId5"/>
          <a:stretch/>
        </p:blipFill>
        <p:spPr bwMode="auto">
          <a:xfrm>
            <a:off x="63848" y="5450051"/>
            <a:ext cx="4762500" cy="4762500"/>
          </a:xfrm>
          <a:prstGeom prst="rect">
            <a:avLst/>
          </a:prstGeom>
          <a:noFill/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3362076" y="3054111"/>
            <a:ext cx="3165981" cy="3165981"/>
          </a:xfrm>
          <a:prstGeom prst="rect">
            <a:avLst/>
          </a:prstGeom>
          <a:noFill/>
        </p:spPr>
      </p:pic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7"/>
          <a:stretch/>
        </p:blipFill>
        <p:spPr bwMode="auto">
          <a:xfrm>
            <a:off x="-439165" y="2708246"/>
            <a:ext cx="3609865" cy="3609865"/>
          </a:xfrm>
          <a:prstGeom prst="rect">
            <a:avLst/>
          </a:prstGeom>
          <a:noFill/>
        </p:spPr>
      </p:pic>
      <p:pic>
        <p:nvPicPr>
          <p:cNvPr id="28" name="Picture 4"/>
          <p:cNvPicPr>
            <a:picLocks noChangeAspect="1" noChangeArrowheads="1"/>
          </p:cNvPicPr>
          <p:nvPr/>
        </p:nvPicPr>
        <p:blipFill>
          <a:blip r:embed="rId8"/>
          <a:stretch/>
        </p:blipFill>
        <p:spPr bwMode="auto">
          <a:xfrm>
            <a:off x="14622918" y="2947093"/>
            <a:ext cx="5698347" cy="3798898"/>
          </a:xfrm>
          <a:prstGeom prst="rect">
            <a:avLst/>
          </a:prstGeom>
          <a:noFill/>
        </p:spPr>
      </p:pic>
      <p:pic>
        <p:nvPicPr>
          <p:cNvPr id="30" name="Picture 6"/>
          <p:cNvPicPr>
            <a:picLocks noChangeAspect="1" noChangeArrowheads="1"/>
          </p:cNvPicPr>
          <p:nvPr/>
        </p:nvPicPr>
        <p:blipFill>
          <a:blip r:embed="rId9"/>
          <a:stretch/>
        </p:blipFill>
        <p:spPr bwMode="auto">
          <a:xfrm>
            <a:off x="6527943" y="3208438"/>
            <a:ext cx="3122407" cy="3122407"/>
          </a:xfrm>
          <a:prstGeom prst="rect">
            <a:avLst/>
          </a:prstGeom>
          <a:noFill/>
        </p:spPr>
      </p:pic>
      <p:pic>
        <p:nvPicPr>
          <p:cNvPr id="31" name="Picture 16"/>
          <p:cNvPicPr>
            <a:picLocks noChangeAspect="1" noChangeArrowheads="1"/>
          </p:cNvPicPr>
          <p:nvPr/>
        </p:nvPicPr>
        <p:blipFill>
          <a:blip r:embed="rId10"/>
          <a:stretch/>
        </p:blipFill>
        <p:spPr bwMode="auto">
          <a:xfrm>
            <a:off x="14700316" y="4629355"/>
            <a:ext cx="5543550" cy="5543550"/>
          </a:xfrm>
          <a:prstGeom prst="rect">
            <a:avLst/>
          </a:prstGeom>
          <a:noFill/>
        </p:spPr>
      </p:pic>
      <p:pic>
        <p:nvPicPr>
          <p:cNvPr id="32" name="Picture 18"/>
          <p:cNvPicPr>
            <a:picLocks noChangeAspect="1" noChangeArrowheads="1"/>
          </p:cNvPicPr>
          <p:nvPr/>
        </p:nvPicPr>
        <p:blipFill>
          <a:blip r:embed="rId11"/>
          <a:stretch/>
        </p:blipFill>
        <p:spPr bwMode="auto">
          <a:xfrm>
            <a:off x="14954319" y="9718454"/>
            <a:ext cx="6181725" cy="3409950"/>
          </a:xfrm>
          <a:prstGeom prst="rect">
            <a:avLst/>
          </a:prstGeom>
          <a:noFill/>
        </p:spPr>
      </p:pic>
      <p:pic>
        <p:nvPicPr>
          <p:cNvPr id="33" name="Picture 6"/>
          <p:cNvPicPr>
            <a:picLocks noChangeAspect="1" noChangeArrowheads="1"/>
          </p:cNvPicPr>
          <p:nvPr/>
        </p:nvPicPr>
        <p:blipFill>
          <a:blip r:embed="rId12"/>
          <a:stretch/>
        </p:blipFill>
        <p:spPr bwMode="auto">
          <a:xfrm>
            <a:off x="5859215" y="9172943"/>
            <a:ext cx="4215945" cy="4215945"/>
          </a:xfrm>
          <a:prstGeom prst="rect">
            <a:avLst/>
          </a:prstGeom>
          <a:noFill/>
        </p:spPr>
      </p:pic>
      <p:pic>
        <p:nvPicPr>
          <p:cNvPr id="34" name="Picture 8"/>
          <p:cNvPicPr>
            <a:picLocks noChangeAspect="1" noChangeArrowheads="1"/>
          </p:cNvPicPr>
          <p:nvPr/>
        </p:nvPicPr>
        <p:blipFill>
          <a:blip r:embed="rId13"/>
          <a:srcRect b="11260"/>
          <a:stretch/>
        </p:blipFill>
        <p:spPr bwMode="auto">
          <a:xfrm>
            <a:off x="20005658" y="3461332"/>
            <a:ext cx="3871062" cy="6115387"/>
          </a:xfrm>
          <a:prstGeom prst="rect">
            <a:avLst/>
          </a:prstGeom>
          <a:noFill/>
        </p:spPr>
      </p:pic>
      <p:pic>
        <p:nvPicPr>
          <p:cNvPr id="35" name="Picture 22"/>
          <p:cNvPicPr>
            <a:picLocks noChangeAspect="1" noChangeArrowheads="1"/>
          </p:cNvPicPr>
          <p:nvPr/>
        </p:nvPicPr>
        <p:blipFill>
          <a:blip r:embed="rId14"/>
          <a:stretch/>
        </p:blipFill>
        <p:spPr bwMode="auto">
          <a:xfrm>
            <a:off x="20213459" y="9540360"/>
            <a:ext cx="4024889" cy="40248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93729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2" y="0"/>
            <a:ext cx="7435516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 sz="8600">
                <a:solidFill>
                  <a:srgbClr val="FFFFFF"/>
                </a:solidFill>
              </a:defRPr>
            </a:pPr>
            <a:endParaRPr sz="86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9221446" y="5351780"/>
            <a:ext cx="14011088" cy="30124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defTabSz="914400" rtl="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Open Sans"/>
              </a:rPr>
              <a:t>БЛАГОДАРИМ ЗА ВНИМАНИЕ</a:t>
            </a:r>
            <a:endParaRPr sz="7200" spc="300" dirty="0">
              <a:solidFill>
                <a:srgbClr val="4D4D4D"/>
              </a:solidFill>
              <a:latin typeface="Montserrat Semi Bold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69362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1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3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4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1183</TotalTime>
  <Words>69</Words>
  <Application>Microsoft Office PowerPoint</Application>
  <DocSecurity>0</DocSecurity>
  <PresentationFormat>Произвольный</PresentationFormat>
  <Paragraphs>14</Paragraphs>
  <Slides>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4</vt:i4>
      </vt:variant>
    </vt:vector>
  </HeadingPairs>
  <TitlesOfParts>
    <vt:vector size="12" baseType="lpstr">
      <vt:lpstr>Calibri</vt:lpstr>
      <vt:lpstr>Montserrat Semi Bold</vt:lpstr>
      <vt:lpstr>Open Sans</vt:lpstr>
      <vt:lpstr>Open Sans Light</vt:lpstr>
      <vt:lpstr>PFDinDisplayPro-Regular</vt:lpstr>
      <vt:lpstr>11_Office Theme</vt:lpstr>
      <vt:lpstr>13_Office Theme</vt:lpstr>
      <vt:lpstr>14_Office Theme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smarta3@outlook.com</cp:lastModifiedBy>
  <cp:revision>130</cp:revision>
  <dcterms:modified xsi:type="dcterms:W3CDTF">2026-08-07T11:52:55Z</dcterms:modified>
  <cp:category/>
  <dc:identifier/>
  <cp:contentStatus/>
  <dc:language/>
  <cp:version/>
</cp:coreProperties>
</file>