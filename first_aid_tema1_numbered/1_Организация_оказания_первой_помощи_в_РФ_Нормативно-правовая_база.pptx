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1" r:id="rId1"/>
    <p:sldMasterId id="2147483704" r:id="rId2"/>
  </p:sldMasterIdLst>
  <p:notesMasterIdLst>
    <p:notesMasterId r:id="rId11"/>
  </p:notesMasterIdLst>
  <p:sldIdLst>
    <p:sldId id="280" r:id="rId3"/>
    <p:sldId id="289" r:id="rId16"/>
    <p:sldId id="288" r:id="rId4"/>
    <p:sldId id="281" r:id="rId5"/>
    <p:sldId id="283" r:id="rId6"/>
    <p:sldId id="284" r:id="rId7"/>
    <p:sldId id="285" r:id="rId8"/>
    <p:sldId id="286" r:id="rId9"/>
    <p:sldId id="287" r:id="rId10"/>
    <p:sldId id="290" r:id="rId17"/>
  </p:sldIdLst>
  <p:sldSz cx="24384000" cy="13716000"/>
  <p:notesSz cx="24384000" cy="13716000"/>
  <p:defaultTextStyle>
    <a:defPPr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1pPr>
    <a:lvl2pPr marL="0" marR="0" indent="457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2pPr>
    <a:lvl3pPr marL="0" marR="0" indent="914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3pPr>
    <a:lvl4pPr marL="0" marR="0" indent="1371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4pPr>
    <a:lvl5pPr marL="0" marR="0" indent="18288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5pPr>
    <a:lvl6pPr marL="0" marR="0" indent="22860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6pPr>
    <a:lvl7pPr marL="0" marR="0" indent="2743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7pPr>
    <a:lvl8pPr marL="0" marR="0" indent="3200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8pPr>
    <a:lvl9pPr marL="0" marR="0" indent="3657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03" autoAdjust="0"/>
    <p:restoredTop sz="92577" autoAdjust="0"/>
  </p:normalViewPr>
  <p:slideViewPr>
    <p:cSldViewPr>
      <p:cViewPr varScale="1">
        <p:scale>
          <a:sx n="76" d="100"/>
          <a:sy n="76" d="100"/>
        </p:scale>
        <p:origin x="2856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2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39485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1828800">
      <a:defRPr sz="2400">
        <a:latin typeface="+mn-lt"/>
        <a:ea typeface="+mn-ea"/>
        <a:cs typeface="+mn-cs"/>
      </a:defRPr>
    </a:lvl1pPr>
    <a:lvl2pPr indent="228600" defTabSz="1828800">
      <a:defRPr sz="2400">
        <a:latin typeface="+mn-lt"/>
        <a:ea typeface="+mn-ea"/>
        <a:cs typeface="+mn-cs"/>
      </a:defRPr>
    </a:lvl2pPr>
    <a:lvl3pPr indent="457200" defTabSz="1828800">
      <a:defRPr sz="2400">
        <a:latin typeface="+mn-lt"/>
        <a:ea typeface="+mn-ea"/>
        <a:cs typeface="+mn-cs"/>
      </a:defRPr>
    </a:lvl3pPr>
    <a:lvl4pPr indent="685800" defTabSz="1828800">
      <a:defRPr sz="2400">
        <a:latin typeface="+mn-lt"/>
        <a:ea typeface="+mn-ea"/>
        <a:cs typeface="+mn-cs"/>
      </a:defRPr>
    </a:lvl4pPr>
    <a:lvl5pPr indent="914400" defTabSz="1828800">
      <a:defRPr sz="2400">
        <a:latin typeface="+mn-lt"/>
        <a:ea typeface="+mn-ea"/>
        <a:cs typeface="+mn-cs"/>
      </a:defRPr>
    </a:lvl5pPr>
    <a:lvl6pPr indent="1143000" defTabSz="1828800">
      <a:defRPr sz="2400">
        <a:latin typeface="+mn-lt"/>
        <a:ea typeface="+mn-ea"/>
        <a:cs typeface="+mn-cs"/>
      </a:defRPr>
    </a:lvl6pPr>
    <a:lvl7pPr indent="1371600" defTabSz="1828800">
      <a:defRPr sz="2400">
        <a:latin typeface="+mn-lt"/>
        <a:ea typeface="+mn-ea"/>
        <a:cs typeface="+mn-cs"/>
      </a:defRPr>
    </a:lvl7pPr>
    <a:lvl8pPr indent="1600200" defTabSz="1828800">
      <a:defRPr sz="2400">
        <a:latin typeface="+mn-lt"/>
        <a:ea typeface="+mn-ea"/>
        <a:cs typeface="+mn-cs"/>
      </a:defRPr>
    </a:lvl8pPr>
    <a:lvl9pPr indent="1828800" defTabSz="1828800">
      <a:defRPr sz="2400"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24274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660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04985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95662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01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770496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47555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1497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31122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44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39800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4211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19124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281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216740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21140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52688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6218567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122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39814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58815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278141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001426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6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0104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960727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1919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229406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48576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20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137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2682180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606176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3948812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434427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820019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7188114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40056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2451791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2062199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13974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69042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321070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334296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85059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372925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45689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2959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7540163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37930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7497435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0988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30148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3447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040212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2794723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303570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843496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644310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9344618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6650941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55042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1854897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3824531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7779769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8369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728416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0055742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441325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948739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29554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0342132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19829407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945672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45691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5647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8832358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909009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8719762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833857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81228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6361293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9489885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1816210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21169691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39129064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4536390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4902813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9359903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13014609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7512023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0318691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492200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27001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4449873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8480409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42879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2463695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4463377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2491010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215570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830785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9703317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340033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74.xml"/><Relationship Id="rId23" Type="http://schemas.openxmlformats.org/officeDocument/2006/relationships/slideLayout" Target="../slideLayouts/slideLayout75.xml"/><Relationship Id="rId24" Type="http://schemas.openxmlformats.org/officeDocument/2006/relationships/slideLayout" Target="../slideLayouts/slideLayout76.xml"/><Relationship Id="rId25" Type="http://schemas.openxmlformats.org/officeDocument/2006/relationships/slideLayout" Target="../slideLayouts/slideLayout77.xml"/><Relationship Id="rId26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0.xml"/><Relationship Id="rId29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2.xml"/><Relationship Id="rId31" Type="http://schemas.openxmlformats.org/officeDocument/2006/relationships/slideLayout" Target="../slideLayouts/slideLayout83.xml"/><Relationship Id="rId32" Type="http://schemas.openxmlformats.org/officeDocument/2006/relationships/slideLayout" Target="../slideLayouts/slideLayout84.xml"/><Relationship Id="rId33" Type="http://schemas.openxmlformats.org/officeDocument/2006/relationships/slideLayout" Target="../slideLayouts/slideLayout85.xml"/><Relationship Id="rId34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87.xml"/><Relationship Id="rId36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0.xml"/><Relationship Id="rId39" Type="http://schemas.openxmlformats.org/officeDocument/2006/relationships/slideLayout" Target="../slideLayouts/slideLayout91.xml"/><Relationship Id="rId40" Type="http://schemas.openxmlformats.org/officeDocument/2006/relationships/slideLayout" Target="../slideLayouts/slideLayout92.xml"/><Relationship Id="rId41" Type="http://schemas.openxmlformats.org/officeDocument/2006/relationships/slideLayout" Target="../slideLayouts/slideLayout93.xml"/><Relationship Id="rId42" Type="http://schemas.openxmlformats.org/officeDocument/2006/relationships/slideLayout" Target="../slideLayouts/slideLayout94.xml"/><Relationship Id="rId43" Type="http://schemas.openxmlformats.org/officeDocument/2006/relationships/slideLayout" Target="../slideLayouts/slideLayout95.xml"/><Relationship Id="rId44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97.xml"/><Relationship Id="rId46" Type="http://schemas.openxmlformats.org/officeDocument/2006/relationships/slideLayout" Target="../slideLayouts/slideLayout98.xml"/><Relationship Id="rId47" Type="http://schemas.openxmlformats.org/officeDocument/2006/relationships/slideLayout" Target="../slideLayouts/slideLayout99.xml"/><Relationship Id="rId48" Type="http://schemas.openxmlformats.org/officeDocument/2006/relationships/slideLayout" Target="../slideLayouts/slideLayout100.xml"/><Relationship Id="rId49" Type="http://schemas.openxmlformats.org/officeDocument/2006/relationships/slideLayout" Target="../slideLayouts/slideLayout101.xml"/><Relationship Id="rId50" Type="http://schemas.openxmlformats.org/officeDocument/2006/relationships/slideLayout" Target="../slideLayouts/slideLayout102.xml"/><Relationship Id="rId51" Type="http://schemas.openxmlformats.org/officeDocument/2006/relationships/slideLayout" Target="../slideLayouts/slideLayout103.xml"/><Relationship Id="rId52" Type="http://schemas.openxmlformats.org/officeDocument/2006/relationships/slideLayout" Target="../slideLayouts/slideLayout104.xml"/><Relationship Id="rId5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5178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  <p:sldLayoutId id="2147483680" r:id="rId29"/>
    <p:sldLayoutId id="2147483681" r:id="rId30"/>
    <p:sldLayoutId id="2147483682" r:id="rId31"/>
    <p:sldLayoutId id="2147483683" r:id="rId32"/>
    <p:sldLayoutId id="2147483684" r:id="rId33"/>
    <p:sldLayoutId id="2147483685" r:id="rId34"/>
    <p:sldLayoutId id="2147483686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2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699" r:id="rId48"/>
    <p:sldLayoutId id="2147483700" r:id="rId49"/>
    <p:sldLayoutId id="2147483701" r:id="rId50"/>
    <p:sldLayoutId id="2147483702" r:id="rId51"/>
    <p:sldLayoutId id="2147483703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0550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417840"/>
            <a:ext cx="4621490" cy="2695383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5865755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ОРГАНИЗАЦИЯ ОКАЗАНИЯ ПЕРВОЙ ПОМОЩИ В РФ. НОРМАТИВНО-ПРАВОВАЯ БАЗА</a:t>
            </a: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7573216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50701709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38852"/>
            <a:ext cx="684000" cy="638316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 defTabSz="1828434">
              <a:defRPr/>
            </a:pPr>
            <a:fld id="{86CB4B4D-7CA3-9044-876B-883B54F8677D}" type="slidenum">
              <a:rPr kern="0">
                <a:latin typeface="Open Sans Light"/>
                <a:ea typeface="Open Sans"/>
                <a:cs typeface="Calibri"/>
                <a:sym typeface="Open Sans"/>
              </a:rPr>
              <a:pPr algn="ctr" defTabSz="1828434">
                <a:defRPr/>
              </a:pPr>
              <a:t/>
            </a:fld>
            <a:r>
              <a:t>2</a:t>
            </a:r>
            <a:endParaRPr kern="0"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7"/>
            <a:ext cx="24280504" cy="832087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defTabSz="914400">
              <a:defRPr/>
            </a:pPr>
            <a:r>
              <a:rPr lang="ru-RU" sz="4600" dirty="0" b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ПЯТЬ КОМПОНЕНТОВ СИСТЕМЫ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58" y="2604670"/>
            <a:ext cx="859688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4" y="2753858"/>
            <a:ext cx="6408712" cy="681808"/>
          </a:xfrm>
          <a:prstGeom prst="rect">
            <a:avLst/>
          </a:prstGeom>
          <a:ln w="25400">
            <a:miter lim="400000"/>
          </a:ln>
        </p:spPr>
        <p:txBody>
          <a:bodyPr tIns="91440" bIns="91440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>
              <a:defRPr/>
            </a:pPr>
            <a:r>
              <a:rPr lang="ru-RU" sz="2800" b="0">
                <a:solidFill>
                  <a:srgbClr val="535353"/>
                </a:solidFill>
                <a:latin typeface="Open Sans"/>
              </a:rPr>
              <a:t>Тема 1 · п. 1  Организация и нормативно-правовая база</a:t>
            </a:r>
            <a:endParaRPr lang="ru-RU" dirty="0"/>
          </a:p>
        </p:txBody>
      </p:sp>
      <p:pic>
        <p:nvPicPr>
          <p:cNvPr id="10" name="Picture 5"/>
          <p:cNvPicPr>
            <a:picLocks noChangeAspect="1" noChangeArrowheads="1"/>
          </p:cNvPicPr>
          <p:nvPr/>
        </p:nvPicPr>
        <p:blipFill>
          <a:blip r:embed="rId2"/>
          <a:srcRect t="11351"/>
          <a:stretch/>
        </p:blipFill>
        <p:spPr bwMode="auto">
          <a:xfrm>
            <a:off x="1833400" y="7232303"/>
            <a:ext cx="2727076" cy="5808806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1" name="Овальная выноска 4"/>
          <p:cNvSpPr/>
          <p:nvPr/>
        </p:nvSpPr>
        <p:spPr bwMode="auto">
          <a:xfrm>
            <a:off x="3875079" y="3861098"/>
            <a:ext cx="7589738" cy="4258675"/>
          </a:xfrm>
          <a:prstGeom prst="wedgeEllipseCallout">
            <a:avLst>
              <a:gd name="adj1" fmla="val -53192"/>
              <a:gd name="adj2" fmla="val 46931"/>
            </a:avLst>
          </a:prstGeom>
          <a:solidFill>
            <a:srgbClr val="FFC000">
              <a:lumMod val="20000"/>
              <a:lumOff val="80000"/>
            </a:srgbClr>
          </a:solidFill>
          <a:ln w="25400" cap="flat" cmpd="sng" algn="ctr">
            <a:solidFill>
              <a:srgbClr val="FFC000">
                <a:lumMod val="20000"/>
                <a:lumOff val="80000"/>
              </a:srgbClr>
            </a:solidFill>
            <a:prstDash val="solid"/>
          </a:ln>
          <a:effectLst/>
        </p:spPr>
        <p:txBody>
          <a:bodyPr rot="0" spcFirstLastPara="1" vertOverflow="overflow" horzOverflow="overflow" vert="horz" wrap="square" lIns="91440" tIns="91440" rIns="91440" bIns="91440" numCol="1" spcCol="38100" rtlCol="0" anchor="ctr">
            <a:spAutoFit/>
          </a:bodyPr>
          <a:lstStyle/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>По учебному пособию Минздрава (2025) система оказания первой помощи в РФ состоит из пяти основных компонентов:</a:t>
            </a:r>
            <a:endParaRPr/>
          </a:p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 xml:space="preserve"> </a:t>
            </a:r>
            <a:endParaRPr/>
          </a:p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>1. Организация и нормативно-правовое обеспечение.</a:t>
            </a:r>
            <a:endParaRPr/>
          </a:p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>2. Обучение участников оказания первой помощи правилам и навыкам ее оказания.</a:t>
            </a:r>
            <a:endParaRPr/>
          </a:p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>3. Оснащение участников средствами для ее оказания (аптечками, укладками, наборами, комплектами).</a:t>
            </a:r>
            <a:endParaRPr/>
          </a:p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>4. Мотивирование на обучение и оказание первой помощи.</a:t>
            </a:r>
            <a:endParaRPr/>
          </a:p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>5. Учет и анализ эффективности оказания первой помощи.</a:t>
            </a:r>
            <a:endParaRPr/>
          </a:p>
        </p:txBody>
      </p:sp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12912081" y="5345832"/>
            <a:ext cx="10176530" cy="677474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38852"/>
            <a:ext cx="684000" cy="638316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 defTabSz="1828434">
              <a:defRPr/>
            </a:pPr>
            <a:fld id="{86CB4B4D-7CA3-9044-876B-883B54F8677D}" type="slidenum">
              <a:rPr kern="0">
                <a:latin typeface="Open Sans Light"/>
                <a:ea typeface="Open Sans"/>
                <a:cs typeface="Calibri"/>
                <a:sym typeface="Open Sans"/>
              </a:rPr>
              <a:pPr algn="ctr" defTabSz="1828434">
                <a:defRPr/>
              </a:pPr>
              <a:t/>
            </a:fld>
            <a:r>
              <a:t>3</a:t>
            </a:r>
            <a:endParaRPr kern="0"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7"/>
            <a:ext cx="24280504" cy="832087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defTabSz="914400"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ПОНЯТИЕ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58" y="2604670"/>
            <a:ext cx="859688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4" y="2753858"/>
            <a:ext cx="6408712" cy="681808"/>
          </a:xfrm>
          <a:prstGeom prst="rect">
            <a:avLst/>
          </a:prstGeom>
          <a:ln w="25400">
            <a:miter lim="400000"/>
          </a:ln>
        </p:spPr>
        <p:txBody>
          <a:bodyPr tIns="91440" bIns="91440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>
              <a:defRPr/>
            </a:pPr>
            <a:r>
              <a:rPr lang="ru-RU"/>
              <a:t>Аспекты оказания первой помощи</a:t>
            </a:r>
            <a:endParaRPr lang="ru-RU" dirty="0"/>
          </a:p>
        </p:txBody>
      </p:sp>
      <p:pic>
        <p:nvPicPr>
          <p:cNvPr id="10" name="Picture 5"/>
          <p:cNvPicPr>
            <a:picLocks noChangeAspect="1" noChangeArrowheads="1"/>
          </p:cNvPicPr>
          <p:nvPr/>
        </p:nvPicPr>
        <p:blipFill>
          <a:blip r:embed="rId2"/>
          <a:srcRect t="11351"/>
          <a:stretch/>
        </p:blipFill>
        <p:spPr bwMode="auto">
          <a:xfrm>
            <a:off x="1833400" y="7232303"/>
            <a:ext cx="2727076" cy="5808806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1" name="Овальная выноска 4"/>
          <p:cNvSpPr/>
          <p:nvPr/>
        </p:nvSpPr>
        <p:spPr bwMode="auto">
          <a:xfrm>
            <a:off x="3875079" y="3861098"/>
            <a:ext cx="7589738" cy="4258675"/>
          </a:xfrm>
          <a:prstGeom prst="wedgeEllipseCallout">
            <a:avLst>
              <a:gd name="adj1" fmla="val -53192"/>
              <a:gd name="adj2" fmla="val 46931"/>
            </a:avLst>
          </a:prstGeom>
          <a:solidFill>
            <a:srgbClr val="FFC000">
              <a:lumMod val="20000"/>
              <a:lumOff val="80000"/>
            </a:srgbClr>
          </a:solidFill>
          <a:ln w="25400" cap="flat" cmpd="sng" algn="ctr">
            <a:solidFill>
              <a:srgbClr val="FFC000">
                <a:lumMod val="20000"/>
                <a:lumOff val="80000"/>
              </a:srgbClr>
            </a:solidFill>
            <a:prstDash val="solid"/>
          </a:ln>
          <a:effectLst/>
        </p:spPr>
        <p:txBody>
          <a:bodyPr rot="0" spcFirstLastPara="1" vertOverflow="overflow" horzOverflow="overflow" vert="horz" wrap="square" lIns="91440" tIns="91440" rIns="91440" bIns="91440" numCol="1" spcCol="38100" rtlCol="0" anchor="ctr">
            <a:spAutoFit/>
          </a:bodyPr>
          <a:lstStyle/>
          <a:p>
            <a:pPr defTabSz="914400">
              <a:defRPr/>
            </a:pPr>
            <a:r>
              <a:rPr lang="ru-RU" sz="2800" b="1">
                <a:cs typeface="Calibri"/>
              </a:rPr>
              <a:t>Первая помощь </a:t>
            </a:r>
            <a:r>
              <a:rPr lang="ru-RU" sz="2800">
                <a:cs typeface="Calibri"/>
              </a:rPr>
              <a:t>- комплекс мероприятий, направленных на поддержание жизни и здоровья, оказываемых до оказания медицинской помощи пострадавшим</a:t>
            </a:r>
          </a:p>
        </p:txBody>
      </p:sp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12912081" y="5345832"/>
            <a:ext cx="10176530" cy="677474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51138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 defTabSz="1828434" rtl="0">
              <a:lnSpc>
                <a:spcPct val="100000"/>
              </a:lnSpc>
              <a:defRPr/>
            </a:pPr>
            <a:fld id="{86CB4B4D-7CA3-9044-876B-883B54F8677D}" type="slidenum">
              <a:rPr>
                <a:latin typeface="Open Sans Light"/>
                <a:cs typeface="Calibri"/>
                <a:sym typeface="Open Sans"/>
              </a:rPr>
              <a:pPr algn="ctr" defTabSz="1828434" rtl="0">
                <a:lnSpc>
                  <a:spcPct val="100000"/>
                </a:lnSpc>
                <a:defRPr/>
              </a:pPr>
              <a:t/>
            </a:fld>
            <a:r>
              <a:t>4</a:t>
            </a:r>
            <a:endParaRPr>
              <a:latin typeface="Open Sans Light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5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ОРГАНИЗАЦИЯ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51" y="2604670"/>
            <a:ext cx="1353551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Аспекты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6" name="Прямоугольник 5"/>
          <p:cNvSpPr/>
          <p:nvPr/>
        </p:nvSpPr>
        <p:spPr bwMode="auto">
          <a:xfrm>
            <a:off x="12912080" y="4265712"/>
            <a:ext cx="10384021" cy="72019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 b="1"/>
              <a:t>На сегодняшний день система оказания первой помощи в Российской Федерации состоит из пяти основных компонентов:</a:t>
            </a:r>
            <a:endParaRPr/>
          </a:p>
          <a:p>
            <a:pPr>
              <a:defRPr/>
            </a:pPr>
            <a:endParaRPr lang="ru-RU" sz="2800"/>
          </a:p>
          <a:p>
            <a:pPr marL="514350" indent="-514350">
              <a:buAutoNum type="arabicPeriod"/>
              <a:defRPr/>
            </a:pPr>
            <a:r>
              <a:rPr lang="ru-RU" sz="2800"/>
              <a:t>Нормативно-правовое обеспечение (федеральные законы и прочие нормативные акты и документы, определяющие обязанности и права участников оказания первой помощи, их оснащение, объем первой помощи и т.д.).</a:t>
            </a:r>
            <a:endParaRPr/>
          </a:p>
          <a:p>
            <a:pPr marL="514350" indent="-514350">
              <a:buAutoNum type="arabicPeriod"/>
              <a:defRPr/>
            </a:pPr>
            <a:endParaRPr lang="ru-RU" sz="2800"/>
          </a:p>
          <a:p>
            <a:pPr marL="514350" indent="-514350">
              <a:buAutoNum type="arabicPeriod"/>
              <a:defRPr/>
            </a:pPr>
            <a:r>
              <a:rPr lang="ru-RU" sz="2800"/>
              <a:t>Обучение участников оказания первой помощи правилам и навыкам ее оказания.</a:t>
            </a:r>
            <a:endParaRPr/>
          </a:p>
          <a:p>
            <a:pPr marL="514350" indent="-514350">
              <a:buAutoNum type="arabicPeriod"/>
              <a:defRPr/>
            </a:pPr>
            <a:endParaRPr lang="ru-RU" sz="2800"/>
          </a:p>
          <a:p>
            <a:pPr marL="514350" indent="-514350">
              <a:buAutoNum type="arabicPeriod"/>
              <a:defRPr/>
            </a:pPr>
            <a:r>
              <a:rPr lang="ru-RU" sz="2800"/>
              <a:t>Оснащение участников оказания первой помощи средствами для ее оказания (аптечками и укладками).</a:t>
            </a:r>
            <a:endParaRPr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979" t="32809" r="5668" b="7649"/>
          <a:stretch/>
        </p:blipFill>
        <p:spPr bwMode="auto">
          <a:xfrm>
            <a:off x="844359" y="4158732"/>
            <a:ext cx="11756204" cy="801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010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5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5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ОРГАНИЗАЦИЯ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51" y="2604670"/>
            <a:ext cx="1353551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Аспекты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8" name="Прямоугольник 7"/>
          <p:cNvSpPr/>
          <p:nvPr/>
        </p:nvSpPr>
        <p:spPr bwMode="auto">
          <a:xfrm>
            <a:off x="1678832" y="9450288"/>
            <a:ext cx="21394980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 b="1"/>
              <a:t>Участники оказания первой помощи </a:t>
            </a:r>
            <a:r>
              <a:rPr lang="ru-RU" sz="2800"/>
              <a:t>могут иметь различную подготовку к ее оказанию и оснащение. Также они могут быть </a:t>
            </a:r>
            <a:r>
              <a:rPr lang="ru-RU" sz="2800" b="1"/>
              <a:t>обязанными оказывать первую помощь</a:t>
            </a:r>
            <a:r>
              <a:rPr lang="ru-RU" sz="2800"/>
              <a:t>, либо </a:t>
            </a:r>
            <a:r>
              <a:rPr lang="ru-RU" sz="2800" b="1"/>
              <a:t>иметь право ее оказывать</a:t>
            </a:r>
            <a:r>
              <a:rPr lang="ru-RU" sz="2800"/>
              <a:t>. </a:t>
            </a:r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/>
              <a:t>В большинстве случаев первая помощь должна заканчиваться передачей пострадавших прибывшей </a:t>
            </a:r>
            <a:r>
              <a:rPr lang="ru-RU" sz="2800" b="1"/>
              <a:t>бригаде скорой медицинской помощи</a:t>
            </a:r>
            <a:r>
              <a:rPr lang="ru-RU" sz="2800"/>
              <a:t>, которая, продолжая оказание помощи в пути, доставляет пострадавшего в лечебное учреждение.</a:t>
            </a:r>
            <a:endParaRPr/>
          </a:p>
        </p:txBody>
      </p:sp>
      <p:pic>
        <p:nvPicPr>
          <p:cNvPr id="9" name="Picture 7" descr="для доклада12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3132955" y="3918224"/>
            <a:ext cx="18486735" cy="54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7635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6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5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НОРМАТИВНО-ПРАВОВАЯ БАЗА ОКАЗАНИЯ ПЕРВОЙ ПОМОЩИ</a:t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56" y="2604670"/>
            <a:ext cx="9511445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Аспекты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0" name="Прямоугольник 9"/>
          <p:cNvSpPr/>
          <p:nvPr/>
        </p:nvSpPr>
        <p:spPr bwMode="auto">
          <a:xfrm>
            <a:off x="9455696" y="4283457"/>
            <a:ext cx="13667579" cy="5780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/>
              <a:t>Федеральный закон от 21.11.2011 №323-ФЗ </a:t>
            </a:r>
            <a:r>
              <a:rPr lang="ru-RU" sz="2800" b="1"/>
              <a:t>«Об основах охраны здоровья граждан Российской Федерации»</a:t>
            </a:r>
            <a:r>
              <a:rPr lang="ru-RU" sz="2800"/>
              <a:t>:</a:t>
            </a:r>
            <a:endParaRPr/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 b="1"/>
              <a:t>Статья 31. Первая помощь:</a:t>
            </a:r>
            <a:endParaRPr/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/>
              <a:t>«1. Первая помощь до оказания медицинской помощи оказывается гражданам при несчастных случаях, травмах, отравлениях и других состояниях и заболеваниях, угрожающих их жизни и здоровью…»</a:t>
            </a:r>
            <a:endParaRPr/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/>
              <a:t>« 4. Водители транспортных средств и другие лица вправе оказывать первую помощь при наличии соответствующей подготовки и (или) навыков.»</a:t>
            </a:r>
          </a:p>
          <a:p>
            <a:pPr>
              <a:defRPr/>
            </a:pPr>
            <a:endParaRPr lang="ru-RU" sz="2800"/>
          </a:p>
        </p:txBody>
      </p:sp>
      <p:pic>
        <p:nvPicPr>
          <p:cNvPr id="11" name="Picture 2" descr="Федеральный закон &quot;Об основах охраны здоровья граждан в Российской Федерации&quot; текст с изменениями и дополнениями на 2022 год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2220612" y="3986987"/>
            <a:ext cx="5312275" cy="874962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71201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7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5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kumimoji="0" lang="ru-RU" sz="4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НОРМАТИВНО-ПРАВОВАЯ БАЗА </a:t>
            </a: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ОКАЗАНИЯ ПЕРВОЙ ПОМОЩИ</a:t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56" y="2604670"/>
            <a:ext cx="9511445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Аспекты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8" name="Прямоугольник 7"/>
          <p:cNvSpPr/>
          <p:nvPr/>
        </p:nvSpPr>
        <p:spPr bwMode="auto">
          <a:xfrm>
            <a:off x="1651413" y="3694094"/>
            <a:ext cx="21630492" cy="456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/>
              <a:t>Законодательство разного уровня устанавливает обязанность по оказанию первой помощи для лиц, которые </a:t>
            </a:r>
            <a:r>
              <a:rPr lang="ru-RU" b="1"/>
              <a:t>в силу профессиональных обязанностей первыми оказываются на месте происшествия </a:t>
            </a:r>
            <a:r>
              <a:rPr lang="ru-RU"/>
              <a:t>с пострадавшими.</a:t>
            </a:r>
            <a:endParaRPr/>
          </a:p>
          <a:p>
            <a:pPr>
              <a:defRPr/>
            </a:pPr>
            <a:endParaRPr lang="ru-RU"/>
          </a:p>
          <a:p>
            <a:pPr>
              <a:defRPr/>
            </a:pPr>
            <a:r>
              <a:rPr lang="ru-RU"/>
              <a:t>Обязанность </a:t>
            </a:r>
            <a:r>
              <a:rPr lang="ru-RU" b="1"/>
              <a:t>«…принять меры для оказания первой помощи…» </a:t>
            </a:r>
            <a:r>
              <a:rPr lang="ru-RU"/>
              <a:t>возникает у водителей, причастных к ДТП (п. 2.6 ПДД РФ). Принятие мер к оказанию первой помощи относится к обязанностям водителя в связи с ДТП, за невыполнение которых водителю грозит </a:t>
            </a:r>
            <a:r>
              <a:rPr lang="ru-RU" b="1"/>
              <a:t>привлечение к административной ответственности и наказание в виде административного штрафа </a:t>
            </a:r>
            <a:r>
              <a:rPr lang="ru-RU"/>
              <a:t>(ч. 1 ст. 12.27 КоАП). В том случае, если гражданин </a:t>
            </a:r>
            <a:r>
              <a:rPr lang="ru-RU" b="1"/>
              <a:t>заведомо оставил пострадавшего</a:t>
            </a:r>
            <a:r>
              <a:rPr lang="ru-RU"/>
              <a:t>, находящегося в беспомощном состоянии без возможности получения помощи, </a:t>
            </a:r>
            <a:r>
              <a:rPr lang="ru-RU" b="1"/>
              <a:t>он может быть привлечен к уголовной ответственности </a:t>
            </a:r>
            <a:r>
              <a:rPr lang="ru-RU"/>
              <a:t>(ст. 125 «Оставление в опасности» УК РФ). </a:t>
            </a:r>
          </a:p>
          <a:p>
            <a:pPr>
              <a:defRPr/>
            </a:pPr>
            <a:endParaRPr lang="ru-RU"/>
          </a:p>
          <a:p>
            <a:pPr>
              <a:defRPr/>
            </a:pPr>
            <a:r>
              <a:rPr lang="ru-RU"/>
              <a:t>В том случае, если водитель не причастен к ДТП, но стал его свидетелем, согласно ч. 4 ст. 31 Федерального закона № 323-ФЗ «Об основах охраны здоровья граждан в Российской Федерации», </a:t>
            </a:r>
            <a:r>
              <a:rPr lang="ru-RU" b="1"/>
              <a:t>водитель вправе добровольно оказать первую помощь</a:t>
            </a:r>
            <a:r>
              <a:rPr lang="ru-RU"/>
              <a:t>.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/>
        </p:blipFill>
        <p:spPr bwMode="auto">
          <a:xfrm>
            <a:off x="6935416" y="7264941"/>
            <a:ext cx="12207176" cy="647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473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8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5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kumimoji="0" lang="ru-RU" sz="4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НОРМАТИВНО-ПРАВОВАЯ БАЗА </a:t>
            </a: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ОКАЗАНИЯ ПЕРВОЙ ПОМОЩИ</a:t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56" y="2604670"/>
            <a:ext cx="9511445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Аспекты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0" name="Прямоугольник 9"/>
          <p:cNvSpPr/>
          <p:nvPr/>
        </p:nvSpPr>
        <p:spPr bwMode="auto">
          <a:xfrm>
            <a:off x="9113535" y="4049688"/>
            <a:ext cx="14282202" cy="5780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 dirty="0"/>
              <a:t>Статья 228 Трудового кодекса Российской Федерации предусматривает обязанность работодателя при несчастном случае на производстве </a:t>
            </a:r>
            <a:r>
              <a:rPr lang="ru-RU" sz="2800" b="1" dirty="0"/>
              <a:t>«немедленно организовать первую помощь пострадавшему и при необходимости доставку его в медицинскую организацию»</a:t>
            </a:r>
            <a:r>
              <a:rPr lang="ru-RU" sz="2800" dirty="0"/>
              <a:t>. </a:t>
            </a:r>
          </a:p>
          <a:p>
            <a:pPr>
              <a:defRPr/>
            </a:pPr>
            <a:endParaRPr lang="ru-RU" sz="2800" dirty="0"/>
          </a:p>
          <a:p>
            <a:pPr>
              <a:defRPr/>
            </a:pPr>
            <a:r>
              <a:rPr lang="ru-RU" sz="2800" dirty="0"/>
              <a:t>Для организации оказания первой помощи при несчастном случае на производстве силами работников на работодателя возложена обязанность </a:t>
            </a:r>
            <a:r>
              <a:rPr lang="ru-RU" sz="2800" b="1" dirty="0"/>
              <a:t>организовывать обучение первой помощи </a:t>
            </a:r>
            <a:r>
              <a:rPr lang="ru-RU" sz="2800" dirty="0"/>
              <a:t>для всех поступающих на работу лиц, а также для работников, переводимых на другую работу (ст. 214, 219 ТК РФ). </a:t>
            </a:r>
            <a:endParaRPr dirty="0"/>
          </a:p>
          <a:p>
            <a:pPr>
              <a:defRPr/>
            </a:pPr>
            <a:endParaRPr lang="ru-RU" sz="2800" dirty="0"/>
          </a:p>
          <a:p>
            <a:pPr>
              <a:defRPr/>
            </a:pPr>
            <a:r>
              <a:rPr lang="ru-RU" sz="2800" dirty="0"/>
              <a:t>Для работника ТК РФ предусматривает обязанность </a:t>
            </a:r>
            <a:r>
              <a:rPr lang="ru-RU" sz="2800" b="1" dirty="0"/>
              <a:t>«проходить обучение по оказанию первой помощи пострадавшим на производстве» </a:t>
            </a:r>
            <a:r>
              <a:rPr lang="ru-RU" sz="2800" dirty="0"/>
              <a:t>(ст. 215 ТК РФ). </a:t>
            </a: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2022829" y="4049687"/>
            <a:ext cx="5445571" cy="8566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989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9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5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kumimoji="0" lang="ru-RU" sz="4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НОРМАТИВНО-ПРАВОВАЯ БАЗА </a:t>
            </a: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ОКАЗАНИЯ ПЕРВОЙ ПОМОЩИ</a:t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56" y="2604670"/>
            <a:ext cx="9511445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Аспекты оказания первой помощи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8" name="Прямоугольник 7"/>
          <p:cNvSpPr/>
          <p:nvPr/>
        </p:nvSpPr>
        <p:spPr bwMode="auto">
          <a:xfrm>
            <a:off x="10031760" y="2969568"/>
            <a:ext cx="13880883" cy="909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 b="1"/>
              <a:t>Освобождение от ответственности:</a:t>
            </a:r>
            <a:endParaRPr/>
          </a:p>
          <a:p>
            <a:pPr>
              <a:defRPr/>
            </a:pPr>
            <a:endParaRPr lang="ru-RU" sz="2800" b="1"/>
          </a:p>
          <a:p>
            <a:pPr>
              <a:defRPr/>
            </a:pPr>
            <a:r>
              <a:rPr lang="ru-RU" sz="2800" b="1"/>
              <a:t>УК РФ ст. 39. Крайняя необходимость:</a:t>
            </a:r>
            <a:endParaRPr/>
          </a:p>
          <a:p>
            <a:pPr>
              <a:defRPr/>
            </a:pPr>
            <a:endParaRPr lang="ru-RU" sz="2800" b="1"/>
          </a:p>
          <a:p>
            <a:pPr>
              <a:defRPr/>
            </a:pPr>
            <a:r>
              <a:rPr lang="ru-RU" sz="2800"/>
              <a:t>«Не является преступлением причинение вреда … в состоянии крайней необходимости, то есть для устранения опасности, непосредственно угрожающей личности и правам данного лица …»</a:t>
            </a:r>
            <a:endParaRPr/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 b="1"/>
              <a:t>КоАП РФ ст. 2.7. Крайняя необходимость:</a:t>
            </a:r>
            <a:endParaRPr/>
          </a:p>
          <a:p>
            <a:pPr>
              <a:defRPr/>
            </a:pPr>
            <a:endParaRPr lang="ru-RU" sz="2800" b="1"/>
          </a:p>
          <a:p>
            <a:pPr>
              <a:defRPr/>
            </a:pPr>
            <a:r>
              <a:rPr lang="ru-RU" sz="2800"/>
              <a:t>«Не является административным правонарушением причинение лицом вреда … в состоянии крайней необходимости, то есть для устранения опасности, непосредственно угрожающей личности и правам данного лица …»</a:t>
            </a:r>
            <a:endParaRPr/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/>
              <a:t>В случае решения в суде вопроса о привлечении лица к ответственности за причинение вреда жизни или здоровью, оказание первой помощи пострадавшему учитывается как </a:t>
            </a:r>
            <a:r>
              <a:rPr lang="ru-RU" sz="2800" b="1"/>
              <a:t>обстоятельство, смягчающее наказание </a:t>
            </a:r>
            <a:r>
              <a:rPr lang="ru-RU" sz="2800"/>
              <a:t>(п. 2 ч. 1 ст. 4.2 Кодекса Российской Федерации об административных правонарушениях; п. «к» ч. 1 ст. 61 Уголовного Кодекса Российской Федерации).</a:t>
            </a:r>
            <a:endParaRPr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005668" y="5240698"/>
            <a:ext cx="8325949" cy="6244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540051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38852"/>
            <a:ext cx="684000" cy="638316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 defTabSz="1828434">
              <a:defRPr/>
            </a:pPr>
            <a:fld id="{86CB4B4D-7CA3-9044-876B-883B54F8677D}" type="slidenum">
              <a:rPr kern="0">
                <a:latin typeface="Open Sans Light"/>
                <a:ea typeface="Open Sans"/>
                <a:cs typeface="Calibri"/>
                <a:sym typeface="Open Sans"/>
              </a:rPr>
              <a:pPr algn="ctr" defTabSz="1828434">
                <a:defRPr/>
              </a:pPr>
              <a:t/>
            </a:fld>
            <a:r>
              <a:t>10</a:t>
            </a:r>
            <a:endParaRPr kern="0"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7"/>
            <a:ext cx="24280504" cy="832087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defTabSz="914400">
              <a:defRPr/>
            </a:pPr>
            <a:r>
              <a:rPr lang="ru-RU" sz="4600" dirty="0" b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ПОРЯДОК № 220н: СОГЛАСИЕ, ПРИОРИТЕТ, АНД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58" y="2604670"/>
            <a:ext cx="859688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4" y="2753858"/>
            <a:ext cx="6408712" cy="681808"/>
          </a:xfrm>
          <a:prstGeom prst="rect">
            <a:avLst/>
          </a:prstGeom>
          <a:ln w="25400">
            <a:miter lim="400000"/>
          </a:ln>
        </p:spPr>
        <p:txBody>
          <a:bodyPr tIns="91440" bIns="91440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>
              <a:defRPr/>
            </a:pPr>
            <a:r>
              <a:rPr lang="ru-RU" sz="2800" b="0">
                <a:solidFill>
                  <a:srgbClr val="535353"/>
                </a:solidFill>
                <a:latin typeface="Open Sans"/>
              </a:rPr>
              <a:t>Тема 1 · п. 1  Организация и нормативно-правовая база</a:t>
            </a:r>
            <a:endParaRPr lang="ru-RU" dirty="0"/>
          </a:p>
        </p:txBody>
      </p:sp>
      <p:pic>
        <p:nvPicPr>
          <p:cNvPr id="10" name="Picture 5"/>
          <p:cNvPicPr>
            <a:picLocks noChangeAspect="1" noChangeArrowheads="1"/>
          </p:cNvPicPr>
          <p:nvPr/>
        </p:nvPicPr>
        <p:blipFill>
          <a:blip r:embed="rId2"/>
          <a:srcRect t="11351"/>
          <a:stretch/>
        </p:blipFill>
        <p:spPr bwMode="auto">
          <a:xfrm>
            <a:off x="1833400" y="7232303"/>
            <a:ext cx="2727076" cy="5808806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1" name="Овальная выноска 4"/>
          <p:cNvSpPr/>
          <p:nvPr/>
        </p:nvSpPr>
        <p:spPr bwMode="auto">
          <a:xfrm>
            <a:off x="3875079" y="3861098"/>
            <a:ext cx="7589738" cy="4258675"/>
          </a:xfrm>
          <a:prstGeom prst="wedgeEllipseCallout">
            <a:avLst>
              <a:gd name="adj1" fmla="val -53192"/>
              <a:gd name="adj2" fmla="val 46931"/>
            </a:avLst>
          </a:prstGeom>
          <a:solidFill>
            <a:srgbClr val="FFC000">
              <a:lumMod val="20000"/>
              <a:lumOff val="80000"/>
            </a:srgbClr>
          </a:solidFill>
          <a:ln w="25400" cap="flat" cmpd="sng" algn="ctr">
            <a:solidFill>
              <a:srgbClr val="FFC000">
                <a:lumMod val="20000"/>
                <a:lumOff val="80000"/>
              </a:srgbClr>
            </a:solidFill>
            <a:prstDash val="solid"/>
          </a:ln>
          <a:effectLst/>
        </p:spPr>
        <p:txBody>
          <a:bodyPr rot="0" spcFirstLastPara="1" vertOverflow="overflow" horzOverflow="overflow" vert="horz" wrap="square" lIns="91440" tIns="91440" rIns="91440" bIns="91440" numCol="1" spcCol="38100" rtlCol="0" anchor="ctr">
            <a:spAutoFit/>
          </a:bodyPr>
          <a:lstStyle/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>По приказу Минздрава России от 03.05.2024 № 220н (с 01.09.2024):</a:t>
            </a:r>
            <a:endParaRPr/>
          </a:p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 xml:space="preserve"> </a:t>
            </a:r>
            <a:endParaRPr/>
          </a:p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>• Оказание первой помощи допускается, если отсутствует выраженный до начала оказания первой помощи отказ гражданина или его законного представителя.</a:t>
            </a:r>
            <a:endParaRPr/>
          </a:p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>• Первая помощь оказывается при условии отсутствия угрожающих жизни и здоровью оказывающего ее лица факторов.</a:t>
            </a:r>
            <a:endParaRPr/>
          </a:p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>• При двух и более пострадавших первоочередность — по тяжести состояния; приоритет отдаётся детям (несовершеннолетним).</a:t>
            </a:r>
            <a:endParaRPr/>
          </a:p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>• Разрешено применение автоматических наружных дефибрилляторов (АНД) при наличии.</a:t>
            </a:r>
            <a:endParaRPr/>
          </a:p>
          <a:p>
            <a:pPr defTabSz="914400">
              <a:defRPr/>
            </a:pPr>
            <a:r>
              <a:rPr lang="ru-RU" sz="2200" b="1">
                <a:solidFill>
                  <a:srgbClr val="404040"/>
                </a:solidFill>
                <a:latin typeface="Open Sans"/>
                <a:cs typeface="Calibri"/>
              </a:rPr>
              <a:t>• Допускается помощь пострадавшему в принятии лекарственных препаратов, назначенных врачом; могут использоваться подручные средства.</a:t>
            </a:r>
            <a:endParaRPr/>
          </a:p>
        </p:txBody>
      </p:sp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12912081" y="5345832"/>
            <a:ext cx="10176530" cy="677474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3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254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1496</TotalTime>
  <Words>703</Words>
  <Application>Microsoft Office PowerPoint</Application>
  <DocSecurity>0</DocSecurity>
  <PresentationFormat>Произвольный</PresentationFormat>
  <Paragraphs>62</Paragraphs>
  <Slides>8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Calibri</vt:lpstr>
      <vt:lpstr>Montserrat Semi Bold</vt:lpstr>
      <vt:lpstr>Open Sans</vt:lpstr>
      <vt:lpstr>Open Sans Light</vt:lpstr>
      <vt:lpstr>PFDinDisplayPro-Regular</vt:lpstr>
      <vt:lpstr>11_Office Theme</vt:lpstr>
      <vt:lpstr>13_Office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ИНТЕЛЛЕКТУАЛЬНОЕ ОБУЧЕНИЕ ЗАГОЛОВОК</dc:title>
  <dc:subject/>
  <dc:creator>ASUS</dc:creator>
  <cp:keywords/>
  <dc:description/>
  <cp:lastModifiedBy>smarta3@outlook.com</cp:lastModifiedBy>
  <cp:revision>136</cp:revision>
  <dcterms:modified xsi:type="dcterms:W3CDTF">2026-08-10T09:56:57Z</dcterms:modified>
  <cp:category/>
  <dc:identifier/>
  <cp:contentStatus/>
  <dc:language/>
  <cp:version/>
</cp:coreProperties>
</file>