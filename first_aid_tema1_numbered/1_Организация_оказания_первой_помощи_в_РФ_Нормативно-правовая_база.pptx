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</p:sldMasterIdLst>
  <p:notesMasterIdLst>
    <p:notesMasterId r:id="rId11"/>
  </p:notesMasterIdLst>
  <p:sldIdLst>
    <p:sldId id="280" r:id="rId3"/>
    <p:sldId id="289" r:id="rId16"/>
    <p:sldId id="288" r:id="rId4"/>
    <p:sldId id="281" r:id="rId5"/>
    <p:sldId id="283" r:id="rId6"/>
    <p:sldId id="284" r:id="rId7"/>
    <p:sldId id="285" r:id="rId8"/>
    <p:sldId id="286" r:id="rId9"/>
    <p:sldId id="287" r:id="rId10"/>
    <p:sldId id="290" r:id="rId17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03" autoAdjust="0"/>
    <p:restoredTop sz="92577" autoAdjust="0"/>
  </p:normalViewPr>
  <p:slideViewPr>
    <p:cSldViewPr>
      <p:cViewPr varScale="1">
        <p:scale>
          <a:sx n="76" d="100"/>
          <a:sy n="76" d="100"/>
        </p:scale>
        <p:origin x="2856" y="1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" Target="slides/slide1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2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417840"/>
            <a:ext cx="4621490" cy="2695383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5865755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ОРГАНИЗАЦИЯ ОКАЗАНИЯ ПЕРВОЙ ПОМОЩИ В РФ. НОРМАТИВНО-ПРАВОВАЯ БАЗА</a:t>
            </a: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573216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1371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0000" y="6540000"/>
            <a:ext cx="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Arial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0000" y="1400000"/>
            <a:ext cx="21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ПЯТЬ КОМПОНЕНТОВ СИСТЕМЫ ПЕРВОЙ ПОМОЩИ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0000" y="2500000"/>
            <a:ext cx="12000000" cy="70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0000" y="2650000"/>
            <a:ext cx="1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Тема 1 · п. 1  Организация и нормативно-правовая база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0000" y="3400000"/>
            <a:ext cx="20000000" cy="8800000"/>
          </a:xfrm>
          <a:prstGeom prst="round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0000" y="3700000"/>
            <a:ext cx="19000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По учебному пособию Минздрава (2025) система оказания первой помощи в РФ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состоит из пяти основных компонентов (ранее в презентации указывали три):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1. Организация и нормативно-правовое обеспечение.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2. Обучение участников оказания первой помощи правилам и навыкам ее оказания.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3. Оснащение участников средствами для ее оказания (аптечками, укладками, наборами, комплектами).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4. Мотивирование на обучение и оказание первой помощи.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5. Учет и анализ эффективности оказания первой помощи.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0000" y="12400000"/>
            <a:ext cx="2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Дополнено по учебному пособию Минздрава, 2025.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38852"/>
            <a:ext cx="684000" cy="638316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 defTabSz="1828434">
              <a:defRPr/>
            </a:pPr>
            <a:fld id="{86CB4B4D-7CA3-9044-876B-883B54F8677D}" type="slidenum">
              <a:rPr kern="0">
                <a:latin typeface="Open Sans Light"/>
                <a:ea typeface="Open Sans"/>
                <a:cs typeface="Calibri"/>
                <a:sym typeface="Open Sans"/>
              </a:rPr>
              <a:pPr algn="ctr" defTabSz="1828434">
                <a:defRPr/>
              </a:pPr>
              <a:t/>
            </a:fld>
            <a:r>
              <a:t>3</a:t>
            </a:r>
            <a:endParaRPr kern="0"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7"/>
            <a:ext cx="24280504" cy="832087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ПОНЯТИЕ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8" y="2604670"/>
            <a:ext cx="859688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4" y="2753858"/>
            <a:ext cx="6408712" cy="681808"/>
          </a:xfrm>
          <a:prstGeom prst="rect">
            <a:avLst/>
          </a:prstGeom>
          <a:ln w="25400">
            <a:miter lim="400000"/>
          </a:ln>
        </p:spPr>
        <p:txBody>
          <a:bodyPr tIns="91440" bIns="91440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>
              <a:defRPr/>
            </a:pPr>
            <a:r>
              <a:rPr lang="ru-RU"/>
              <a:t>Тема 1 · п. 1  Организация и нормативно-правовая база</a:t>
            </a:r>
            <a:endParaRPr lang="ru-RU" dirty="0"/>
          </a:p>
        </p:txBody>
      </p:sp>
      <p:pic>
        <p:nvPicPr>
          <p:cNvPr id="10" name="Picture 5"/>
          <p:cNvPicPr>
            <a:picLocks noChangeAspect="1" noChangeArrowheads="1"/>
          </p:cNvPicPr>
          <p:nvPr/>
        </p:nvPicPr>
        <p:blipFill>
          <a:blip r:embed="rId2"/>
          <a:srcRect t="11351"/>
          <a:stretch/>
        </p:blipFill>
        <p:spPr bwMode="auto">
          <a:xfrm>
            <a:off x="1833400" y="7232303"/>
            <a:ext cx="2727076" cy="5808806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11" name="Овальная выноска 4"/>
          <p:cNvSpPr/>
          <p:nvPr/>
        </p:nvSpPr>
        <p:spPr bwMode="auto">
          <a:xfrm>
            <a:off x="3875079" y="3861098"/>
            <a:ext cx="7589738" cy="4258675"/>
          </a:xfrm>
          <a:prstGeom prst="wedgeEllipseCallout">
            <a:avLst>
              <a:gd name="adj1" fmla="val -53192"/>
              <a:gd name="adj2" fmla="val 46931"/>
            </a:avLst>
          </a:prstGeom>
          <a:solidFill>
            <a:srgbClr val="FFC000">
              <a:lumMod val="20000"/>
              <a:lumOff val="80000"/>
            </a:srgbClr>
          </a:solidFill>
          <a:ln w="25400" cap="flat" cmpd="sng" algn="ctr">
            <a:solidFill>
              <a:srgbClr val="FFC000">
                <a:lumMod val="20000"/>
                <a:lumOff val="80000"/>
              </a:srgbClr>
            </a:solidFill>
            <a:prstDash val="solid"/>
          </a:ln>
          <a:effectLst/>
        </p:spPr>
        <p:txBody>
          <a:bodyPr rot="0" spcFirstLastPara="1" vertOverflow="overflow" horzOverflow="overflow" vert="horz" wrap="square" lIns="91440" tIns="91440" rIns="91440" bIns="91440" numCol="1" spcCol="38100" rtlCol="0" anchor="ctr">
            <a:spAutoFit/>
          </a:bodyPr>
          <a:lstStyle/>
          <a:p>
            <a:pPr defTabSz="914400">
              <a:defRPr/>
            </a:pPr>
            <a:r>
              <a:rPr lang="ru-RU" sz="2800" b="1">
                <a:cs typeface="Calibri"/>
              </a:rPr>
              <a:t>Первая помощь </a:t>
            </a:r>
            <a:r>
              <a:rPr lang="ru-RU" sz="2800">
                <a:cs typeface="Calibri"/>
              </a:rPr>
              <a:t>- комплекс мероприятий, направленных на поддержание жизни и здоровья, оказываемых до оказания медицинской помощи пострадавшим</a:t>
            </a: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2912081" y="5345832"/>
            <a:ext cx="10176530" cy="677474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11383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algn="ctr" defTabSz="1828434" rtl="0">
              <a:lnSpc>
                <a:spcPct val="100000"/>
              </a:lnSpc>
              <a:defRPr/>
            </a:pPr>
            <a:fld id="{86CB4B4D-7CA3-9044-876B-883B54F8677D}" type="slidenum">
              <a:rPr>
                <a:latin typeface="Open Sans Light"/>
                <a:cs typeface="Calibri"/>
                <a:sym typeface="Open Sans"/>
              </a:rPr>
              <a:pPr algn="ctr" defTabSz="1828434" rtl="0">
                <a:lnSpc>
                  <a:spcPct val="100000"/>
                </a:lnSpc>
                <a:defRPr/>
              </a:pPr>
              <a:t/>
            </a:fld>
            <a:r>
              <a:t>4</a:t>
            </a:r>
            <a:endParaRPr>
              <a:latin typeface="Open Sans Light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ОРГАНИЗАЦИЯ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1" y="2604670"/>
            <a:ext cx="1353551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  Организация и нормативно-правовая база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6" name="Прямоугольник 5"/>
          <p:cNvSpPr/>
          <p:nvPr/>
        </p:nvSpPr>
        <p:spPr bwMode="auto">
          <a:xfrm>
            <a:off x="12912080" y="4265712"/>
            <a:ext cx="10384021" cy="720197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На сегодняшний день система оказания первой помощи в Российской Федерации состоит из пяти основных компонентов:
Нормативно-правовое обеспечение (федеральные законы и прочие нормативные акты и документы, определяющие обязанности и права участников оказания первой помощи, их оснащение, объем первой помощи и т.д.).
Обучение участников оказания первой помощи правилам и навыкам ее оказания.
Оснащение участников оказания первой помощи средствами для ее оказания (аптечками и укладками).</a:t>
            </a:r>
            <a:endParaRPr/>
          </a:p>
          <a:p>
            <a:pPr>
              <a:defRPr/>
            </a:pPr>
            <a:endParaRPr lang="ru-RU" sz="2800"/>
          </a:p>
          <a:p>
            <a:pPr marL="514350" indent="-514350">
              <a:buAutoNum type="arabicPeriod"/>
              <a:defRPr/>
            </a:pPr>
            <a:r>
              <a:rPr lang="ru-RU" sz="2800"/>
              <a:t/>
            </a:r>
            <a:endParaRPr/>
          </a:p>
          <a:p>
            <a:pPr marL="514350" indent="-514350">
              <a:buAutoNum type="arabicPeriod"/>
              <a:defRPr/>
            </a:pPr>
            <a:endParaRPr lang="ru-RU" sz="2800"/>
          </a:p>
          <a:p>
            <a:pPr marL="514350" indent="-514350">
              <a:buAutoNum type="arabicPeriod"/>
              <a:defRPr/>
            </a:pPr>
            <a:r>
              <a:rPr lang="ru-RU" sz="2800"/>
              <a:t/>
            </a:r>
            <a:endParaRPr/>
          </a:p>
          <a:p>
            <a:pPr marL="514350" indent="-514350">
              <a:buAutoNum type="arabicPeriod"/>
              <a:defRPr/>
            </a:pPr>
            <a:endParaRPr lang="ru-RU" sz="2800"/>
          </a:p>
          <a:p>
            <a:pPr marL="514350" indent="-514350">
              <a:buAutoNum type="arabicPeriod"/>
              <a:defRPr/>
            </a:pPr>
            <a:r>
              <a:rPr lang="ru-RU" sz="2800"/>
              <a:t/>
            </a:r>
            <a:endParaRPr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6979" t="32809" r="5668" b="7649"/>
          <a:stretch/>
        </p:blipFill>
        <p:spPr bwMode="auto">
          <a:xfrm>
            <a:off x="844359" y="4158732"/>
            <a:ext cx="11756204" cy="801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0101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5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ОРГАНИЗАЦИЯ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51" y="2604670"/>
            <a:ext cx="1353551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  Организация и нормативно-правовая база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678832" y="9450288"/>
            <a:ext cx="2139498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Участники оказания первой помощи </a:t>
            </a:r>
            <a:r>
              <a:rPr lang="ru-RU" sz="2800"/>
              <a:t>могут иметь различную подготовку к ее оказанию и оснащение. Также они могут быть </a:t>
            </a:r>
            <a:r>
              <a:rPr lang="ru-RU" sz="2800" b="1"/>
              <a:t>обязанными оказывать первую помощь</a:t>
            </a:r>
            <a:r>
              <a:rPr lang="ru-RU" sz="2800"/>
              <a:t>, либо </a:t>
            </a:r>
            <a:r>
              <a:rPr lang="ru-RU" sz="2800" b="1"/>
              <a:t>иметь право ее оказывать</a:t>
            </a:r>
            <a:r>
              <a:rPr lang="ru-RU" sz="2800"/>
              <a:t>. </a:t>
            </a:r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В большинстве случаев первая помощь должна заканчиваться передачей пострадавших прибывшей </a:t>
            </a:r>
            <a:r>
              <a:rPr lang="ru-RU" sz="2800" b="1"/>
              <a:t>бригаде скорой медицинской помощи</a:t>
            </a:r>
            <a:r>
              <a:rPr lang="ru-RU" sz="2800"/>
              <a:t>, которая, продолжая оказание помощи в пути, доставляет пострадавшего в лечебное учреждение.</a:t>
            </a:r>
            <a:endParaRPr/>
          </a:p>
        </p:txBody>
      </p:sp>
      <p:pic>
        <p:nvPicPr>
          <p:cNvPr id="9" name="Picture 7" descr="для доклада12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3132955" y="3918224"/>
            <a:ext cx="18486735" cy="54000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6357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6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  Организация и нормативно-правовая база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9455696" y="4283457"/>
            <a:ext cx="13667579" cy="578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/>
              <a:t>Федеральный закон от 21.11.2011 №323-ФЗ </a:t>
            </a:r>
            <a:r>
              <a:rPr lang="ru-RU" sz="2800" b="1"/>
              <a:t>«Об основах охраны здоровья граждан Российской Федерации»</a:t>
            </a:r>
            <a:r>
              <a:rPr lang="ru-RU" sz="2800"/>
              <a:t>: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 b="1"/>
              <a:t>Статья 31. Первая помощь: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«1. Первая помощь до оказания медицинской помощи оказывается гражданам при несчастных случаях, травмах, отравлениях и других состояниях и заболеваниях, угрожающих их жизни и здоровью…»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« 4. Водители транспортных средств и другие лица вправе оказывать первую помощь при наличии соответствующей подготовки и (или) навыков.»</a:t>
            </a:r>
          </a:p>
          <a:p>
            <a:pPr>
              <a:defRPr/>
            </a:pPr>
            <a:endParaRPr lang="ru-RU" sz="2800"/>
          </a:p>
        </p:txBody>
      </p:sp>
      <p:pic>
        <p:nvPicPr>
          <p:cNvPr id="11" name="Picture 2" descr="Федеральный закон &quot;Об основах охраны здоровья граждан в Российской Федерации&quot; текст с изменениями и дополнениями на 2022 год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220612" y="3986987"/>
            <a:ext cx="5312275" cy="874962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712014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7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kumimoji="0" lang="ru-RU" sz="4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</a:t>
            </a: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  Организация и нормативно-правовая база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651413" y="3694094"/>
            <a:ext cx="21630492" cy="45612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/>
              <a:t>Законодательство разного уровня устанавливает обязанность по оказанию первой помощи для лиц, которые </a:t>
            </a:r>
            <a:r>
              <a:rPr lang="ru-RU" b="1"/>
              <a:t>в силу профессиональных обязанностей первыми оказываются на месте происшествия </a:t>
            </a:r>
            <a:r>
              <a:rPr lang="ru-RU"/>
              <a:t>с пострадавшими.</a:t>
            </a:r>
            <a:endParaRPr/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Обязанность </a:t>
            </a:r>
            <a:r>
              <a:rPr lang="ru-RU" b="1"/>
              <a:t>«…принять меры для оказания первой помощи…» </a:t>
            </a:r>
            <a:r>
              <a:rPr lang="ru-RU"/>
              <a:t>возникает у водителей, причастных к ДТП (п. 2.6 ПДД РФ). Принятие мер к оказанию первой помощи относится к обязанностям водителя в связи с ДТП, за невыполнение которых водителю грозит </a:t>
            </a:r>
            <a:r>
              <a:rPr lang="ru-RU" b="1"/>
              <a:t>привлечение к административной ответственности и наказание в виде административного штрафа </a:t>
            </a:r>
            <a:r>
              <a:rPr lang="ru-RU"/>
              <a:t>(ч. 1 ст. 12.27 КоАП). В том случае, если гражданин </a:t>
            </a:r>
            <a:r>
              <a:rPr lang="ru-RU" b="1"/>
              <a:t>заведомо оставил пострадавшего</a:t>
            </a:r>
            <a:r>
              <a:rPr lang="ru-RU"/>
              <a:t>, находящегося в беспомощном состоянии без возможности получения помощи, </a:t>
            </a:r>
            <a:r>
              <a:rPr lang="ru-RU" b="1"/>
              <a:t>он может быть привлечен к уголовной ответственности </a:t>
            </a:r>
            <a:r>
              <a:rPr lang="ru-RU"/>
              <a:t>(ст. 125 «Оставление в опасности» УК РФ). </a:t>
            </a:r>
          </a:p>
          <a:p>
            <a:pPr>
              <a:defRPr/>
            </a:pPr>
            <a:endParaRPr lang="ru-RU"/>
          </a:p>
          <a:p>
            <a:pPr>
              <a:defRPr/>
            </a:pPr>
            <a:r>
              <a:rPr lang="ru-RU"/>
              <a:t>В том случае, если водитель не причастен к ДТП, но стал его свидетелем, согласно ч. 4 ст. 31 Федерального закона № 323-ФЗ «Об основах охраны здоровья граждан в Российской Федерации», </a:t>
            </a:r>
            <a:r>
              <a:rPr lang="ru-RU" b="1"/>
              <a:t>водитель вправе добровольно оказать первую помощь</a:t>
            </a:r>
            <a:r>
              <a:rPr lang="ru-RU"/>
              <a:t>.</a:t>
            </a:r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/>
        </p:blipFill>
        <p:spPr bwMode="auto">
          <a:xfrm>
            <a:off x="6935416" y="7264941"/>
            <a:ext cx="12207176" cy="6474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733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8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kumimoji="0" lang="ru-RU" sz="4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</a:t>
            </a: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  Организация и нормативно-правовая база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0" name="Прямоугольник 9"/>
          <p:cNvSpPr/>
          <p:nvPr/>
        </p:nvSpPr>
        <p:spPr bwMode="auto">
          <a:xfrm>
            <a:off x="9113535" y="4049688"/>
            <a:ext cx="14282202" cy="57800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dirty="0"/>
              <a:t>Статья 228 Трудового кодекса Российской Федерации предусматривает обязанность работодателя при несчастном случае на производстве </a:t>
            </a:r>
            <a:r>
              <a:rPr lang="ru-RU" sz="2800" b="1" dirty="0"/>
              <a:t>«немедленно организовать первую помощь пострадавшему и при необходимости доставку его в медицинскую организацию»</a:t>
            </a:r>
            <a:r>
              <a:rPr lang="ru-RU" sz="2800" dirty="0"/>
              <a:t>. </a:t>
            </a:r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Для организации оказания первой помощи при несчастном случае на производстве силами работников на работодателя возложена обязанность </a:t>
            </a:r>
            <a:r>
              <a:rPr lang="ru-RU" sz="2800" b="1" dirty="0"/>
              <a:t>организовывать обучение первой помощи </a:t>
            </a:r>
            <a:r>
              <a:rPr lang="ru-RU" sz="2800" dirty="0"/>
              <a:t>для всех поступающих на работу лиц, а также для работников, переводимых на другую работу (ст. 214, 219 ТК РФ). 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dirty="0"/>
              <a:t>Для работника ТК РФ предусматривает обязанность </a:t>
            </a:r>
            <a:r>
              <a:rPr lang="ru-RU" sz="2800" b="1" dirty="0"/>
              <a:t>«проходить обучение по оказанию первой помощи пострадавшим на производстве» </a:t>
            </a:r>
            <a:r>
              <a:rPr lang="ru-RU" sz="2800" dirty="0"/>
              <a:t>(ст. 215 ТК РФ). </a:t>
            </a:r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2022829" y="4049687"/>
            <a:ext cx="5445571" cy="8566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9890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9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61252" y="1845675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kumimoji="0" lang="ru-RU" sz="4600" b="0" i="0" u="none" strike="noStrike" kern="0" cap="none" spc="0" normalizeH="0" baseline="0" noProof="0" dirty="0">
                <a:ln>
                  <a:noFill/>
                </a:ln>
                <a:solidFill>
                  <a:srgbClr val="404040"/>
                </a:solidFill>
                <a:effectLst/>
                <a:uLnTx/>
                <a:uFillTx/>
                <a:latin typeface="PFDinDisplayPro-Regular"/>
                <a:ea typeface="PFDinDisplayPro-Regular"/>
                <a:cs typeface="PFDinDisplayPro-Regular"/>
                <a:sym typeface="Stem"/>
              </a:rPr>
              <a:t>НОРМАТИВНО-ПРАВОВАЯ БАЗА </a:t>
            </a: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ОКАЗАНИЯ ПЕРВОЙ ПОМОЩИ</a:t>
            </a: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56" y="2604670"/>
            <a:ext cx="9511445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1  Организация и нормативно-правовая база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0031760" y="2969568"/>
            <a:ext cx="13880883" cy="909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/>
              <a:t>Освобождение от ответственности:</a:t>
            </a:r>
            <a:endParaRPr/>
          </a:p>
          <a:p>
            <a:pPr>
              <a:defRPr/>
            </a:pPr>
            <a:endParaRPr lang="ru-RU" sz="2800" b="1"/>
          </a:p>
          <a:p>
            <a:pPr>
              <a:defRPr/>
            </a:pPr>
            <a:r>
              <a:rPr lang="ru-RU" sz="2800" b="1"/>
              <a:t>УК РФ ст. 39. Крайняя необходимость:</a:t>
            </a:r>
            <a:endParaRPr/>
          </a:p>
          <a:p>
            <a:pPr>
              <a:defRPr/>
            </a:pPr>
            <a:endParaRPr lang="ru-RU" sz="2800" b="1"/>
          </a:p>
          <a:p>
            <a:pPr>
              <a:defRPr/>
            </a:pPr>
            <a:r>
              <a:rPr lang="ru-RU" sz="2800"/>
              <a:t>«Не является преступлением причинение вреда … в состоянии крайней необходимости, то есть для устранения опасности, непосредственно угрожающей личности и правам данного лица …»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 b="1"/>
              <a:t>КоАП РФ ст. 2.7. Крайняя необходимость:</a:t>
            </a:r>
            <a:endParaRPr/>
          </a:p>
          <a:p>
            <a:pPr>
              <a:defRPr/>
            </a:pPr>
            <a:endParaRPr lang="ru-RU" sz="2800" b="1"/>
          </a:p>
          <a:p>
            <a:pPr>
              <a:defRPr/>
            </a:pPr>
            <a:r>
              <a:rPr lang="ru-RU" sz="2800"/>
              <a:t>«Не является административным правонарушением причинение лицом вреда … в состоянии крайней необходимости, то есть для устранения опасности, непосредственно угрожающей личности и правам данного лица …»</a:t>
            </a:r>
            <a:endParaRPr/>
          </a:p>
          <a:p>
            <a:pPr>
              <a:defRPr/>
            </a:pPr>
            <a:endParaRPr lang="ru-RU" sz="2800"/>
          </a:p>
          <a:p>
            <a:pPr>
              <a:defRPr/>
            </a:pPr>
            <a:r>
              <a:rPr lang="ru-RU" sz="2800"/>
              <a:t>В случае решения в суде вопроса о привлечении лица к ответственности за причинение вреда жизни или здоровью, оказание первой помощи пострадавшему учитывается как </a:t>
            </a:r>
            <a:r>
              <a:rPr lang="ru-RU" sz="2800" b="1"/>
              <a:t>обстоятельство, смягчающее наказание </a:t>
            </a:r>
            <a:r>
              <a:rPr lang="ru-RU" sz="2800"/>
              <a:t>(п. 2 ч. 1 ст. 4.2 Кодекса Российской Федерации об административных правонарушениях; п. «к» ч. 1 ст. 61 Уголовного Кодекса Российской Федерации).</a:t>
            </a:r>
            <a:endParaRPr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1005668" y="5240698"/>
            <a:ext cx="8325949" cy="624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540051"/>
      </p:ext>
    </p:extLst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4000" cy="1371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0000" cy="13716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20000" y="6540000"/>
            <a:ext cx="9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50000" y="1400000"/>
            <a:ext cx="210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1A1A"/>
                </a:solidFill>
                <a:latin typeface="Arial"/>
              </a:rPr>
              <a:t>ПОРЯДОК № 220н: СОГЛАСИЕ, ПРИОРИТЕТ, АНД</a:t>
            </a:r>
          </a:p>
        </p:txBody>
      </p:sp>
      <p:sp>
        <p:nvSpPr>
          <p:cNvPr id="6" name="Rectangle 5"/>
          <p:cNvSpPr/>
          <p:nvPr/>
        </p:nvSpPr>
        <p:spPr>
          <a:xfrm>
            <a:off x="2060000" y="2500000"/>
            <a:ext cx="12000000" cy="70000"/>
          </a:xfrm>
          <a:prstGeom prst="rect">
            <a:avLst/>
          </a:prstGeom>
          <a:solidFill>
            <a:srgbClr val="E306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50000" y="2650000"/>
            <a:ext cx="18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Arial"/>
              </a:rPr>
              <a:t>Тема 1 · п. 1  Организация и нормативно-правовая база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50000" y="3400000"/>
            <a:ext cx="20000000" cy="8800000"/>
          </a:xfrm>
          <a:prstGeom prst="roundRect">
            <a:avLst/>
          </a:prstGeom>
          <a:solidFill>
            <a:srgbClr val="F7F7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00000" y="3700000"/>
            <a:ext cx="19000000" cy="8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По приказу Минздрава России от 03.05.2024 № 220н (с 01.09.2024):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/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Оказание первой помощи допускается, если отсутствует выраженный до начала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  оказания первой помощи отказ гражданина или его законного представителя.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Первая помощь оказывается при условии отсутствия угрожающих жизни и здоровью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  оказывающего ее лица факторов.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Первоочередность при двух и более пострадавших — исходя из тяжести состояния;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  приоритет должен отдаваться детям (несовершеннолетним).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Разрешено применение автоматических наружных дефибрилляторов (АНД) при наличии.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• Может использоваться помощь пострадавшему в принятии лекарственных препаратов,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A1A1A"/>
                </a:solidFill>
                <a:latin typeface="Arial"/>
              </a:rPr>
              <a:t>  назначенных врачом; допустимы подручные средства.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0000" y="12400000"/>
            <a:ext cx="20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B7280"/>
                </a:solidFill>
                <a:latin typeface="Arial"/>
              </a:rPr>
              <a:t>Дополнено по приказу Минздрава № 220н / пособию 2025.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1496</TotalTime>
  <Words>703</Words>
  <Application>Microsoft Office PowerPoint</Application>
  <DocSecurity>0</DocSecurity>
  <PresentationFormat>Произвольный</PresentationFormat>
  <Paragraphs>62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8</vt:i4>
      </vt:variant>
    </vt:vector>
  </HeadingPairs>
  <TitlesOfParts>
    <vt:vector size="15" baseType="lpstr">
      <vt:lpstr>Calibri</vt:lpstr>
      <vt:lpstr>Montserrat Semi Bold</vt:lpstr>
      <vt:lpstr>Open Sans</vt:lpstr>
      <vt:lpstr>Open Sans Light</vt:lpstr>
      <vt:lpstr>PFDinDisplayPro-Regular</vt:lpstr>
      <vt:lpstr>11_Office Theme</vt:lpstr>
      <vt:lpstr>13_Office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smarta3@outlook.com</cp:lastModifiedBy>
  <cp:revision>136</cp:revision>
  <dcterms:modified xsi:type="dcterms:W3CDTF">2026-08-10T09:56:57Z</dcterms:modified>
  <cp:category/>
  <dc:identifier/>
  <cp:contentStatus/>
  <dc:language/>
  <cp:version/>
</cp:coreProperties>
</file>