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9"/>
  </p:notesMasterIdLst>
  <p:sldIdLst>
    <p:sldId id="280" r:id="rId4"/>
    <p:sldId id="297" r:id="rId5"/>
    <p:sldId id="304" r:id="rId6"/>
    <p:sldId id="302" r:id="rId7"/>
    <p:sldId id="305" r:id="rId14"/>
    <p:sldId id="282" r:id="rId8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 varScale="1">
        <p:scale>
          <a:sx n="36" d="100"/>
          <a:sy n="36" d="100"/>
        </p:scale>
        <p:origin x="8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642331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ОБЕСПЕЧЕНИЕ БЕЗОПАСНЫХ УСЛОВИЙ И ПРОФИЛАКТИКА ИНФЕКЦИЙ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866120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rPr>
                <a:solidFill/>
              </a:rP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ОБЕСПЕЧЕНИЕ БЕЗОПАСНЫХ УСЛОВИЙ ДЛЯ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0" y="2604670"/>
            <a:ext cx="1190031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079929" y="4074218"/>
            <a:ext cx="12090975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>
                <a:solidFill/>
              </a:rPr>
              <a:t>Перед началом действий на месте происшествия следует обеспечить </a:t>
            </a:r>
            <a:r>
              <a:rPr lang="ru-RU" sz="2800" b="1">
                <a:solidFill/>
              </a:rPr>
              <a:t>безопасные условия </a:t>
            </a:r>
            <a:r>
              <a:rPr lang="ru-RU" sz="2800">
                <a:solidFill/>
              </a:rPr>
              <a:t>для оказания первой помощи.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>
                <a:solidFill/>
              </a:rPr>
              <a:t>Для снижения риска поражения необходимо, например: 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>
                <a:solidFill/>
              </a:rPr>
              <a:t>выключить электричество,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>
                <a:solidFill/>
              </a:rPr>
              <a:t>перекрыть бытовой газ,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>
                <a:solidFill/>
              </a:rPr>
              <a:t>установить знаки аварийной остановки,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>
                <a:solidFill/>
              </a:rPr>
              <a:t>перегородить проезжую часть автомобилем,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>
                <a:solidFill/>
              </a:rPr>
              <a:t>попытаться потушить пожар,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>
                <a:solidFill/>
              </a:rPr>
              <a:t>сообщить собравшимся людям, что сейчас будет оказываться первая помощь. 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>
                <a:solidFill/>
              </a:rPr>
              <a:t>Не следует пытаться оказывать первую помощь в </a:t>
            </a:r>
            <a:r>
              <a:rPr lang="ru-RU" sz="2800" b="1">
                <a:solidFill/>
              </a:rPr>
              <a:t>неблагоприятных условиях</a:t>
            </a:r>
            <a:r>
              <a:rPr lang="ru-RU" sz="2800">
                <a:solidFill/>
              </a:rPr>
              <a:t>. 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967612" y="3584853"/>
            <a:ext cx="6851342" cy="89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91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ПРОСТЕЙШИЕ МЕРЫ ПРОФИЛАКТИКИ ИНФЕКЦИОННЫХ ЗАБОЛЕВАНИЙ, ПЕРЕДАЮЩИХСЯ ПРИ НЕПОСРЕДСТВЕННОМ КОНТАКТЕ С ЧЕЛОВЕКОМ, ЕГО КРОВЬЮ И ДРУГИМИ БИОЛОГИЧЕСКИМИ ЖИДКОСТЯМИ</a:t>
            </a:r>
            <a:endParaRPr kumimoji="0" lang="ru-RU" sz="4400" b="1" i="0" u="none" strike="noStrike" kern="0" cap="none" spc="30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8514192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5824214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rPr>
                <a:solidFill/>
              </a:rP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978001" y="1168565"/>
            <a:ext cx="21204690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ПРОФИЛАКТИКА ИНФЕКЦИОННЫХ ЗАБОЛЕВАНИЙ ПРИ ОКАЗАНИИ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198" y="2604670"/>
            <a:ext cx="2103829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628941" y="3965739"/>
            <a:ext cx="8395569" cy="5597046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265661" y="6675490"/>
            <a:ext cx="5500656" cy="5500656"/>
          </a:xfrm>
          <a:prstGeom prst="rect">
            <a:avLst/>
          </a:prstGeom>
          <a:noFill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565046" y="4191681"/>
            <a:ext cx="4752815" cy="4752815"/>
          </a:xfrm>
          <a:prstGeom prst="rect">
            <a:avLst/>
          </a:prstGeom>
          <a:noFill/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6583422" y="6072431"/>
            <a:ext cx="6033370" cy="6033370"/>
          </a:xfrm>
          <a:prstGeom prst="rect">
            <a:avLst/>
          </a:prstGeom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039872" y="8730208"/>
            <a:ext cx="5543550" cy="5543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49275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rPr>
                <a:solidFill/>
              </a:rPr>
              <a:t>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МАСКА И ПЕРЧАТКИ ИЗ АПТЕЧКИ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0" y="2604670"/>
            <a:ext cx="1190031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061252" y="3600000"/>
            <a:ext cx="20000000" cy="90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>
                <a:solidFill>
                  <a:srgbClr val="404040"/>
                </a:solidFill>
                <a:latin typeface="Open Sans"/>
              </a:rPr>
              <a:t>По учебному пособию Минздрава (2025):</a:t>
            </a:r>
            <a:endParaRPr/>
          </a:p>
          <a:p>
            <a:pPr>
              <a:defRPr/>
            </a:pPr>
            <a:r>
              <a:rPr lang="ru-RU" sz="2800">
                <a:solidFill>
                  <a:srgbClr val="404040"/>
                </a:solidFill>
                <a:latin typeface="Open Sans"/>
              </a:rPr>
              <a:t> </a:t>
            </a:r>
            <a:endParaRPr/>
          </a:p>
          <a:p>
            <a:pPr>
              <a:defRPr/>
            </a:pPr>
            <a:r>
              <a:rPr lang="ru-RU" sz="2800">
                <a:solidFill>
                  <a:srgbClr val="404040"/>
                </a:solidFill>
                <a:latin typeface="Open Sans"/>
              </a:rPr>
              <a:t>• В аптечке для оказания первой помощи работниками есть медицинские маски — для снижения риска инфицирования оказывающего помощь.</a:t>
            </a:r>
            <a:endParaRPr/>
          </a:p>
          <a:p>
            <a:pPr>
              <a:defRPr/>
            </a:pPr>
            <a:r>
              <a:rPr lang="ru-RU" sz="2800">
                <a:solidFill>
                  <a:srgbClr val="404040"/>
                </a:solidFill>
                <a:latin typeface="Open Sans"/>
              </a:rPr>
              <a:t>• Эти маски не используются для проведения искусственного дыхания (для ИВЛ — отдельное устройство «Рот–Устройство–Рот»).</a:t>
            </a:r>
            <a:endParaRPr/>
          </a:p>
          <a:p>
            <a:pPr>
              <a:defRPr/>
            </a:pPr>
            <a:r>
              <a:rPr lang="ru-RU" sz="2800">
                <a:solidFill>
                  <a:srgbClr val="404040"/>
                </a:solidFill>
                <a:latin typeface="Open Sans"/>
              </a:rPr>
              <a:t>• Перчатки медицинские — защита от контакта с кровью и другими биологическими жидкостями пострадавшего.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1184</TotalTime>
  <Words>130</Words>
  <Application>Microsoft Office PowerPoint</Application>
  <DocSecurity>0</DocSecurity>
  <PresentationFormat>Произвольный</PresentationFormat>
  <Paragraphs>26</Paragraphs>
  <Slides>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Calibri</vt:lpstr>
      <vt:lpstr>Montserrat Semi Bold</vt:lpstr>
      <vt:lpstr>Open Sans</vt:lpstr>
      <vt:lpstr>Open Sans Light</vt:lpstr>
      <vt:lpstr>PFDinDisplayPro-Regular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130</cp:revision>
  <dcterms:modified xsi:type="dcterms:W3CDTF">2026-08-07T11:56:40Z</dcterms:modified>
  <cp:category/>
  <dc:identifier/>
  <cp:contentStatus/>
  <dc:language/>
  <cp:version/>
</cp:coreProperties>
</file>