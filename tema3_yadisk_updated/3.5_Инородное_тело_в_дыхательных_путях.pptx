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2.svg" ContentType="image/svg+xml"/>
  <Override PartName="/ppt/media/image4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67" r:id="rId3"/>
    <p:sldId id="268" r:id="rId4"/>
    <p:sldId id="271" r:id="rId5"/>
    <p:sldId id="269" r:id="rId6"/>
    <p:sldId id="270" r:id="rId7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pos="7680">
          <p15:clr>
            <a:srgbClr val="A4A3A4"/>
          </p15:clr>
        </p15:guide>
        <p15:guide id="2" orient="horz" pos="43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47" d="100"/>
          <a:sy n="47" d="100"/>
        </p:scale>
        <p:origin x="384" y="-114"/>
      </p:cViewPr>
      <p:guideLst>
        <p:guide pos="7680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«-»</a:t>
            </a:r>
            <a:endParaRPr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Благодарим за внимание</a:t>
            </a:r>
            <a:endParaRPr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«-»</a:t>
            </a:r>
            <a:endParaRPr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799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799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79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89"/>
            <a:ext cx="21036679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1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B2B2B2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B2B2B2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1" y="3938101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1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1" y="4700105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2775886"/>
            <a:ext cx="10518342" cy="14464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3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49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3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3" y="4875219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7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399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7"/>
            <a:ext cx="21036679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1"/>
            <a:ext cx="21036679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3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1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39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8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1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7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1" y="10004431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1" y="1061403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7" y="10004431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7" y="1061403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5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3" y="1000105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3" y="1061065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79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5" y="529310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5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5" y="588422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3" y="529310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1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3" y="588422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3" y="927954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3" y="868841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5"/>
            <a:ext cx="21036679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19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799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799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799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5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3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5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5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5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5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1" y="804436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19" y="9387979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1" y="8635491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3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1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3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3854549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7" y="3854549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5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1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1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3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3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3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7" y="9466730"/>
            <a:ext cx="21036679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79" cy="155690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3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3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1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1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1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5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5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5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7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5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3" y="4229199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5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3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3" y="404094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59" y="404094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1" y="8763005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1" y="9442459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7" y="8716315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7" y="9395769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1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5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29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5" y="4145285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69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5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5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5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29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5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69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5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89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5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3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7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69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69" y="5007541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1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1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1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1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1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5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5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5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7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5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69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69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69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5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5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19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3" y="9174295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3" y="10014863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3" y="8510333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89" y="914481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89" y="998538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89" y="848085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3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5" y="6858007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3" y="6858007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5" y="4572005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3" y="4572005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5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3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6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7" y="8978157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5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5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5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5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7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5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5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5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5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7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7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7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7" y="1072705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7" y="1682307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7" y="55304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7" y="6140007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7" y="10159105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7" y="10768707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5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7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1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39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09" y="3993783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1" y="3993783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7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7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1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7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7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1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7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7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1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7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7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1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7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7" y="5850393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49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3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3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5476319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5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5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4829181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4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4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4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5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1" y="730257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7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5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3" y="3362333"/>
            <a:ext cx="10369078" cy="1647825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1" y="730257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5" y="5297493"/>
            <a:ext cx="5301837" cy="1828801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1" y="5303845"/>
            <a:ext cx="5301837" cy="1828801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9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3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19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9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3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9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3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62114" y="12854688"/>
            <a:ext cx="451404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5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10.png"/><Relationship Id="rId5" Type="http://schemas.openxmlformats.org/officeDocument/2006/relationships/image" Target="../media/image11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1004260" y="5412463"/>
            <a:ext cx="4621490" cy="3308320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3" y="3077239"/>
            <a:ext cx="19028633" cy="7978768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Autofit/>
          </a:bodyPr>
          <a:lstStyle/>
          <a:p>
            <a:pPr defTabSz="91440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sz="4400" b="1">
                <a:solidFill>
                  <a:srgbClr val="4D4D4D"/>
                </a:solidFill>
                <a:latin typeface="Montserrat Semi Bold"/>
              </a:rPr>
              <a:t>ПЕРВАЯ ПОМОЩЬ ПРИ НАРУШЕНИИ ПРОХОДИМОСТИ ДЫХАТЕЛЬНЫХ ПУТЕЙ ИНОРОДНЫМ ТЕЛОМ</a:t>
            </a:r>
          </a:p>
        </p:txBody>
      </p:sp>
      <p:sp>
        <p:nvSpPr>
          <p:cNvPr id="845" name="Rectangle 13"/>
          <p:cNvSpPr/>
          <p:nvPr/>
        </p:nvSpPr>
        <p:spPr bwMode="auto">
          <a:xfrm>
            <a:off x="21945600" y="0"/>
            <a:ext cx="2568534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3" y="8405429"/>
            <a:ext cx="18252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856" name="TextBox 855"/>
          <p:cNvSpPr txBox="1"/>
          <p:nvPr/>
        </p:nvSpPr>
        <p:spPr>
          <a:xfrm>
            <a:off x="1780000" y="9500000"/>
            <a:ext cx="180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35353"/>
                </a:solidFill>
                <a:latin typeface="Open Sans"/>
              </a:rPr>
              <a:t>П. 3.5 по № 805 сформулирован кратко. Детализация частичное/полное, тучные/беременные/дети — по пособию Минздрава.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2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147132"/>
            <a:ext cx="1542318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defTabSz="914400">
              <a:lnSpc>
                <a:spcPct val="100000"/>
              </a:lnSpc>
              <a:defRPr/>
            </a:pPr>
            <a:r>
              <a:rPr sz="4600">
                <a:solidFill>
                  <a:srgbClr val="404040"/>
                </a:solidFill>
                <a:latin typeface="PFDinDisplayPro-Regular"/>
              </a:rPr>
              <a:t>П. 3.5  ИНОРОДНОЕ ТЕЛО В ДЫХАТЕЛЬНЫХ ПУТЯХ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15084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7" y="2744792"/>
            <a:ext cx="15043749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Тема 3 · п. 3.5  Инородное тело в дыхательных путях  ·  ред. № 805 с 01.09.2026</a:t>
            </a:r>
            <a:endParaRPr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3277028" y="3922940"/>
            <a:ext cx="8454834" cy="9541141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11345646" y="4112775"/>
            <a:ext cx="10758853" cy="89579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3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147132"/>
            <a:ext cx="1542318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4600" b="0">
                <a:solidFill>
                  <a:srgbClr val="404040"/>
                </a:solidFill>
                <a:latin typeface="PFDinDisplayPro-Regular"/>
              </a:rPr>
              <a:t>П. 3.5  ИНОРОДНОЕ ТЕЛО В ДЫХАТЕЛЬНЫХ ПУТЯХ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15084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7" y="2744792"/>
            <a:ext cx="14818687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Тема 3 · п. 3.5  Инородное тело в дыхательных путях  ·  ред. № 805 с 01.09.2026</a:t>
            </a:r>
            <a:endParaRPr/>
          </a:p>
        </p:txBody>
      </p:sp>
      <p:pic>
        <p:nvPicPr>
          <p:cNvPr id="8" name="Рисунок 18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9328863" y="5391028"/>
            <a:ext cx="8375585" cy="7609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Рисунок 17"/>
          <p:cNvPicPr>
            <a:picLocks noChangeAspect="1" noChangeArrowheads="1"/>
          </p:cNvPicPr>
          <p:nvPr/>
        </p:nvPicPr>
        <p:blipFill>
          <a:blip r:embed="rId3"/>
          <a:srcRect l="12326" r="16185"/>
          <a:stretch/>
        </p:blipFill>
        <p:spPr bwMode="auto">
          <a:xfrm>
            <a:off x="16622065" y="4704284"/>
            <a:ext cx="6110632" cy="7614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Рисунок 16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207959" y="4887767"/>
            <a:ext cx="8616197" cy="768624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Прямоугольник 12"/>
          <p:cNvSpPr/>
          <p:nvPr/>
        </p:nvSpPr>
        <p:spPr bwMode="auto">
          <a:xfrm>
            <a:off x="2037706" y="4112776"/>
            <a:ext cx="7232820" cy="591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3200" b="1"/>
              <a:t>Удары между лопатками</a:t>
            </a:r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11818654" y="4112775"/>
            <a:ext cx="7232820" cy="591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3200" b="1"/>
              <a:t>Надавливания на живот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1004260" y="5412463"/>
            <a:ext cx="4621490" cy="3308320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3" y="3077239"/>
            <a:ext cx="19028633" cy="7978768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sz="4400" b="1">
                <a:solidFill>
                  <a:srgbClr val="4D4D4D"/>
                </a:solidFill>
                <a:latin typeface="Montserrat Semi Bold"/>
              </a:rPr>
              <a:t>ОСОБЕННОСТИ (ПО ПОСОБИЮ): ТУЧНЫЕ, БЕРЕМЕННЫЕ, ДЕТИ</a:t>
            </a:r>
            <a:endParaRPr kumimoji="0" lang="ru-RU" sz="4400" b="1" i="0" u="none" strike="noStrike" kern="0" cap="none" spc="30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Montserrat Semi Bold"/>
              <a:ea typeface="Montserrat Semi Bold"/>
              <a:cs typeface="Montserrat Semi Bold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21945600" y="0"/>
            <a:ext cx="2568534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3" y="8405429"/>
            <a:ext cx="18252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79675962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5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1872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8" y="2744792"/>
            <a:ext cx="14849786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Тема 3 · п. 3.5  Инородное тело в дыхательных путях  ·  ред. № 805 с 01.09.2026</a:t>
            </a:r>
            <a:endParaRPr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6129"/>
          <a:stretch/>
        </p:blipFill>
        <p:spPr bwMode="auto">
          <a:xfrm>
            <a:off x="12044786" y="4846711"/>
            <a:ext cx="9949306" cy="8176562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2215771" y="4437767"/>
            <a:ext cx="10466479" cy="8340458"/>
          </a:xfrm>
          <a:prstGeom prst="rect">
            <a:avLst/>
          </a:prstGeom>
        </p:spPr>
      </p:pic>
      <p:sp>
        <p:nvSpPr>
          <p:cNvPr id="21" name="Прямоугольник 20"/>
          <p:cNvSpPr/>
          <p:nvPr/>
        </p:nvSpPr>
        <p:spPr bwMode="auto">
          <a:xfrm>
            <a:off x="3312324" y="3464276"/>
            <a:ext cx="7232820" cy="591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3200" b="1"/>
              <a:t>Удары по спине</a:t>
            </a:r>
          </a:p>
        </p:txBody>
      </p:sp>
      <p:sp>
        <p:nvSpPr>
          <p:cNvPr id="23" name="Прямоугольник 22"/>
          <p:cNvSpPr/>
          <p:nvPr/>
        </p:nvSpPr>
        <p:spPr bwMode="auto">
          <a:xfrm>
            <a:off x="13093272" y="3464275"/>
            <a:ext cx="7232820" cy="591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3200" b="1"/>
              <a:t>Надавливания на грудную клетку</a:t>
            </a:r>
          </a:p>
        </p:txBody>
      </p:sp>
      <p:sp>
        <p:nvSpPr>
          <p:cNvPr id="1308737482" name="TextBox 6"/>
          <p:cNvSpPr txBox="1"/>
          <p:nvPr/>
        </p:nvSpPr>
        <p:spPr bwMode="auto">
          <a:xfrm>
            <a:off x="2061252" y="1147131"/>
            <a:ext cx="15423543" cy="149387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4600" b="0">
                <a:solidFill>
                  <a:srgbClr val="404040"/>
                </a:solidFill>
                <a:latin typeface="PFDinDisplayPro-Regular"/>
              </a:rPr>
              <a:t>П. 3.5  ИНОРОДНОЕ ТЕЛО В ДЫХАТЕЛЬНЫХ ПУТЯХ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1" y="0"/>
            <a:ext cx="7435515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600">
                <a:solidFill>
                  <a:srgbClr val="FFFFFF"/>
                </a:solidFill>
              </a:defRPr>
            </a:pPr>
            <a:endParaRPr sz="86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10085046" y="5351782"/>
            <a:ext cx="11649424" cy="3012440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rmAutofit/>
          </a:bodyPr>
          <a:lstStyle/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i="0" u="none" strike="noStrike" cap="none" spc="300">
                <a:ln>
                  <a:noFill/>
                </a:ln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rPr>
              <a:t>БЛАГОДАРИМ ЗА ВНИМАНИЕ</a:t>
            </a:r>
            <a:endParaRPr sz="7200" b="0" i="0" u="none" strike="noStrike" cap="none" spc="300">
              <a:ln>
                <a:noFill/>
              </a:ln>
              <a:solidFill>
                <a:srgbClr val="4D4D4D"/>
              </a:solidFill>
              <a:latin typeface="Montserrat Semi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6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116</Words>
  <Application>Microsoft Office PowerPoint</Application>
  <DocSecurity>0</DocSecurity>
  <PresentationFormat>Произвольный</PresentationFormat>
  <Paragraphs>19</Paragraphs>
  <Slides>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Calibri</vt:lpstr>
      <vt:lpstr>Montserrat Semi Bold</vt:lpstr>
      <vt:lpstr>Open Sans</vt:lpstr>
      <vt:lpstr>Open Sans Light</vt:lpstr>
      <vt:lpstr>PFDinDisplayPro-Regular</vt:lpstr>
      <vt:lpstr>6_Office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Роман Прудников</cp:lastModifiedBy>
  <cp:revision>123</cp:revision>
  <dcterms:modified xsi:type="dcterms:W3CDTF">2026-08-03T13:37:29Z</dcterms:modified>
  <cp:category/>
  <dc:identifier/>
  <cp:contentStatus/>
  <dc:language/>
  <cp:version/>
</cp:coreProperties>
</file>