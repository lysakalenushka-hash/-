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6" r:id="rId24"/>
    <p:sldId id="274" r:id="rId11"/>
    <p:sldId id="266" r:id="rId12"/>
    <p:sldId id="267" r:id="rId13"/>
    <p:sldId id="268" r:id="rId14"/>
    <p:sldId id="269" r:id="rId15"/>
    <p:sldId id="272" r:id="rId16"/>
    <p:sldId id="273" r:id="rId17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51" y="1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7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начинать с истории компании. Назвать клиента. Цель встречи — решение по пилоту.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Связка: формат длинного курса против ежедневного микроблока.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сравнивать 20% Gallup и 64% ЭКОПСИ как одну шкалу. Источники — запасной слайд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Спросить вслух их цифру. Если нет — оставить пропуски и вернуться в КП.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обещать ИИ-адаптацию, симуляции и сертификаты 24/7, если не покажете в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Веса по умолчанию в продукте. Компания может пересчитать критерии.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Если уже клиент СМАРТА: «Вы уже учите людей. Мы закрываем 364 дня между аттестациями.»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заменять демо скриншотами. Второй экран — кабинет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Персонализация — через программы, должности и назначения, не через обещание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кейсы</a:t>
            </a:r>
            <a:r>
              <a:rPr dirty="0"/>
              <a:t> СМАРТА </a:t>
            </a:r>
            <a:r>
              <a:rPr dirty="0" err="1"/>
              <a:t>ставить</a:t>
            </a:r>
            <a:r>
              <a:rPr dirty="0"/>
              <a:t> </a:t>
            </a:r>
            <a:r>
              <a:rPr dirty="0" err="1"/>
              <a:t>первыми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цифры</a:t>
            </a:r>
            <a:r>
              <a:rPr dirty="0"/>
              <a:t>. </a:t>
            </a:r>
            <a:r>
              <a:rPr dirty="0" err="1"/>
              <a:t>Чужие</a:t>
            </a:r>
            <a:r>
              <a:rPr dirty="0"/>
              <a:t> —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доказательство</a:t>
            </a:r>
            <a:r>
              <a:rPr dirty="0"/>
              <a:t> </a:t>
            </a:r>
            <a:r>
              <a:rPr dirty="0" err="1"/>
              <a:t>формата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mo.smarta-ot.ru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 по охране труда,
которое сотрудники реально проходят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  /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КОНТЕКСТ</a:t>
            </a:r>
            <a:endParaRPr sz="1200" b="1" i="0" dirty="0">
              <a:solidFill>
                <a:srgbClr val="1A9B8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обычно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выглядит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обучение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ОТ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 в компании в 2026 году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Сейчас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4612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Численность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филиалы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1000</a:t>
            </a:r>
            <a:endParaRPr sz="11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Обучаем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2000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чел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-программ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Формат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очно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/ LMS /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тренинги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dirty="0" err="1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Трудопотери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более 32 000 чел/часов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b="1" dirty="0" sz="180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Проблемы</a:t>
            </a:r>
            <a:endParaRPr sz="18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4612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Просрочки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у одних  и избыточность обучения у других </a:t>
            </a: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ормальный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допуск</a:t>
            </a:r>
            <a:endParaRPr lang="ru-RU"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Текучка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повторное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обучение</a:t>
            </a:r>
            <a:endParaRPr lang="ru-RU"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Процесс обучения не приводит к снижению травм и нарушений</a:t>
            </a:r>
            <a:endParaRPr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Типовой сценарий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40"/>
            <a:ext cx="3246120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омпании идут в дорогую автоматизацию, требующую постоянной доработки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Постоянный контроль и админи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стрирование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Откладываем поиск решения 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«на потом»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 первого крупного прецендента</a:t>
            </a:r>
            <a:endParaRPr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Сотрудник «прошёл курс» — и на следующий день работает как раньше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7607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303520" cy="272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8–40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часов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раз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≠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навык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момент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риска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ru-RU" dirty="0"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Программы плохо адаптированы под специфику работ или вообще не адаптированы</a:t>
            </a:r>
            <a:endParaRPr lang="ru-RU"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Знания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выветриваются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проверками знаний (процент остаточных знаний низок)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факт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прохождения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вовлечённость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5212080" cy="3977639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ДВА ФОРМАТА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Длинный курс
раз в год — галочка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5–15 минут
в рабочий день — привычка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Если обучение не измеряется каждый день, им нельзя управлять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работников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мире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вовлечены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в рабочий процесс</a:t>
            </a:r>
            <a:endParaRPr sz="16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Gallup, State of the Global Workplace 2026, данные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−63%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инцидентов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у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работников с высокой степенью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вовлечённости</a:t>
            </a:r>
            <a:endParaRPr sz="16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628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 Q12 Meta-Analysis, 11th ed.,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охраны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труда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и производственной безопасности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вовлечённость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ведущий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индикатор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Травма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штраф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запаздывающий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4  /  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874519"/>
            <a:ext cx="3611880" cy="3246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4-incidents-vovlechenn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440" y="1924519"/>
            <a:ext cx="3471880" cy="3146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ЦЕНА БЕЗДЕЙСТВИЯ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Сколько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стоит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«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сейчас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»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ru-RU" sz="2800" i="0" dirty="0" b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 примере компании в 1000 человек</a:t>
            </a:r>
            <a:endParaRPr sz="140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5  /  18</a:t>
            </a:r>
          </a:p>
        </p:txBody>
      </p:sp>
      <p:pic>
        <p:nvPicPr>
          <p:cNvPr id="24" name="Picture 23" descr="slide5-shkala-p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50000"/>
            <a:ext cx="11155680" cy="4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ИНСАЙТ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lang="ru-RU" sz="2600" b="1" dirty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проверками знания раз в 3 года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нужен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второй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контур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короткий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ежедневный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с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рейтингом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Проверка знания</a:t>
            </a:r>
            <a:endParaRPr sz="1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Раз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3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Каждый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рабочий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день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
5–15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минут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
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Формирование н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авык</a:t>
            </a:r>
            <a:r>
              <a:rPr lang="ru-RU"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ов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привыч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е</a:t>
            </a:r>
            <a:r>
              <a:rPr lang="ru-RU" sz="1500" dirty="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</a:t>
            </a:r>
            <a:endParaRPr sz="1500" b="0" i="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Аналитика руководителя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Контроль п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росрочки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балл</a:t>
            </a:r>
            <a:r>
              <a:rPr lang="ru-RU"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ов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за правильные ответы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оценка 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вовлечённост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</a:t>
            </a:r>
            <a:endParaRPr lang="ru-RU" sz="150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Контроль «слабых</a:t>
            </a:r>
            <a:r>
              <a:rPr lang="ru-RU" sz="1500" dirty="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» зон, корректировка последовательности </a:t>
            </a:r>
            <a:r>
              <a:rPr lang="ru-RU" sz="1500" dirty="0" err="1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микроуроков</a:t>
            </a:r>
            <a:r>
              <a:rPr lang="ru-RU" sz="1500" dirty="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в зависимости от типов нарушений</a:t>
            </a:r>
            <a:endParaRPr sz="1500" b="0" i="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CA434F9E-BD72-4C3D-9177-0C136E7C8344}"/>
              </a:ext>
            </a:extLst>
          </p:cNvPr>
          <p:cNvSpPr/>
          <p:nvPr/>
        </p:nvSpPr>
        <p:spPr>
          <a:xfrm>
            <a:off x="4297680" y="3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ПРОДУКТ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охране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труда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920" y="1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Микрокурсы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920" y="2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Видео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презентации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вопросы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проверки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знаний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практические задания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680" y="1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Программы</a:t>
            </a:r>
            <a:r>
              <a:rPr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назначения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7680" y="2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Группы, каждый день или по рабочим дням, последовательный трек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2440" y="1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Баллы</a:t>
            </a:r>
            <a:r>
              <a:rPr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ru-RU"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вовлеченность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17680" y="4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dirty="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Видимый для всех сотрудников рейтинг становится мотиватором к обучению. Гибкое управление рейтингом – можете сделать акцент на правильных ответах, практике или дисциплине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920" y="3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Кабинет компании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920" y="4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Штатка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филиалы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роли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: admin / curator /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680" y="3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Рейтинг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12440" y="4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Прогресс, просрочки, выгрузка без Excel-рутины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7  /  18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33CBFEF-1EC0-4653-9043-3C48358B33AF}"/>
              </a:ext>
            </a:extLst>
          </p:cNvPr>
          <p:cNvSpPr/>
          <p:nvPr/>
        </p:nvSpPr>
        <p:spPr>
          <a:xfrm>
            <a:off x="9129712" y="5565074"/>
            <a:ext cx="5686425" cy="19101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Сюда надо вставить скрины с системы</a:t>
            </a:r>
          </a:p>
          <a:p>
            <a:pPr algn="ctr"/>
            <a:r>
              <a:rPr lang="en-US" dirty="0">
                <a:hlinkClick r:id="rId3"/>
              </a:rPr>
              <a:t>https://demo.smarta-ot.ru/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ru-RU" dirty="0"/>
              <a:t>Пришлю отдельно страницы скринов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89F2BB-197A-41FB-B61C-A3AC0BC01C24}"/>
              </a:ext>
            </a:extLst>
          </p:cNvPr>
          <p:cNvSpPr txBox="1"/>
          <p:nvPr/>
        </p:nvSpPr>
        <p:spPr>
          <a:xfrm>
            <a:off x="8312440" y="3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Отчёты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81321-B7B2-4B00-A120-BABF5937E313}"/>
              </a:ext>
            </a:extLst>
          </p:cNvPr>
          <p:cNvSpPr txBox="1"/>
          <p:nvPr/>
        </p:nvSpPr>
        <p:spPr>
          <a:xfrm>
            <a:off x="8312440" y="2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dirty="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Собственная методика вовлеченности, оценка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своевременност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баллы за теоретическую и практическую часть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СОТРУДНИКА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5–15 минут, телефон или компьютер. Один блок — один навык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943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Актуальные микрокурсы на сегодня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Последовательный трек: следующий курс откроется после текущего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Вопрос проверки знаний и баллы за попытку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Статус «все курсы на сегодня пройдены»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74519"/>
            <a:ext cx="5029200" cy="3977639"/>
          </a:xfrm>
          <a:prstGeom prst="roundRect">
            <a:avLst/>
          </a:prstGeom>
          <a:solidFill>
            <a:srgbClr val="0E6B5E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572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Моё обучение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474720"/>
            <a:ext cx="4572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  <a:r>
              <a:rPr lang="ru-RU"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– это 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ещё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одна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LMS.
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Это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знания и навыки, переходящие в привычку</a:t>
            </a:r>
            <a:endParaRPr sz="18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8  /  18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445D9A5-2D77-4DC3-A52D-168BAEE81B2B}"/>
              </a:ext>
            </a:extLst>
          </p:cNvPr>
          <p:cNvSpPr/>
          <p:nvPr/>
        </p:nvSpPr>
        <p:spPr>
          <a:xfrm>
            <a:off x="3433763" y="4291013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Сюда вставляем ролик по </a:t>
            </a:r>
            <a:r>
              <a:rPr lang="ru-RU" dirty="0" err="1"/>
              <a:t>микрообучению</a:t>
            </a:r>
            <a:r>
              <a:rPr lang="ru-RU" dirty="0"/>
              <a:t>, который делали год 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ОТ /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Кто не прошёл, кто просрочил, кто вовлечён — без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Прохождение блока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Вопрос проверки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Вовлечённость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Доп. информация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Своевременность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11155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Прогресс программ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Своевременность и просрочки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Рейтинг сотрудников и баллы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Выгрузка отчёта к проверке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9  /  18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232FABE-BB4E-49CF-BBF2-5C62AC1C47DB}"/>
              </a:ext>
            </a:extLst>
          </p:cNvPr>
          <p:cNvSpPr/>
          <p:nvPr/>
        </p:nvSpPr>
        <p:spPr>
          <a:xfrm>
            <a:off x="3088310" y="2492979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Этот слайд пока не делаем, здесь будет про методику оценки вовлеченности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ТРИ 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Кто реально учится — видно сразу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СДО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330000"/>
            <a:ext cx="349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Система дистанционного обучения</a:t>
            </a:r>
          </a:p>
        </p:txBody>
      </p:sp>
      <p:pic>
        <p:nvPicPr>
          <p:cNvPr id="11" name="Picture 10" descr="blok-s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0" y="1720000"/>
            <a:ext cx="3570000" cy="459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3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3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Очное обучение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0000" y="1330000"/>
            <a:ext cx="349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Класс и преподаватель</a:t>
            </a:r>
          </a:p>
        </p:txBody>
      </p:sp>
      <p:pic>
        <p:nvPicPr>
          <p:cNvPr id="16" name="Picture 15" descr="blok-ochn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00" y="1720000"/>
            <a:ext cx="3570000" cy="4590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4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0000" y="1330000"/>
            <a:ext cx="349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Диалог и выбор ответа</a:t>
            </a:r>
          </a:p>
        </p:txBody>
      </p:sp>
      <p:pic>
        <p:nvPicPr>
          <p:cNvPr id="21" name="Picture 20" descr="blok-mikroobuch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0" y="1720000"/>
            <a:ext cx="3570000" cy="459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11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«ещё одна LMS», а контур ОТ + микроформат + СМАРТА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455523"/>
              </p:ext>
            </p:extLst>
          </p:nvPr>
        </p:nvGraphicFramePr>
        <p:xfrm>
          <a:off x="563880" y="1393697"/>
          <a:ext cx="11338560" cy="5212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39">
                <a:tc>
                  <a:txBody>
                    <a:bodyPr wrap="square"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Классическая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LMS</a:t>
                      </a:r>
                      <a:r>
                        <a:rPr lang="ru-RU"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и СДО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Очное обучение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3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Микрообучение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Длинные курсы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Обучение в учебном классе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Ежедневные</a:t>
                      </a:r>
                      <a:r>
                        <a:rPr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микрокурсы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по 5-7 минут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Вовлечённость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Слабая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и неконтролируемая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(включил видео или запустил презентацию, а сам параллельно занялся своими делами)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Контроль внимания </a:t>
                      </a:r>
                      <a:r>
                        <a:rPr lang="ru-RU" sz="1200" b="0" i="0" u="sng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отдельных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обучаемых со стороны преподавателя/тренера. Чаще не оценивается, не фиксируется, а остается в голове тренера.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Методика вовлеченности, построенная на оценке различных действий и поведения работника в системе. 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 диалога требует постоянного внимания, нельзя «включить и уйти»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Контент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Большие курсы долго разрабатываются,  адаптация к специфике работ требует существенных усилий. При изменениях  актуализация программы занимает много времени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Длительная разработка программы.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Содержание программы может зависеть от конкретного тренера/преподавателя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Гибкая настройка программы из различных </a:t>
                      </a:r>
                      <a:r>
                        <a:rPr lang="ru-RU"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микроуроков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с учетом специфики, необходимых акцентов и сезонности.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Легкая адаптация при изменениях НПА или процесса – замена 1 урока не равно проверка и редактирование всего курса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Периодичность</a:t>
                      </a:r>
                      <a:endParaRPr sz="1300" b="1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 раз в 3 года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 раз в 3 года</a:t>
                      </a:r>
                    </a:p>
                    <a:p>
                      <a:pPr algn="l"/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ежедневно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67185"/>
                  </a:ext>
                </a:extLst>
              </a:tr>
              <a:tr h="662944"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Уровень остаточных знания</a:t>
                      </a:r>
                      <a:endParaRPr sz="1300" b="1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12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ДЕМО  ·  8–10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Смотрим продукт, не слайды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Сотрудник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проходит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один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микрокурс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с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телефона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2.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Руководитель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рейтинг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просрочки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13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Назначили → проходят каждый день → видите отчёт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Назначение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Программа на группу или должность. Срок, рабочие дни, последовательный трек.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Ежедневные блоки: материал + вопрос проверки. Баллы за попытку.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Контроль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Рейтинг, просрочки, вовлечённость. Отчёт к проверке и разбор с куратором.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14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ДОКАЗАТЕЛЬСТВА 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 и вовлечённость уже работают в охране труда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 Q12,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Подразделения с высокой вовлечённостью: на 63% меньше инцидентов по безопасности vs нижний квартиль.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Метаанализ 3,35 млн сотрудников, 183 806 подразделений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FSC / Signal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Микрообучение на шахте без отрыва от смены. Гибкая подача + поведение в H&amp;S.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Оценка программы, Канада,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Walmart</a:t>
            </a:r>
            <a:endParaRPr lang="ru-RU"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ежедневные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3–5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мин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квизы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производственной безопасности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Результат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снижение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инциндентов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на 54%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15  /  18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3B4D61-6602-4CBF-B05E-FB4758E19A8C}"/>
              </a:ext>
            </a:extLst>
          </p:cNvPr>
          <p:cNvSpPr/>
          <p:nvPr/>
        </p:nvSpPr>
        <p:spPr>
          <a:xfrm>
            <a:off x="3902393" y="4496752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Использовать лого исследований и брендов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КОММЕРЧЕСКАЯ ЛОГИКА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Считаем от риска и объёма, не от «стоимости LMS»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Стоимость штрафа / простоя / повторного обучения   vs   лицензия на сотрудника в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до 100 человек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Базовые программы
Кабинет и назначения
Отчёт куратора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23160"/>
            <a:ext cx="3611880" cy="30632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Бизнес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до 500 человек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Безлимит программ
Рейтинг и веса критериев
Несколько групп и отделов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Корпоратив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500+ / филиалы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Кабинеты филиалов
ЕИСОТ-контур, SLA
Кастомные программы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Точную цифру дадим после пилота и вашей численности. Сегодня фиксируем логику.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16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КОМУ ПОЛЕЗНО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Польза для работника, куратора, специалиста по ОТ и руководителя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17  / 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0000" y="1480000"/>
          <a:ext cx="11350000" cy="48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Работник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Куратор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Специалист по охране труда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Руководитель компании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Не отрывается от работы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Учится в течение смены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Регулярно закрепляет навык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Постоянно вовлечён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Назначения по категории работника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Простое управление программами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Аналитика, чтобы координировать обучающихся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Снижение инцидентов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Программы завязаны на реальные зоны риска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Акцент на нарушениях и происшествиях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Культура безопасности: регулярный диалог с работниками через систему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Меньше расходов на тренинги, которые не снижают травматизм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Меньше времени сотрудников на обучение без результата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Реальный эффект: меньше нарушений и несчастных случаев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КОММЕРЦИЯ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Веб-версия и серверная версия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80000"/>
            <a:ext cx="6400800" cy="36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0000"/>
            <a:ext cx="59436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Веб-версия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0000"/>
            <a:ext cx="594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 готовым контентом. Цена за 1 работника.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580000"/>
          <a:ext cx="59436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416"/>
                <a:gridCol w="261518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Количество пользователей</a:t>
                      </a:r>
                    </a:p>
                  </a:txBody>
                  <a:tcPr anchor="ctr">
                    <a:solidFill>
                      <a:srgbClr val="1A9B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Цена за 1 работника</a:t>
                      </a:r>
                    </a:p>
                  </a:txBody>
                  <a:tcPr anchor="ctr">
                    <a:solidFill>
                      <a:srgbClr val="1A9B8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0–50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490 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50–300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460 ₽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300–1000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420 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1000–5000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390 ₽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5000 и выше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договорная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00640" y="1680000"/>
            <a:ext cx="4557960" cy="36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8040" y="1780000"/>
            <a:ext cx="410256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Серверная версия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8040" y="2160000"/>
            <a:ext cx="410256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Размещение на инфраструктуре заказчика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8040" y="2620000"/>
            <a:ext cx="410256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Стоимость в этом предложении не оговаривается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Условия поставки и внедрения — отдельно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Контур, доступы и сопровождение — под вашу инфраструктуру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450000"/>
            <a:ext cx="11155680" cy="9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80000"/>
            <a:ext cx="1070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Дополнительно могут быть включены услуги по разработке или адаптации контента под специфику компании. Стоимость определяется по техническому заданию.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18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0000"/>
            <a:ext cx="111556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Четыре отчёта. Сразу видно: кто учится, а кто только «проходит»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20000"/>
            <a:ext cx="5400000" cy="19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20000"/>
            <a:ext cx="82000" cy="1980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920" y="1360000"/>
            <a:ext cx="5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КОМПАНИЯ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920" y="164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План, факт и прогноз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920" y="2080000"/>
            <a:ext cx="50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Одна траектория на подразделение: сколько микроуроков должны пройти, сколько прошли и куда придёте при текущем темпе. Отставание видно до срыва срока, а не после проверки знаний.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0000" y="1220000"/>
            <a:ext cx="5400000" cy="19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0000" y="1220000"/>
            <a:ext cx="82000" cy="1980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1360000"/>
            <a:ext cx="5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ЛЮДИ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164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Кто учится — кто только кликает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080000"/>
            <a:ext cx="50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Рейтинг и четыре сигнала по каждому: активность, качество ответов, просрочка, вовлечённость. Куратор идёт не «ко всем», а к тем, кто в системе каждый день, но отвечает наугад.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80000"/>
            <a:ext cx="5400000" cy="19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80000"/>
            <a:ext cx="82000" cy="19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920" y="3520000"/>
            <a:ext cx="5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ДАТЫ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920" y="38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Когда учатся на самом деле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920" y="4240000"/>
            <a:ext cx="50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Тепловая карта смены: утро, день, выходные. Микроуроки внутри рабочего дня, без отрыва в класс. Если пик ночью или пустые дни — это уже не обучение, а имитация.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00000" y="3380000"/>
            <a:ext cx="5400000" cy="19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00000" y="3380000"/>
            <a:ext cx="82000" cy="1980000"/>
          </a:xfrm>
          <a:prstGeom prst="rect">
            <a:avLst/>
          </a:prstGeom>
          <a:solidFill>
            <a:srgbClr val="C0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000" y="3520000"/>
            <a:ext cx="5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КОНТЕНТ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000" y="38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Где навык, где провал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4240000"/>
            <a:ext cx="50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Программа рядом с программой: где 80% правильных, где копится просрочка. Дорабатываете конкретный урок, а не переписываете весь курс «на всякий случай».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80000"/>
            <a:ext cx="11155680" cy="9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00000"/>
            <a:ext cx="10700000" cy="7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LMS ставит галочку «прошёл». Lab-Интеллект показывает разрыв: высокая активность при слабых ответах и отставании от плана. Это и есть точка управления охраной труда — не после НС, а пока ещё можно скорректировать назначения и контент.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10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1411</Words>
  <Application>Microsoft Office PowerPoint</Application>
  <PresentationFormat>Широкоэкранный</PresentationFormat>
  <Paragraphs>224</Paragraphs>
  <Slides>16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Алёна Титова</dc:creator>
  <cp:keywords/>
  <dc:description>generated using python-pptx</dc:description>
  <cp:lastModifiedBy>Алёна Титова</cp:lastModifiedBy>
  <cp:revision>3</cp:revision>
  <dcterms:created xsi:type="dcterms:W3CDTF">2013-01-27T09:14:16Z</dcterms:created>
  <dcterms:modified xsi:type="dcterms:W3CDTF">2026-09-15T11:23:16Z</dcterms:modified>
  <cp:category/>
</cp:coreProperties>
</file>