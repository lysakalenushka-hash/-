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51" y="1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577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Не начинать с истории компании. Назвать клиента. Цель встречи — решение по пилоту.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Связка: формат длинного курса против ежедневного микроблока.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Не сравнивать 20% Gallup и 64% ЭКОПСИ как одну шкалу. Источники — запасной слайд 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Спросить вслух их цифру. Если нет — оставить пропуски и вернуться в КП.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Не обещать ИИ-адаптацию, симуляции и сертификаты 24/7, если не покажете в демо.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Веса по умолчанию в продукте. Компания может пересчитать критерии.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Если уже клиент СМАРТА: «Вы уже учите людей. Мы закрываем 364 дня между аттестациями.»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Не заменять демо скриншотами. Второй экран — кабинет руководителя.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Персонализация — через программы, должности и назначения, не через обещание 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Свои</a:t>
            </a:r>
            <a:r>
              <a:rPr dirty="0"/>
              <a:t> </a:t>
            </a:r>
            <a:r>
              <a:rPr dirty="0" err="1"/>
              <a:t>кейсы</a:t>
            </a:r>
            <a:r>
              <a:rPr dirty="0"/>
              <a:t> СМАРТА </a:t>
            </a:r>
            <a:r>
              <a:rPr dirty="0" err="1"/>
              <a:t>ставить</a:t>
            </a:r>
            <a:r>
              <a:rPr dirty="0"/>
              <a:t> </a:t>
            </a:r>
            <a:r>
              <a:rPr dirty="0" err="1"/>
              <a:t>первыми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цифры</a:t>
            </a:r>
            <a:r>
              <a:rPr dirty="0"/>
              <a:t>. </a:t>
            </a:r>
            <a:r>
              <a:rPr dirty="0" err="1"/>
              <a:t>Чужие</a:t>
            </a:r>
            <a:r>
              <a:rPr dirty="0"/>
              <a:t> —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доказательство</a:t>
            </a:r>
            <a:r>
              <a:rPr dirty="0"/>
              <a:t> </a:t>
            </a:r>
            <a:r>
              <a:rPr dirty="0" err="1"/>
              <a:t>формата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emo.smarta-ot.ru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00" b="1" i="0" dirty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LAB-</a:t>
            </a:r>
            <a:r>
              <a:rPr lang="ru-RU" sz="1400" b="1" i="0" dirty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ИН  ·  СМАРТА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Микрообучение по охране труда,
которое сотрудники реально проходят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endParaRPr sz="1200" b="1" i="0" dirty="0">
              <a:solidFill>
                <a:srgbClr val="1A9B8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Как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обычно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выглядит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обучение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ОТ</a:t>
            </a:r>
            <a:r>
              <a:rPr lang="ru-RU"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 в компании в 2026 году</a:t>
            </a:r>
            <a:endParaRPr sz="2800" b="1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36118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361188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Сейчас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324612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1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Численность</a:t>
            </a:r>
            <a:r>
              <a:rPr sz="11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/ </a:t>
            </a:r>
            <a:r>
              <a:rPr sz="11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филиалы</a:t>
            </a:r>
            <a:r>
              <a:rPr sz="11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ru-RU" sz="110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1000</a:t>
            </a:r>
            <a:endParaRPr sz="11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1200"/>
              </a:spcAft>
            </a:pPr>
            <a:r>
              <a:rPr sz="11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1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Обучаем</a:t>
            </a:r>
            <a:r>
              <a:rPr sz="11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в </a:t>
            </a:r>
            <a:r>
              <a:rPr sz="11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год</a:t>
            </a:r>
            <a:r>
              <a:rPr sz="11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ru-RU" sz="110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2000 </a:t>
            </a:r>
            <a:r>
              <a:rPr sz="11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чел</a:t>
            </a:r>
            <a:r>
              <a:rPr lang="ru-RU" sz="11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-программ</a:t>
            </a:r>
            <a:r>
              <a:rPr sz="11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11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1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Формат</a:t>
            </a:r>
            <a:r>
              <a:rPr sz="11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1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очно</a:t>
            </a:r>
            <a:r>
              <a:rPr sz="11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/ LMS / </a:t>
            </a:r>
            <a:r>
              <a:rPr lang="ru-RU" sz="11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тренинги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Трудопотери</a:t>
            </a:r>
            <a:r>
              <a:rPr lang="ru-RU" sz="110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: более 32 000 чел/часов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74519"/>
            <a:ext cx="36118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874519"/>
            <a:ext cx="361188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210312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b="1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Проблемы</a:t>
            </a:r>
            <a:endParaRPr sz="1800" b="1" i="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80560" y="2606040"/>
            <a:ext cx="32461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Просрочки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150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у одних  и избыточность обучения у других </a:t>
            </a:r>
          </a:p>
          <a:p>
            <a:pPr algn="l">
              <a:spcAft>
                <a:spcPts val="12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Ф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ормальный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допуск</a:t>
            </a:r>
            <a:endParaRPr lang="ru-RU" sz="15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12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Текучка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повторное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обучение</a:t>
            </a:r>
            <a:endParaRPr lang="ru-RU" sz="15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Процесс обучения не приводит к снижению травм и нарушений</a:t>
            </a:r>
            <a:endParaRPr sz="15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92440" y="1874519"/>
            <a:ext cx="36118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874519"/>
            <a:ext cx="361188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210312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Типовой сценарий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606040"/>
            <a:ext cx="32461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</a:t>
            </a:r>
            <a:r>
              <a:rPr lang="ru-RU" sz="150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омпании идут в дорогую автоматизацию, требующую постоянной доработки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Постоянный контроль и админи</a:t>
            </a:r>
            <a:r>
              <a:rPr lang="ru-RU" sz="150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стрирование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Откладываем поиск решения </a:t>
            </a:r>
            <a:r>
              <a:rPr lang="ru-RU" sz="150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«на потом» </a:t>
            </a: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до первого крупного прецендента</a:t>
            </a:r>
            <a:endParaRPr sz="15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3  / 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ПРОБЛЕМА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Сотрудник «прошёл курс» — и на следующий день работает как раньше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576072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303520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8–40 </a:t>
            </a:r>
            <a:r>
              <a:rPr sz="18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часов</a:t>
            </a:r>
            <a:r>
              <a:rPr sz="18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раз</a:t>
            </a:r>
            <a:r>
              <a:rPr sz="18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в </a:t>
            </a:r>
            <a:r>
              <a:rPr sz="18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год</a:t>
            </a:r>
            <a:r>
              <a:rPr sz="18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≠ </a:t>
            </a:r>
            <a:r>
              <a:rPr sz="18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навык</a:t>
            </a:r>
            <a:r>
              <a:rPr sz="18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в </a:t>
            </a:r>
            <a:r>
              <a:rPr sz="18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момент</a:t>
            </a:r>
            <a:r>
              <a:rPr sz="18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риска</a:t>
            </a:r>
            <a:endParaRPr sz="18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1800"/>
              </a:spcAft>
            </a:pPr>
            <a:r>
              <a:rPr sz="18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</a:t>
            </a:r>
            <a:r>
              <a:rPr lang="ru-RU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Программы плохо адаптированы под специфику работ или вообще не адаптированы</a:t>
            </a:r>
            <a:endParaRPr lang="ru-RU" sz="18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1800"/>
              </a:spcAft>
            </a:pPr>
            <a:r>
              <a:rPr sz="18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Знания</a:t>
            </a:r>
            <a:r>
              <a:rPr sz="18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выветриваются</a:t>
            </a:r>
            <a:r>
              <a:rPr sz="18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между</a:t>
            </a:r>
            <a:r>
              <a:rPr sz="18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18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проверками знаний (процент остаточных знаний низок)</a:t>
            </a:r>
            <a:endParaRPr sz="18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1800"/>
              </a:spcAft>
            </a:pPr>
            <a:r>
              <a:rPr sz="18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8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Куратор</a:t>
            </a:r>
            <a:r>
              <a:rPr sz="18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видит</a:t>
            </a:r>
            <a:r>
              <a:rPr sz="18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факт</a:t>
            </a:r>
            <a:r>
              <a:rPr sz="18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прохождения</a:t>
            </a:r>
            <a:r>
              <a:rPr sz="18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8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не</a:t>
            </a:r>
            <a:r>
              <a:rPr sz="18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видит</a:t>
            </a:r>
            <a:r>
              <a:rPr sz="18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вовлечённость</a:t>
            </a:r>
            <a:endParaRPr sz="18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92240" y="1874519"/>
            <a:ext cx="5212080" cy="3977639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2194560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ДВА ФОРМАТА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651760"/>
            <a:ext cx="47548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Длинный курс
раз в год — галочка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114800"/>
            <a:ext cx="47548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D4A017"/>
                </a:solidFill>
                <a:latin typeface="Calibri"/>
                <a:ea typeface="Calibri"/>
                <a:cs typeface="Calibri"/>
              </a:rPr>
              <a:t>5–15 минут
в рабочий день — привычка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4  / 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ПРОБЛЕМА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Если обучение не измеряется каждый день, им нельзя управлять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36118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154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1546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работников</a:t>
            </a:r>
            <a:r>
              <a:rPr sz="16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в </a:t>
            </a:r>
            <a:r>
              <a:rPr sz="16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мире</a:t>
            </a:r>
            <a:r>
              <a:rPr sz="16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вовлечены</a:t>
            </a:r>
            <a:r>
              <a:rPr lang="ru-RU" sz="16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в рабочий процесс</a:t>
            </a:r>
            <a:endParaRPr sz="16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Gallup, State of the Global Workplace 2026, данные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74519"/>
            <a:ext cx="36118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154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−63%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926080"/>
            <a:ext cx="31546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инцидентов</a:t>
            </a:r>
            <a:r>
              <a:rPr sz="16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у </a:t>
            </a:r>
            <a:r>
              <a:rPr lang="ru-RU" sz="16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работников с высокой степенью </a:t>
            </a:r>
            <a:r>
              <a:rPr sz="16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вовлечённости</a:t>
            </a:r>
            <a:endParaRPr sz="1600" b="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26280" y="42062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Gallup Q12 Meta-Analysis, 11th ed.,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0352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1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Для</a:t>
            </a:r>
            <a:r>
              <a:rPr sz="1600" b="0" i="1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1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охраны</a:t>
            </a:r>
            <a:r>
              <a:rPr sz="1600" b="0" i="1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1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труда</a:t>
            </a:r>
            <a:r>
              <a:rPr lang="ru-RU" sz="1600" b="0" i="1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 и производственной безопасности</a:t>
            </a:r>
            <a:r>
              <a:rPr sz="1600" b="0" i="1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600" b="0" i="1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вовлечённость</a:t>
            </a:r>
            <a:r>
              <a:rPr sz="1600" b="0" i="1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 — </a:t>
            </a:r>
            <a:r>
              <a:rPr sz="1600" b="0" i="1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ведущий</a:t>
            </a:r>
            <a:r>
              <a:rPr sz="1600" b="0" i="1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1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индикатор</a:t>
            </a:r>
            <a:r>
              <a:rPr sz="1600" b="0" i="1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600" b="0" i="1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Травма</a:t>
            </a:r>
            <a:r>
              <a:rPr sz="1600" b="0" i="1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600" b="0" i="1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штраф</a:t>
            </a:r>
            <a:r>
              <a:rPr sz="1600" b="0" i="1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 — </a:t>
            </a:r>
            <a:r>
              <a:rPr sz="1600" b="0" i="1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запаздывающий</a:t>
            </a:r>
            <a:r>
              <a:rPr sz="1600" b="0" i="1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5  / 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ЦЕНА БЕЗДЕЙСТВИЯ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Сколько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стоит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«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как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сейчас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»</a:t>
            </a:r>
            <a:r>
              <a:rPr lang="ru-RU"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 algn="l"/>
            <a:r>
              <a:rPr lang="ru-RU" sz="140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На примере компании в 1000 человек</a:t>
            </a:r>
            <a:endParaRPr sz="1400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3611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3611880" cy="91440"/>
          </a:xfrm>
          <a:prstGeom prst="rect">
            <a:avLst/>
          </a:prstGeom>
          <a:solidFill>
            <a:srgbClr val="C0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b="1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Потеря рабочего времени</a:t>
            </a:r>
            <a:endParaRPr sz="1800" b="1" i="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31546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150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Оплата времени, затраченного работниками на обучение</a:t>
            </a:r>
            <a:endParaRPr sz="1500" b="0" i="0" dirty="0">
              <a:solidFill>
                <a:srgbClr val="5B67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 dirty="0" err="1">
                <a:solidFill>
                  <a:srgbClr val="C0453C"/>
                </a:solidFill>
                <a:latin typeface="Calibri"/>
                <a:ea typeface="Calibri"/>
                <a:cs typeface="Calibri"/>
              </a:rPr>
              <a:t>Ваша</a:t>
            </a:r>
            <a:r>
              <a:rPr sz="1500" b="1" i="0" dirty="0">
                <a:solidFill>
                  <a:srgbClr val="C0453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1" i="0" dirty="0" err="1">
                <a:solidFill>
                  <a:srgbClr val="C0453C"/>
                </a:solidFill>
                <a:latin typeface="Calibri"/>
                <a:ea typeface="Calibri"/>
                <a:cs typeface="Calibri"/>
              </a:rPr>
              <a:t>цифра</a:t>
            </a:r>
            <a:r>
              <a:rPr sz="1500" b="1" i="0" dirty="0">
                <a:solidFill>
                  <a:srgbClr val="C0453C"/>
                </a:solidFill>
                <a:latin typeface="Calibri"/>
                <a:ea typeface="Calibri"/>
                <a:cs typeface="Calibri"/>
              </a:rPr>
              <a:t>: __</a:t>
            </a:r>
            <a:r>
              <a:rPr lang="ru-RU" sz="1500" b="1" i="0" dirty="0">
                <a:solidFill>
                  <a:srgbClr val="C0453C"/>
                </a:solidFill>
                <a:latin typeface="Calibri"/>
                <a:ea typeface="Calibri"/>
                <a:cs typeface="Calibri"/>
              </a:rPr>
              <a:t>16 млн. </a:t>
            </a:r>
            <a:r>
              <a:rPr sz="1500" b="1" i="0" dirty="0">
                <a:solidFill>
                  <a:srgbClr val="C0453C"/>
                </a:solidFill>
                <a:latin typeface="Calibri"/>
                <a:ea typeface="Calibri"/>
                <a:cs typeface="Calibri"/>
              </a:rPr>
              <a:t> 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74519"/>
            <a:ext cx="3611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874519"/>
            <a:ext cx="3611880" cy="91440"/>
          </a:xfrm>
          <a:prstGeom prst="rect">
            <a:avLst/>
          </a:prstGeom>
          <a:solidFill>
            <a:srgbClr val="C0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214884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Потеря смены / НС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108960"/>
            <a:ext cx="31546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Больничный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простой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расследование</a:t>
            </a:r>
            <a:endParaRPr lang="ru-RU" sz="1500" b="0" i="0" dirty="0">
              <a:solidFill>
                <a:srgbClr val="5B6778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ru-RU" sz="150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endParaRPr sz="1500" b="0" i="0" dirty="0">
              <a:solidFill>
                <a:srgbClr val="5B67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26280" y="475488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C0453C"/>
                </a:solidFill>
                <a:latin typeface="Calibri"/>
                <a:ea typeface="Calibri"/>
                <a:cs typeface="Calibri"/>
              </a:rPr>
              <a:t>Ваша цифра: ________ 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74519"/>
            <a:ext cx="3611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874519"/>
            <a:ext cx="3611880" cy="91440"/>
          </a:xfrm>
          <a:prstGeom prst="rect">
            <a:avLst/>
          </a:prstGeom>
          <a:solidFill>
            <a:srgbClr val="C0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214884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1800" b="1" i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Стоимость организации </a:t>
            </a:r>
            <a:r>
              <a:rPr lang="ru-RU" sz="1800" b="1" i="0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обучени</a:t>
            </a:r>
            <a:r>
              <a:rPr sz="1800" b="1" i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 «</a:t>
            </a:r>
            <a:r>
              <a:rPr sz="1800" b="1" i="0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для</a:t>
            </a:r>
            <a:r>
              <a:rPr sz="1800" b="1" i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1" i="0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галочки</a:t>
            </a:r>
            <a:r>
              <a:rPr sz="1800" b="1" i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108960"/>
            <a:ext cx="31546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Стоимость договорных отношений и администрирования процесса</a:t>
            </a:r>
            <a:endParaRPr sz="1500" b="0" i="0" dirty="0">
              <a:solidFill>
                <a:srgbClr val="5B67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21040" y="475488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1500" b="1" i="0" dirty="0">
                <a:solidFill>
                  <a:srgbClr val="C0453C"/>
                </a:solidFill>
                <a:latin typeface="Calibri"/>
                <a:ea typeface="Calibri"/>
                <a:cs typeface="Calibri"/>
              </a:rPr>
              <a:t>3 млн ₽</a:t>
            </a:r>
            <a:endParaRPr sz="1500" b="1" i="0" dirty="0">
              <a:solidFill>
                <a:srgbClr val="C0453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6  / 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ИНСАЙТ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Между</a:t>
            </a:r>
            <a:r>
              <a:rPr lang="ru-RU" sz="2800" b="1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проверками знания раз в 3 года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нужен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второй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контур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—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короткий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ежедневный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, с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рейтингом</a:t>
            </a:r>
            <a:endParaRPr sz="2800" b="1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36118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D4A017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1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Проверка знания</a:t>
            </a:r>
            <a:endParaRPr sz="1800" b="1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Раз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в 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3 </a:t>
            </a:r>
            <a:r>
              <a:rPr sz="15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год</a:t>
            </a:r>
            <a:r>
              <a:rPr lang="ru-RU"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а</a:t>
            </a:r>
            <a:r>
              <a:rPr sz="15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.
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74519"/>
            <a:ext cx="3611880" cy="365760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060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Микрообучение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29184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Каждый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рабочий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день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.
5–15 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минут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.
</a:t>
            </a:r>
            <a:r>
              <a:rPr lang="ru-RU"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Формирование н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авык</a:t>
            </a:r>
            <a:r>
              <a:rPr lang="ru-RU"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ов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привыч</a:t>
            </a:r>
            <a:r>
              <a:rPr lang="ru-RU"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е</a:t>
            </a:r>
            <a:r>
              <a:rPr lang="ru-RU" sz="150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к</a:t>
            </a:r>
            <a:endParaRPr sz="1500" b="0" i="0" dirty="0">
              <a:solidFill>
                <a:srgbClr val="C5D0D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92440" y="1874519"/>
            <a:ext cx="3611880" cy="365760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Аналитика руководителя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29184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Контроль п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росрочки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балл</a:t>
            </a:r>
            <a:r>
              <a:rPr lang="ru-RU"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ов</a:t>
            </a:r>
            <a:r>
              <a:rPr lang="ru-RU"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за правильные ответы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ru-RU"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оценка 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
</a:t>
            </a:r>
            <a:r>
              <a:rPr sz="15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вовлечённост</a:t>
            </a:r>
            <a:r>
              <a:rPr lang="ru-RU"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и</a:t>
            </a:r>
            <a:r>
              <a:rPr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.</a:t>
            </a:r>
            <a:endParaRPr lang="ru-RU" sz="1500" dirty="0">
              <a:solidFill>
                <a:srgbClr val="C5D0DC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ru-RU" sz="15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Контроль «слабых</a:t>
            </a:r>
            <a:r>
              <a:rPr lang="ru-RU" sz="150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» зон, корректировка последовательности </a:t>
            </a:r>
            <a:r>
              <a:rPr lang="ru-RU" sz="150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микроуроков</a:t>
            </a:r>
            <a:r>
              <a:rPr lang="ru-RU" sz="150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в зависимости от типов нарушений</a:t>
            </a:r>
            <a:endParaRPr sz="1500" b="0" i="0" dirty="0">
              <a:solidFill>
                <a:srgbClr val="C5D0D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7  / 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9075" y="38100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1">
            <a:extLst>
              <a:ext uri="{FF2B5EF4-FFF2-40B4-BE49-F238E27FC236}">
                <a16:creationId xmlns:a16="http://schemas.microsoft.com/office/drawing/2014/main" id="{CA434F9E-BD72-4C3D-9177-0C136E7C8344}"/>
              </a:ext>
            </a:extLst>
          </p:cNvPr>
          <p:cNvSpPr/>
          <p:nvPr/>
        </p:nvSpPr>
        <p:spPr>
          <a:xfrm>
            <a:off x="4114800" y="3890772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ПРОДУКТ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Микрообучение</a:t>
            </a:r>
            <a:r>
              <a:rPr lang="ru-RU"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по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охране</a:t>
            </a:r>
            <a:r>
              <a:rPr sz="2800" b="1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1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труда</a:t>
            </a:r>
            <a:endParaRPr sz="2800" b="1" i="0" dirty="0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Микрокурсы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Видео</a:t>
            </a:r>
            <a:r>
              <a:rPr sz="14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4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презентации</a:t>
            </a:r>
            <a:r>
              <a:rPr sz="14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4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вопросы</a:t>
            </a:r>
            <a:r>
              <a:rPr sz="14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проверки</a:t>
            </a:r>
            <a:r>
              <a:rPr sz="14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знаний</a:t>
            </a:r>
            <a:r>
              <a:rPr lang="ru-RU" sz="14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, практические задания</a:t>
            </a:r>
            <a:endParaRPr sz="1400" b="0" i="0" dirty="0">
              <a:solidFill>
                <a:srgbClr val="5B67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20574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Программы</a:t>
            </a:r>
            <a:r>
              <a:rPr sz="1600" b="1" i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600" b="1" i="0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назначения</a:t>
            </a:r>
            <a:endParaRPr sz="1600" b="1" i="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26280" y="256032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Группы, каждый день или по рабочим дням, последовательный трек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0574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Баллы</a:t>
            </a:r>
            <a:r>
              <a:rPr sz="1600" b="1" i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 и </a:t>
            </a:r>
            <a:r>
              <a:rPr lang="ru-RU" sz="1600" b="1" i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вовлеченность</a:t>
            </a:r>
            <a:endParaRPr sz="1600" b="1" i="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03420" y="4457223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140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Видимый для всех сотрудников рейтинг становится мотиватором к обучению. Гибкое управление рейтингом – можете сделать акцент на правильных ответах, практике или дисциплине</a:t>
            </a:r>
            <a:endParaRPr sz="1400" b="0" i="0" dirty="0">
              <a:solidFill>
                <a:srgbClr val="5B677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388620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Кабинет компании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Штатка</a:t>
            </a:r>
            <a:r>
              <a:rPr sz="14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4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филиалы</a:t>
            </a:r>
            <a:r>
              <a:rPr sz="14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4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роли</a:t>
            </a:r>
            <a:r>
              <a:rPr sz="14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: admin / curator / user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8147" y="3723132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18660" y="409575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1600" b="1" i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Рейтинг</a:t>
            </a:r>
            <a:endParaRPr sz="1600" b="1" i="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21040" y="461772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Прогресс, просрочки, выгрузка без Excel-рутины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8  /  28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33CBFEF-1EC0-4653-9043-3C48358B33AF}"/>
              </a:ext>
            </a:extLst>
          </p:cNvPr>
          <p:cNvSpPr/>
          <p:nvPr/>
        </p:nvSpPr>
        <p:spPr>
          <a:xfrm>
            <a:off x="9129712" y="5565074"/>
            <a:ext cx="5686425" cy="191014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Сюда надо вставить скрины с системы</a:t>
            </a:r>
          </a:p>
          <a:p>
            <a:pPr algn="ctr"/>
            <a:r>
              <a:rPr lang="en-US" dirty="0">
                <a:hlinkClick r:id="rId3"/>
              </a:rPr>
              <a:t>https://demo.smarta-ot.ru/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ru-RU" dirty="0"/>
              <a:t>Пришлю отдельно страницы скринов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89F2BB-197A-41FB-B61C-A3AC0BC01C24}"/>
              </a:ext>
            </a:extLst>
          </p:cNvPr>
          <p:cNvSpPr txBox="1"/>
          <p:nvPr/>
        </p:nvSpPr>
        <p:spPr>
          <a:xfrm>
            <a:off x="8473440" y="4200144"/>
            <a:ext cx="3154680" cy="5242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dirty="0" err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Отчёты</a:t>
            </a:r>
            <a:endParaRPr sz="1600" b="1" i="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A81321-B7B2-4B00-A120-BABF5937E313}"/>
              </a:ext>
            </a:extLst>
          </p:cNvPr>
          <p:cNvSpPr txBox="1"/>
          <p:nvPr/>
        </p:nvSpPr>
        <p:spPr>
          <a:xfrm>
            <a:off x="8473440" y="271272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140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Собственная методика вовлеченности, оценка </a:t>
            </a:r>
            <a:r>
              <a:rPr sz="1400" b="0" i="0" dirty="0" err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своевременност</a:t>
            </a:r>
            <a:r>
              <a:rPr lang="ru-RU" sz="14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и</a:t>
            </a:r>
            <a:r>
              <a:rPr sz="14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ru-RU" sz="1400" b="0" i="0" dirty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баллы за теоретическую и практическую часть</a:t>
            </a:r>
            <a:endParaRPr sz="1400" b="0" i="0" dirty="0">
              <a:solidFill>
                <a:srgbClr val="5B6778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ГЛАЗАМИ СОТРУДНИКА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5–15 минут, телефон или компьютер. Один блок — один навык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59436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Актуальные микрокурсы на сегодня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Последовательный трек: следующий курс откроется после текущего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Вопрос проверки знаний и баллы за попытку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Статус «все курсы на сегодня пройдены»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874519"/>
            <a:ext cx="5029200" cy="3977639"/>
          </a:xfrm>
          <a:prstGeom prst="roundRect">
            <a:avLst/>
          </a:prstGeom>
          <a:solidFill>
            <a:srgbClr val="0E6B5E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2286000"/>
            <a:ext cx="4572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Моё обучение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474720"/>
            <a:ext cx="45720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ru-RU" sz="18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Микрообучение</a:t>
            </a:r>
            <a:r>
              <a:rPr lang="ru-RU" sz="18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– это </a:t>
            </a:r>
            <a:r>
              <a:rPr sz="18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не</a:t>
            </a:r>
            <a:r>
              <a:rPr sz="18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ещё</a:t>
            </a:r>
            <a:r>
              <a:rPr sz="18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одна</a:t>
            </a:r>
            <a:r>
              <a:rPr sz="18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LMS.
</a:t>
            </a:r>
            <a:r>
              <a:rPr sz="1800" b="0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Это</a:t>
            </a:r>
            <a:r>
              <a:rPr sz="18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1800" b="0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знания и навыки, переходящие в привычку</a:t>
            </a:r>
            <a:endParaRPr sz="1800" b="0" i="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9  /  28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445D9A5-2D77-4DC3-A52D-168BAEE81B2B}"/>
              </a:ext>
            </a:extLst>
          </p:cNvPr>
          <p:cNvSpPr/>
          <p:nvPr/>
        </p:nvSpPr>
        <p:spPr>
          <a:xfrm>
            <a:off x="3433763" y="4291013"/>
            <a:ext cx="5995987" cy="265842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Сюда вставляем ролик по </a:t>
            </a:r>
            <a:r>
              <a:rPr lang="ru-RU" dirty="0" err="1"/>
              <a:t>микрообучению</a:t>
            </a:r>
            <a:r>
              <a:rPr lang="ru-RU" dirty="0"/>
              <a:t>, который делали год назад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ГЛАЗАМИ ОТ / 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Кто не прошёл, кто просрочил, кто вовлечён — без Excel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Прохождение блока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874519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205740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8346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Вопрос проверки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874519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80" y="205740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8346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Вовлечённость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874519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0" y="205740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8346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Доп. информация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1874519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0" y="205740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8346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Своевременность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0624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Прогресс программ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Своевременность и просрочки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Рейтинг сотрудников и баллы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Выгрузка отчёта к проверке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10  /  28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232FABE-BB4E-49CF-BBF2-5C62AC1C47DB}"/>
              </a:ext>
            </a:extLst>
          </p:cNvPr>
          <p:cNvSpPr/>
          <p:nvPr/>
        </p:nvSpPr>
        <p:spPr>
          <a:xfrm>
            <a:off x="3088310" y="2492979"/>
            <a:ext cx="5995987" cy="265842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Этот слайд пока не делаем, здесь будет про методику оценки вовлеченности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ОТЛИЧИЕ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Не «ещё одна LMS», а контур ОТ + микроформат + СМАРТА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455523"/>
              </p:ext>
            </p:extLst>
          </p:nvPr>
        </p:nvGraphicFramePr>
        <p:xfrm>
          <a:off x="563880" y="1393697"/>
          <a:ext cx="11338560" cy="52120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39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Классическая</a:t>
                      </a:r>
                      <a:r>
                        <a:rPr sz="1300" b="1" i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LMS</a:t>
                      </a:r>
                      <a:r>
                        <a:rPr lang="ru-RU" sz="1300" b="1" i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и СДО</a:t>
                      </a:r>
                      <a:endParaRPr sz="1300" b="1" i="0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 i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Очное обучение</a:t>
                      </a:r>
                      <a:endParaRPr sz="1300" b="1" i="0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 i="0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Микрообучение</a:t>
                      </a:r>
                      <a:endParaRPr sz="1300" b="1" i="0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Формат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Длинные курсы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Обучение в учебном классе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dirty="0" err="1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Ежедневные</a:t>
                      </a:r>
                      <a:r>
                        <a:rPr sz="13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микрокурсы</a:t>
                      </a:r>
                      <a:r>
                        <a:rPr lang="ru-RU" sz="13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 по 5-7 минут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Вовлечённость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 dirty="0" err="1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Слабая</a:t>
                      </a:r>
                      <a:r>
                        <a:rPr lang="ru-RU" sz="13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 и неконтролируемая</a:t>
                      </a:r>
                    </a:p>
                    <a:p>
                      <a:pPr algn="l"/>
                      <a:r>
                        <a:rPr lang="ru-RU" sz="13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(включил видео или запустил презентацию, а сам параллельно занялся своими делами)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Контроль внимания </a:t>
                      </a:r>
                      <a:r>
                        <a:rPr lang="ru-RU" sz="1300" b="0" i="0" u="sng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отдельных</a:t>
                      </a:r>
                      <a:r>
                        <a:rPr lang="ru-RU" sz="13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 обучаемых со стороны преподавателя/тренера. Чаще не оценивается, не фиксируется, а остается в голове тренера.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Методика вовлеченности, построенная на оценке различных действий и поведения работника в системе. </a:t>
                      </a:r>
                    </a:p>
                    <a:p>
                      <a:pPr algn="l"/>
                      <a:r>
                        <a:rPr lang="ru-RU" sz="13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Формат диалога требует постоянного внимания, нельзя «включить и уйти»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Контент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Большие курсы долго разрабатываются,  адаптация к специфике работ требует существенных усилий. При изменениях  актуализация программы занимает много времени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Длительная разработка программы.</a:t>
                      </a:r>
                    </a:p>
                    <a:p>
                      <a:pPr algn="l"/>
                      <a:r>
                        <a:rPr lang="ru-RU" sz="13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Содержание программы может зависеть от конкретного тренера/преподавателя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Гибкая настройка программы из различных </a:t>
                      </a:r>
                      <a:r>
                        <a:rPr lang="ru-RU" sz="1300" b="0" i="0" dirty="0" err="1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микроуроков</a:t>
                      </a:r>
                      <a:r>
                        <a:rPr lang="ru-RU" sz="13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 с учетом специфики, необходимых акцентов и сезонности.</a:t>
                      </a:r>
                    </a:p>
                    <a:p>
                      <a:pPr algn="l"/>
                      <a:r>
                        <a:rPr lang="ru-RU" sz="13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Легкая адаптация при изменениях НПА или процесса – замена 1 урока не равно проверка и редактирование всего курса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 algn="l"/>
                      <a:r>
                        <a:rPr lang="ru-RU" sz="1300" b="1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Периодичность</a:t>
                      </a:r>
                      <a:endParaRPr sz="1300" b="1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1 раз в 3 года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i="0" dirty="0">
                          <a:solidFill>
                            <a:srgbClr val="1A2332"/>
                          </a:solidFill>
                          <a:latin typeface="+mn-lt"/>
                          <a:ea typeface="Calibri"/>
                          <a:cs typeface="Calibri"/>
                        </a:rPr>
                        <a:t>1 раз в 3 года</a:t>
                      </a:r>
                    </a:p>
                    <a:p>
                      <a:pPr algn="l"/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ежедневно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767185"/>
                  </a:ext>
                </a:extLst>
              </a:tr>
              <a:tr h="662944">
                <a:tc>
                  <a:txBody>
                    <a:bodyPr/>
                    <a:lstStyle/>
                    <a:p>
                      <a:pPr algn="l"/>
                      <a:r>
                        <a:rPr lang="ru-RU" sz="1300" b="1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Уровень остаточных знания</a:t>
                      </a:r>
                      <a:endParaRPr sz="1300" b="1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20%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20%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0" i="0" dirty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80%</a:t>
                      </a:r>
                      <a:endParaRPr sz="1300" b="0" i="0" dirty="0">
                        <a:solidFill>
                          <a:srgbClr val="1A2332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11  / 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D4A017"/>
                </a:solidFill>
                <a:latin typeface="Calibri"/>
                <a:ea typeface="Calibri"/>
                <a:cs typeface="Calibri"/>
              </a:rPr>
              <a:t>ДЕМО  ·  8–10 МИНУТ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Смотрим продукт, не слайды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0972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1.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Сотрудник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проходит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один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микрокурс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с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телефона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
2.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Руководитель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видит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рейтинг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800" b="0" i="0" dirty="0" err="1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просрочки</a:t>
            </a:r>
            <a:r>
              <a:rPr sz="1800" b="0" i="0" dirty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
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КАК ЭТО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Назначили → проходят каждый день → видите отчёт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36118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Назначение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Программа на группу или должность. Срок, рабочие дни, последовательный трек.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6118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14884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74320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Микрообучение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38328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Ежедневные блоки: материал + вопрос проверки. Баллы за попытку.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920240"/>
            <a:ext cx="36118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14884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4320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Контроль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8328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Рейтинг, просрочки, вовлечённость. Отчёт к проверке и разбор с куратором.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12  / 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ДОКАЗАТЕЛЬСТВА ФОРМАТА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Микрообучение и вовлечённость уже работают в охране труда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3611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Gallup Q12,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315468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Подразделения с высокой вовлечённостью: на 63% меньше инцидентов по безопасности vs нижний квартиль.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Метаанализ 3,35 млн сотрудников, 183 806 подразделений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74519"/>
            <a:ext cx="3611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FSC / Signal Gold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80360"/>
            <a:ext cx="315468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Микрообучение на шахте без отрыва от смены. Гибкая подача + поведение в H&amp;S.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84632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Оценка программы, Канада, 2024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74519"/>
            <a:ext cx="3611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1" i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Walmart</a:t>
            </a:r>
            <a:endParaRPr lang="ru-RU" sz="1600" b="1" i="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1040" y="2880360"/>
            <a:ext cx="315468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ежедневные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3–5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мин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квизы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по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производственной безопасности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Результат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снижение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1500" b="0" i="0" dirty="0" err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инциндентов</a:t>
            </a:r>
            <a:r>
              <a:rPr lang="ru-RU"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 на 54%</a:t>
            </a:r>
            <a:r>
              <a:rPr sz="1500" b="0" i="0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13  /  28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43B4D61-6602-4CBF-B05E-FB4758E19A8C}"/>
              </a:ext>
            </a:extLst>
          </p:cNvPr>
          <p:cNvSpPr/>
          <p:nvPr/>
        </p:nvSpPr>
        <p:spPr>
          <a:xfrm>
            <a:off x="3902393" y="4496752"/>
            <a:ext cx="5995987" cy="265842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Использовать лого исследований и брендов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КОММЕРЧЕСКАЯ ЛОГИКА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Считаем от риска и объёма, не от «стоимости LMS»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Стоимость штрафа / простоя / повторного обучения   vs   лицензия на сотрудника в год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36118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Старт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до 100 человек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31546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Базовые программы
Кабинет и назначения
Отчёт куратора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423160"/>
            <a:ext cx="3611880" cy="306324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60604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Бизнес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06324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D4A017"/>
                </a:solidFill>
                <a:latin typeface="Calibri"/>
                <a:ea typeface="Calibri"/>
                <a:cs typeface="Calibri"/>
              </a:rPr>
              <a:t>до 500 человек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566160"/>
            <a:ext cx="31546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Безлимит программ
Рейтинг и веса критериев
Несколько групп и отделов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423160"/>
            <a:ext cx="36118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Корпоратив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6324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500+ / филиалы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566160"/>
            <a:ext cx="31546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Кабинеты филиалов
ЕИСОТ-контур, SLA
Кастомные программы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Точную цифру дадим после пилота и вашей численности. Сегодня фиксируем логику.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16  / 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КОМУ ПОЛЕЗНО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Польза для работника, куратора, специалиста по ОТ и руководителя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15  /  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20000" y="1450000"/>
          <a:ext cx="11350000" cy="4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7500"/>
                <a:gridCol w="2837500"/>
                <a:gridCol w="2837500"/>
                <a:gridCol w="2837500"/>
              </a:tblGrid>
              <a:tr h="7600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Работник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Куратор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Специалист по охране труда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Руководитель компании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10350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5–15 минут в смену, с телефона или компьютера — без отрыва на целый день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Назначения группам и должностям без ручного Excel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Поддерживающий контур между проверками знаний раз в 3 года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Меньше «обучения для галочки» и потерянных человеко-часов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Понятный трек: что пройти сегодня и что откроется дальше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Сразу видно, кто не прошёл, кто просрочил, кому напомнить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Слабые темы и просрочки по подразделениям — не скопом по всей компании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Единая картина по филиалам: вовлечённость, просрочки, прогресс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10350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Баллы и рейтинг вместо формальной галочки раз в несколько лет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Ежедневный ритм снижает ручной контроль и «догонялки» к проверке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Нормативка в микрокурсах и выгрузка отчёта к проверке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Вовлечённость как ведущий индикатор риска — до травмы и штрафа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Знания удерживаются в работе, а не выветриваются после курса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Отчёт по группе к разбору с руководителем смены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Можно точечно усилить программу после инцидента или предписания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Ниже вероятность НС, простоя и повторных затрат на формальное обучение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1345</Words>
  <Application>Microsoft Office PowerPoint</Application>
  <PresentationFormat>Широкоэкранный</PresentationFormat>
  <Paragraphs>207</Paragraphs>
  <Slides>15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Алёна Титова</dc:creator>
  <cp:keywords/>
  <dc:description>generated using python-pptx</dc:description>
  <cp:lastModifiedBy>Алёна Титова</cp:lastModifiedBy>
  <cp:revision>2</cp:revision>
  <dcterms:created xsi:type="dcterms:W3CDTF">2013-01-27T09:14:16Z</dcterms:created>
  <dcterms:modified xsi:type="dcterms:W3CDTF">2026-09-15T10:43:04Z</dcterms:modified>
  <cp:category/>
</cp:coreProperties>
</file>