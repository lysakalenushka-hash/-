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начинать с истории компании. Назвать клиента. Цель встречи — решение по пилоту.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Проговорить правило встречи вслух. Снять давление «нас сейчас продают».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Связка: формат длинного курса против ежедневного микроблока.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сравнивать 20% Gallup и 64% ЭКОПСИ как одну шкалу. Источники — запасной слайд 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 вслух их цифру. Если нет — оставить пропуски и вернуться в КП.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обещать ИИ-адаптацию, симуляции и сертификаты 24/7, если не покажете в демо.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Веса по умолчанию в продукте. Компания может пересчитать критерии.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уже клиент СМАРТА: «Вы уже учите людей. Мы закрываем 364 дня между аттестациями.»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заменять демо скриншотами. Второй экран — кабинет руководителя.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Персонализация — через программы, должности и назначения, не через обещание 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Свои кейсы СМАРТА ставить первыми, если есть цифры. Чужие — только как доказательство формата.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добавлять новый смысл. Только контакты и пауза под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LAB-ИНТЕЛЛЕКТ  ·  СМАРТА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Микрообучение по охране труда,
которое сотрудники реально проходят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Продающая встреча  ·  20 минут + демо  ·  цель: пилот 14–30 дней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4572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9AB0C4"/>
                </a:solidFill>
                <a:latin typeface="Calibri"/>
                <a:ea typeface="Calibri"/>
                <a:cs typeface="Calibri"/>
              </a:rPr>
              <a:t>Клиент: ______________________
Дата: ________________________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937760"/>
            <a:ext cx="4572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9AB0C4"/>
                </a:solidFill>
                <a:latin typeface="Calibri"/>
                <a:ea typeface="Calibri"/>
                <a:cs typeface="Calibri"/>
              </a:rPr>
              <a:t>Спикер: ______________________
Роль: ОТ / HR / закупки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СТАВКА ВСТРЕЧИ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За 20 минут — понять, стоит ли запускать пилот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36118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31546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Почему формальное обучение не снижает травмы и просрочки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965960"/>
            <a:ext cx="36118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19456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834640"/>
            <a:ext cx="31546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Как ежедневные микрокурсы дают вовлечённость и отчёт к проверке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965960"/>
            <a:ext cx="36118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9456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834640"/>
            <a:ext cx="31546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Что вы получите за 14–30 дней пилота на своей группе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07492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Если цифры не сойдутся — пилот не берём. Если сойдутся — считаем КП под вашу численность.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2  / 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ЗЕРКАЛО КЛИЕНТА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Как обычно выглядит обучение ОТ у компаний вашего масштаба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Заполните до встречи. Если данных нет — спросите: какой сценарий ближе?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36118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361188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Сейчас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3246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Численность / филиалы: ______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Обучаем в год: ______ чел.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Формат: очно / СМАРТА / LMS / Excel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74519"/>
            <a:ext cx="36118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874519"/>
            <a:ext cx="361188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10312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Где болит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06040"/>
            <a:ext cx="3246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Просрочки и «догоняем к проверке»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ЕИСОТ и формальный допуск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Текучка и повторное обучение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74519"/>
            <a:ext cx="36118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874519"/>
            <a:ext cx="361188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10312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Типовой сценарий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606040"/>
            <a:ext cx="3246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A. Крупный промышленный, филиалы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B. 200–1000 чел., нет своей LMS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C. Уже клиент СМАРТА, нет контура между аттестациями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3  / 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ПРОБЛЕМА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Сотрудник «прошёл курс» — и на следующий день работает как раньше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576072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8–40 часов раз в год ≠ навык в момент риска</a:t>
            </a:r>
          </a:p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Знания выветриваются между аттестациями</a:t>
            </a:r>
          </a:p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Куратор видит факт прохождения, не видит вовлечённость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74519"/>
            <a:ext cx="5212080" cy="3977639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194560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ДВА ФОРМАТА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651760"/>
            <a:ext cx="47548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Длинный курс
раз в год — галочка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114800"/>
            <a:ext cx="47548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D4A017"/>
                </a:solidFill>
                <a:latin typeface="Calibri"/>
                <a:ea typeface="Calibri"/>
                <a:cs typeface="Calibri"/>
              </a:rPr>
              <a:t>5–15 минут
в рабочий день — привычка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4  / 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ПРОБЛЕМА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Если обучение не измеряется каждый день, им нельзя управлять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36118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154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1546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работников в мире вовлечены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Gallup, State of the Global Workplace 2026, данные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74519"/>
            <a:ext cx="36118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154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−63%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926080"/>
            <a:ext cx="31546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инцидентов у команд верхнего квартиля вовлечённости vs нижнего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2062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Gallup Q12 Meta-Analysis, 11th ed., 2024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74519"/>
            <a:ext cx="36118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3154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64%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926080"/>
            <a:ext cx="31546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индекс вовлечённости в России — зона риска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2062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ЭКОПСИ, мониторинг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0352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Для охраны труда: вовлечённость — ведущий индикатор. Травма и штраф — запаздывающий.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5  / 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ЦЕНА БЕЗДЕЙСТВИЯ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Сколько стоит «как сейчас» — на одном филиале, не в триллионах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3611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3611880" cy="91440"/>
          </a:xfrm>
          <a:prstGeom prst="rect">
            <a:avLst/>
          </a:prstGeom>
          <a:solidFill>
            <a:srgbClr val="C0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Штраф / предписание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31546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Предписание ГИТ, приостановка, повторная проверка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C0453C"/>
                </a:solidFill>
                <a:latin typeface="Calibri"/>
                <a:ea typeface="Calibri"/>
                <a:cs typeface="Calibri"/>
              </a:rPr>
              <a:t>Ваша цифра: ________ 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74519"/>
            <a:ext cx="3611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874519"/>
            <a:ext cx="3611880" cy="91440"/>
          </a:xfrm>
          <a:prstGeom prst="rect">
            <a:avLst/>
          </a:prstGeom>
          <a:solidFill>
            <a:srgbClr val="C0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14884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Потеря смены / НС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108960"/>
            <a:ext cx="31546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Больничный, простой, расследование, репутация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75488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C0453C"/>
                </a:solidFill>
                <a:latin typeface="Calibri"/>
                <a:ea typeface="Calibri"/>
                <a:cs typeface="Calibri"/>
              </a:rPr>
              <a:t>Ваша цифра: ________ 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74519"/>
            <a:ext cx="3611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874519"/>
            <a:ext cx="3611880" cy="91440"/>
          </a:xfrm>
          <a:prstGeom prst="rect">
            <a:avLst/>
          </a:prstGeom>
          <a:solidFill>
            <a:srgbClr val="C0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14884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Обучение «для галочки»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108960"/>
            <a:ext cx="31546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Повторные курсы, отрыв от смены, работа куратора в Excel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75488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C0453C"/>
                </a:solidFill>
                <a:latin typeface="Calibri"/>
                <a:ea typeface="Calibri"/>
                <a:cs typeface="Calibri"/>
              </a:rPr>
              <a:t>Ваша цифра: ________ 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6  / 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ИНСАЙТ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Между аттестациями нужен второй контур — короткий, ежедневный, с рейтингом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36118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D4A017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Аттестация / ЕИСОТ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Раз в год.
Формальный допуск.
Можно оставить текущему провайдеру или СМАРТА.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74519"/>
            <a:ext cx="3611880" cy="365760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060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Микрообучение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29184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Каждый рабочий день.
5–15 минут.
Навык и привычка — это Lab-Интеллект.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74519"/>
            <a:ext cx="3611880" cy="365760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Аналитика руководителя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29184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Просрочки, баллы,
вовлечённость.
Отчёт к проверке — это Lab-Интеллект.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7  / 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ПРОДУКТ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Корпоративная платформа микрокурсов по охране труда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Микрокурсы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Видео, PDF, презентации, вопросы проверки знаний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0574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Программы и назначения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56032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Группы, каждый день или по рабочим дням, последовательный трек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574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Баллы и рейтинг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56032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Вовлечённость, своевременность, место в таблице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8620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Кабинет компании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Штатка, филиалы, роли: admin / curator / user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88620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1148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Нормативка и учёт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61772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Поля СНИЛС / ЕИСОТ, нормативные документы в курсах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886200"/>
            <a:ext cx="36118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11480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Отчёты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61772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Прогресс, просрочки, выгрузка без Excel-рутины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8  / 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ГЛАЗАМИ СОТРУДНИКА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5–15 минут, телефон или компьютер. Один блок — один навык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59436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Актуальные микрокурсы на сегодня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Последовательный трек: следующий курс откроется после текущего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Вопрос проверки знаний и баллы за попытку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Статус «все курсы на сегодня пройдены»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874519"/>
            <a:ext cx="5029200" cy="3977639"/>
          </a:xfrm>
          <a:prstGeom prst="roundRect">
            <a:avLst/>
          </a:prstGeom>
          <a:solidFill>
            <a:srgbClr val="0E6B5E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286000"/>
            <a:ext cx="4572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Моё обучение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474720"/>
            <a:ext cx="45720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Это не ещё одна LMS.
Это смена, которую можно закрыть до обеда.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9  / 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ГЛАЗАМИ ОТ / 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Кто не прошёл, кто просрочил, кто вовлечён — без Excel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Прохождение блока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874519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05740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8346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Вопрос проверки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874519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05740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8346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Вовлечённость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874519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205740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8346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Доп. информация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1874519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05740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834640"/>
            <a:ext cx="1965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Своевременность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0624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Прогресс программ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Своевременность и просрочки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Рейтинг сотрудников и баллы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Выгрузка отчёта к проверке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10  / 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ОТЛИЧИЕ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Не «ещё одна LMS», а контур ОТ + микроформат + СМАРТА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783080"/>
          <a:ext cx="113385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3108960"/>
                <a:gridCol w="3200400"/>
              </a:tblGrid>
              <a:tr h="662939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Классическая LMS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Разовое дистанционное ОТ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Lab-Интеллект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Формат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Длинные курсы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Галочка к проверке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Ежедневные микрокурсы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Вовлечённость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Слабая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Нет рейтинга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Баллы и рейтинг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Внедрение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Проект 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Подрядчик обучения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Кабинет, импорт CSV/XLSX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Контент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Общий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Только аттестация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Нормативка + поддерживающее обучение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66294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Место в контуре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Замена всего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Раз в год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364 дня между аттестациями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11  / 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D4A017"/>
                </a:solidFill>
                <a:latin typeface="Calibri"/>
                <a:ea typeface="Calibri"/>
                <a:cs typeface="Calibri"/>
              </a:rPr>
              <a:t>ДЕМО  ·  8–10 МИНУТ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Смотрим продукт, не слайды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0972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1. Сотрудник проходит один микрокурс с телефона
2. Руководитель видит рейтинг и просрочки
3. Вопросы — после, не во время кликов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КАК ЭТО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Назначили → проходят каждый день → видите отчёт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36118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Назначение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Программа на группу или должность. Срок, рабочие дни, последовательный трек.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6118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4884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74320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Микрообучение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38328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Ежедневные блоки: материал + вопрос проверки. Баллы за попытку.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920240"/>
            <a:ext cx="36118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4884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4320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Контроль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8328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Рейтинг, просрочки, вовлечённость. Отчёт к проверке и разбор с куратором.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12  / 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ДОКАЗАТЕЛЬСТВА ФОРМАТА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Микрообучение и вовлечённость уже работают в охране труда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3611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Gallup Q12,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315468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Подразделения с высокой вовлечённостью: на 63% меньше инцидентов по безопасности vs нижний квартиль.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Метаанализ 3,35 млн сотрудников, 183 806 подразделений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74519"/>
            <a:ext cx="3611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FSC / Signal Gold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80360"/>
            <a:ext cx="315468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Микрообучение на шахте без отрыва от смены. Гибкая подача + поведение в H&amp;S.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84632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Оценка программы, Канада, 2024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74519"/>
            <a:ext cx="3611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Кейсы формата, не наши клиенты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880360"/>
            <a:ext cx="315468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Walmart: ежедневные 3–5 мин квизы по safety. Bloomingdale’s — снижение claims.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84632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Помечать явно: зарубежный формат, не кейс СМАРТА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13  / 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СЦЕНАРИЙ НА 30 ДНЕЙ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Как это выглядит на 500 сотрудниках в двух филиалах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585216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394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Вход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5394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Программа «Базовая безопасность» — 10 микрокурсов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10 минут × рабочие дни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Должности: стропка / склад / водители / ИТР — подставить ваши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Пилотная группа 50–100, затем масштаб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874519"/>
            <a:ext cx="5120640" cy="3977639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057400"/>
            <a:ext cx="4663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D4A017"/>
                </a:solidFill>
                <a:latin typeface="Calibri"/>
                <a:ea typeface="Calibri"/>
                <a:cs typeface="Calibri"/>
              </a:rPr>
              <a:t>Через 30 дней смотрим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606040"/>
            <a:ext cx="466344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% завершения назначенного
% прошедших вовремя
Топ просрочек по отделам
Вовлечённость и баллы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14  / 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ВНЕДРЕНИЕ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Пилот за 2 недели, не IT-проект на полгода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3611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154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Неделя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3246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Кабинет компании и роли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Импорт сотрудников CSV / XLSX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1 готовая программа + 1 ваша тема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74519"/>
            <a:ext cx="3611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057400"/>
            <a:ext cx="3154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Неделя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43200"/>
            <a:ext cx="3246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Назначение группе 50–100 чел.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Kick-off 1 час с куратором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Старт ежедневных микрокурсов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74519"/>
            <a:ext cx="36118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57400"/>
            <a:ext cx="3154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День 14 /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743200"/>
            <a:ext cx="3246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Отчёт: завершение, вовремя, вовлечённость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Разбор с куратором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Решение: КП и масштаб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15  / 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КОММЕРЧЕСКАЯ ЛОГИКА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Считаем от риска и объёма, не от «стоимости LMS»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Стоимость штрафа / простоя / повторного обучения   vs   лицензия на сотрудника в год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36118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Старт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до 100 человек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31546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Базовые программы
Кабинет и назначения
Отчёт куратора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423160"/>
            <a:ext cx="3611880" cy="306324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60604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Бизнес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06324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D4A017"/>
                </a:solidFill>
                <a:latin typeface="Calibri"/>
                <a:ea typeface="Calibri"/>
                <a:cs typeface="Calibri"/>
              </a:rPr>
              <a:t>до 500 человек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566160"/>
            <a:ext cx="31546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Безлимит программ
Рейтинг и веса критериев
Несколько групп и отделов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423160"/>
            <a:ext cx="36118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Корпоратив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6324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500+ / филиалы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566160"/>
            <a:ext cx="31546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Кабинеты филиалов
ЕИСОТ-контур, SLA
Кастомные программы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62356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1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Точную цифру дадим после пилота и вашей численности. Сегодня фиксируем логику.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16  / 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ВОЗРАЖЕНИЯ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Три страха, которые обычно останавливают сделку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556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7132320"/>
              </a:tblGrid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Страх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Как закрываем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Сотрудники не будут проходить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5–15 минут, рейтинг, назначения на рабочие дни, отчёт руководителю смены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Не примут на проверке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Нормативка в курсах, контур СМАРТА, отчётность, поля ЕИСОТ / СНИЛС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Уже есть LMS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Не замена аттестации. Второй контур. Может жить рядом с текущей LMS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17  / 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ОФЕР ВСТРЕЧИ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Пилот 14–30 дней на 50–100 сотрудников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57607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5303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Что входит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Кабинет компании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1 готовая программа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1 кастомная тема — по возможности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Отчёт: вовлечённость, завершение, своевременность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Разбор с куратором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874519"/>
            <a:ext cx="5212080" cy="402336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057400"/>
            <a:ext cx="4754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D4A017"/>
                </a:solidFill>
                <a:latin typeface="Calibri"/>
                <a:ea typeface="Calibri"/>
                <a:cs typeface="Calibri"/>
              </a:rPr>
              <a:t>Что нужно от вас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651760"/>
            <a:ext cx="475488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Список пилотной группы
Куратор со стороны клиента
1 час kick-off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846320"/>
            <a:ext cx="47548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Один вопрос: дата старта пилота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18  / 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ЗАКРЫТИЕ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Три решения на этой встрече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36118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154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Пилот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31546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Да / нет / какие условия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65960"/>
            <a:ext cx="36118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94560"/>
            <a:ext cx="3154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8036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Куратор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520440"/>
            <a:ext cx="31546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ФИО и роль со стороны клиента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965960"/>
            <a:ext cx="36118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94560"/>
            <a:ext cx="3154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880360"/>
            <a:ext cx="3154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Kick-off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520440"/>
            <a:ext cx="31546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Дата и час запуска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9496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Не «мы вам перезвоним». Фиксируем дату до выхода из комнаты.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19  / 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LAB-ИНТЕЛЛЕКТ  ·  СМАРТА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Спасибо. Следующий шаг — дата пилота.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728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Спикер: ______________________
Телефон: _____________________
Почта: ________________________
Кабинет: adddev.smarta-ot.ru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ЗАПАС A  ·  ПО ВОПРОСУ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Роли в кабинете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1155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39112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Superadmin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039112"/>
            <a:ext cx="7498079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Платформа, кабинеты компаний, управление курсами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34640"/>
            <a:ext cx="11155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90672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090672"/>
            <a:ext cx="7498079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Компания: сотрудники, структура, настройки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86200"/>
            <a:ext cx="11155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42232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Curator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142232"/>
            <a:ext cx="7498079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Программы, группы, назначения, контроль прохождения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937760"/>
            <a:ext cx="11155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93792"/>
            <a:ext cx="2926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193792"/>
            <a:ext cx="7498079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Моё обучение: ежедневные микрокурсы и рейтинг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21  / 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ЗАПАС B  ·  ПО ВОПРОСУ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Импорт штатки и структура компании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Файл CSV, XLSX или XLS — без ручного заведения сотен людей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Должность, отдел, контакты, генерация пароля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Группы и назначения программ поверх штатки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Филиалы / кабинеты — для распределённых компаний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IT не нужен: импорт делает куратор или админ компании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22  / 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ЗАПАС C  ·  ПО ВОПРОСУ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Чем не iSpring / WebSoft / «просто LMS»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78308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572000"/>
                <a:gridCol w="457200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Критерий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Универсальная LMS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Lab-Интеллект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Ниша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Любое корпоративное обучение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Охрана труда, поддерживающий контур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Формат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Курсы любой длины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Ежедневные микрокурсы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Метрики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Прохождение курса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Вовлечённость, своевременность, рейтинг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Учёт ОТ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Настраивается отдельно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СНИЛС, ЕИСОТ, нормативка в модели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Подрядчик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IT / L&amp;D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Экосистема СМАРТА: аттестация + микрообучение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23  / 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ЗАПАС D  ·  ПО ВОПРОСУ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Контур, кабинет,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Отдельный кабинет компании (субдомен)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Роли и доступ: сотрудник не видит чужие назначения и аналитику компании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Авторизация, восстановление пароля, учётные записи штатки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Площадка в контуре СМАРТА / smarta-ot.ru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Детали ИБ, ДПДн и размещения серверов — в приложении к договору, не на этом слайде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24  / 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ЗАПАС E  ·  ПО ВОПРОСУ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Стартовый контент для пилота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5532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39"/>
            <a:ext cx="4983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Базовая охрана труда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79"/>
            <a:ext cx="4983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Короткие блоки под рабочие ситуации, не 40-часовой курс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5532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39"/>
            <a:ext cx="4983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Пожарная безопасность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97479"/>
            <a:ext cx="4983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Повторение критичных действий между аттестациями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86199"/>
            <a:ext cx="5532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60519"/>
            <a:ext cx="4983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Первая помощь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9159"/>
            <a:ext cx="4983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Навык, который выветривается без регулярного касания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886199"/>
            <a:ext cx="5532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160519"/>
            <a:ext cx="4983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Ваша тема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709159"/>
            <a:ext cx="4983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  <a:ea typeface="Calibri"/>
                <a:cs typeface="Calibri"/>
              </a:rPr>
              <a:t>1 кастомный микрокурс под инцидент или профессию клиента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25  / 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ЗАПАС F  ·  ИСТОЧНИКИ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Цифры, на которые можно ссылаться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8308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630936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Цифра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Источник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20% вовлечённых в мире (2025)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Gallup. State of the Global Workplace: 2026 Report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−63% инцидентов, верх vs низ квартиля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Gallup Q12 Meta-Analysis, 11th Edition, 2024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64% индекс вовлечённости в РФ (2024)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ЭКОПСИ, Всероссийский мониторинг вовлечённости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Микрообучение на шахте без отрыва от смены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FSC Canada / Signal Gold, evaluation 2024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Ежедневные safety-квизы (формат, не наш клиент)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Публичные кейсы Walmart / Bloomingdale’s — проверять первоисточник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26  / 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ЗАПАС G  ·  КЛИЕНТЫ СМАРТА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Как стыкуется с централизованным обучением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Аттестация и программы по ОТ — как сейчас, у СМАРТА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Lab-Интеллект — ежедневное поддерживающее обучение между циклами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Один подрядчик: контент, кабинет, куратор, отчётность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Кросс-продажа в действующий договор, без нового тендера там, где это допустимо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•  Пилот на уже обученной группе: быстрее импорт и понятнее KPI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27  / 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