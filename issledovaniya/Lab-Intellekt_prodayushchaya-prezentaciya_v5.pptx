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74" r:id="rId11"/>
    <p:sldId id="266" r:id="rId12"/>
    <p:sldId id="267" r:id="rId13"/>
    <p:sldId id="268" r:id="rId14"/>
    <p:sldId id="269" r:id="rId15"/>
    <p:sldId id="272" r:id="rId16"/>
    <p:sldId id="273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51" y="14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5777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Не начинать с истории компании. Назвать клиента. Цель встречи — решение по пилоту.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Связка: формат длинного курса против ежедневного микроблока.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Не сравнивать 20% Gallup и 64% ЭКОПСИ как одну шкалу. Источники — запасной слайд 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Спросить вслух их цифру. Если нет — оставить пропуски и вернуться в КП.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Не обещать ИИ-адаптацию, симуляции и сертификаты 24/7, если не покажете в демо.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Веса по умолчанию в продукте. Компания может пересчитать критерии.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Если уже клиент СМАРТА: «Вы уже учите людей. Мы закрываем 364 дня между аттестациями.»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Не заменять демо скриншотами. Второй экран — кабинет руководителя.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Персонализация — через программы, должности и назначения, не через обещание 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Свои</a:t>
            </a:r>
            <a:r>
              <a:rPr dirty="0"/>
              <a:t> </a:t>
            </a:r>
            <a:r>
              <a:rPr dirty="0" err="1"/>
              <a:t>кейсы</a:t>
            </a:r>
            <a:r>
              <a:rPr dirty="0"/>
              <a:t> СМАРТА </a:t>
            </a:r>
            <a:r>
              <a:rPr dirty="0" err="1"/>
              <a:t>ставить</a:t>
            </a:r>
            <a:r>
              <a:rPr dirty="0"/>
              <a:t> </a:t>
            </a:r>
            <a:r>
              <a:rPr dirty="0" err="1"/>
              <a:t>первыми</a:t>
            </a:r>
            <a:r>
              <a:rPr dirty="0"/>
              <a:t>, </a:t>
            </a:r>
            <a:r>
              <a:rPr dirty="0" err="1"/>
              <a:t>если</a:t>
            </a:r>
            <a:r>
              <a:rPr dirty="0"/>
              <a:t> </a:t>
            </a:r>
            <a:r>
              <a:rPr dirty="0" err="1"/>
              <a:t>есть</a:t>
            </a:r>
            <a:r>
              <a:rPr dirty="0"/>
              <a:t> </a:t>
            </a:r>
            <a:r>
              <a:rPr dirty="0" err="1"/>
              <a:t>цифры</a:t>
            </a:r>
            <a:r>
              <a:rPr dirty="0"/>
              <a:t>. </a:t>
            </a:r>
            <a:r>
              <a:rPr dirty="0" err="1"/>
              <a:t>Чужие</a:t>
            </a:r>
            <a:r>
              <a:rPr dirty="0"/>
              <a:t> — </a:t>
            </a:r>
            <a:r>
              <a:rPr dirty="0" err="1"/>
              <a:t>только</a:t>
            </a:r>
            <a:r>
              <a:rPr dirty="0"/>
              <a:t> </a:t>
            </a:r>
            <a:r>
              <a:rPr dirty="0" err="1"/>
              <a:t>как</a:t>
            </a:r>
            <a:r>
              <a:rPr dirty="0"/>
              <a:t> </a:t>
            </a:r>
            <a:r>
              <a:rPr dirty="0" err="1"/>
              <a:t>доказательство</a:t>
            </a:r>
            <a:r>
              <a:rPr dirty="0"/>
              <a:t> </a:t>
            </a:r>
            <a:r>
              <a:rPr dirty="0" err="1"/>
              <a:t>формата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demo.smarta-ot.ru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Микрообучение по охране труда,
которое сотрудники реально проходят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8AA0B8"/>
                </a:solidFill>
                <a:latin typeface="Calibri"/>
                <a:ea typeface="Calibri"/>
                <a:cs typeface="Calibri"/>
              </a:rPr>
              <a:t>Lab-Интеллект  ·  СМАРТА  ·  конфиденциально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8AA0B8"/>
                </a:solidFill>
                <a:latin typeface="Calibri"/>
                <a:ea typeface="Calibri"/>
                <a:cs typeface="Calibri"/>
              </a:rPr>
              <a:t>1  / 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КОНТЕКСТ</a:t>
            </a:r>
            <a:endParaRPr sz="1200" b="1" i="0" dirty="0">
              <a:solidFill>
                <a:srgbClr val="1A9B8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Как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обычно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выглядит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обучение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ОТ</a:t>
            </a:r>
            <a:r>
              <a:rPr lang="ru-RU"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 в компании в 2026 году</a:t>
            </a:r>
            <a:endParaRPr sz="2800" b="1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1874519"/>
            <a:ext cx="361188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874519"/>
            <a:ext cx="361188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Сейчас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06040"/>
            <a:ext cx="3246120" cy="129266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Численность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/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филиалы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: </a:t>
            </a:r>
            <a:r>
              <a:rPr lang="ru-RU" sz="1500" dirty="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1000</a:t>
            </a:r>
            <a:endParaRPr sz="11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Обучаем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в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год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:</a:t>
            </a:r>
            <a:r>
              <a:rPr lang="ru-RU" sz="1500" dirty="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2000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чел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-программ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Формат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: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очно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/ LMS / 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тренинги</a:t>
            </a:r>
          </a:p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500" dirty="0" err="1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Трудопотери</a:t>
            </a:r>
            <a:r>
              <a:rPr lang="ru-RU" sz="1500" dirty="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: более 32 000 чел/часов 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874519"/>
            <a:ext cx="361188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97680" y="1874519"/>
            <a:ext cx="361188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26280" y="210312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b="1" dirty="0" sz="1800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Проблемы</a:t>
            </a:r>
            <a:endParaRPr sz="18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480560" y="2606040"/>
            <a:ext cx="3246120" cy="193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Просрочки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500" dirty="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у одних  и избыточность обучения у других </a:t>
            </a:r>
          </a:p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Ф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ормальный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допуск</a:t>
            </a:r>
            <a:endParaRPr lang="ru-RU" sz="15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Текучка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повторное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обучение</a:t>
            </a:r>
            <a:endParaRPr lang="ru-RU" sz="15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Процесс обучения не приводит к снижению травм и нарушений</a:t>
            </a:r>
            <a:endParaRPr sz="15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092440" y="1874519"/>
            <a:ext cx="361188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92440" y="1874519"/>
            <a:ext cx="361188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210312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Типовой сценарий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606040"/>
            <a:ext cx="3246120" cy="22467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</a:t>
            </a:r>
            <a:r>
              <a:rPr lang="ru-RU" sz="1500" dirty="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омпании идут в дорогую автоматизацию, требующую постоянной доработки</a:t>
            </a:r>
          </a:p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Постоянный контроль и админи</a:t>
            </a:r>
            <a:r>
              <a:rPr lang="ru-RU" sz="1500" dirty="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стрирование</a:t>
            </a:r>
          </a:p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Откладываем поиск решения </a:t>
            </a:r>
            <a:r>
              <a:rPr lang="ru-RU" sz="1500" dirty="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«на потом» 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до первого крупного прецендента</a:t>
            </a:r>
            <a:endParaRPr sz="15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2  /  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6539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Lab-Интеллект  ·  СМАРТА  ·  конфиденциально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ПРОБЛЕМА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Сотрудник «прошёл курс» — и на следующий день работает как раньше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576072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5303520" cy="272382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8–40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часов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раз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в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год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≠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навык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в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момент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риска</a:t>
            </a:r>
            <a:endParaRPr sz="18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algn="l">
              <a:spcAft>
                <a:spcPts val="18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</a:t>
            </a:r>
            <a:r>
              <a:rPr lang="ru-RU" dirty="0"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Программы плохо адаптированы под специфику работ или вообще не адаптированы</a:t>
            </a:r>
            <a:endParaRPr lang="ru-RU" sz="18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algn="l">
              <a:spcAft>
                <a:spcPts val="18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Знания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выветриваются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между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проверками знаний (процент остаточных знаний низок)</a:t>
            </a:r>
            <a:endParaRPr sz="18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algn="l">
              <a:spcAft>
                <a:spcPts val="18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Куратор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видит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факт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прохождения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не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видит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вовлечённость</a:t>
            </a:r>
            <a:endParaRPr sz="18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492240" y="1874519"/>
            <a:ext cx="5212080" cy="3977639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66560" y="2194560"/>
            <a:ext cx="4754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ДВА ФОРМАТА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651760"/>
            <a:ext cx="47548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Длинный курс
раз в год — галочка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4114800"/>
            <a:ext cx="47548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D4A017"/>
                </a:solidFill>
                <a:latin typeface="Calibri"/>
                <a:ea typeface="Calibri"/>
                <a:cs typeface="Calibri"/>
              </a:rPr>
              <a:t>5–15 минут
в рабочий день — привычка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3  /  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6539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Lab-Интеллект  ·  СМАРТА  ·  конфиденциально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ПРОБЛЕМА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Если обучение не измеряется каждый день, им нельзя управлять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361188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3154680" cy="822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3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20%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315468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работников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в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мире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вовлечены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в рабочий процесс</a:t>
            </a:r>
            <a:endParaRPr sz="16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420624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Gallup, State of the Global Workplace 2026, данные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874519"/>
            <a:ext cx="361188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057400"/>
            <a:ext cx="3154680" cy="822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3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−63%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926080"/>
            <a:ext cx="315468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инцидентов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у 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работников с высокой степенью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вовлечённости</a:t>
            </a:r>
            <a:endParaRPr sz="16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26280" y="420624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Gallup Q12 Meta-Analysis, 11th ed., 2024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303520"/>
            <a:ext cx="11155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Для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охраны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труда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и производственной безопасности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: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вовлечённость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—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ведущий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индикатор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.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Травма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штраф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—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запаздывающий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4  /  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6539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Lab-Интеллект  ·  СМАРТА  ·  конфиденциально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ЦЕНА БЕЗДЕЙСТВИЯ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Сколько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стоит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«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как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сейчас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»</a:t>
            </a:r>
            <a:r>
              <a:rPr lang="ru-RU"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 algn="l"/>
            <a:r>
              <a:rPr lang="ru-RU" sz="2800" i="0" dirty="0" b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На примере компании в 1000 человек</a:t>
            </a:r>
            <a:endParaRPr sz="140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36118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874519"/>
            <a:ext cx="3611880" cy="91440"/>
          </a:xfrm>
          <a:prstGeom prst="rect">
            <a:avLst/>
          </a:prstGeom>
          <a:solidFill>
            <a:srgbClr val="C04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31546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b="0" dirty="0" sz="150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Потеря рабочего времени</a:t>
            </a:r>
            <a:endParaRPr sz="18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31546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500" dirty="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Оплата времени, затраченного работниками на обучение</a:t>
            </a:r>
            <a:endParaRPr sz="15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 dirty="0" err="1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Ваша</a:t>
            </a:r>
            <a:r>
              <a:rPr sz="1500" b="1" i="0" dirty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1" i="0" dirty="0" err="1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цифра</a:t>
            </a:r>
            <a:r>
              <a:rPr sz="1500" b="1" i="0" dirty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: __</a:t>
            </a:r>
            <a:r>
              <a:rPr lang="ru-RU" sz="1500" b="1" i="0" dirty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16 млн. </a:t>
            </a:r>
            <a:r>
              <a:rPr sz="1500" b="1" i="0" dirty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 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874519"/>
            <a:ext cx="36118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97680" y="1874519"/>
            <a:ext cx="3611880" cy="91440"/>
          </a:xfrm>
          <a:prstGeom prst="rect">
            <a:avLst/>
          </a:prstGeom>
          <a:solidFill>
            <a:srgbClr val="C04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26280" y="2148840"/>
            <a:ext cx="31546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Потеря смены / НС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108960"/>
            <a:ext cx="31546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Больничный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простой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расследование</a:t>
            </a:r>
            <a:endParaRPr lang="ru-RU" sz="15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  <a:p>
            <a:pPr algn="l"/>
            <a:r>
              <a:rPr lang="ru-RU" sz="1500" dirty="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endParaRPr sz="15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26280" y="475488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 dirty="0" err="1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Ваша</a:t>
            </a:r>
            <a:r>
              <a:rPr sz="1500" b="1" i="0" dirty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1" i="0" dirty="0" err="1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цифра</a:t>
            </a:r>
            <a:r>
              <a:rPr sz="1500" b="1" i="0" dirty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: </a:t>
            </a:r>
            <a:r>
              <a:rPr lang="ru-RU" sz="1500" b="1" i="0" dirty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от 500 тыс.</a:t>
            </a:r>
            <a:r>
              <a:rPr sz="1500" b="1" i="0" dirty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 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874519"/>
            <a:ext cx="36118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2440" y="1874519"/>
            <a:ext cx="3611880" cy="91440"/>
          </a:xfrm>
          <a:prstGeom prst="rect">
            <a:avLst/>
          </a:prstGeom>
          <a:solidFill>
            <a:srgbClr val="C04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1040" y="2148840"/>
            <a:ext cx="31546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Стоимость организации </a:t>
            </a:r>
            <a:r>
              <a:rPr lang="ru-RU"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обучени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«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для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галочки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108960"/>
            <a:ext cx="31546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Стоимость договорных отношений и администрирования процесса</a:t>
            </a:r>
            <a:endParaRPr sz="15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321040" y="475488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500" b="1" i="0" dirty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3 млн ₽</a:t>
            </a:r>
            <a:endParaRPr sz="1500" b="1" i="0" dirty="0">
              <a:solidFill>
                <a:srgbClr val="C0453C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5  /  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6539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Lab-Интеллект  ·  СМАРТА  ·  конфиденциально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ИНСАЙТ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Между</a:t>
            </a:r>
            <a:r>
              <a:rPr lang="ru-RU" sz="2600" b="1" dirty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проверками знания раз в 3 года</a:t>
            </a:r>
            <a:r>
              <a:rPr sz="26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6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нужен</a:t>
            </a:r>
            <a:r>
              <a:rPr sz="26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6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второй</a:t>
            </a:r>
            <a:r>
              <a:rPr sz="26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6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контур</a:t>
            </a:r>
            <a:r>
              <a:rPr sz="26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— </a:t>
            </a:r>
            <a:r>
              <a:rPr sz="26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короткий</a:t>
            </a:r>
            <a:r>
              <a:rPr sz="26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6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ежедневный</a:t>
            </a:r>
            <a:r>
              <a:rPr sz="26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, с </a:t>
            </a:r>
            <a:r>
              <a:rPr sz="26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рейтингом</a:t>
            </a:r>
            <a:endParaRPr sz="2800" b="1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36118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0604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Проверка знания</a:t>
            </a:r>
            <a:endParaRPr sz="1800" b="1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329184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Раз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в 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3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год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а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.
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874519"/>
            <a:ext cx="3611880" cy="365760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05740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60604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Микрообучение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29184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Каждый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рабочий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день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.
5–15 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минут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.
</a:t>
            </a:r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Формирование н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авык</a:t>
            </a:r>
            <a:r>
              <a:rPr lang="ru-RU"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ов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привыч</a:t>
            </a:r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е</a:t>
            </a:r>
            <a:r>
              <a:rPr lang="ru-RU" sz="1500" dirty="0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к</a:t>
            </a:r>
            <a:endParaRPr sz="1500" b="0" i="0" dirty="0">
              <a:solidFill>
                <a:srgbClr val="C5D0DC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092440" y="1874519"/>
            <a:ext cx="3611880" cy="365760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21040" y="205740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60604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Аналитика руководителя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29184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Контроль п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росрочки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балл</a:t>
            </a:r>
            <a:r>
              <a:rPr lang="ru-RU"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ов</a:t>
            </a:r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за правильные ответы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,</a:t>
            </a:r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оценка 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
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вовлечённост</a:t>
            </a:r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и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.</a:t>
            </a:r>
            <a:endParaRPr lang="ru-RU" sz="1500" dirty="0">
              <a:solidFill>
                <a:srgbClr val="C5D0DC"/>
              </a:solidFill>
              <a:latin typeface="Calibri"/>
              <a:ea typeface="Calibri"/>
              <a:cs typeface="Calibri"/>
            </a:endParaRPr>
          </a:p>
          <a:p>
            <a:pPr algn="l"/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Контроль «слабых</a:t>
            </a:r>
            <a:r>
              <a:rPr lang="ru-RU" sz="1500" dirty="0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» зон, корректировка последовательности </a:t>
            </a:r>
            <a:r>
              <a:rPr lang="ru-RU" sz="1500" dirty="0" err="1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микроуроков</a:t>
            </a:r>
            <a:r>
              <a:rPr lang="ru-RU" sz="1500" dirty="0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в зависимости от типов нарушений</a:t>
            </a:r>
            <a:endParaRPr sz="1500" b="0" i="0" dirty="0">
              <a:solidFill>
                <a:srgbClr val="C5D0DC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6  /  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6539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Lab-Интеллект  ·  СМАРТА  ·  конфиденциально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1">
            <a:extLst>
              <a:ext uri="{FF2B5EF4-FFF2-40B4-BE49-F238E27FC236}">
                <a16:creationId xmlns:a16="http://schemas.microsoft.com/office/drawing/2014/main" id="{CA434F9E-BD72-4C3D-9177-0C136E7C8344}"/>
              </a:ext>
            </a:extLst>
          </p:cNvPr>
          <p:cNvSpPr/>
          <p:nvPr/>
        </p:nvSpPr>
        <p:spPr>
          <a:xfrm>
            <a:off x="4297680" y="378000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ПРОДУКТ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Микрообучение</a:t>
            </a:r>
            <a:r>
              <a:rPr lang="ru-RU"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по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охране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труда</a:t>
            </a:r>
            <a:endParaRPr sz="2800" b="1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02920" y="178000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22920" y="1980000"/>
            <a:ext cx="3171880" cy="4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Микрокурсы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920" y="2460000"/>
            <a:ext cx="3171880" cy="10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Видео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презентации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вопросы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проверки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знаний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практические задания</a:t>
            </a:r>
            <a:endParaRPr sz="14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297680" y="178000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17680" y="1980000"/>
            <a:ext cx="3171880" cy="4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Программы</a:t>
            </a:r>
            <a:r>
              <a:rPr sz="1800" b="1" i="0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800" b="1" i="0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назначения</a:t>
            </a:r>
            <a:endParaRPr sz="16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17680" y="2460000"/>
            <a:ext cx="3171880" cy="10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Группы, каждый день или по рабочим дням, последовательный трек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78000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12440" y="1980000"/>
            <a:ext cx="3171880" cy="4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Баллы</a:t>
            </a:r>
            <a:r>
              <a:rPr sz="1800" b="1" i="0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 и </a:t>
            </a:r>
            <a:r>
              <a:rPr lang="ru-RU" sz="1800" b="1" i="0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вовлеченность</a:t>
            </a:r>
            <a:endParaRPr sz="16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517680" y="4460000"/>
            <a:ext cx="3171880" cy="10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500" dirty="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Видимый для всех сотрудников рейтинг становится мотиватором к обучению. Гибкое управление рейтингом – можете сделать акцент на правильных ответах, практике или дисциплине</a:t>
            </a:r>
            <a:endParaRPr sz="14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02920" y="378000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2920" y="3980000"/>
            <a:ext cx="3171880" cy="4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Кабинет компании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920" y="4460000"/>
            <a:ext cx="3171880" cy="10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Штатка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филиалы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роли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: admin / curator / user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78000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17680" y="3980000"/>
            <a:ext cx="3171880" cy="4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800" b="1" i="0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Рейтинг</a:t>
            </a:r>
            <a:endParaRPr sz="16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312440" y="4460000"/>
            <a:ext cx="3171880" cy="10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Прогресс, просрочки, выгрузка без Excel-рутины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7  /  16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A33CBFEF-1EC0-4653-9043-3C48358B33AF}"/>
              </a:ext>
            </a:extLst>
          </p:cNvPr>
          <p:cNvSpPr/>
          <p:nvPr/>
        </p:nvSpPr>
        <p:spPr>
          <a:xfrm>
            <a:off x="9129712" y="5565074"/>
            <a:ext cx="5686425" cy="191014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Сюда надо вставить скрины с системы</a:t>
            </a:r>
          </a:p>
          <a:p>
            <a:pPr algn="ctr"/>
            <a:r>
              <a:rPr lang="en-US" dirty="0">
                <a:hlinkClick r:id="rId3"/>
              </a:rPr>
              <a:t>https://demo.smarta-ot.ru/</a:t>
            </a:r>
            <a:endParaRPr lang="en-US" dirty="0"/>
          </a:p>
          <a:p>
            <a:pPr algn="ctr"/>
            <a:endParaRPr lang="en-US" dirty="0"/>
          </a:p>
          <a:p>
            <a:pPr algn="ctr"/>
            <a:r>
              <a:rPr lang="ru-RU" dirty="0"/>
              <a:t>Пришлю отдельно страницы скринов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F89F2BB-197A-41FB-B61C-A3AC0BC01C24}"/>
              </a:ext>
            </a:extLst>
          </p:cNvPr>
          <p:cNvSpPr txBox="1"/>
          <p:nvPr/>
        </p:nvSpPr>
        <p:spPr>
          <a:xfrm>
            <a:off x="8312440" y="3980000"/>
            <a:ext cx="3171880" cy="4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Отчёты</a:t>
            </a:r>
            <a:endParaRPr sz="16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3A81321-B7B2-4B00-A120-BABF5937E313}"/>
              </a:ext>
            </a:extLst>
          </p:cNvPr>
          <p:cNvSpPr txBox="1"/>
          <p:nvPr/>
        </p:nvSpPr>
        <p:spPr>
          <a:xfrm>
            <a:off x="8312440" y="2460000"/>
            <a:ext cx="3171880" cy="10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500" dirty="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Собственная методика вовлеченности, оценка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своевременност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и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баллы за теоретическую и практическую часть</a:t>
            </a:r>
            <a:endParaRPr sz="14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57200" y="656539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Lab-Интеллект  ·  СМАРТА  ·  конфиденциально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ГЛАЗАМИ СОТРУДНИКА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5–15 минут, телефон или компьютер. Один блок — один навык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594360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148840"/>
            <a:ext cx="54864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Актуальные микрокурсы на сегодня</a:t>
            </a:r>
          </a:p>
          <a:p>
            <a:pPr algn="l">
              <a:spcAft>
                <a:spcPts val="16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Последовательный трек: следующий курс откроется после текущего</a:t>
            </a:r>
          </a:p>
          <a:p>
            <a:pPr algn="l">
              <a:spcAft>
                <a:spcPts val="16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Вопрос проверки знаний и баллы за попытку</a:t>
            </a:r>
          </a:p>
          <a:p>
            <a:pPr algn="l">
              <a:spcAft>
                <a:spcPts val="16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Статус «все курсы на сегодня пройдены»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874519"/>
            <a:ext cx="5029200" cy="3977639"/>
          </a:xfrm>
          <a:prstGeom prst="roundRect">
            <a:avLst/>
          </a:prstGeom>
          <a:solidFill>
            <a:srgbClr val="0E6B5E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49440" y="2286000"/>
            <a:ext cx="45720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Моё обучение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3474720"/>
            <a:ext cx="457200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8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Микрообучение</a:t>
            </a:r>
            <a:r>
              <a:rPr lang="ru-RU"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– это </a:t>
            </a:r>
            <a:r>
              <a:rPr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не</a:t>
            </a:r>
            <a:r>
              <a:rPr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ещё</a:t>
            </a:r>
            <a:r>
              <a:rPr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одна</a:t>
            </a:r>
            <a:r>
              <a:rPr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LMS.
</a:t>
            </a:r>
            <a:r>
              <a:rPr sz="18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Это</a:t>
            </a:r>
            <a:r>
              <a:rPr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знания и навыки, переходящие в привычку</a:t>
            </a:r>
            <a:endParaRPr sz="1800" b="0" i="0" dirty="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8  /  16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445D9A5-2D77-4DC3-A52D-168BAEE81B2B}"/>
              </a:ext>
            </a:extLst>
          </p:cNvPr>
          <p:cNvSpPr/>
          <p:nvPr/>
        </p:nvSpPr>
        <p:spPr>
          <a:xfrm>
            <a:off x="3433763" y="4291013"/>
            <a:ext cx="5995987" cy="265842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Сюда вставляем ролик по </a:t>
            </a:r>
            <a:r>
              <a:rPr lang="ru-RU" dirty="0" err="1"/>
              <a:t>микрообучению</a:t>
            </a:r>
            <a:r>
              <a:rPr lang="ru-RU" dirty="0"/>
              <a:t>, который делали год назад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6539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Lab-Интеллект  ·  СМАРТА  ·  конфиденциально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ГЛАЗАМИ ОТ / 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Кто не прошёл, кто просрочил, кто вовлечён — без Excel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21488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187451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3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10%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834640"/>
            <a:ext cx="1965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Прохождение блока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1874519"/>
            <a:ext cx="21488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26080" y="2057400"/>
            <a:ext cx="187451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3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40%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834640"/>
            <a:ext cx="1965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Вопрос проверки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1874519"/>
            <a:ext cx="21488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12080" y="2057400"/>
            <a:ext cx="187451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3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20%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834640"/>
            <a:ext cx="1965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Вовлечённость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60920" y="1874519"/>
            <a:ext cx="21488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98080" y="2057400"/>
            <a:ext cx="187451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3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2834640"/>
            <a:ext cx="1965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Доп. информация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46920" y="1874519"/>
            <a:ext cx="21488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784080" y="2057400"/>
            <a:ext cx="187451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3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10%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834640"/>
            <a:ext cx="1965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Своевременность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206240"/>
            <a:ext cx="111556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Прогресс программ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Своевременность и просрочки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Рейтинг сотрудников и баллы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Выгрузка отчёта к проверке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9  /  16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E232FABE-BB4E-49CF-BBF2-5C62AC1C47DB}"/>
              </a:ext>
            </a:extLst>
          </p:cNvPr>
          <p:cNvSpPr/>
          <p:nvPr/>
        </p:nvSpPr>
        <p:spPr>
          <a:xfrm>
            <a:off x="3088310" y="2492979"/>
            <a:ext cx="5995987" cy="265842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Этот слайд пока не делаем, здесь будет про методику оценки вовлеченности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56539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Lab-Интеллект  ·  СМАРТА  ·  конфиденциально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ТРИ ФОРМАТА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Кто реально учится — видно сразу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000" y="900000"/>
            <a:ext cx="3650000" cy="545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20000" y="900000"/>
            <a:ext cx="3650000" cy="780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0000" y="990000"/>
            <a:ext cx="3490000" cy="3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СДО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0000" y="1330000"/>
            <a:ext cx="349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Система дистанционного обучения</a:t>
            </a:r>
          </a:p>
        </p:txBody>
      </p:sp>
      <p:pic>
        <p:nvPicPr>
          <p:cNvPr id="11" name="Picture 10" descr="blok-s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000" y="1720000"/>
            <a:ext cx="3570000" cy="45900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230000" y="900000"/>
            <a:ext cx="3650000" cy="545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30000" y="900000"/>
            <a:ext cx="3650000" cy="780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10000" y="990000"/>
            <a:ext cx="3490000" cy="3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Очное обучение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0000" y="1330000"/>
            <a:ext cx="349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Класс и преподаватель</a:t>
            </a:r>
          </a:p>
        </p:txBody>
      </p:sp>
      <p:pic>
        <p:nvPicPr>
          <p:cNvPr id="16" name="Picture 15" descr="blok-ochno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000" y="1720000"/>
            <a:ext cx="3570000" cy="4590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040000" y="900000"/>
            <a:ext cx="3650000" cy="545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40000" y="900000"/>
            <a:ext cx="3650000" cy="780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20000" y="990000"/>
            <a:ext cx="3490000" cy="3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Микрообучение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0000" y="1330000"/>
            <a:ext cx="349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Диалог и выбор ответа</a:t>
            </a:r>
          </a:p>
        </p:txBody>
      </p:sp>
      <p:pic>
        <p:nvPicPr>
          <p:cNvPr id="21" name="Picture 20" descr="blok-mikroobucheni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0000" y="1720000"/>
            <a:ext cx="3570000" cy="4590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7200" y="6565392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Lab-Интеллект  ·  СМАРТА  ·  конфиденциально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10  / 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ОТЛИЧИЕ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Не «ещё одна LMS», а контур ОТ + микроформат + СМАРТА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1455523"/>
              </p:ext>
            </p:extLst>
          </p:nvPr>
        </p:nvGraphicFramePr>
        <p:xfrm>
          <a:off x="563880" y="1393697"/>
          <a:ext cx="11338560" cy="52120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62939">
                <a:tc>
                  <a:txBody>
                    <a:bodyPr wrap="square"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Классическая</a:t>
                      </a:r>
                      <a:r>
                        <a:rPr sz="1300" b="1" i="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 LMS</a:t>
                      </a:r>
                      <a:r>
                        <a:rPr lang="ru-RU" sz="1300" b="1" i="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 и СДО</a:t>
                      </a:r>
                      <a:endParaRPr sz="1300" b="1" i="0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300" b="1" i="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Очное обучение</a:t>
                      </a:r>
                      <a:endParaRPr sz="1300" b="1" i="0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300" b="1" i="0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Микрообучение</a:t>
                      </a:r>
                      <a:endParaRPr sz="1300" b="1" i="0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2939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Формат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Длинные курсы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Обучение в учебном классе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 dirty="0" err="1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Ежедневные</a:t>
                      </a:r>
                      <a:r>
                        <a:rPr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1200" b="0" i="0" dirty="0" err="1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микрокурсы</a:t>
                      </a:r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 по 5-7 минут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2939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Вовлечённость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 dirty="0" err="1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Слабая</a:t>
                      </a:r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 и неконтролируемая</a:t>
                      </a:r>
                    </a:p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(включил видео или запустил презентацию, а сам параллельно занялся своими делами)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Контроль внимания </a:t>
                      </a:r>
                      <a:r>
                        <a:rPr lang="ru-RU" sz="1200" b="0" i="0" u="sng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отдельных</a:t>
                      </a:r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 обучаемых со стороны преподавателя/тренера. Чаще не оценивается, не фиксируется, а остается в голове тренера.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Методика вовлеченности, построенная на оценке различных действий и поведения работника в системе. </a:t>
                      </a:r>
                    </a:p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Формат диалога требует постоянного внимания, нельзя «включить и уйти»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2939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Контент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Большие курсы долго разрабатываются,  адаптация к специфике работ требует существенных усилий. При изменениях  актуализация программы занимает много времени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Длительная разработка программы.</a:t>
                      </a:r>
                    </a:p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Содержание программы может зависеть от конкретного тренера/преподавателя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Гибкая настройка программы из различных </a:t>
                      </a:r>
                      <a:r>
                        <a:rPr lang="ru-RU" sz="1200" b="0" i="0" dirty="0" err="1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микроуроков</a:t>
                      </a:r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 с учетом специфики, необходимых акцентов и сезонности.</a:t>
                      </a:r>
                    </a:p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Легкая адаптация при изменениях НПА или процесса – замена 1 урока не равно проверка и редактирование всего курса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2939"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Периодичность</a:t>
                      </a:r>
                      <a:endParaRPr sz="1300" b="1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1 раз в 3 года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1 раз в 3 года</a:t>
                      </a:r>
                    </a:p>
                    <a:p>
                      <a:pPr algn="l"/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ежедневно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7767185"/>
                  </a:ext>
                </a:extLst>
              </a:tr>
              <a:tr h="662944"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Уровень остаточных знания</a:t>
                      </a:r>
                      <a:endParaRPr sz="1300" b="1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20%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20%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80%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11  / 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Lab-Интеллект  ·  СМАРТА  ·  конфиденциально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D4A017"/>
                </a:solidFill>
                <a:latin typeface="Calibri"/>
                <a:ea typeface="Calibri"/>
                <a:cs typeface="Calibri"/>
              </a:rPr>
              <a:t>ДЕМО  ·  8–10 МИНУТ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Смотрим продукт, не слайды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749039"/>
            <a:ext cx="109728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1.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Сотрудник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проходит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один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микрокурс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с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телефона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
2.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Руководитель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видит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рейтинг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просрочки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8AA0B8"/>
                </a:solidFill>
                <a:latin typeface="Calibri"/>
                <a:ea typeface="Calibri"/>
                <a:cs typeface="Calibri"/>
              </a:rPr>
              <a:t>Lab-Интеллект  ·  СМАРТА  ·  конфиденциально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8AA0B8"/>
                </a:solidFill>
                <a:latin typeface="Calibri"/>
                <a:ea typeface="Calibri"/>
                <a:cs typeface="Calibri"/>
              </a:rPr>
              <a:t>12  / 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КАК ЭТО РАБОТАЕТ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Назначили → проходят каждый день → видите отчёт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36118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14884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4320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Назначение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38328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Программа на группу или должность. Срок, рабочие дни, последовательный трек.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920240"/>
            <a:ext cx="36118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14884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74320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Микрообучение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38328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Ежедневные блоки: материал + вопрос проверки. Баллы за попытку.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920240"/>
            <a:ext cx="36118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21040" y="214884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74320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Контроль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38328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Рейтинг, просрочки, вовлечённость. Отчёт к проверке и разбор с куратором.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13  /  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6539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Lab-Интеллект  ·  СМАРТА  ·  конфиденциально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ДОКАЗАТЕЛЬСТВА ФОРМАТА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Микрообучение и вовлечённость уже работают в охране труда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36118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Gallup Q12, 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315468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Подразделения с высокой вовлечённостью: на 63% меньше инцидентов по безопасности vs нижний квартиль.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4632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Метаанализ 3,35 млн сотрудников, 183 806 подразделений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874519"/>
            <a:ext cx="36118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05740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FSC / Signal Gold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880360"/>
            <a:ext cx="315468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Микрообучение на шахте без отрыва от смены. Гибкая подача + поведение в H&amp;S.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484632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Оценка программы, Канада, 2024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874519"/>
            <a:ext cx="36118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21040" y="205740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Walmart</a:t>
            </a:r>
            <a:endParaRPr lang="ru-RU" sz="16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321040" y="2880360"/>
            <a:ext cx="315468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ежедневные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3–5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мин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квизы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по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производственной безопасности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. 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Результат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снижение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инциндентов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на 54%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14  /  16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B43B4D61-6602-4CBF-B05E-FB4758E19A8C}"/>
              </a:ext>
            </a:extLst>
          </p:cNvPr>
          <p:cNvSpPr/>
          <p:nvPr/>
        </p:nvSpPr>
        <p:spPr>
          <a:xfrm>
            <a:off x="3902393" y="4496752"/>
            <a:ext cx="5995987" cy="265842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Использовать лого исследований и брендов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6539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Lab-Интеллект  ·  СМАРТА  ·  конфиденциально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КОММЕРЧЕСКАЯ ЛОГИКА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Считаем от риска и объёма, не от «стоимости LMS»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Стоимость штрафа / простоя / повторного обучения   vs   лицензия на сотрудника в год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23160"/>
            <a:ext cx="361188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60604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Старт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63240"/>
            <a:ext cx="3154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до 100 человек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66160"/>
            <a:ext cx="315468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Базовые программы
Кабинет и назначения
Отчёт куратора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423160"/>
            <a:ext cx="3611880" cy="306324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260604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Бизнес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063240"/>
            <a:ext cx="3154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D4A017"/>
                </a:solidFill>
                <a:latin typeface="Calibri"/>
                <a:ea typeface="Calibri"/>
                <a:cs typeface="Calibri"/>
              </a:rPr>
              <a:t>до 500 человек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566160"/>
            <a:ext cx="315468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Безлимит программ
Рейтинг и веса критериев
Несколько групп и отделов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423160"/>
            <a:ext cx="361188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260604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Корпоратив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063240"/>
            <a:ext cx="3154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500+ / филиалы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566160"/>
            <a:ext cx="315468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Кабинеты филиалов
ЕИСОТ-контур, SLA
Кастомные программы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623560"/>
            <a:ext cx="11155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Точную цифру дадим после пилота и вашей численности. Сегодня фиксируем логику.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65392"/>
            <a:ext cx="8229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Lab-Интеллект  ·  СМАРТА  ·  конфиденциально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15  / 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КОМУ ПОЛЕЗНО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Польза для работника, куратора, специалиста по ОТ и руководителя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8229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Lab-Интеллект  ·  СМАРТА  ·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16  /  16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20000" y="1480000"/>
          <a:ext cx="11350000" cy="48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7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7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7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20000"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Работник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Куратор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Специалист по охране труда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Руководитель компании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0"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Не отрывается от работы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Учится в течение смены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Регулярно закрепляет навык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Постоянно вовлечён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Назначения по категории работника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Простое управление программами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Аналитика, чтобы координировать обучающихся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Снижение инцидентов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Программы завязаны на реальные зоны риска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Акцент на нарушениях и происшествиях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Культура безопасности: регулярный диалог с работниками через систему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Меньше расходов на тренинги, которые не снижают травматизм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Меньше времени сотрудников на обучение без результата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Реальный эффект: меньше нарушений и несчастных случаев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1411</Words>
  <Application>Microsoft Office PowerPoint</Application>
  <PresentationFormat>Широкоэкранный</PresentationFormat>
  <Paragraphs>224</Paragraphs>
  <Slides>16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Алёна Титова</dc:creator>
  <cp:keywords/>
  <dc:description>generated using python-pptx</dc:description>
  <cp:lastModifiedBy>Алёна Титова</cp:lastModifiedBy>
  <cp:revision>3</cp:revision>
  <dcterms:created xsi:type="dcterms:W3CDTF">2013-01-27T09:14:16Z</dcterms:created>
  <dcterms:modified xsi:type="dcterms:W3CDTF">2026-09-15T11:23:16Z</dcterms:modified>
  <cp:category/>
</cp:coreProperties>
</file>